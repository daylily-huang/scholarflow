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  <p:sldId id="265" r:id="researchSlide10"/>
    <p:sldId id="266" r:id="researchSlide11"/>
    <p:sldId id="267" r:id="researchSlide12"/>
    <p:sldId id="268" r:id="researchSlide13"/>
    <p:sldId id="269" r:id="researchSlide1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Relationship Id="researchSlide10" Type="http://schemas.openxmlformats.org/officeDocument/2006/relationships/slide" Target="/ppt/slides/slide10.xml" /><Relationship Id="researchSlide11" Type="http://schemas.openxmlformats.org/officeDocument/2006/relationships/slide" Target="/ppt/slides/slide11.xml" /><Relationship Id="researchSlide12" Type="http://schemas.openxmlformats.org/officeDocument/2006/relationships/slide" Target="/ppt/slides/slide12.xml" /><Relationship Id="researchSlide13" Type="http://schemas.openxmlformats.org/officeDocument/2006/relationships/slide" Target="/ppt/slides/slide13.xml" /><Relationship Id="researchSlide14" Type="http://schemas.openxmlformats.org/officeDocument/2006/relationships/slide" Target="/ppt/slides/slide1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1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2"/>
          <c:y val="0.06"/>
          <c:w val="0.74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2.xml" Id="Rd2fd00bda74e4d93" /><Relationship Type="http://schemas.openxmlformats.org/officeDocument/2006/relationships/chart" Target="/ppt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4.xml" Id="R9e4b51eb44254abd" /><Relationship Type="http://schemas.openxmlformats.org/officeDocument/2006/relationships/chart" Target="/ppt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7.xml" Id="R131fe6ba7eb5426e" /><Relationship Type="http://schemas.openxmlformats.org/officeDocument/2006/relationships/chart" Target="/ppt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2286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2381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2" name="icon-location-152"/>
          <p:cNvSpPr/>
          <p:nvPr/>
        </p:nvSpPr>
        <p:spPr>
          <a:xfrm>
            <a:off x="381000" y="1057275"/>
            <a:ext cx="247650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4364" cap="rnd">
            <a:solidFill>
              <a:srgbClr val="173D67"/>
            </a:solidFill>
          </a:ln>
        </p:spPr>
      </p:sp>
      <p:sp>
        <p:nvSpPr>
          <p:cNvPr id="153" name="icon-location-dot-153"/>
          <p:cNvSpPr/>
          <p:nvPr/>
        </p:nvSpPr>
        <p:spPr>
          <a:xfrm>
            <a:off x="475107" y="1124140"/>
            <a:ext cx="59436" cy="59436"/>
          </a:xfrm>
          <a:prstGeom prst="ellipse">
            <a:avLst/>
          </a:prstGeom>
          <a:noFill/>
          <a:ln w="12927" cap="rnd">
            <a:solidFill>
              <a:srgbClr val="173D67"/>
            </a:solidFill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6858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00050" y="1447800"/>
            <a:ext cx="3600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</a:t>
            </a:r>
            <a:endParaRPr/>
          </a:p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381000" y="2019300"/>
          <a:ext cx="3619500" cy="685800"/>
        </p:xfrm>
        <a:graphic>
          <a:graphicData uri="http://schemas.openxmlformats.org/drawingml/2006/table">
            <a:tbl>
              <a:tblPr/>
              <a:tblGrid>
                <a:gridCol w="929036"/>
                <a:gridCol w="1828103"/>
                <a:gridCol w="929036"/>
              </a:tblGrid>
              <a:tr h="34290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4290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391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486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6" name="icon-wf-1-156"/>
          <p:cNvSpPr/>
          <p:nvPr/>
        </p:nvSpPr>
        <p:spPr>
          <a:xfrm>
            <a:off x="8183118" y="1096899"/>
            <a:ext cx="64389" cy="64389"/>
          </a:xfrm>
          <a:prstGeom prst="ellipse">
            <a:avLst/>
          </a:prstGeom>
          <a:noFill/>
          <a:ln w="14364" cap="rnd">
            <a:solidFill>
              <a:srgbClr val="173D67"/>
            </a:solidFill>
          </a:ln>
        </p:spPr>
      </p:sp>
      <p:sp>
        <p:nvSpPr>
          <p:cNvPr id="157" name="icon-wf-2-157"/>
          <p:cNvSpPr/>
          <p:nvPr/>
        </p:nvSpPr>
        <p:spPr>
          <a:xfrm>
            <a:off x="8306943" y="1096899"/>
            <a:ext cx="64389" cy="64389"/>
          </a:xfrm>
          <a:prstGeom prst="ellipse">
            <a:avLst/>
          </a:prstGeom>
          <a:noFill/>
          <a:ln w="14364" cap="rnd">
            <a:solidFill>
              <a:srgbClr val="173D67"/>
            </a:solidFill>
          </a:ln>
        </p:spPr>
      </p:sp>
      <p:sp>
        <p:nvSpPr>
          <p:cNvPr id="158" name="icon-wf-3-158"/>
          <p:cNvSpPr/>
          <p:nvPr/>
        </p:nvSpPr>
        <p:spPr>
          <a:xfrm>
            <a:off x="8245030" y="1205865"/>
            <a:ext cx="64389" cy="64389"/>
          </a:xfrm>
          <a:prstGeom prst="ellipse">
            <a:avLst/>
          </a:prstGeom>
          <a:noFill/>
          <a:ln w="14364" cap="rnd">
            <a:solidFill>
              <a:srgbClr val="173D67"/>
            </a:solidFill>
          </a:ln>
        </p:spPr>
      </p:sp>
      <p:sp>
        <p:nvSpPr>
          <p:cNvPr id="159" name="icon-wf-edges-159"/>
          <p:cNvSpPr/>
          <p:nvPr/>
        </p:nvSpPr>
        <p:spPr>
          <a:xfrm>
            <a:off x="8153400" y="1057275"/>
            <a:ext cx="247650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0" y="290"/>
                </a:moveTo>
                <a:lnTo>
                  <a:pt x="620" y="290"/>
                </a:lnTo>
              </a:path>
              <a:path w="1000" h="1000">
                <a:moveTo>
                  <a:pt x="310" y="400"/>
                </a:moveTo>
                <a:lnTo>
                  <a:pt x="430" y="620"/>
                </a:lnTo>
              </a:path>
              <a:path w="1000" h="1000">
                <a:moveTo>
                  <a:pt x="690" y="400"/>
                </a:moveTo>
                <a:lnTo>
                  <a:pt x="570" y="620"/>
                </a:lnTo>
              </a:path>
            </a:pathLst>
          </a:custGeom>
          <a:noFill/>
          <a:ln w="12927" cap="rnd">
            <a:solidFill>
              <a:srgbClr val="173D67"/>
            </a:solidFill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963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210550" y="1447800"/>
            <a:ext cx="3600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8191500" y="1981200"/>
          <a:ext cx="3638550" cy="1123950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9334500" y="3114675"/>
            <a:ext cx="1619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8210550" y="1828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391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64" name="icon-check-ring-164"/>
          <p:cNvSpPr/>
          <p:nvPr/>
        </p:nvSpPr>
        <p:spPr>
          <a:xfrm>
            <a:off x="8183118" y="3820668"/>
            <a:ext cx="188214" cy="188214"/>
          </a:xfrm>
          <a:prstGeom prst="ellipse">
            <a:avLst/>
          </a:prstGeom>
          <a:noFill/>
          <a:ln w="14364" cap="rnd">
            <a:solidFill>
              <a:srgbClr val="173D67"/>
            </a:solidFill>
          </a:ln>
        </p:spPr>
      </p:sp>
      <p:sp>
        <p:nvSpPr>
          <p:cNvPr id="165" name="icon-check-mark-165"/>
          <p:cNvSpPr/>
          <p:nvPr/>
        </p:nvSpPr>
        <p:spPr>
          <a:xfrm>
            <a:off x="8153400" y="3790950"/>
            <a:ext cx="247650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16518" cap="rnd">
            <a:solidFill>
              <a:srgbClr val="173D67"/>
            </a:solidFill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963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210550" y="4191000"/>
            <a:ext cx="3600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8248650" y="4905375"/>
            <a:ext cx="57150" cy="571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8401050" y="4800600"/>
            <a:ext cx="3390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8248650" y="5267325"/>
            <a:ext cx="57150" cy="571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8401050" y="5162550"/>
            <a:ext cx="3390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8248650" y="5629275"/>
            <a:ext cx="57150" cy="571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8401050" y="5524500"/>
            <a:ext cx="3390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2286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2381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68" name="icon-doc-168"/>
          <p:cNvSpPr/>
          <p:nvPr/>
        </p:nvSpPr>
        <p:spPr>
          <a:xfrm>
            <a:off x="361950" y="3790950"/>
            <a:ext cx="247650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4364" cap="rnd">
            <a:solidFill>
              <a:srgbClr val="173D67"/>
            </a:solidFill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600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438150" y="4905375"/>
            <a:ext cx="57150" cy="571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590550" y="4800600"/>
            <a:ext cx="3390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438150" y="5267325"/>
            <a:ext cx="57150" cy="571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590550" y="5162550"/>
            <a:ext cx="3390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438150" y="5629275"/>
            <a:ext cx="57150" cy="571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590550" y="5524500"/>
            <a:ext cx="3390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54" name="icon-location-154"/>
          <p:cNvSpPr/>
          <p:nvPr/>
        </p:nvSpPr>
        <p:spPr>
          <a:xfrm>
            <a:off x="5915025" y="1962150"/>
            <a:ext cx="266700" cy="2667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5469" cap="rnd">
            <a:solidFill>
              <a:srgbClr val="FFFFFF"/>
            </a:solidFill>
          </a:ln>
        </p:spPr>
      </p:sp>
      <p:sp>
        <p:nvSpPr>
          <p:cNvPr id="155" name="icon-location-dot-155"/>
          <p:cNvSpPr/>
          <p:nvPr/>
        </p:nvSpPr>
        <p:spPr>
          <a:xfrm>
            <a:off x="6016371" y="2034159"/>
            <a:ext cx="64008" cy="64008"/>
          </a:xfrm>
          <a:prstGeom prst="ellipse">
            <a:avLst/>
          </a:prstGeom>
          <a:noFill/>
          <a:ln w="13922" cap="rnd">
            <a:solidFill>
              <a:srgbClr val="FFFFFF"/>
            </a:solidFill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76875" y="228600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E5E81"/>
          </a:solidFill>
          <a:ln w="14288">
            <a:noFill/>
            <a:prstDash val="solid"/>
          </a:ln>
        </p:spPr>
      </p:sp>
      <p:sp>
        <p:nvSpPr>
          <p:cNvPr id="160" name="icon-wf-1-160"/>
          <p:cNvSpPr/>
          <p:nvPr/>
        </p:nvSpPr>
        <p:spPr>
          <a:xfrm>
            <a:off x="7311390" y="3322320"/>
            <a:ext cx="74295" cy="74295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1" name="icon-wf-2-161"/>
          <p:cNvSpPr/>
          <p:nvPr/>
        </p:nvSpPr>
        <p:spPr>
          <a:xfrm>
            <a:off x="7454265" y="3322320"/>
            <a:ext cx="74295" cy="74295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2" name="icon-wf-3-162"/>
          <p:cNvSpPr/>
          <p:nvPr/>
        </p:nvSpPr>
        <p:spPr>
          <a:xfrm>
            <a:off x="7382828" y="3448050"/>
            <a:ext cx="74295" cy="74295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3" name="icon-wf-edges-163"/>
          <p:cNvSpPr/>
          <p:nvPr/>
        </p:nvSpPr>
        <p:spPr>
          <a:xfrm>
            <a:off x="7277100" y="3276600"/>
            <a:ext cx="285750" cy="2857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0" y="290"/>
                </a:moveTo>
                <a:lnTo>
                  <a:pt x="620" y="290"/>
                </a:lnTo>
              </a:path>
              <a:path w="1000" h="1000">
                <a:moveTo>
                  <a:pt x="310" y="400"/>
                </a:moveTo>
                <a:lnTo>
                  <a:pt x="430" y="620"/>
                </a:lnTo>
              </a:path>
              <a:path w="1000" h="1000">
                <a:moveTo>
                  <a:pt x="690" y="400"/>
                </a:moveTo>
                <a:lnTo>
                  <a:pt x="570" y="620"/>
                </a:lnTo>
              </a:path>
            </a:pathLst>
          </a:custGeom>
          <a:noFill/>
          <a:ln w="14916" cap="rnd">
            <a:solidFill>
              <a:srgbClr val="FFFFFF"/>
            </a:solidFill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7191375" y="3562350"/>
            <a:ext cx="4572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67F9B"/>
          </a:solidFill>
          <a:ln w="14288">
            <a:noFill/>
            <a:prstDash val="solid"/>
          </a:ln>
        </p:spPr>
      </p:sp>
      <p:sp>
        <p:nvSpPr>
          <p:cNvPr id="166" name="icon-check-ring-166"/>
          <p:cNvSpPr/>
          <p:nvPr/>
        </p:nvSpPr>
        <p:spPr>
          <a:xfrm>
            <a:off x="5987415" y="4701540"/>
            <a:ext cx="217170" cy="217170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7" name="icon-check-mark-167"/>
          <p:cNvSpPr/>
          <p:nvPr/>
        </p:nvSpPr>
        <p:spPr>
          <a:xfrm>
            <a:off x="5953125" y="4667250"/>
            <a:ext cx="285750" cy="2857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19060" cap="rnd">
            <a:solidFill>
              <a:srgbClr val="FFFFFF"/>
            </a:solidFill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476875" y="495300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DA0B5"/>
          </a:solidFill>
          <a:ln w="14288">
            <a:noFill/>
            <a:prstDash val="solid"/>
          </a:ln>
        </p:spPr>
      </p:sp>
      <p:sp>
        <p:nvSpPr>
          <p:cNvPr id="169" name="icon-doc-169"/>
          <p:cNvSpPr/>
          <p:nvPr/>
        </p:nvSpPr>
        <p:spPr>
          <a:xfrm>
            <a:off x="4572000" y="3352800"/>
            <a:ext cx="285750" cy="2857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6574" cap="rnd">
            <a:solidFill>
              <a:srgbClr val="FFFFFF"/>
            </a:solidFill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543425" y="3562350"/>
            <a:ext cx="4572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53025" y="3095625"/>
            <a:ext cx="18859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验证结果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/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1" name="icon-location-121"/>
          <p:cNvSpPr/>
          <p:nvPr/>
        </p:nvSpPr>
        <p:spPr>
          <a:xfrm>
            <a:off x="895350" y="1009650"/>
            <a:ext cx="304800" cy="3048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7678" cap="rnd">
            <a:solidFill>
              <a:srgbClr val="173D67"/>
            </a:solidFill>
          </a:ln>
        </p:spPr>
      </p:sp>
      <p:sp>
        <p:nvSpPr>
          <p:cNvPr id="122" name="icon-location-dot-122"/>
          <p:cNvSpPr/>
          <p:nvPr/>
        </p:nvSpPr>
        <p:spPr>
          <a:xfrm>
            <a:off x="1011174" y="1091946"/>
            <a:ext cx="73152" cy="73152"/>
          </a:xfrm>
          <a:prstGeom prst="ellipse">
            <a:avLst/>
          </a:prstGeom>
          <a:noFill/>
          <a:ln w="15911" cap="rnd">
            <a:solidFill>
              <a:srgbClr val="173D67"/>
            </a:solidFill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333500" y="1000125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09" name="obs-accent-109"/>
          <p:cNvSpPr/>
          <p:nvPr/>
        </p:nvSpPr>
        <p:spPr>
          <a:xfrm>
            <a:off x="838200" y="1524000"/>
            <a:ext cx="38100" cy="62865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952500" y="1466850"/>
            <a:ext cx="32766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3" name="icon-layers-123"/>
          <p:cNvSpPr/>
          <p:nvPr/>
        </p:nvSpPr>
        <p:spPr>
          <a:xfrm>
            <a:off x="4676775" y="1009650"/>
            <a:ext cx="304800" cy="3048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60"/>
                </a:moveTo>
                <a:lnTo>
                  <a:pt x="860" y="320"/>
                </a:lnTo>
                <a:lnTo>
                  <a:pt x="500" y="480"/>
                </a:lnTo>
                <a:lnTo>
                  <a:pt x="140" y="320"/>
                </a:lnTo>
                <a:close/>
              </a:path>
              <a:path w="1000" h="1000">
                <a:moveTo>
                  <a:pt x="140" y="500"/>
                </a:moveTo>
                <a:lnTo>
                  <a:pt x="500" y="660"/>
                </a:lnTo>
                <a:lnTo>
                  <a:pt x="860" y="500"/>
                </a:lnTo>
              </a:path>
              <a:path w="1000" h="1000">
                <a:moveTo>
                  <a:pt x="140" y="680"/>
                </a:moveTo>
                <a:lnTo>
                  <a:pt x="500" y="840"/>
                </a:lnTo>
                <a:lnTo>
                  <a:pt x="860" y="680"/>
                </a:lnTo>
              </a:path>
            </a:pathLst>
          </a:custGeom>
          <a:noFill/>
          <a:ln w="17678" cap="rnd">
            <a:solidFill>
              <a:srgbClr val="173D67"/>
            </a:solidFill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14925" y="1000125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110" name="obs-accent-110"/>
          <p:cNvSpPr/>
          <p:nvPr/>
        </p:nvSpPr>
        <p:spPr>
          <a:xfrm>
            <a:off x="4619625" y="1524000"/>
            <a:ext cx="38100" cy="62865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4733925" y="1466850"/>
            <a:ext cx="32766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4" name="icon-doc-124"/>
          <p:cNvSpPr/>
          <p:nvPr/>
        </p:nvSpPr>
        <p:spPr>
          <a:xfrm>
            <a:off x="8458200" y="1009650"/>
            <a:ext cx="304800" cy="3048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7678" cap="rnd">
            <a:solidFill>
              <a:srgbClr val="173D67"/>
            </a:solidFill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96350" y="1000125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111" name="obs-accent-111"/>
          <p:cNvSpPr/>
          <p:nvPr/>
        </p:nvSpPr>
        <p:spPr>
          <a:xfrm>
            <a:off x="8401050" y="1524000"/>
            <a:ext cx="38100" cy="62865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8515350" y="1466850"/>
            <a:ext cx="32766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5" name="icon-check-ring-125"/>
          <p:cNvSpPr/>
          <p:nvPr/>
        </p:nvSpPr>
        <p:spPr>
          <a:xfrm>
            <a:off x="922020" y="2836545"/>
            <a:ext cx="289560" cy="289560"/>
          </a:xfrm>
          <a:prstGeom prst="ellipse">
            <a:avLst/>
          </a:prstGeom>
          <a:noFill/>
          <a:ln w="19050" cap="rnd">
            <a:solidFill>
              <a:srgbClr val="173D67"/>
            </a:solidFill>
          </a:ln>
        </p:spPr>
      </p:sp>
      <p:sp>
        <p:nvSpPr>
          <p:cNvPr id="126" name="icon-check-mark-126"/>
          <p:cNvSpPr/>
          <p:nvPr/>
        </p:nvSpPr>
        <p:spPr>
          <a:xfrm>
            <a:off x="876300" y="2790825"/>
            <a:ext cx="381000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173D67"/>
            </a:solidFill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7" name="icon-doc-127"/>
          <p:cNvSpPr/>
          <p:nvPr/>
        </p:nvSpPr>
        <p:spPr>
          <a:xfrm>
            <a:off x="3695700" y="2790825"/>
            <a:ext cx="381000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8" name="icon-layers-128"/>
          <p:cNvSpPr/>
          <p:nvPr/>
        </p:nvSpPr>
        <p:spPr>
          <a:xfrm>
            <a:off x="6515100" y="2790825"/>
            <a:ext cx="381000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60"/>
                </a:moveTo>
                <a:lnTo>
                  <a:pt x="860" y="320"/>
                </a:lnTo>
                <a:lnTo>
                  <a:pt x="500" y="480"/>
                </a:lnTo>
                <a:lnTo>
                  <a:pt x="140" y="320"/>
                </a:lnTo>
                <a:close/>
              </a:path>
              <a:path w="1000" h="1000">
                <a:moveTo>
                  <a:pt x="140" y="500"/>
                </a:moveTo>
                <a:lnTo>
                  <a:pt x="500" y="660"/>
                </a:lnTo>
                <a:lnTo>
                  <a:pt x="860" y="500"/>
                </a:lnTo>
              </a:path>
              <a:path w="1000" h="1000">
                <a:moveTo>
                  <a:pt x="140" y="680"/>
                </a:moveTo>
                <a:lnTo>
                  <a:pt x="500" y="840"/>
                </a:lnTo>
                <a:lnTo>
                  <a:pt x="860" y="680"/>
                </a:lnTo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9" name="icon-compass-ring-129"/>
          <p:cNvSpPr/>
          <p:nvPr/>
        </p:nvSpPr>
        <p:spPr>
          <a:xfrm>
            <a:off x="9380220" y="2836545"/>
            <a:ext cx="289560" cy="289560"/>
          </a:xfrm>
          <a:prstGeom prst="ellipse">
            <a:avLst/>
          </a:prstGeom>
          <a:noFill/>
          <a:ln w="19050" cap="rnd">
            <a:solidFill>
              <a:srgbClr val="173D67"/>
            </a:solidFill>
          </a:ln>
        </p:spPr>
      </p:sp>
      <p:sp>
        <p:nvSpPr>
          <p:cNvPr id="130" name="icon-compass-needle-130"/>
          <p:cNvSpPr/>
          <p:nvPr/>
        </p:nvSpPr>
        <p:spPr>
          <a:xfrm>
            <a:off x="9334500" y="2790825"/>
            <a:ext cx="381000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260"/>
                </a:moveTo>
                <a:lnTo>
                  <a:pt x="630" y="500"/>
                </a:lnTo>
                <a:lnTo>
                  <a:pt x="500" y="740"/>
                </a:lnTo>
                <a:lnTo>
                  <a:pt x="370" y="500"/>
                </a:lnTo>
                <a:close/>
              </a:path>
            </a:pathLst>
          </a:custGeom>
          <a:noFill/>
          <a:ln w="17145" cap="rnd">
            <a:solidFill>
              <a:srgbClr val="173D67"/>
            </a:solidFill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05300"/>
          <a:ext cx="5467350" cy="1600200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095500" y="59245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05300"/>
          <a:ext cx="5467350" cy="1600200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7772400" y="59245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228600" y="1057275"/>
            <a:ext cx="5143500" cy="3619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3810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/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044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8431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427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0814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1809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196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8765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192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579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148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228600" y="2562225"/>
          <a:ext cx="5143500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9900" y="1057275"/>
            <a:ext cx="5143500" cy="361950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723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957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344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340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727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722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9109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10105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1492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9900" y="2562225"/>
          <a:ext cx="5143500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59196" y="168554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87974" y="162115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3021" y="174993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047" y="172516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0675" y="211455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3773" y="2684907"/>
            <a:ext cx="336804" cy="312039"/>
          </a:xfrm>
          <a:prstGeom prst="can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0675" y="31337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3679" y="3669411"/>
            <a:ext cx="321945" cy="386334"/>
          </a:xfrm>
          <a:prstGeom prst="roundRect">
            <a:avLst>
              <a:gd name="adj" fmla="val 23669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897880" y="3634740"/>
            <a:ext cx="148590" cy="742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0675" y="4152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228600" y="4552950"/>
          <a:ext cx="11734800" cy="1295400"/>
        </p:xfrm>
        <a:graphic>
          <a:graphicData uri="http://schemas.openxmlformats.org/drawingml/2006/table">
            <a:tbl>
              <a:tblPr/>
              <a:tblGrid>
                <a:gridCol w="3109058"/>
                <a:gridCol w="5516683"/>
                <a:gridCol w="3109059"/>
              </a:tblGrid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228600" y="5915025"/>
            <a:ext cx="11734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均匀度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/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83" name="icon-table-83"/>
          <p:cNvSpPr/>
          <p:nvPr/>
        </p:nvSpPr>
        <p:spPr>
          <a:xfrm>
            <a:off x="476250" y="1095375"/>
            <a:ext cx="419100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0858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0858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84" name="icon-location-84"/>
          <p:cNvSpPr/>
          <p:nvPr/>
        </p:nvSpPr>
        <p:spPr>
          <a:xfrm>
            <a:off x="4381500" y="1095375"/>
            <a:ext cx="419100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85" name="icon-location-dot-85"/>
          <p:cNvSpPr/>
          <p:nvPr/>
        </p:nvSpPr>
        <p:spPr>
          <a:xfrm>
            <a:off x="4540758" y="1208532"/>
            <a:ext cx="100584" cy="100584"/>
          </a:xfrm>
          <a:prstGeom prst="ellipse">
            <a:avLst/>
          </a:prstGeom>
          <a:noFill/>
          <a:ln w="17145" cap="rnd">
            <a:solidFill>
              <a:srgbClr val="173D67"/>
            </a:solidFill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499110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499110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5305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86" name="icon-check-ring-86"/>
          <p:cNvSpPr/>
          <p:nvPr/>
        </p:nvSpPr>
        <p:spPr>
          <a:xfrm>
            <a:off x="8337042" y="1145667"/>
            <a:ext cx="318516" cy="318516"/>
          </a:xfrm>
          <a:prstGeom prst="ellipse">
            <a:avLst/>
          </a:prstGeom>
          <a:noFill/>
          <a:ln w="19050" cap="rnd">
            <a:solidFill>
              <a:srgbClr val="173D67"/>
            </a:solidFill>
          </a:ln>
        </p:spPr>
      </p:sp>
      <p:sp>
        <p:nvSpPr>
          <p:cNvPr id="87" name="icon-check-mark-87"/>
          <p:cNvSpPr/>
          <p:nvPr/>
        </p:nvSpPr>
        <p:spPr>
          <a:xfrm>
            <a:off x="8286750" y="1095375"/>
            <a:ext cx="419100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173D67"/>
            </a:solidFill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963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228600" y="2190750"/>
            <a:ext cx="7477125" cy="3876675"/>
          </a:xfrm>
          <a:prstGeom prst="roundRect">
            <a:avLst>
              <a:gd name="adj" fmla="val 196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238125" y="2200275"/>
            <a:ext cx="745807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8" name="icon-table-88"/>
          <p:cNvSpPr/>
          <p:nvPr/>
        </p:nvSpPr>
        <p:spPr>
          <a:xfrm>
            <a:off x="361950" y="227647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905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361950" y="2686050"/>
          <a:ext cx="7210425" cy="2762250"/>
        </p:xfrm>
        <a:graphic>
          <a:graphicData uri="http://schemas.openxmlformats.org/drawingml/2006/table">
            <a:tbl>
              <a:tblPr/>
              <a:tblGrid>
                <a:gridCol w="1267862"/>
                <a:gridCol w="1069489"/>
                <a:gridCol w="1267862"/>
                <a:gridCol w="1267862"/>
                <a:gridCol w="1267862"/>
                <a:gridCol w="1069491"/>
              </a:tblGrid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AF3D3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△</a:t>
                      </a:r>
                      <a:endParaRPr sz="1500" b="1">
                        <a:solidFill>
                          <a:srgbClr val="AF3D3D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  <a:endParaRPr sz="1500" b="1">
                        <a:solidFill>
                          <a:srgbClr val="718EAA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  <a:endParaRPr sz="1500" b="1">
                        <a:solidFill>
                          <a:srgbClr val="718EAA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718EA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  <a:endParaRPr sz="1500" b="1">
                        <a:solidFill>
                          <a:srgbClr val="718EAA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73D67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73D67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AF3D3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△</a:t>
                      </a:r>
                      <a:endParaRPr sz="1500" b="1">
                        <a:solidFill>
                          <a:srgbClr val="AF3D3D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400050" y="56007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96225" y="2190750"/>
            <a:ext cx="4067175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905750" y="22002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9" name="icon-warning-89"/>
          <p:cNvSpPr/>
          <p:nvPr/>
        </p:nvSpPr>
        <p:spPr>
          <a:xfrm>
            <a:off x="8020050" y="227647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40"/>
                </a:moveTo>
                <a:lnTo>
                  <a:pt x="880" y="820"/>
                </a:lnTo>
                <a:lnTo>
                  <a:pt x="120" y="820"/>
                </a:lnTo>
                <a:close/>
              </a:path>
              <a:path w="1000" h="1000">
                <a:moveTo>
                  <a:pt x="500" y="380"/>
                </a:moveTo>
                <a:lnTo>
                  <a:pt x="500" y="600"/>
                </a:lnTo>
              </a:path>
              <a:path w="1000" h="1000">
                <a:moveTo>
                  <a:pt x="485" y="700"/>
                </a:moveTo>
                <a:lnTo>
                  <a:pt x="515" y="700"/>
                </a:lnTo>
                <a:lnTo>
                  <a:pt x="515" y="730"/>
                </a:lnTo>
                <a:lnTo>
                  <a:pt x="485" y="730"/>
                </a:lnTo>
                <a:close/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53425" y="2257425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86725" y="26765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96225" y="3686175"/>
            <a:ext cx="4067175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905750" y="36957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0" name="icon-check-ring-90"/>
          <p:cNvSpPr/>
          <p:nvPr/>
        </p:nvSpPr>
        <p:spPr>
          <a:xfrm>
            <a:off x="8048625" y="3800475"/>
            <a:ext cx="180975" cy="180975"/>
          </a:xfrm>
          <a:prstGeom prst="ellipse">
            <a:avLst/>
          </a:prstGeom>
          <a:noFill/>
          <a:ln w="14288" cap="rnd">
            <a:solidFill>
              <a:srgbClr val="173D67"/>
            </a:solidFill>
          </a:ln>
        </p:spPr>
      </p:sp>
      <p:sp>
        <p:nvSpPr>
          <p:cNvPr id="91" name="icon-check-mark-91"/>
          <p:cNvSpPr/>
          <p:nvPr/>
        </p:nvSpPr>
        <p:spPr>
          <a:xfrm>
            <a:off x="8020050" y="3771900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16431" cap="rnd">
            <a:solidFill>
              <a:srgbClr val="173D67"/>
            </a:solidFill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53425" y="3752850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77250" y="4772025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/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400050" y="1657350"/>
            <a:ext cx="5638800" cy="1866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5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400050" y="3771900"/>
            <a:ext cx="5524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419100" y="4629150"/>
            <a:ext cx="91440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  <p:sp>
        <p:nvSpPr>
          <p:cNvPr id="32" name="cover-card-bg-32"/>
          <p:cNvSpPr/>
          <p:nvPr/>
        </p:nvSpPr>
        <p:spPr>
          <a:xfrm>
            <a:off x="6362700" y="647700"/>
            <a:ext cx="5410200" cy="5486400"/>
          </a:xfrm>
          <a:prstGeom prst="rect">
            <a:avLst/>
          </a:prstGeom>
          <a:solidFill>
            <a:srgbClr val="FFFFFF"/>
          </a:solidFill>
          <a:ln w="13335" cap="rnd">
            <a:solidFill>
              <a:srgbClr val="173D67"/>
            </a:solidFill>
          </a:ln>
        </p:spPr>
      </p:sp>
      <p:sp>
        <p:nvSpPr>
          <p:cNvPr id="33" name="cover-card-hdr-33"/>
          <p:cNvSpPr/>
          <p:nvPr/>
        </p:nvSpPr>
        <p:spPr>
          <a:xfrm>
            <a:off x="6362700" y="647700"/>
            <a:ext cx="5410200" cy="47625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34" name="cover-card-hdr-txt-34"/>
          <p:cNvSpPr txBox="1"/>
          <p:nvPr/>
        </p:nvSpPr>
        <p:spPr>
          <a:xfrm>
            <a:off x="6572250" y="723900"/>
            <a:ext cx="49911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核心信息速览  ·  KEY HIGHLIGHTS</a:t>
            </a:r>
            <a:endParaRPr lang="zh-CN" sz="1500"/>
          </a:p>
        </p:txBody>
      </p:sp>
      <p:sp>
        <p:nvSpPr>
          <p:cNvPr id="35" name="cover-hl-box-0-35"/>
          <p:cNvSpPr/>
          <p:nvPr/>
        </p:nvSpPr>
        <p:spPr>
          <a:xfrm>
            <a:off x="6553200" y="1257300"/>
            <a:ext cx="5029200" cy="1076325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36" name="cover-hl-bar-0-36"/>
          <p:cNvSpPr/>
          <p:nvPr/>
        </p:nvSpPr>
        <p:spPr>
          <a:xfrm>
            <a:off x="6553200" y="1257300"/>
            <a:ext cx="47625" cy="1076325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37" name="cover-hl-title-0-37"/>
          <p:cNvSpPr txBox="1"/>
          <p:nvPr/>
        </p:nvSpPr>
        <p:spPr>
          <a:xfrm>
            <a:off x="6724650" y="1333500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01  研究背景  ·  界定问题与研究对象</a:t>
            </a:r>
            <a:endParaRPr lang="zh-CN" sz="1425"/>
          </a:p>
        </p:txBody>
      </p:sp>
      <p:sp>
        <p:nvSpPr>
          <p:cNvPr id="38" name="cover-hl-det-0-38"/>
          <p:cNvSpPr txBox="1"/>
          <p:nvPr/>
        </p:nvSpPr>
        <p:spPr>
          <a:xfrm>
            <a:off x="6724650" y="1638300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 lang="zh-CN" sz="1275"/>
          </a:p>
        </p:txBody>
      </p:sp>
      <p:sp>
        <p:nvSpPr>
          <p:cNvPr id="39" name="cover-hl-box-1-39"/>
          <p:cNvSpPr/>
          <p:nvPr/>
        </p:nvSpPr>
        <p:spPr>
          <a:xfrm>
            <a:off x="6553200" y="2447925"/>
            <a:ext cx="5029200" cy="1076325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40" name="cover-hl-bar-1-40"/>
          <p:cNvSpPr/>
          <p:nvPr/>
        </p:nvSpPr>
        <p:spPr>
          <a:xfrm>
            <a:off x="6553200" y="2447925"/>
            <a:ext cx="47625" cy="1076325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41" name="cover-hl-title-1-41"/>
          <p:cNvSpPr txBox="1"/>
          <p:nvPr/>
        </p:nvSpPr>
        <p:spPr>
          <a:xfrm>
            <a:off x="6724650" y="2524125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02  机制与假设  ·  把解释转化为可检验预测</a:t>
            </a:r>
            <a:endParaRPr lang="zh-CN" sz="1425"/>
          </a:p>
        </p:txBody>
      </p:sp>
      <p:sp>
        <p:nvSpPr>
          <p:cNvPr id="42" name="cover-hl-det-1-42"/>
          <p:cNvSpPr txBox="1"/>
          <p:nvPr/>
        </p:nvSpPr>
        <p:spPr>
          <a:xfrm>
            <a:off x="6724650" y="2828925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 lang="zh-CN" sz="1275"/>
          </a:p>
        </p:txBody>
      </p:sp>
      <p:sp>
        <p:nvSpPr>
          <p:cNvPr id="43" name="cover-hl-box-2-43"/>
          <p:cNvSpPr/>
          <p:nvPr/>
        </p:nvSpPr>
        <p:spPr>
          <a:xfrm>
            <a:off x="6553200" y="3638550"/>
            <a:ext cx="5029200" cy="1076325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44" name="cover-hl-bar-2-44"/>
          <p:cNvSpPr/>
          <p:nvPr/>
        </p:nvSpPr>
        <p:spPr>
          <a:xfrm>
            <a:off x="6553200" y="3638550"/>
            <a:ext cx="47625" cy="1076325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45" name="cover-hl-title-2-45"/>
          <p:cNvSpPr txBox="1"/>
          <p:nvPr/>
        </p:nvSpPr>
        <p:spPr>
          <a:xfrm>
            <a:off x="6724650" y="3714750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03  数据与证据  ·  联合观测、比较与模型分析</a:t>
            </a:r>
            <a:endParaRPr lang="zh-CN" sz="1425"/>
          </a:p>
        </p:txBody>
      </p:sp>
      <p:sp>
        <p:nvSpPr>
          <p:cNvPr id="46" name="cover-hl-det-2-46"/>
          <p:cNvSpPr txBox="1"/>
          <p:nvPr/>
        </p:nvSpPr>
        <p:spPr>
          <a:xfrm>
            <a:off x="6724650" y="4019550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 lang="zh-CN" sz="1275"/>
          </a:p>
        </p:txBody>
      </p:sp>
      <p:sp>
        <p:nvSpPr>
          <p:cNvPr id="47" name="cover-hl-box-3-47"/>
          <p:cNvSpPr/>
          <p:nvPr/>
        </p:nvSpPr>
        <p:spPr>
          <a:xfrm>
            <a:off x="6553200" y="4829175"/>
            <a:ext cx="5029200" cy="1076325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48" name="cover-hl-bar-3-48"/>
          <p:cNvSpPr/>
          <p:nvPr/>
        </p:nvSpPr>
        <p:spPr>
          <a:xfrm>
            <a:off x="6553200" y="4829175"/>
            <a:ext cx="47625" cy="1076325"/>
          </a:xfrm>
          <a:prstGeom prst="rect">
            <a:avLst/>
          </a:prstGeom>
          <a:solidFill>
            <a:srgbClr val="AF3D3D"/>
          </a:solidFill>
        </p:spPr>
      </p:sp>
      <p:sp>
        <p:nvSpPr>
          <p:cNvPr id="49" name="cover-hl-title-3-49"/>
          <p:cNvSpPr txBox="1"/>
          <p:nvPr/>
        </p:nvSpPr>
        <p:spPr>
          <a:xfrm>
            <a:off x="6724650" y="4905375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04  结论与展望  ·  明确支持范围与下一步检验</a:t>
            </a:r>
            <a:endParaRPr lang="zh-CN" sz="1425"/>
          </a:p>
        </p:txBody>
      </p:sp>
      <p:sp>
        <p:nvSpPr>
          <p:cNvPr id="50" name="cover-hl-det-3-50"/>
          <p:cNvSpPr txBox="1"/>
          <p:nvPr/>
        </p:nvSpPr>
        <p:spPr>
          <a:xfrm>
            <a:off x="6724650" y="5210175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 lang="zh-CN" sz="1275"/>
          </a:p>
        </p:txBody>
      </p:sp>
    </p:spTree>
    <p:extLst>
      <p:ext uri="{BB962C8B-B14F-4D97-AF65-F5344CB8AC3E}">
        <ns3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/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/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/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/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228600"/>
            <a:ext cx="904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95600" y="1295400"/>
            <a:ext cx="495300" cy="4953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95600" y="1295400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3752850" y="1066800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3752850" y="1438275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3752850" y="1752600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95600" y="2619375"/>
            <a:ext cx="495300" cy="4953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95600" y="261937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3752850" y="2390775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3752850" y="2762250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3752850" y="3076575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95600" y="3943350"/>
            <a:ext cx="495300" cy="4953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95600" y="3943350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3752850" y="3714750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3752850" y="4086225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3752850" y="4400550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95600" y="5267325"/>
            <a:ext cx="495300" cy="4953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95600" y="52673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3752850" y="5038725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3752850" y="5410200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3752850" y="5724525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  <p:sp>
        <p:nvSpPr>
          <p:cNvPr id="91" name="toc-bar-0-91"/>
          <p:cNvSpPr/>
          <p:nvPr/>
        </p:nvSpPr>
        <p:spPr>
          <a:xfrm>
            <a:off x="3562350" y="1123950"/>
            <a:ext cx="38100" cy="8382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92" name="toc-bar-1-92"/>
          <p:cNvSpPr/>
          <p:nvPr/>
        </p:nvSpPr>
        <p:spPr>
          <a:xfrm>
            <a:off x="3562350" y="2447925"/>
            <a:ext cx="38100" cy="8382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93" name="toc-bar-2-93"/>
          <p:cNvSpPr/>
          <p:nvPr/>
        </p:nvSpPr>
        <p:spPr>
          <a:xfrm>
            <a:off x="3562350" y="3771900"/>
            <a:ext cx="38100" cy="8382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94" name="toc-bar-3-94"/>
          <p:cNvSpPr/>
          <p:nvPr/>
        </p:nvSpPr>
        <p:spPr>
          <a:xfrm>
            <a:off x="3562350" y="5095875"/>
            <a:ext cx="38100" cy="838200"/>
          </a:xfrm>
          <a:prstGeom prst="rect">
            <a:avLst/>
          </a:prstGeom>
          <a:solidFill>
            <a:srgbClr val="173D67"/>
          </a:solidFill>
        </p:spPr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81000" y="2133600"/>
            <a:ext cx="5524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038600"/>
            <a:ext cx="5524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457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>
              <a:solidFill>
                <a:srgbClr val="5A6B7C"/>
              </a:solidFill>
            </a:endParaRPr>
          </a:p>
        </p:txBody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409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>
              <a:solidFill>
                <a:srgbClr val="5A6B7C"/>
              </a:solidFill>
            </a:endParaRPr>
          </a:p>
        </p:txBody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362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>
              <a:solidFill>
                <a:srgbClr val="173D67"/>
              </a:solidFill>
            </a:endParaRPr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362700" y="6496050"/>
            <a:ext cx="1952625" cy="38100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315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>
              <a:solidFill>
                <a:srgbClr val="5A6B7C"/>
              </a:solidFill>
            </a:endParaRPr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  <p:sp>
        <p:nvSpPr>
          <p:cNvPr id="55" name="sec-card-bg-55"/>
          <p:cNvSpPr/>
          <p:nvPr/>
        </p:nvSpPr>
        <p:spPr>
          <a:xfrm>
            <a:off x="6362700" y="723900"/>
            <a:ext cx="5410200" cy="4914900"/>
          </a:xfrm>
          <a:prstGeom prst="rect">
            <a:avLst/>
          </a:prstGeom>
          <a:solidFill>
            <a:srgbClr val="FFFFFF"/>
          </a:solidFill>
          <a:ln w="13335" cap="rnd">
            <a:solidFill>
              <a:srgbClr val="173D67"/>
            </a:solidFill>
          </a:ln>
        </p:spPr>
      </p:sp>
      <p:sp>
        <p:nvSpPr>
          <p:cNvPr id="56" name="sec-card-hdr-56"/>
          <p:cNvSpPr/>
          <p:nvPr/>
        </p:nvSpPr>
        <p:spPr>
          <a:xfrm>
            <a:off x="6362700" y="723900"/>
            <a:ext cx="5410200" cy="4572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57" name="sec-card-hdr-txt-57"/>
          <p:cNvSpPr txBox="1"/>
          <p:nvPr/>
        </p:nvSpPr>
        <p:spPr>
          <a:xfrm>
            <a:off x="6572250" y="790575"/>
            <a:ext cx="49911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章节导航  ·  SECTION ROADMAP</a:t>
            </a:r>
            <a:endParaRPr lang="zh-CN" sz="1500"/>
          </a:p>
        </p:txBody>
      </p:sp>
      <p:sp>
        <p:nvSpPr>
          <p:cNvPr id="58" name="sec-ch-box-0-58"/>
          <p:cNvSpPr/>
          <p:nvPr/>
        </p:nvSpPr>
        <p:spPr>
          <a:xfrm>
            <a:off x="6591300" y="1352550"/>
            <a:ext cx="4953000" cy="952500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59" name="sec-ch-txt-0-59"/>
          <p:cNvSpPr txBox="1"/>
          <p:nvPr/>
        </p:nvSpPr>
        <p:spPr>
          <a:xfrm>
            <a:off x="6800850" y="14859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 lang="zh-CN" sz="1650"/>
          </a:p>
        </p:txBody>
      </p:sp>
      <p:sp>
        <p:nvSpPr>
          <p:cNvPr id="60" name="sec-ch-sub-0-60"/>
          <p:cNvSpPr txBox="1"/>
          <p:nvPr/>
        </p:nvSpPr>
        <p:spPr>
          <a:xfrm>
            <a:off x="6800850" y="17811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第 01 章</a:t>
            </a:r>
            <a:endParaRPr lang="zh-CN" sz="1275"/>
          </a:p>
        </p:txBody>
      </p:sp>
      <p:sp>
        <p:nvSpPr>
          <p:cNvPr id="61" name="sec-ch-box-1-61"/>
          <p:cNvSpPr/>
          <p:nvPr/>
        </p:nvSpPr>
        <p:spPr>
          <a:xfrm>
            <a:off x="6591300" y="2381250"/>
            <a:ext cx="4953000" cy="952500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62" name="sec-ch-txt-1-62"/>
          <p:cNvSpPr txBox="1"/>
          <p:nvPr/>
        </p:nvSpPr>
        <p:spPr>
          <a:xfrm>
            <a:off x="6800850" y="25146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 lang="zh-CN" sz="1650"/>
          </a:p>
        </p:txBody>
      </p:sp>
      <p:sp>
        <p:nvSpPr>
          <p:cNvPr id="63" name="sec-ch-sub-1-63"/>
          <p:cNvSpPr txBox="1"/>
          <p:nvPr/>
        </p:nvSpPr>
        <p:spPr>
          <a:xfrm>
            <a:off x="6800850" y="28098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第 02 章</a:t>
            </a:r>
            <a:endParaRPr lang="zh-CN" sz="1275"/>
          </a:p>
        </p:txBody>
      </p:sp>
      <p:sp>
        <p:nvSpPr>
          <p:cNvPr id="64" name="sec-ch-box-2-64"/>
          <p:cNvSpPr/>
          <p:nvPr/>
        </p:nvSpPr>
        <p:spPr>
          <a:xfrm>
            <a:off x="6591300" y="3409950"/>
            <a:ext cx="4953000" cy="952500"/>
          </a:xfrm>
          <a:prstGeom prst="rect">
            <a:avLst/>
          </a:prstGeom>
          <a:solidFill>
            <a:srgbClr val="173D67"/>
          </a:solidFill>
          <a:ln w="11430" cap="rnd">
            <a:solidFill>
              <a:srgbClr val="173D67"/>
            </a:solidFill>
          </a:ln>
        </p:spPr>
      </p:sp>
      <p:sp>
        <p:nvSpPr>
          <p:cNvPr id="65" name="sec-ch-accent-2-65"/>
          <p:cNvSpPr/>
          <p:nvPr/>
        </p:nvSpPr>
        <p:spPr>
          <a:xfrm>
            <a:off x="6591300" y="3409950"/>
            <a:ext cx="76200" cy="952500"/>
          </a:xfrm>
          <a:prstGeom prst="rect">
            <a:avLst/>
          </a:prstGeom>
          <a:solidFill>
            <a:srgbClr val="AF3D3D"/>
          </a:solidFill>
        </p:spPr>
      </p:sp>
      <p:sp>
        <p:nvSpPr>
          <p:cNvPr id="66" name="sec-ch-txt-2-66"/>
          <p:cNvSpPr txBox="1"/>
          <p:nvPr/>
        </p:nvSpPr>
        <p:spPr>
          <a:xfrm>
            <a:off x="6800850" y="35433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 lang="zh-CN" sz="1650"/>
          </a:p>
        </p:txBody>
      </p:sp>
      <p:sp>
        <p:nvSpPr>
          <p:cNvPr id="67" name="sec-ch-sub-2-67"/>
          <p:cNvSpPr txBox="1"/>
          <p:nvPr/>
        </p:nvSpPr>
        <p:spPr>
          <a:xfrm>
            <a:off x="6800850" y="38385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结合空间格局、群落指标与模型结果，</a:t>
            </a:r>
            <a:endParaRPr lang="zh-CN" sz="1275"/>
          </a:p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逐步检验生态机制。</a:t>
            </a:r>
            <a:endParaRPr lang="zh-CN" sz="1275"/>
          </a:p>
        </p:txBody>
      </p:sp>
      <p:sp>
        <p:nvSpPr>
          <p:cNvPr id="68" name="sec-ch-box-3-68"/>
          <p:cNvSpPr/>
          <p:nvPr/>
        </p:nvSpPr>
        <p:spPr>
          <a:xfrm>
            <a:off x="6591300" y="4438650"/>
            <a:ext cx="4953000" cy="952500"/>
          </a:xfrm>
          <a:prstGeom prst="rect">
            <a:avLst/>
          </a:prstGeom>
          <a:solidFill>
            <a:srgbClr val="EEF3F8"/>
          </a:solidFill>
          <a:ln w="7620" cap="rnd">
            <a:solidFill>
              <a:srgbClr val="718EAA"/>
            </a:solidFill>
          </a:ln>
        </p:spPr>
      </p:sp>
      <p:sp>
        <p:nvSpPr>
          <p:cNvPr id="69" name="sec-ch-txt-3-69"/>
          <p:cNvSpPr txBox="1"/>
          <p:nvPr/>
        </p:nvSpPr>
        <p:spPr>
          <a:xfrm>
            <a:off x="6800850" y="45720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 lang="zh-CN" sz="1650"/>
          </a:p>
        </p:txBody>
      </p:sp>
      <p:sp>
        <p:nvSpPr>
          <p:cNvPr id="70" name="sec-ch-sub-3-70"/>
          <p:cNvSpPr txBox="1"/>
          <p:nvPr/>
        </p:nvSpPr>
        <p:spPr>
          <a:xfrm>
            <a:off x="6800850" y="48672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第 04 章</a:t>
            </a:r>
            <a:endParaRPr lang="zh-CN" sz="1275"/>
          </a:p>
        </p:txBody>
      </p:sp>
    </p:spTree>
    <p:extLst>
      <p:ext uri="{BB962C8B-B14F-4D97-AF65-F5344CB8AC3E}">
        <ns3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228600" y="876300"/>
            <a:ext cx="2743200" cy="521017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238125" y="885825"/>
            <a:ext cx="2724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360902" y="101165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427768" y="97821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25196" y="104508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533210" y="103222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685800" y="942975"/>
            <a:ext cx="217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/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43250" y="876300"/>
            <a:ext cx="5238750" cy="5210175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52775" y="885825"/>
            <a:ext cx="52197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57550" y="1045083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57550" y="998792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57550" y="952500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00450" y="942975"/>
            <a:ext cx="466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/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53450" y="876300"/>
            <a:ext cx="3409950" cy="5210175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62975" y="885825"/>
            <a:ext cx="33909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93468" y="978218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9010650" y="942975"/>
            <a:ext cx="2838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381000" y="1555242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381000" y="1472946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381000" y="1390650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933450" y="1447800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381000" y="1828800"/>
            <a:ext cx="2438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486156" y="2932176"/>
            <a:ext cx="123444" cy="205740"/>
          </a:xfrm>
          <a:prstGeom prst="ellipse">
            <a:avLst/>
          </a:prstGeom>
          <a:solidFill>
            <a:srgbClr val="68819C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14172" y="3032760"/>
            <a:ext cx="137160" cy="205740"/>
          </a:xfrm>
          <a:prstGeom prst="ellipse">
            <a:avLst/>
          </a:prstGeom>
          <a:solidFill>
            <a:srgbClr val="9EAEBF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933450" y="2971800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381000" y="3352800"/>
            <a:ext cx="2438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13004" y="4505706"/>
            <a:ext cx="393192" cy="278892"/>
          </a:xfrm>
          <a:prstGeom prst="roundRect">
            <a:avLst>
              <a:gd name="adj" fmla="val 27322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531876" y="4446270"/>
            <a:ext cx="150876" cy="77724"/>
          </a:xfrm>
          <a:prstGeom prst="roundRect">
            <a:avLst>
              <a:gd name="adj" fmla="val 50000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27304" y="4565142"/>
            <a:ext cx="164592" cy="164592"/>
          </a:xfrm>
          <a:prstGeom prst="ellipse">
            <a:avLst/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19328" y="4542282"/>
            <a:ext cx="36576" cy="36576"/>
          </a:xfrm>
          <a:prstGeom prst="ellipse">
            <a:avLst/>
          </a:prstGeom>
          <a:solidFill>
            <a:srgbClr val="173D67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933450" y="4495800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381000" y="4876800"/>
            <a:ext cx="2438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2766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00425" y="1682877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00425" y="1617726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00425" y="1552575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385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909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530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21605" y="1639443"/>
            <a:ext cx="79629" cy="7962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149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673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94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36474" y="1581531"/>
            <a:ext cx="97727" cy="162878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37820" y="1661160"/>
            <a:ext cx="108585" cy="162878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913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7437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2766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36620" y="2997518"/>
            <a:ext cx="194310" cy="180023"/>
          </a:xfrm>
          <a:prstGeom prst="can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528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/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530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18735" y="2977515"/>
            <a:ext cx="185738" cy="222885"/>
          </a:xfrm>
          <a:prstGeom prst="roundRect">
            <a:avLst>
              <a:gd name="adj" fmla="val 41026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67313" y="2957513"/>
            <a:ext cx="85725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292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/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94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60845" y="3028950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52285" y="2957513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63728" y="300894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20865" y="3160395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92278" y="315753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1056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/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387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151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576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40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4104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276600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36620" y="4131945"/>
            <a:ext cx="280035" cy="280035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57625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/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09950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/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0725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7419" y="4285298"/>
            <a:ext cx="43339" cy="11001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761" y="4225290"/>
            <a:ext cx="43339" cy="170021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4104" y="4158615"/>
            <a:ext cx="43339" cy="23669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81750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/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4075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/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76750" y="3543300"/>
            <a:ext cx="1257300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4050" y="3543300"/>
            <a:ext cx="1266825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24325" y="5505450"/>
            <a:ext cx="3286125" cy="428625"/>
          </a:xfrm>
          <a:prstGeom prst="roundRect">
            <a:avLst>
              <a:gd name="adj" fmla="val 17778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19575" y="5581650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/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76750" y="4876800"/>
            <a:ext cx="129063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67388" y="4876800"/>
            <a:ext cx="123348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705850" y="14001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39175" y="1752600"/>
          <a:ext cx="3219450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39175" y="2088909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39175" y="2405691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39175" y="2722474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39175" y="3039256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69399" y="385762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705850" y="416242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48713" y="460533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67800" y="455295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48713" y="5053013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67800" y="5000625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48713" y="550068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67800" y="544830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/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/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41" name="l9-state-card-10-41"/>
          <p:cNvSpPr/>
          <p:nvPr/>
        </p:nvSpPr>
        <p:spPr>
          <a:xfrm>
            <a:off x="438150" y="2114550"/>
            <a:ext cx="2076450" cy="1200150"/>
          </a:xfrm>
          <a:prstGeom prst="rect">
            <a:avLst/>
          </a:prstGeom>
          <a:solidFill>
            <a:srgbClr val="EEF3F8"/>
          </a:solidFill>
          <a:ln w="12382" cap="rnd">
            <a:solidFill>
              <a:srgbClr val="718EAA"/>
            </a:solidFill>
          </a:ln>
        </p:spPr>
      </p:sp>
      <p:sp>
        <p:nvSpPr>
          <p:cNvPr id="42" name="l9-state-bar-10-42"/>
          <p:cNvSpPr/>
          <p:nvPr/>
        </p:nvSpPr>
        <p:spPr>
          <a:xfrm>
            <a:off x="438150" y="2114550"/>
            <a:ext cx="2076450" cy="5715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18097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43" name="l9-state-card-11-43"/>
          <p:cNvSpPr/>
          <p:nvPr/>
        </p:nvSpPr>
        <p:spPr>
          <a:xfrm>
            <a:off x="3409950" y="2114550"/>
            <a:ext cx="2343150" cy="1200150"/>
          </a:xfrm>
          <a:prstGeom prst="rect">
            <a:avLst/>
          </a:prstGeom>
          <a:solidFill>
            <a:srgbClr val="FFFFFF"/>
          </a:solidFill>
          <a:ln w="12382" cap="rnd">
            <a:solidFill>
              <a:srgbClr val="173D67"/>
            </a:solidFill>
          </a:ln>
        </p:spPr>
      </p:sp>
      <p:sp>
        <p:nvSpPr>
          <p:cNvPr id="44" name="l9-state-bar-11-44"/>
          <p:cNvSpPr/>
          <p:nvPr/>
        </p:nvSpPr>
        <p:spPr>
          <a:xfrm>
            <a:off x="3409950" y="2114550"/>
            <a:ext cx="2343150" cy="5715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543300" y="2286000"/>
            <a:ext cx="20764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/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45" name="l9-state-card-23-45"/>
          <p:cNvSpPr/>
          <p:nvPr/>
        </p:nvSpPr>
        <p:spPr>
          <a:xfrm>
            <a:off x="6381750" y="2114550"/>
            <a:ext cx="2076450" cy="1200150"/>
          </a:xfrm>
          <a:prstGeom prst="rect">
            <a:avLst/>
          </a:prstGeom>
          <a:solidFill>
            <a:srgbClr val="EEF3F8"/>
          </a:solidFill>
          <a:ln w="12382" cap="rnd">
            <a:solidFill>
              <a:srgbClr val="718EAA"/>
            </a:solidFill>
          </a:ln>
        </p:spPr>
      </p:sp>
      <p:sp>
        <p:nvSpPr>
          <p:cNvPr id="46" name="l9-state-bar-23-46"/>
          <p:cNvSpPr/>
          <p:nvPr/>
        </p:nvSpPr>
        <p:spPr>
          <a:xfrm>
            <a:off x="6381750" y="2114550"/>
            <a:ext cx="2076450" cy="5715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515100" y="2286000"/>
            <a:ext cx="18097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47" name="l9-state-card-24-47"/>
          <p:cNvSpPr/>
          <p:nvPr/>
        </p:nvSpPr>
        <p:spPr>
          <a:xfrm>
            <a:off x="9353550" y="2114550"/>
            <a:ext cx="2343150" cy="1200150"/>
          </a:xfrm>
          <a:prstGeom prst="rect">
            <a:avLst/>
          </a:prstGeom>
          <a:solidFill>
            <a:srgbClr val="FFFFFF"/>
          </a:solidFill>
          <a:ln w="12382" cap="rnd">
            <a:solidFill>
              <a:srgbClr val="173D67"/>
            </a:solidFill>
          </a:ln>
        </p:spPr>
      </p:sp>
      <p:sp>
        <p:nvSpPr>
          <p:cNvPr id="48" name="l9-state-bar-24-48"/>
          <p:cNvSpPr/>
          <p:nvPr/>
        </p:nvSpPr>
        <p:spPr>
          <a:xfrm>
            <a:off x="9353550" y="2114550"/>
            <a:ext cx="2343150" cy="5715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86900" y="2286000"/>
            <a:ext cx="20764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314450"/>
        </p:xfrm>
        <a:graphic>
          <a:graphicData uri="http://schemas.openxmlformats.org/drawingml/2006/table">
            <a:tbl>
              <a:tblPr/>
              <a:tblGrid>
                <a:gridCol w="2683743"/>
                <a:gridCol w="4788640"/>
                <a:gridCol w="4262417"/>
              </a:tblGrid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共同作用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对照设计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/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3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2619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342900" y="923925"/>
            <a:ext cx="2390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19425" y="895350"/>
            <a:ext cx="5391150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33725" y="923925"/>
            <a:ext cx="5162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82025" y="895350"/>
            <a:ext cx="3381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96325" y="923925"/>
            <a:ext cx="3152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228600" y="14097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546735" y="1648206"/>
            <a:ext cx="96393" cy="96393"/>
          </a:xfrm>
          <a:prstGeom prst="ellipse">
            <a:avLst/>
          </a:prstGeom>
          <a:solidFill>
            <a:srgbClr val="173D67"/>
          </a:solidFill>
          <a:ln w="13692">
            <a:solidFill>
              <a:srgbClr val="173D67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952500" y="15335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381000" y="20097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228600" y="295275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371475" y="3243834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371475" y="3164967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371475" y="3086100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952500" y="307657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381000" y="355282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228600" y="44958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441579" y="4712399"/>
            <a:ext cx="297942" cy="276035"/>
          </a:xfrm>
          <a:prstGeom prst="can">
            <a:avLst/>
          </a:prstGeom>
          <a:noFill/>
          <a:ln w="13692">
            <a:solidFill>
              <a:srgbClr val="173D67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952500" y="46196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381000" y="50958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2420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38500" y="1764030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38500" y="1686878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38500" y="1609725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77190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455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10300" y="1712595"/>
            <a:ext cx="94298" cy="94298"/>
          </a:xfrm>
          <a:prstGeom prst="ellipse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/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2420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37084" y="3368040"/>
            <a:ext cx="115729" cy="192881"/>
          </a:xfrm>
          <a:prstGeom prst="ellipse">
            <a:avLst/>
          </a:prstGeom>
          <a:solidFill>
            <a:srgbClr val="68819C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57099" y="3462338"/>
            <a:ext cx="128588" cy="192881"/>
          </a:xfrm>
          <a:prstGeom prst="ellipse">
            <a:avLst/>
          </a:prstGeom>
          <a:solidFill>
            <a:srgbClr val="9EAEB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77190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/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455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568" y="34623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1728" y="33551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8891" y="34323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4598" y="36595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716" y="36552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7225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/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2420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38500" y="5057775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07080" y="5079206"/>
            <a:ext cx="295751" cy="265748"/>
          </a:xfrm>
          <a:prstGeom prst="cloud">
            <a:avLst/>
          </a:prstGeom>
          <a:solidFill>
            <a:srgbClr val="748BA4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77190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/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455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6006" y="5289233"/>
            <a:ext cx="55721" cy="14144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40304" y="5212080"/>
            <a:ext cx="55721" cy="218599"/>
          </a:xfrm>
          <a:prstGeom prst="rect">
            <a:avLst/>
          </a:prstGeom>
          <a:solidFill>
            <a:srgbClr val="5D7795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4601" y="5126355"/>
            <a:ext cx="55721" cy="304324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/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0053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10088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0053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10088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76875" y="5419725"/>
            <a:ext cx="447675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62500" y="4286250"/>
            <a:ext cx="1943100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57750" y="4333875"/>
            <a:ext cx="17526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96325" y="13811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629650" y="1752600"/>
          <a:ext cx="3238500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629650" y="2036978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629650" y="2315642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629650" y="2594305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629650" y="2872969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65970" y="342900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96325" y="37052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629650" y="4076700"/>
          <a:ext cx="3238500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65970" y="59055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因果解释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研究设计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/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270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证据缺口</a:t>
            </a: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23812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6" name="icon-chart-156"/>
          <p:cNvSpPr/>
          <p:nvPr/>
        </p:nvSpPr>
        <p:spPr>
          <a:xfrm>
            <a:off x="361950" y="98107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840"/>
                </a:moveTo>
                <a:lnTo>
                  <a:pt x="860" y="840"/>
                </a:lnTo>
              </a:path>
              <a:path w="1000" h="1000">
                <a:moveTo>
                  <a:pt x="220" y="840"/>
                </a:moveTo>
                <a:lnTo>
                  <a:pt x="220" y="520"/>
                </a:lnTo>
                <a:lnTo>
                  <a:pt x="350" y="520"/>
                </a:lnTo>
                <a:lnTo>
                  <a:pt x="350" y="840"/>
                </a:lnTo>
              </a:path>
              <a:path w="1000" h="1000">
                <a:moveTo>
                  <a:pt x="435" y="840"/>
                </a:moveTo>
                <a:lnTo>
                  <a:pt x="435" y="340"/>
                </a:lnTo>
                <a:lnTo>
                  <a:pt x="565" y="340"/>
                </a:lnTo>
                <a:lnTo>
                  <a:pt x="565" y="840"/>
                </a:lnTo>
              </a:path>
              <a:path w="1000" h="1000">
                <a:moveTo>
                  <a:pt x="650" y="840"/>
                </a:moveTo>
                <a:lnTo>
                  <a:pt x="650" y="180"/>
                </a:lnTo>
                <a:lnTo>
                  <a:pt x="780" y="180"/>
                </a:lnTo>
                <a:lnTo>
                  <a:pt x="780" y="840"/>
                </a:lnTo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68580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/>
          </a:p>
        </p:txBody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495300" y="13906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419100" y="2286000"/>
            <a:ext cx="3429000" cy="0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495300" y="236220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495300" y="262890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00525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10050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7" name="icon-location-157"/>
          <p:cNvSpPr/>
          <p:nvPr/>
        </p:nvSpPr>
        <p:spPr>
          <a:xfrm>
            <a:off x="4333875" y="98107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158" name="icon-location-dot-158"/>
          <p:cNvSpPr/>
          <p:nvPr/>
        </p:nvSpPr>
        <p:spPr>
          <a:xfrm>
            <a:off x="4424362" y="1045369"/>
            <a:ext cx="57150" cy="57150"/>
          </a:xfrm>
          <a:prstGeom prst="ellipse">
            <a:avLst/>
          </a:prstGeom>
          <a:noFill/>
          <a:ln w="12859" cap="rnd">
            <a:solidFill>
              <a:srgbClr val="173D67"/>
            </a:solidFill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57725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/>
          </a:p>
        </p:txBody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4467225" y="13906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4467225" y="165735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4391025" y="2286000"/>
            <a:ext cx="3429000" cy="0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4467225" y="236220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4467225" y="262890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7245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8197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9" name="icon-doc-159"/>
          <p:cNvSpPr/>
          <p:nvPr/>
        </p:nvSpPr>
        <p:spPr>
          <a:xfrm>
            <a:off x="8305800" y="98107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62965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/>
          </a:p>
        </p:txBody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8439150" y="13906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8439150" y="165735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8362950" y="2286000"/>
            <a:ext cx="3429000" cy="0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8439150" y="236220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8439150" y="262890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22860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23812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60" name="icon-table-160"/>
          <p:cNvSpPr/>
          <p:nvPr/>
        </p:nvSpPr>
        <p:spPr>
          <a:xfrm>
            <a:off x="361950" y="359092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/>
          </a:p>
        </p:txBody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495300" y="400050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495300" y="426720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419100" y="4895850"/>
            <a:ext cx="3429000" cy="0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495300" y="49720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495300" y="523875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00525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10050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61" name="icon-chart-161"/>
          <p:cNvSpPr/>
          <p:nvPr/>
        </p:nvSpPr>
        <p:spPr>
          <a:xfrm>
            <a:off x="4333875" y="359092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840"/>
                </a:moveTo>
                <a:lnTo>
                  <a:pt x="860" y="840"/>
                </a:lnTo>
              </a:path>
              <a:path w="1000" h="1000">
                <a:moveTo>
                  <a:pt x="220" y="840"/>
                </a:moveTo>
                <a:lnTo>
                  <a:pt x="220" y="520"/>
                </a:lnTo>
                <a:lnTo>
                  <a:pt x="350" y="520"/>
                </a:lnTo>
                <a:lnTo>
                  <a:pt x="350" y="840"/>
                </a:lnTo>
              </a:path>
              <a:path w="1000" h="1000">
                <a:moveTo>
                  <a:pt x="435" y="840"/>
                </a:moveTo>
                <a:lnTo>
                  <a:pt x="435" y="340"/>
                </a:lnTo>
                <a:lnTo>
                  <a:pt x="565" y="340"/>
                </a:lnTo>
                <a:lnTo>
                  <a:pt x="565" y="840"/>
                </a:lnTo>
              </a:path>
              <a:path w="1000" h="1000">
                <a:moveTo>
                  <a:pt x="650" y="840"/>
                </a:moveTo>
                <a:lnTo>
                  <a:pt x="650" y="180"/>
                </a:lnTo>
                <a:lnTo>
                  <a:pt x="780" y="180"/>
                </a:lnTo>
                <a:lnTo>
                  <a:pt x="780" y="840"/>
                </a:lnTo>
              </a:path>
            </a:pathLst>
          </a:custGeom>
          <a:noFill/>
          <a:ln w="14288" cap="rnd">
            <a:solidFill>
              <a:srgbClr val="173D67"/>
            </a:solidFill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57725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/>
          </a:p>
        </p:txBody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4467225" y="400050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4467225" y="426720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4391025" y="4895850"/>
            <a:ext cx="3429000" cy="0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4467225" y="49720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4467225" y="523875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7245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8197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62" name="icon-compass-ring-162"/>
          <p:cNvSpPr/>
          <p:nvPr/>
        </p:nvSpPr>
        <p:spPr>
          <a:xfrm>
            <a:off x="8334375" y="3619500"/>
            <a:ext cx="180975" cy="180975"/>
          </a:xfrm>
          <a:prstGeom prst="ellipse">
            <a:avLst/>
          </a:prstGeom>
          <a:noFill/>
          <a:ln w="14288" cap="rnd">
            <a:solidFill>
              <a:srgbClr val="173D67"/>
            </a:solidFill>
          </a:ln>
        </p:spPr>
      </p:sp>
      <p:sp>
        <p:nvSpPr>
          <p:cNvPr id="163" name="icon-compass-needle-163"/>
          <p:cNvSpPr/>
          <p:nvPr/>
        </p:nvSpPr>
        <p:spPr>
          <a:xfrm>
            <a:off x="8305800" y="3590925"/>
            <a:ext cx="238125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260"/>
                </a:moveTo>
                <a:lnTo>
                  <a:pt x="630" y="500"/>
                </a:lnTo>
                <a:lnTo>
                  <a:pt x="500" y="740"/>
                </a:lnTo>
                <a:lnTo>
                  <a:pt x="370" y="500"/>
                </a:lnTo>
                <a:close/>
              </a:path>
            </a:pathLst>
          </a:custGeom>
          <a:noFill/>
          <a:ln w="12859" cap="rnd">
            <a:solidFill>
              <a:srgbClr val="173D67"/>
            </a:solidFill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62965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/>
          </a:p>
        </p:txBody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8439150" y="400050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8439150" y="426720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8362950" y="4895850"/>
            <a:ext cx="3429000" cy="0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8439150" y="49720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8439150" y="5238750"/>
            <a:ext cx="333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证据缺口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/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/>
          </a:p>
        </p:txBody>
      </p:sp>
      <p:sp>
        <p:nvSpPr>
          <p:cNvPr id="135" name="l12-bar1-0-135"/>
          <p:cNvSpPr/>
          <p:nvPr/>
        </p:nvSpPr>
        <p:spPr>
          <a:xfrm>
            <a:off x="381000" y="1428750"/>
            <a:ext cx="38100" cy="76200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36" name="l12-bar2-0-136"/>
          <p:cNvSpPr/>
          <p:nvPr/>
        </p:nvSpPr>
        <p:spPr>
          <a:xfrm>
            <a:off x="381000" y="2400300"/>
            <a:ext cx="38100" cy="7620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37" name="l12-bar1-1-137"/>
          <p:cNvSpPr/>
          <p:nvPr/>
        </p:nvSpPr>
        <p:spPr>
          <a:xfrm>
            <a:off x="4352925" y="1428750"/>
            <a:ext cx="38100" cy="76200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38" name="l12-bar2-1-138"/>
          <p:cNvSpPr/>
          <p:nvPr/>
        </p:nvSpPr>
        <p:spPr>
          <a:xfrm>
            <a:off x="4352925" y="2400300"/>
            <a:ext cx="38100" cy="7620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39" name="l12-bar1-2-139"/>
          <p:cNvSpPr/>
          <p:nvPr/>
        </p:nvSpPr>
        <p:spPr>
          <a:xfrm>
            <a:off x="8324850" y="1428750"/>
            <a:ext cx="38100" cy="76200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40" name="l12-bar2-2-140"/>
          <p:cNvSpPr/>
          <p:nvPr/>
        </p:nvSpPr>
        <p:spPr>
          <a:xfrm>
            <a:off x="8324850" y="2400300"/>
            <a:ext cx="38100" cy="7620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41" name="l12-bar1-3-141"/>
          <p:cNvSpPr/>
          <p:nvPr/>
        </p:nvSpPr>
        <p:spPr>
          <a:xfrm>
            <a:off x="381000" y="4038600"/>
            <a:ext cx="38100" cy="76200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42" name="l12-bar2-3-142"/>
          <p:cNvSpPr/>
          <p:nvPr/>
        </p:nvSpPr>
        <p:spPr>
          <a:xfrm>
            <a:off x="381000" y="5010150"/>
            <a:ext cx="38100" cy="7620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43" name="l12-bar1-4-143"/>
          <p:cNvSpPr/>
          <p:nvPr/>
        </p:nvSpPr>
        <p:spPr>
          <a:xfrm>
            <a:off x="4352925" y="4038600"/>
            <a:ext cx="38100" cy="76200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44" name="l12-bar2-4-144"/>
          <p:cNvSpPr/>
          <p:nvPr/>
        </p:nvSpPr>
        <p:spPr>
          <a:xfrm>
            <a:off x="4352925" y="5010150"/>
            <a:ext cx="38100" cy="7620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145" name="l12-bar1-5-145"/>
          <p:cNvSpPr/>
          <p:nvPr/>
        </p:nvSpPr>
        <p:spPr>
          <a:xfrm>
            <a:off x="8324850" y="4038600"/>
            <a:ext cx="38100" cy="762000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46" name="l12-bar2-5-146"/>
          <p:cNvSpPr/>
          <p:nvPr/>
        </p:nvSpPr>
        <p:spPr>
          <a:xfrm>
            <a:off x="8324850" y="5010150"/>
            <a:ext cx="38100" cy="762000"/>
          </a:xfrm>
          <a:prstGeom prst="rect">
            <a:avLst/>
          </a:prstGeom>
          <a:solidFill>
            <a:srgbClr val="173D67"/>
          </a:solidFill>
        </p:spPr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228600" y="95250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2" name="icon-search-ring-122"/>
          <p:cNvSpPr/>
          <p:nvPr/>
        </p:nvSpPr>
        <p:spPr>
          <a:xfrm>
            <a:off x="782574" y="1144524"/>
            <a:ext cx="226314" cy="226314"/>
          </a:xfrm>
          <a:prstGeom prst="ellipse">
            <a:avLst/>
          </a:prstGeom>
          <a:noFill/>
          <a:ln w="19050" cap="rnd">
            <a:solidFill>
              <a:srgbClr val="173D67"/>
            </a:solidFill>
          </a:ln>
        </p:spPr>
      </p:sp>
      <p:sp>
        <p:nvSpPr>
          <p:cNvPr id="123" name="icon-search-handle-123"/>
          <p:cNvSpPr/>
          <p:nvPr/>
        </p:nvSpPr>
        <p:spPr>
          <a:xfrm>
            <a:off x="723900" y="1085850"/>
            <a:ext cx="419100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10" y="610"/>
                </a:moveTo>
                <a:lnTo>
                  <a:pt x="850" y="850"/>
                </a:lnTo>
              </a:path>
            </a:pathLst>
          </a:custGeom>
          <a:noFill/>
          <a:ln w="21908" cap="rnd">
            <a:solidFill>
              <a:srgbClr val="173D67"/>
            </a:solidFill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266700" y="1581150"/>
            <a:ext cx="1390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/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266700" y="1885950"/>
            <a:ext cx="139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“是什么”</a:t>
            </a:r>
            <a:endParaRPr/>
          </a:p>
        </p:txBody>
      </p:sp>
      <p:sp>
        <p:nvSpPr>
          <p:cNvPr id="101" name="l13-before-card-0-101"/>
          <p:cNvSpPr/>
          <p:nvPr/>
        </p:nvSpPr>
        <p:spPr>
          <a:xfrm>
            <a:off x="1866900" y="1143000"/>
            <a:ext cx="2076450" cy="1095375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718EAA"/>
            </a:solidFill>
          </a:ln>
        </p:spPr>
      </p:sp>
      <p:sp>
        <p:nvSpPr>
          <p:cNvPr id="102" name="l13-before-bar-0-102"/>
          <p:cNvSpPr/>
          <p:nvPr/>
        </p:nvSpPr>
        <p:spPr>
          <a:xfrm>
            <a:off x="1866900" y="1143000"/>
            <a:ext cx="47625" cy="1095375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2000250" y="1219200"/>
            <a:ext cx="18478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24325" y="1143000"/>
            <a:ext cx="4057650" cy="109537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43400" y="1276350"/>
            <a:ext cx="3486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43400" y="167640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03" name="l13-after-card-0-103"/>
          <p:cNvSpPr/>
          <p:nvPr/>
        </p:nvSpPr>
        <p:spPr>
          <a:xfrm>
            <a:off x="8362950" y="1143000"/>
            <a:ext cx="3486150" cy="1095375"/>
          </a:xfrm>
          <a:prstGeom prst="rect">
            <a:avLst/>
          </a:prstGeom>
          <a:solidFill>
            <a:srgbClr val="EEF3F8"/>
          </a:solidFill>
          <a:ln w="12382" cap="rnd">
            <a:solidFill>
              <a:srgbClr val="173D67"/>
            </a:solidFill>
          </a:ln>
        </p:spPr>
      </p:sp>
      <p:sp>
        <p:nvSpPr>
          <p:cNvPr id="104" name="l13-after-bar-0-104"/>
          <p:cNvSpPr/>
          <p:nvPr/>
        </p:nvSpPr>
        <p:spPr>
          <a:xfrm>
            <a:off x="8362950" y="1143000"/>
            <a:ext cx="47625" cy="1095375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515350" y="1219200"/>
            <a:ext cx="32194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228600" y="247650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228600" y="2562225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4" name="icon-table-124"/>
          <p:cNvSpPr/>
          <p:nvPr/>
        </p:nvSpPr>
        <p:spPr>
          <a:xfrm>
            <a:off x="723900" y="2695575"/>
            <a:ext cx="419100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266700" y="3190875"/>
            <a:ext cx="1390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/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266700" y="3495675"/>
            <a:ext cx="139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“为什么”</a:t>
            </a:r>
            <a:endParaRPr/>
          </a:p>
        </p:txBody>
      </p:sp>
      <p:sp>
        <p:nvSpPr>
          <p:cNvPr id="105" name="l13-before-card-1-105"/>
          <p:cNvSpPr/>
          <p:nvPr/>
        </p:nvSpPr>
        <p:spPr>
          <a:xfrm>
            <a:off x="1866900" y="2752725"/>
            <a:ext cx="2076450" cy="1095375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718EAA"/>
            </a:solidFill>
          </a:ln>
        </p:spPr>
      </p:sp>
      <p:sp>
        <p:nvSpPr>
          <p:cNvPr id="106" name="l13-before-bar-1-106"/>
          <p:cNvSpPr/>
          <p:nvPr/>
        </p:nvSpPr>
        <p:spPr>
          <a:xfrm>
            <a:off x="1866900" y="2752725"/>
            <a:ext cx="47625" cy="1095375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2000250" y="2828925"/>
            <a:ext cx="18478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24325" y="2752725"/>
            <a:ext cx="4057650" cy="109537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43400" y="2886075"/>
            <a:ext cx="3486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43400" y="3286125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107" name="l13-after-card-1-107"/>
          <p:cNvSpPr/>
          <p:nvPr/>
        </p:nvSpPr>
        <p:spPr>
          <a:xfrm>
            <a:off x="8362950" y="2752725"/>
            <a:ext cx="3486150" cy="1095375"/>
          </a:xfrm>
          <a:prstGeom prst="rect">
            <a:avLst/>
          </a:prstGeom>
          <a:solidFill>
            <a:srgbClr val="EEF3F8"/>
          </a:solidFill>
          <a:ln w="12382" cap="rnd">
            <a:solidFill>
              <a:srgbClr val="173D67"/>
            </a:solidFill>
          </a:ln>
        </p:spPr>
      </p:sp>
      <p:sp>
        <p:nvSpPr>
          <p:cNvPr id="108" name="l13-after-bar-1-108"/>
          <p:cNvSpPr/>
          <p:nvPr/>
        </p:nvSpPr>
        <p:spPr>
          <a:xfrm>
            <a:off x="8362950" y="2752725"/>
            <a:ext cx="47625" cy="1095375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515350" y="2828925"/>
            <a:ext cx="32194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228600" y="40862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228600" y="417195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5" name="icon-check-ring-125"/>
          <p:cNvSpPr/>
          <p:nvPr/>
        </p:nvSpPr>
        <p:spPr>
          <a:xfrm>
            <a:off x="774192" y="4355592"/>
            <a:ext cx="318516" cy="318516"/>
          </a:xfrm>
          <a:prstGeom prst="ellipse">
            <a:avLst/>
          </a:prstGeom>
          <a:noFill/>
          <a:ln w="19050" cap="rnd">
            <a:solidFill>
              <a:srgbClr val="173D67"/>
            </a:solidFill>
          </a:ln>
        </p:spPr>
      </p:sp>
      <p:sp>
        <p:nvSpPr>
          <p:cNvPr id="126" name="icon-check-mark-126"/>
          <p:cNvSpPr/>
          <p:nvPr/>
        </p:nvSpPr>
        <p:spPr>
          <a:xfrm>
            <a:off x="723900" y="4305300"/>
            <a:ext cx="419100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173D67"/>
            </a:solidFill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266700" y="4800600"/>
            <a:ext cx="1390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/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266700" y="5105400"/>
            <a:ext cx="139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2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“哪里适用”</a:t>
            </a:r>
            <a:endParaRPr/>
          </a:p>
        </p:txBody>
      </p:sp>
      <p:sp>
        <p:nvSpPr>
          <p:cNvPr id="109" name="l13-before-card-2-109"/>
          <p:cNvSpPr/>
          <p:nvPr/>
        </p:nvSpPr>
        <p:spPr>
          <a:xfrm>
            <a:off x="1866900" y="4362450"/>
            <a:ext cx="2076450" cy="1095375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718EAA"/>
            </a:solidFill>
          </a:ln>
        </p:spPr>
      </p:sp>
      <p:sp>
        <p:nvSpPr>
          <p:cNvPr id="110" name="l13-before-bar-2-110"/>
          <p:cNvSpPr/>
          <p:nvPr/>
        </p:nvSpPr>
        <p:spPr>
          <a:xfrm>
            <a:off x="1866900" y="4362450"/>
            <a:ext cx="47625" cy="1095375"/>
          </a:xfrm>
          <a:prstGeom prst="rect">
            <a:avLst/>
          </a:prstGeom>
          <a:solidFill>
            <a:srgbClr val="718EAA"/>
          </a:solidFill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18478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24325" y="4362450"/>
            <a:ext cx="4057650" cy="109537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43400" y="4495800"/>
            <a:ext cx="3486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43400" y="489585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111" name="l13-after-card-2-111"/>
          <p:cNvSpPr/>
          <p:nvPr/>
        </p:nvSpPr>
        <p:spPr>
          <a:xfrm>
            <a:off x="8362950" y="4362450"/>
            <a:ext cx="3486150" cy="1095375"/>
          </a:xfrm>
          <a:prstGeom prst="rect">
            <a:avLst/>
          </a:prstGeom>
          <a:solidFill>
            <a:srgbClr val="EEF3F8"/>
          </a:solidFill>
          <a:ln w="12382" cap="rnd">
            <a:solidFill>
              <a:srgbClr val="173D67"/>
            </a:solidFill>
          </a:ln>
        </p:spPr>
      </p:sp>
      <p:sp>
        <p:nvSpPr>
          <p:cNvPr id="112" name="l13-after-bar-2-112"/>
          <p:cNvSpPr/>
          <p:nvPr/>
        </p:nvSpPr>
        <p:spPr>
          <a:xfrm>
            <a:off x="8362950" y="4362450"/>
            <a:ext cx="47625" cy="1095375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515350" y="4438650"/>
            <a:ext cx="32194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228600" y="569595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001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244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487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13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85" name="icon-check-ring-85"/>
          <p:cNvSpPr/>
          <p:nvPr/>
        </p:nvSpPr>
        <p:spPr>
          <a:xfrm>
            <a:off x="4472559" y="5787009"/>
            <a:ext cx="275082" cy="275082"/>
          </a:xfrm>
          <a:prstGeom prst="ellipse">
            <a:avLst/>
          </a:prstGeom>
          <a:noFill/>
          <a:ln w="19050" cap="rnd">
            <a:solidFill>
              <a:srgbClr val="173D67"/>
            </a:solidFill>
          </a:ln>
        </p:spPr>
      </p:sp>
      <p:sp>
        <p:nvSpPr>
          <p:cNvPr id="86" name="icon-check-mark-86"/>
          <p:cNvSpPr/>
          <p:nvPr/>
        </p:nvSpPr>
        <p:spPr>
          <a:xfrm>
            <a:off x="4429125" y="5743575"/>
            <a:ext cx="361950" cy="3619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173D67"/>
            </a:solidFill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87" name="icon-doc-87"/>
          <p:cNvSpPr/>
          <p:nvPr/>
        </p:nvSpPr>
        <p:spPr>
          <a:xfrm>
            <a:off x="6991350" y="5743575"/>
            <a:ext cx="361950" cy="3619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88" name="icon-layers-88"/>
          <p:cNvSpPr/>
          <p:nvPr/>
        </p:nvSpPr>
        <p:spPr>
          <a:xfrm>
            <a:off x="9553575" y="5743575"/>
            <a:ext cx="361950" cy="3619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60"/>
                </a:moveTo>
                <a:lnTo>
                  <a:pt x="860" y="320"/>
                </a:lnTo>
                <a:lnTo>
                  <a:pt x="500" y="480"/>
                </a:lnTo>
                <a:lnTo>
                  <a:pt x="140" y="320"/>
                </a:lnTo>
                <a:close/>
              </a:path>
              <a:path w="1000" h="1000">
                <a:moveTo>
                  <a:pt x="140" y="500"/>
                </a:moveTo>
                <a:lnTo>
                  <a:pt x="500" y="660"/>
                </a:lnTo>
                <a:lnTo>
                  <a:pt x="860" y="500"/>
                </a:lnTo>
              </a:path>
              <a:path w="1000" h="1000">
                <a:moveTo>
                  <a:pt x="140" y="680"/>
                </a:moveTo>
                <a:lnTo>
                  <a:pt x="500" y="840"/>
                </a:lnTo>
                <a:lnTo>
                  <a:pt x="860" y="680"/>
                </a:lnTo>
              </a:path>
            </a:pathLst>
          </a:custGeom>
          <a:noFill/>
          <a:ln w="19050" cap="rnd">
            <a:solidFill>
              <a:srgbClr val="173D67"/>
            </a:solidFill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/>
          </a:p>
        </p:txBody>
      </p:sp>
      <p:sp>
        <p:nvSpPr>
          <p:cNvPr id="64" name="close-card-bg-64"/>
          <p:cNvSpPr/>
          <p:nvPr/>
        </p:nvSpPr>
        <p:spPr>
          <a:xfrm>
            <a:off x="6724650" y="495300"/>
            <a:ext cx="5010150" cy="4438650"/>
          </a:xfrm>
          <a:prstGeom prst="rect">
            <a:avLst/>
          </a:prstGeom>
          <a:solidFill>
            <a:srgbClr val="FFFFFF"/>
          </a:solidFill>
          <a:ln w="13335" cap="rnd">
            <a:solidFill>
              <a:srgbClr val="173D67"/>
            </a:solidFill>
          </a:ln>
        </p:spPr>
      </p:sp>
      <p:sp>
        <p:nvSpPr>
          <p:cNvPr id="65" name="close-card-hdr-65"/>
          <p:cNvSpPr/>
          <p:nvPr/>
        </p:nvSpPr>
        <p:spPr>
          <a:xfrm>
            <a:off x="6724650" y="495300"/>
            <a:ext cx="5010150" cy="4572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66" name="close-card-hdr-txt-66"/>
          <p:cNvSpPr txBox="1"/>
          <p:nvPr/>
        </p:nvSpPr>
        <p:spPr>
          <a:xfrm>
            <a:off x="6934200" y="561975"/>
            <a:ext cx="459105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讨论焦点与下一步  ·  DISCUSSION</a:t>
            </a:r>
            <a:endParaRPr lang="zh-CN" sz="1500"/>
          </a:p>
        </p:txBody>
      </p:sp>
      <p:sp>
        <p:nvSpPr>
          <p:cNvPr id="67" name="close-anc-box-0-67"/>
          <p:cNvSpPr/>
          <p:nvPr/>
        </p:nvSpPr>
        <p:spPr>
          <a:xfrm>
            <a:off x="6934200" y="1143000"/>
            <a:ext cx="4591050" cy="1028700"/>
          </a:xfrm>
          <a:prstGeom prst="rect">
            <a:avLst/>
          </a:prstGeom>
          <a:solidFill>
            <a:srgbClr val="EEF3F8"/>
          </a:solidFill>
          <a:ln w="8572" cap="rnd">
            <a:solidFill>
              <a:srgbClr val="718EAA"/>
            </a:solidFill>
          </a:ln>
        </p:spPr>
      </p:sp>
      <p:sp>
        <p:nvSpPr>
          <p:cNvPr id="68" name="close-anc-bar-0-68"/>
          <p:cNvSpPr/>
          <p:nvPr/>
        </p:nvSpPr>
        <p:spPr>
          <a:xfrm>
            <a:off x="6934200" y="1143000"/>
            <a:ext cx="47625" cy="1028700"/>
          </a:xfrm>
          <a:prstGeom prst="rect">
            <a:avLst/>
          </a:prstGeom>
          <a:solidFill>
            <a:srgbClr val="AF3D3D"/>
          </a:solidFill>
        </p:spPr>
      </p:sp>
      <p:sp>
        <p:nvSpPr>
          <p:cNvPr id="69" name="close-anc-title-0-69"/>
          <p:cNvSpPr txBox="1"/>
          <p:nvPr/>
        </p:nvSpPr>
        <p:spPr>
          <a:xfrm>
            <a:off x="7124700" y="1409700"/>
            <a:ext cx="4286250" cy="495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01   研究设计</a:t>
            </a:r>
            <a:endParaRPr lang="zh-CN" sz="1725"/>
          </a:p>
        </p:txBody>
      </p:sp>
      <p:sp>
        <p:nvSpPr>
          <p:cNvPr id="70" name="close-anc-box-1-70"/>
          <p:cNvSpPr/>
          <p:nvPr/>
        </p:nvSpPr>
        <p:spPr>
          <a:xfrm>
            <a:off x="6934200" y="2343150"/>
            <a:ext cx="4591050" cy="1028700"/>
          </a:xfrm>
          <a:prstGeom prst="rect">
            <a:avLst/>
          </a:prstGeom>
          <a:solidFill>
            <a:srgbClr val="EEF3F8"/>
          </a:solidFill>
          <a:ln w="8572" cap="rnd">
            <a:solidFill>
              <a:srgbClr val="718EAA"/>
            </a:solidFill>
          </a:ln>
        </p:spPr>
      </p:sp>
      <p:sp>
        <p:nvSpPr>
          <p:cNvPr id="71" name="close-anc-bar-1-71"/>
          <p:cNvSpPr/>
          <p:nvPr/>
        </p:nvSpPr>
        <p:spPr>
          <a:xfrm>
            <a:off x="6934200" y="2343150"/>
            <a:ext cx="47625" cy="10287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72" name="close-anc-title-1-72"/>
          <p:cNvSpPr txBox="1"/>
          <p:nvPr/>
        </p:nvSpPr>
        <p:spPr>
          <a:xfrm>
            <a:off x="7124700" y="2609850"/>
            <a:ext cx="4286250" cy="495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02   证据边界</a:t>
            </a:r>
            <a:endParaRPr lang="zh-CN" sz="1725"/>
          </a:p>
        </p:txBody>
      </p:sp>
      <p:sp>
        <p:nvSpPr>
          <p:cNvPr id="73" name="close-anc-box-2-73"/>
          <p:cNvSpPr/>
          <p:nvPr/>
        </p:nvSpPr>
        <p:spPr>
          <a:xfrm>
            <a:off x="6934200" y="3543300"/>
            <a:ext cx="4591050" cy="1028700"/>
          </a:xfrm>
          <a:prstGeom prst="rect">
            <a:avLst/>
          </a:prstGeom>
          <a:solidFill>
            <a:srgbClr val="EEF3F8"/>
          </a:solidFill>
          <a:ln w="8572" cap="rnd">
            <a:solidFill>
              <a:srgbClr val="718EAA"/>
            </a:solidFill>
          </a:ln>
        </p:spPr>
      </p:sp>
      <p:sp>
        <p:nvSpPr>
          <p:cNvPr id="74" name="close-anc-bar-2-74"/>
          <p:cNvSpPr/>
          <p:nvPr/>
        </p:nvSpPr>
        <p:spPr>
          <a:xfrm>
            <a:off x="6934200" y="3543300"/>
            <a:ext cx="47625" cy="1028700"/>
          </a:xfrm>
          <a:prstGeom prst="rect">
            <a:avLst/>
          </a:prstGeom>
          <a:solidFill>
            <a:srgbClr val="173D67"/>
          </a:solidFill>
        </p:spPr>
      </p:sp>
      <p:sp>
        <p:nvSpPr>
          <p:cNvPr id="75" name="close-anc-title-2-75"/>
          <p:cNvSpPr txBox="1"/>
          <p:nvPr/>
        </p:nvSpPr>
        <p:spPr>
          <a:xfrm>
            <a:off x="7124700" y="3810000"/>
            <a:ext cx="4286250" cy="495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03   下一步工作</a:t>
            </a:r>
            <a:endParaRPr lang="zh-CN" sz="1725"/>
          </a:p>
        </p:txBody>
      </p:sp>
    </p:spTree>
    <p:extLst>
      <p:ext uri="{BB962C8B-B14F-4D97-AF65-F5344CB8AC3E}">
        <ns3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