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生态监测研究主题素材样板。仅含公开插图与说明流程；不含研究实测结果。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73F35"/>
                </a:solidFill>
                <a:latin typeface="Noto Sans CJK SC"/>
              </a:defRPr>
            </a:pPr>
            <a:r>
              <a:t>生态监测：连接野外记录与个体识别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173F35"/>
                </a:solidFill>
                <a:latin typeface="Noto Sans CJK SC"/>
              </a:defRPr>
            </a:pPr>
            <a:r>
              <a:t>素材服务于研究内容；真实相机照片、点位图与实验结果仍使用原资料。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657350"/>
            <a:ext cx="3695700" cy="4229100"/>
          </a:xfrm>
          <a:prstGeom prst="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657350"/>
            <a:ext cx="3695700" cy="5143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1752600"/>
            <a:ext cx="33147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Noto Sans CJK SC"/>
              </a:defRPr>
            </a:pPr>
            <a:r>
              <a:t>01  野外观测</a:t>
            </a:r>
          </a:p>
        </p:txBody>
      </p:sp>
      <p:sp>
        <p:nvSpPr>
          <p:cNvPr id="10" name="hero-0"/>
          <p:cNvSpPr/>
          <p:nvPr/>
        </p:nvSpPr>
        <p:spPr>
          <a:xfrm>
            <a:off x="1257300" y="2419350"/>
            <a:ext cx="1790700" cy="1762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4524375"/>
            <a:ext cx="3238500" cy="1009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相机监测与生境调查</a:t>
            </a:r>
          </a:p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保留样点、日期与原始记录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8150" y="1657350"/>
            <a:ext cx="3695700" cy="4229100"/>
          </a:xfrm>
          <a:prstGeom prst="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8150" y="1657350"/>
            <a:ext cx="3695700" cy="5143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8650" y="1752600"/>
            <a:ext cx="33147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Noto Sans CJK SC"/>
              </a:defRPr>
            </a:pPr>
            <a:r>
              <a:t>02  样品与实验</a:t>
            </a:r>
          </a:p>
        </p:txBody>
      </p:sp>
      <p:sp>
        <p:nvSpPr>
          <p:cNvPr id="15" name="hero-1"/>
          <p:cNvSpPr/>
          <p:nvPr/>
        </p:nvSpPr>
        <p:spPr>
          <a:xfrm>
            <a:off x="5200650" y="2419350"/>
            <a:ext cx="1790700" cy="1762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6750" y="4524375"/>
            <a:ext cx="3238500" cy="1009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非损伤采样与遗传检测</a:t>
            </a:r>
          </a:p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样品标记贯穿实验流程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1500" y="1657350"/>
            <a:ext cx="3695700" cy="4229100"/>
          </a:xfrm>
          <a:prstGeom prst="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1500" y="1657350"/>
            <a:ext cx="3695700" cy="514350"/>
          </a:xfrm>
          <a:prstGeom prst="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1752600"/>
            <a:ext cx="33147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FFFFFF"/>
                </a:solidFill>
                <a:latin typeface="Noto Sans CJK SC"/>
              </a:defRPr>
            </a:pPr>
            <a:r>
              <a:t>03  数据与识别</a:t>
            </a:r>
          </a:p>
        </p:txBody>
      </p:sp>
      <p:sp>
        <p:nvSpPr>
          <p:cNvPr id="20" name="hero-2"/>
          <p:cNvSpPr/>
          <p:nvPr/>
        </p:nvSpPr>
        <p:spPr>
          <a:xfrm>
            <a:off x="9144000" y="2419350"/>
            <a:ext cx="1790700" cy="1762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100" y="4524375"/>
            <a:ext cx="3238500" cy="1009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微卫星分型与重复核验</a:t>
            </a:r>
          </a:p>
          <a:p>
            <a:pPr>
              <a:defRPr sz="1725" b="0">
                <a:solidFill>
                  <a:srgbClr val="173F35"/>
                </a:solidFill>
                <a:latin typeface="Noto Sans CJK SC"/>
              </a:defRPr>
            </a:pPr>
            <a:r>
              <a:t>质控后再进行个体识别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" y="6019800"/>
            <a:ext cx="1158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B14B32"/>
                </a:solidFill>
                <a:latin typeface="Noto Sans CJK SC"/>
              </a:defRPr>
            </a:pPr>
            <a:r>
              <a:t>图标可分组编辑；原始科研证据不以图标替代。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73D67"/>
                </a:solidFill>
                <a:latin typeface="Noto Sans CJK SC"/>
              </a:defRPr>
            </a:pPr>
            <a:r>
              <a:t>非损伤遗传检测：样品与记录一一对应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173D67"/>
                </a:solidFill>
                <a:latin typeface="Noto Sans CJK SC"/>
              </a:defRPr>
            </a:pPr>
            <a:r>
              <a:t>流程节点可编辑，操作顺序与实验条件以实际方案为准。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725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采样与编号</a:t>
            </a:r>
          </a:p>
        </p:txBody>
      </p:sp>
      <p:sp>
        <p:nvSpPr>
          <p:cNvPr id="10" name="lab-0"/>
          <p:cNvSpPr/>
          <p:nvPr/>
        </p:nvSpPr>
        <p:spPr>
          <a:xfrm>
            <a:off x="1009650" y="2571750"/>
            <a:ext cx="1333500" cy="1238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独立样品标签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采集时间与来源记录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7525" y="3086100"/>
            <a:ext cx="14287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73D67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8025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8025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9950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低温与提取</a:t>
            </a:r>
          </a:p>
        </p:txBody>
      </p:sp>
      <p:sp>
        <p:nvSpPr>
          <p:cNvPr id="16" name="lab-1"/>
          <p:cNvSpPr/>
          <p:nvPr/>
        </p:nvSpPr>
        <p:spPr>
          <a:xfrm>
            <a:off x="3952875" y="2571750"/>
            <a:ext cx="1333500" cy="1238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525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保存与提取批次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空白和对照同步记录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086100"/>
            <a:ext cx="14287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73D67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0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0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3175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PCR 与分型</a:t>
            </a:r>
          </a:p>
        </p:txBody>
      </p:sp>
      <p:sp>
        <p:nvSpPr>
          <p:cNvPr id="22" name="lab-2"/>
          <p:cNvSpPr/>
          <p:nvPr/>
        </p:nvSpPr>
        <p:spPr>
          <a:xfrm>
            <a:off x="6896100" y="2571750"/>
            <a:ext cx="1333500" cy="1238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1750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引物与反应记录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产物、泳道与峰图关联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3975" y="3086100"/>
            <a:ext cx="142875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173D67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475" y="1809750"/>
            <a:ext cx="2743200" cy="344805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475" y="1809750"/>
            <a:ext cx="2743200" cy="514350"/>
          </a:xfrm>
          <a:prstGeom prst="rect">
            <a:avLst/>
          </a:prstGeom>
          <a:solidFill>
            <a:srgbClr val="173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6400" y="1914525"/>
            <a:ext cx="241935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重复与核验</a:t>
            </a:r>
          </a:p>
        </p:txBody>
      </p:sp>
      <p:sp>
        <p:nvSpPr>
          <p:cNvPr id="28" name="lab-3"/>
          <p:cNvSpPr/>
          <p:nvPr/>
        </p:nvSpPr>
        <p:spPr>
          <a:xfrm>
            <a:off x="9839325" y="2571750"/>
            <a:ext cx="1333500" cy="1238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4975" y="4171950"/>
            <a:ext cx="2362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复核原始证据</a:t>
            </a:r>
          </a:p>
          <a:p>
            <a:pPr>
              <a:defRPr sz="1650" b="0">
                <a:solidFill>
                  <a:srgbClr val="173D67"/>
                </a:solidFill>
                <a:latin typeface="Noto Sans CJK SC"/>
              </a:defRPr>
            </a:pPr>
            <a:r>
              <a:t>保留疑点与处理状态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5553075"/>
            <a:ext cx="11582400" cy="628650"/>
          </a:xfrm>
          <a:prstGeom prst="rect">
            <a:avLst/>
          </a:prstGeom>
          <a:solidFill>
            <a:srgbClr val="F9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350" y="5676900"/>
            <a:ext cx="11163300" cy="438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25" b="1">
                <a:solidFill>
                  <a:srgbClr val="B6383F"/>
                </a:solidFill>
                <a:latin typeface="Noto Sans CJK SC"/>
              </a:defRPr>
            </a:pPr>
            <a:r>
              <a:t>质控说明：保留原始检测结果，未核验信息不写成确定的个体识别结论。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23D54"/>
                </a:solidFill>
                <a:latin typeface="Noto Sans CJK SC"/>
              </a:defRPr>
            </a:pPr>
            <a:r>
              <a:t>相机监测：分别表达观测与检测过程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12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123D54"/>
                </a:solidFill>
                <a:latin typeface="Noto Sans CJK SC"/>
              </a:defRPr>
            </a:pPr>
            <a:r>
              <a:t>设备与活动图标用于解释流程，不代表实际布设位置、记录数量或检测概率。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12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752600"/>
            <a:ext cx="4257675" cy="4257675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924050"/>
            <a:ext cx="3800475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75" b="1">
                <a:solidFill>
                  <a:srgbClr val="123D54"/>
                </a:solidFill>
                <a:latin typeface="Noto Sans CJK SC"/>
              </a:defRPr>
            </a:pPr>
            <a:r>
              <a:t>野外记录</a:t>
            </a:r>
          </a:p>
        </p:txBody>
      </p:sp>
      <p:sp>
        <p:nvSpPr>
          <p:cNvPr id="9" name="camera-hero"/>
          <p:cNvSpPr/>
          <p:nvPr/>
        </p:nvSpPr>
        <p:spPr>
          <a:xfrm>
            <a:off x="1047750" y="2495550"/>
            <a:ext cx="2381250" cy="1762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600575"/>
            <a:ext cx="3648075" cy="1047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 b="0">
                <a:solidFill>
                  <a:srgbClr val="123D54"/>
                </a:solidFill>
                <a:latin typeface="Noto Sans CJK SC"/>
              </a:defRPr>
            </a:pPr>
            <a:r>
              <a:t>相机与存储记录</a:t>
            </a:r>
          </a:p>
          <a:p>
            <a:pPr>
              <a:defRPr sz="1800" b="0">
                <a:solidFill>
                  <a:srgbClr val="123D54"/>
                </a:solidFill>
                <a:latin typeface="Noto Sans CJK SC"/>
              </a:defRPr>
            </a:pPr>
            <a:r>
              <a:t>样点及出勤信息</a:t>
            </a:r>
          </a:p>
          <a:p>
            <a:pPr>
              <a:defRPr sz="1800" b="0">
                <a:solidFill>
                  <a:srgbClr val="123D54"/>
                </a:solidFill>
                <a:latin typeface="Noto Sans CJK SC"/>
              </a:defRPr>
            </a:pPr>
            <a:r>
              <a:t>照片、视频与物种复核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6325" y="1752600"/>
            <a:ext cx="7000875" cy="127635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mera-step-0"/>
          <p:cNvSpPr/>
          <p:nvPr/>
        </p:nvSpPr>
        <p:spPr>
          <a:xfrm>
            <a:off x="5114925" y="1962150"/>
            <a:ext cx="8001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725" y="190500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123D54"/>
                </a:solidFill>
                <a:latin typeface="Noto Sans CJK SC"/>
              </a:defRPr>
            </a:pPr>
            <a:r>
              <a:t>布设与运行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725" y="240030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23D54"/>
                </a:solidFill>
                <a:latin typeface="Noto Sans CJK SC"/>
              </a:defRPr>
            </a:pPr>
            <a:r>
              <a:t>位置、时间窗和设备状态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86325" y="3190875"/>
            <a:ext cx="7000875" cy="127635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mera-step-1"/>
          <p:cNvSpPr/>
          <p:nvPr/>
        </p:nvSpPr>
        <p:spPr>
          <a:xfrm>
            <a:off x="5114925" y="3400425"/>
            <a:ext cx="8001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725" y="3343275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123D54"/>
                </a:solidFill>
                <a:latin typeface="Noto Sans CJK SC"/>
              </a:defRPr>
            </a:pPr>
            <a:r>
              <a:t>记录与复核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725" y="3838575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23D54"/>
                </a:solidFill>
                <a:latin typeface="Noto Sans CJK SC"/>
              </a:defRPr>
            </a:pPr>
            <a:r>
              <a:t>保留原始影像，按实际标准复核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86325" y="4629150"/>
            <a:ext cx="7000875" cy="127635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mera-step-2"/>
          <p:cNvSpPr/>
          <p:nvPr/>
        </p:nvSpPr>
        <p:spPr>
          <a:xfrm>
            <a:off x="5114925" y="4838700"/>
            <a:ext cx="8001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725" y="478155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123D54"/>
                </a:solidFill>
                <a:latin typeface="Noto Sans CJK SC"/>
              </a:defRPr>
            </a:pPr>
            <a:r>
              <a:t>整理与分析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725" y="5276850"/>
            <a:ext cx="5381625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123D54"/>
                </a:solidFill>
                <a:latin typeface="Noto Sans CJK SC"/>
              </a:defRPr>
            </a:pPr>
            <a:r>
              <a:t>记录统计与模型解释分开呈现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582400" cy="590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38314C"/>
                </a:solidFill>
                <a:latin typeface="Noto Sans CJK SC"/>
              </a:defRPr>
            </a:pPr>
            <a:r>
              <a:t>微卫星分型：把质控放在个体识别之前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857250"/>
            <a:ext cx="11582400" cy="19050"/>
          </a:xfrm>
          <a:prstGeom prst="rect">
            <a:avLst/>
          </a:prstGeom>
          <a:solidFill>
            <a:srgbClr val="38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10287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0">
                <a:solidFill>
                  <a:srgbClr val="38314C"/>
                </a:solidFill>
                <a:latin typeface="Noto Sans CJK SC"/>
              </a:defRPr>
            </a:pPr>
            <a:r>
              <a:t>用并列证据检查支持后续识别，避免把示意关系当成最终分析结果。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6419850"/>
            <a:ext cx="11582400" cy="19050"/>
          </a:xfrm>
          <a:prstGeom prst="rect">
            <a:avLst/>
          </a:prstGeom>
          <a:solidFill>
            <a:srgbClr val="38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6553200"/>
            <a:ext cx="11334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0">
                <a:solidFill>
                  <a:srgbClr val="62746B"/>
                </a:solidFill>
                <a:latin typeface="Noto Sans CJK SC"/>
              </a:defRPr>
            </a:pPr>
            <a:r>
              <a:t>生态监测研究主题样板 · 公开素材与流程示意，不含项目实测数据或真实点位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752600"/>
            <a:ext cx="7239000" cy="4267200"/>
          </a:xfrm>
          <a:prstGeom prst="rect">
            <a:avLst/>
          </a:prstGeom>
          <a:solidFill>
            <a:srgbClr val="F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933575"/>
            <a:ext cx="67437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38314C"/>
                </a:solidFill>
                <a:latin typeface="Noto Sans CJK SC"/>
              </a:defRPr>
            </a:pPr>
            <a:r>
              <a:t>样品 → 原始证据 → 候选分型 → 复核</a:t>
            </a:r>
          </a:p>
        </p:txBody>
      </p:sp>
      <p:sp>
        <p:nvSpPr>
          <p:cNvPr id="9" name="qc-0"/>
          <p:cNvSpPr/>
          <p:nvPr/>
        </p:nvSpPr>
        <p:spPr>
          <a:xfrm>
            <a:off x="571500" y="2619375"/>
            <a:ext cx="7239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62100" y="2619375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38314C"/>
                </a:solidFill>
                <a:latin typeface="Noto Sans CJK SC"/>
              </a:defRPr>
            </a:pPr>
            <a:r>
              <a:t>记录完整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3028950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38314C"/>
                </a:solidFill>
                <a:latin typeface="Noto Sans CJK SC"/>
              </a:defRPr>
            </a:pPr>
            <a:r>
              <a:t>样品、批次与文件能够关联</a:t>
            </a:r>
          </a:p>
        </p:txBody>
      </p:sp>
      <p:sp>
        <p:nvSpPr>
          <p:cNvPr id="12" name="qc-1"/>
          <p:cNvSpPr/>
          <p:nvPr/>
        </p:nvSpPr>
        <p:spPr>
          <a:xfrm>
            <a:off x="571500" y="3657600"/>
            <a:ext cx="7239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2100" y="3657600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38314C"/>
                </a:solidFill>
                <a:latin typeface="Noto Sans CJK SC"/>
              </a:defRPr>
            </a:pPr>
            <a:r>
              <a:t>证据可核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2100" y="4067175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38314C"/>
                </a:solidFill>
                <a:latin typeface="Noto Sans CJK SC"/>
              </a:defRPr>
            </a:pPr>
            <a:r>
              <a:t>峰图、对照和重复记录可回查</a:t>
            </a:r>
          </a:p>
        </p:txBody>
      </p:sp>
      <p:sp>
        <p:nvSpPr>
          <p:cNvPr id="15" name="qc-2"/>
          <p:cNvSpPr/>
          <p:nvPr/>
        </p:nvSpPr>
        <p:spPr>
          <a:xfrm>
            <a:off x="571500" y="4695825"/>
            <a:ext cx="723900" cy="72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62100" y="4695825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50" b="1">
                <a:solidFill>
                  <a:srgbClr val="38314C"/>
                </a:solidFill>
                <a:latin typeface="Noto Sans CJK SC"/>
              </a:defRPr>
            </a:pPr>
            <a:r>
              <a:t>疑点保留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100" y="5105400"/>
            <a:ext cx="5600700" cy="361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38314C"/>
                </a:solidFill>
                <a:latin typeface="Noto Sans CJK SC"/>
              </a:defRPr>
            </a:pPr>
            <a:r>
              <a:t>未解决项保留明确的不确定状态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1752600"/>
            <a:ext cx="4038600" cy="4267200"/>
          </a:xfrm>
          <a:prstGeom prst="rect">
            <a:avLst/>
          </a:prstGeom>
          <a:solidFill>
            <a:srgbClr val="F7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200" y="1943100"/>
            <a:ext cx="35814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25" b="1">
                <a:solidFill>
                  <a:srgbClr val="38314C"/>
                </a:solidFill>
                <a:latin typeface="Noto Sans CJK SC"/>
              </a:defRPr>
            </a:pPr>
            <a:r>
              <a:t>个体联系与识别</a:t>
            </a:r>
          </a:p>
        </p:txBody>
      </p:sp>
      <p:sp>
        <p:nvSpPr>
          <p:cNvPr id="20" name="identity-network"/>
          <p:cNvSpPr/>
          <p:nvPr/>
        </p:nvSpPr>
        <p:spPr>
          <a:xfrm>
            <a:off x="8877300" y="2714625"/>
            <a:ext cx="2000250" cy="1781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7200" y="4991100"/>
            <a:ext cx="3581400" cy="714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75" b="1">
                <a:solidFill>
                  <a:srgbClr val="9E3F4C"/>
                </a:solidFill>
                <a:latin typeface="Noto Sans CJK SC"/>
              </a:defRPr>
            </a:pPr>
            <a:r>
              <a:t>仅表示分析目标与关系结构</a:t>
            </a:r>
          </a:p>
          <a:p>
            <a:pPr>
              <a:defRPr sz="1575" b="1">
                <a:solidFill>
                  <a:srgbClr val="9E3F4C"/>
                </a:solidFill>
                <a:latin typeface="Noto Sans CJK SC"/>
              </a:defRPr>
            </a:pPr>
            <a:r>
              <a:t>不暗示已确认的个体数量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ScholarFlow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