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/Relationships>
</file>

<file path=ppt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.xlsx" /></Relationships>
</file>

<file path=ppt/charts/_rels/chart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.xlsx" /></Relationships>
</file>

<file path=ppt/charts/_rels/chart3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3.xlsx" /></Relationships>
</file>

<file path=ppt/charts/_rels/chart4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4.xlsx" /></Relationships>
</file>

<file path=ppt/charts/_rels/chart5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5.xlsx" /></Relationships>
</file>

<file path=ppt/charts/_rels/chart6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6.xlsx" 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35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36742"/>
              </a:solidFill>
              <a:ln w="8890">
                <a:solidFill>
                  <a:srgbClr val="136742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0.18</c:v>
                </c:pt>
                <c:pt idx="1">
                  <c:v>0.18</c:v>
                </c:pt>
                <c:pt idx="2">
                  <c:v>0.18</c:v>
                </c:pt>
                <c:pt idx="3">
                  <c:v>0.18</c:v>
                </c:pt>
              </c:numLit>
            </c:plus>
            <c:minus>
              <c:numLit>
                <c:formatCode>General</c:formatCode>
                <c:ptCount val="4"/>
                <c:pt idx="0">
                  <c:v>0.18</c:v>
                </c:pt>
                <c:pt idx="1">
                  <c:v>0.18</c:v>
                </c:pt>
                <c:pt idx="2">
                  <c:v>0.18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36742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0.38</c:v>
                </c:pt>
                <c:pt idx="1">
                  <c:v>0.46</c:v>
                </c:pt>
                <c:pt idx="2">
                  <c:v>0.23</c:v>
                </c:pt>
                <c:pt idx="3">
                  <c:v>-0.31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scatterChart>
        <c:scatterStyle val="marker"/>
        <c:varyColors val="0"/>
        <c:ser>
          <c:idx val="0"/>
          <c:order val="0"/>
          <c:tx>
            <c:v>示意数据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6742"/>
              </a:solidFill>
              <a:ln w="8890">
                <a:solidFill>
                  <a:srgbClr val="136742"/>
                </a:solidFill>
              </a:ln>
            </c:spPr>
          </c:marker>
          <c:trendline>
            <c:spPr>
              <a:ln w="19050">
                <a:solidFill>
                  <a:srgbClr val="136742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Data'!$A$2:$A$27</c:f>
              <c:numCache>
                <c:formatCode>General</c:formatCode>
                <c:ptCount val="26"/>
                <c:pt idx="0">
                  <c:v>10</c:v>
                </c:pt>
                <c:pt idx="1">
                  <c:v>12.2</c:v>
                </c:pt>
                <c:pt idx="2">
                  <c:v>14.4</c:v>
                </c:pt>
                <c:pt idx="3">
                  <c:v>16.6</c:v>
                </c:pt>
                <c:pt idx="4">
                  <c:v>18.8</c:v>
                </c:pt>
                <c:pt idx="5">
                  <c:v>21</c:v>
                </c:pt>
                <c:pt idx="6">
                  <c:v>23.2</c:v>
                </c:pt>
                <c:pt idx="7">
                  <c:v>25.4</c:v>
                </c:pt>
                <c:pt idx="8">
                  <c:v>27.6</c:v>
                </c:pt>
                <c:pt idx="9">
                  <c:v>29.8</c:v>
                </c:pt>
                <c:pt idx="10">
                  <c:v>32</c:v>
                </c:pt>
                <c:pt idx="11">
                  <c:v>34.2</c:v>
                </c:pt>
                <c:pt idx="12">
                  <c:v>36.4</c:v>
                </c:pt>
                <c:pt idx="13">
                  <c:v>38.6</c:v>
                </c:pt>
                <c:pt idx="14">
                  <c:v>40.8</c:v>
                </c:pt>
                <c:pt idx="15">
                  <c:v>43</c:v>
                </c:pt>
                <c:pt idx="16">
                  <c:v>45.2</c:v>
                </c:pt>
                <c:pt idx="17">
                  <c:v>47.4</c:v>
                </c:pt>
                <c:pt idx="18">
                  <c:v>49.6</c:v>
                </c:pt>
                <c:pt idx="19">
                  <c:v>51.8</c:v>
                </c:pt>
                <c:pt idx="20">
                  <c:v>54</c:v>
                </c:pt>
                <c:pt idx="21">
                  <c:v>56.2</c:v>
                </c:pt>
                <c:pt idx="22">
                  <c:v>58.4</c:v>
                </c:pt>
                <c:pt idx="23">
                  <c:v>60.6</c:v>
                </c:pt>
                <c:pt idx="24">
                  <c:v>62.8</c:v>
                </c:pt>
                <c:pt idx="25">
                  <c:v>65</c:v>
                </c:pt>
              </c:numCache>
            </c:numRef>
          </c:xVal>
          <c:yVal>
            <c:numRef>
              <c:f>'Chart Data'!$B$2:$B$27</c:f>
              <c:numCache>
                <c:formatCode>General</c:formatCode>
                <c:ptCount val="26"/>
                <c:pt idx="0">
                  <c:v>12.5</c:v>
                </c:pt>
                <c:pt idx="1">
                  <c:v>18.2</c:v>
                </c:pt>
                <c:pt idx="2">
                  <c:v>13.01</c:v>
                </c:pt>
                <c:pt idx="3">
                  <c:v>16.92</c:v>
                </c:pt>
                <c:pt idx="4">
                  <c:v>24.14</c:v>
                </c:pt>
                <c:pt idx="5">
                  <c:v>19.55</c:v>
                </c:pt>
                <c:pt idx="6">
                  <c:v>21.43</c:v>
                </c:pt>
                <c:pt idx="7">
                  <c:v>29.84</c:v>
                </c:pt>
                <c:pt idx="8">
                  <c:v>26.27</c:v>
                </c:pt>
                <c:pt idx="9">
                  <c:v>26.1</c:v>
                </c:pt>
                <c:pt idx="10">
                  <c:v>35.11</c:v>
                </c:pt>
                <c:pt idx="11">
                  <c:v>33.07</c:v>
                </c:pt>
                <c:pt idx="12">
                  <c:v>31.11</c:v>
                </c:pt>
                <c:pt idx="13">
                  <c:v>40.04</c:v>
                </c:pt>
                <c:pt idx="14">
                  <c:v>39.87</c:v>
                </c:pt>
                <c:pt idx="15">
                  <c:v>36.38</c:v>
                </c:pt>
                <c:pt idx="16">
                  <c:v>44.8</c:v>
                </c:pt>
                <c:pt idx="17">
                  <c:v>46.5</c:v>
                </c:pt>
                <c:pt idx="18">
                  <c:v>41.91</c:v>
                </c:pt>
                <c:pt idx="19">
                  <c:v>49.3</c:v>
                </c:pt>
                <c:pt idx="20">
                  <c:v>53.05</c:v>
                </c:pt>
                <c:pt idx="21">
                  <c:v>47.86</c:v>
                </c:pt>
                <c:pt idx="22">
                  <c:v>53.73</c:v>
                </c:pt>
                <c:pt idx="23">
                  <c:v>59.33</c:v>
                </c:pt>
                <c:pt idx="24">
                  <c:v>54.15</c:v>
                </c:pt>
                <c:pt idx="25">
                  <c:v>58.15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观测值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80"/>
          <c:min val="0"/>
        </c:scaling>
        <c:delete val="0"/>
        <c:axPos val="b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2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6742"/>
              </a:solidFill>
              <a:ln w="8890">
                <a:solidFill>
                  <a:srgbClr val="136742"/>
                </a:solidFill>
              </a:ln>
            </c:spPr>
          </c:marker>
          <c:trendline>
            <c:spPr>
              <a:ln w="19050">
                <a:solidFill>
                  <a:srgbClr val="136742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Data'!$A$2:$A$26</c:f>
              <c:numCache>
                <c:formatCode>General</c:formatCode>
                <c:ptCount val="25"/>
                <c:pt idx="0">
                  <c:v>0</c:v>
                </c:pt>
                <c:pt idx="1">
                  <c:v>0.042</c:v>
                </c:pt>
                <c:pt idx="2">
                  <c:v>0.083</c:v>
                </c:pt>
                <c:pt idx="3">
                  <c:v>0.125</c:v>
                </c:pt>
                <c:pt idx="4">
                  <c:v>0.167</c:v>
                </c:pt>
                <c:pt idx="5">
                  <c:v>0.208</c:v>
                </c:pt>
                <c:pt idx="6">
                  <c:v>0.25</c:v>
                </c:pt>
                <c:pt idx="7">
                  <c:v>0.292</c:v>
                </c:pt>
                <c:pt idx="8">
                  <c:v>0.333</c:v>
                </c:pt>
                <c:pt idx="9">
                  <c:v>0.375</c:v>
                </c:pt>
                <c:pt idx="10">
                  <c:v>0.417</c:v>
                </c:pt>
                <c:pt idx="11">
                  <c:v>0.458</c:v>
                </c:pt>
                <c:pt idx="12">
                  <c:v>0.5</c:v>
                </c:pt>
                <c:pt idx="13">
                  <c:v>0.542</c:v>
                </c:pt>
                <c:pt idx="14">
                  <c:v>0.583</c:v>
                </c:pt>
                <c:pt idx="15">
                  <c:v>0.625</c:v>
                </c:pt>
                <c:pt idx="16">
                  <c:v>0.667</c:v>
                </c:pt>
                <c:pt idx="17">
                  <c:v>0.708</c:v>
                </c:pt>
                <c:pt idx="18">
                  <c:v>0.75</c:v>
                </c:pt>
                <c:pt idx="19">
                  <c:v>0.792</c:v>
                </c:pt>
                <c:pt idx="20">
                  <c:v>0.833</c:v>
                </c:pt>
                <c:pt idx="21">
                  <c:v>0.875</c:v>
                </c:pt>
                <c:pt idx="22">
                  <c:v>0.917</c:v>
                </c:pt>
                <c:pt idx="23">
                  <c:v>0.958</c:v>
                </c:pt>
                <c:pt idx="24">
                  <c:v>1</c:v>
                </c:pt>
              </c:numCache>
            </c:numRef>
          </c:xVal>
          <c:yVal>
            <c:numRef>
              <c:f>'Chart Data'!$B$2:$B$26</c:f>
              <c:numCache>
                <c:formatCode>General</c:formatCode>
                <c:ptCount val="25"/>
                <c:pt idx="0">
                  <c:v>20</c:v>
                </c:pt>
                <c:pt idx="1">
                  <c:v>27.99</c:v>
                </c:pt>
                <c:pt idx="2">
                  <c:v>20.89</c:v>
                </c:pt>
                <c:pt idx="3">
                  <c:v>23.57</c:v>
                </c:pt>
                <c:pt idx="4">
                  <c:v>34.99</c:v>
                </c:pt>
                <c:pt idx="5">
                  <c:v>30.99</c:v>
                </c:pt>
                <c:pt idx="6">
                  <c:v>28.23</c:v>
                </c:pt>
                <c:pt idx="7">
                  <c:v>40.08</c:v>
                </c:pt>
                <c:pt idx="8">
                  <c:v>41.23</c:v>
                </c:pt>
                <c:pt idx="9">
                  <c:v>34.72</c:v>
                </c:pt>
                <c:pt idx="10">
                  <c:v>43.83</c:v>
                </c:pt>
                <c:pt idx="11">
                  <c:v>50.51</c:v>
                </c:pt>
                <c:pt idx="12">
                  <c:v>43.16</c:v>
                </c:pt>
                <c:pt idx="13">
                  <c:v>47.29</c:v>
                </c:pt>
                <c:pt idx="14">
                  <c:v>58.03</c:v>
                </c:pt>
                <c:pt idx="15">
                  <c:v>53.03</c:v>
                </c:pt>
                <c:pt idx="16">
                  <c:v>51.59</c:v>
                </c:pt>
                <c:pt idx="17">
                  <c:v>63.58</c:v>
                </c:pt>
                <c:pt idx="18">
                  <c:v>63.35</c:v>
                </c:pt>
                <c:pt idx="19">
                  <c:v>57.56</c:v>
                </c:pt>
                <c:pt idx="20">
                  <c:v>67.59</c:v>
                </c:pt>
                <c:pt idx="21">
                  <c:v>72.97</c:v>
                </c:pt>
                <c:pt idx="22">
                  <c:v>65.52</c:v>
                </c:pt>
                <c:pt idx="23">
                  <c:v>71.02</c:v>
                </c:pt>
                <c:pt idx="24">
                  <c:v>80.99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鸟类种数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0.093</c:v>
                </c:pt>
                <c:pt idx="1">
                  <c:v>0.093</c:v>
                </c:pt>
                <c:pt idx="2">
                  <c:v>0.093</c:v>
                </c:pt>
              </c:numLit>
            </c:minus>
            <c:spPr>
              <a:ln w="15240">
                <a:solidFill>
                  <a:srgbClr val="136742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低连通</c:v>
                </c:pt>
                <c:pt idx="1">
                  <c:v>中连通</c:v>
                </c:pt>
                <c:pt idx="2">
                  <c:v>高连通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0.699</c:v>
                </c:pt>
                <c:pt idx="1">
                  <c:v>1.199</c:v>
                </c:pt>
                <c:pt idx="2">
                  <c:v>1.699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429C6B"/>
            </a:solidFill>
            <a:ln w="11430">
              <a:solidFill>
                <a:srgbClr val="136742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低连通</c:v>
                </c:pt>
                <c:pt idx="1">
                  <c:v>中连通</c:v>
                </c:pt>
                <c:pt idx="2">
                  <c:v>高连通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0.09</c:v>
                </c:pt>
                <c:pt idx="1">
                  <c:v>0.09</c:v>
                </c:pt>
                <c:pt idx="2">
                  <c:v>0.09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429C6B"/>
            </a:solidFill>
            <a:ln w="11430">
              <a:solidFill>
                <a:srgbClr val="136742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0.09375</c:v>
                </c:pt>
                <c:pt idx="1">
                  <c:v>0.09375</c:v>
                </c:pt>
                <c:pt idx="2">
                  <c:v>0.09375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136742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低连通</c:v>
                </c:pt>
                <c:pt idx="1">
                  <c:v>中连通</c:v>
                </c:pt>
                <c:pt idx="2">
                  <c:v>高连通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0.09825</c:v>
                </c:pt>
                <c:pt idx="1">
                  <c:v>0.09825</c:v>
                </c:pt>
                <c:pt idx="2">
                  <c:v>0.09825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0.92</c:v>
                </c:pt>
                <c:pt idx="1">
                  <c:v>1.05</c:v>
                </c:pt>
                <c:pt idx="2">
                  <c:v>1.11</c:v>
                </c:pt>
                <c:pt idx="3">
                  <c:v>1.09</c:v>
                </c:pt>
                <c:pt idx="4">
                  <c:v>1</c:v>
                </c:pt>
                <c:pt idx="5">
                  <c:v>0.87</c:v>
                </c:pt>
                <c:pt idx="6">
                  <c:v>0.74</c:v>
                </c:pt>
                <c:pt idx="7">
                  <c:v>0.65</c:v>
                </c:pt>
                <c:pt idx="8">
                  <c:v>0.63</c:v>
                </c:pt>
                <c:pt idx="9">
                  <c:v>0.69</c:v>
                </c:pt>
                <c:pt idx="10">
                  <c:v>0.82</c:v>
                </c:pt>
                <c:pt idx="11">
                  <c:v>0.99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EFF9F2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0.26</c:v>
                </c:pt>
                <c:pt idx="1">
                  <c:v>0.26</c:v>
                </c:pt>
                <c:pt idx="2">
                  <c:v>0.26</c:v>
                </c:pt>
                <c:pt idx="3">
                  <c:v>0.26</c:v>
                </c:pt>
                <c:pt idx="4">
                  <c:v>0.26</c:v>
                </c:pt>
                <c:pt idx="5">
                  <c:v>0.26</c:v>
                </c:pt>
                <c:pt idx="6">
                  <c:v>0.26</c:v>
                </c:pt>
                <c:pt idx="7">
                  <c:v>0.26</c:v>
                </c:pt>
                <c:pt idx="8">
                  <c:v>0.26</c:v>
                </c:pt>
                <c:pt idx="9">
                  <c:v>0.26</c:v>
                </c:pt>
                <c:pt idx="10">
                  <c:v>0.26</c:v>
                </c:pt>
                <c:pt idx="11">
                  <c:v>0.26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连通绿地</c:v>
          </c:tx>
          <c:spPr>
            <a:solidFill>
              <a:srgbClr val="136742"/>
            </a:solidFill>
            <a:ln w="19050">
              <a:solidFill>
                <a:srgbClr val="13674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36742"/>
              </a:solidFill>
              <a:ln w="8890">
                <a:solidFill>
                  <a:srgbClr val="136742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1.05</c:v>
                </c:pt>
                <c:pt idx="1">
                  <c:v>1.18</c:v>
                </c:pt>
                <c:pt idx="2">
                  <c:v>1.24</c:v>
                </c:pt>
                <c:pt idx="3">
                  <c:v>1.22</c:v>
                </c:pt>
                <c:pt idx="4">
                  <c:v>1.13</c:v>
                </c:pt>
                <c:pt idx="5">
                  <c:v>1</c:v>
                </c:pt>
                <c:pt idx="6">
                  <c:v>0.87</c:v>
                </c:pt>
                <c:pt idx="7">
                  <c:v>0.78</c:v>
                </c:pt>
                <c:pt idx="8">
                  <c:v>0.76</c:v>
                </c:pt>
                <c:pt idx="9">
                  <c:v>0.82</c:v>
                </c:pt>
                <c:pt idx="10">
                  <c:v>0.95</c:v>
                </c:pt>
                <c:pt idx="11">
                  <c:v>1.12</c:v>
                </c:pt>
              </c:numCache>
            </c:numRef>
          </c:val>
          <c:smooth val="0"/>
        </c:ser>
        <c:ser>
          <c:idx val="3"/>
          <c:order val="3"/>
          <c:tx>
            <c:v>孤立绿地</c:v>
          </c:tx>
          <c:spPr>
            <a:solidFill>
              <a:srgbClr val="BD4F22"/>
            </a:solidFill>
            <a:ln w="19050">
              <a:solidFill>
                <a:srgbClr val="BD4F2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BD4F22"/>
              </a:solidFill>
              <a:ln w="8890">
                <a:solidFill>
                  <a:srgbClr val="BD4F22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0.7</c:v>
                </c:pt>
                <c:pt idx="1">
                  <c:v>0.83</c:v>
                </c:pt>
                <c:pt idx="2">
                  <c:v>0.89</c:v>
                </c:pt>
                <c:pt idx="3">
                  <c:v>0.87</c:v>
                </c:pt>
                <c:pt idx="4">
                  <c:v>0.78</c:v>
                </c:pt>
                <c:pt idx="5">
                  <c:v>0.65</c:v>
                </c:pt>
                <c:pt idx="6">
                  <c:v>0.52</c:v>
                </c:pt>
                <c:pt idx="7">
                  <c:v>0.43</c:v>
                </c:pt>
                <c:pt idx="8">
                  <c:v>0.41</c:v>
                </c:pt>
                <c:pt idx="9">
                  <c:v>0.47</c:v>
                </c:pt>
                <c:pt idx="10">
                  <c:v>0.6</c:v>
                </c:pt>
                <c:pt idx="11">
                  <c:v>0.77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35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36742"/>
              </a:solidFill>
              <a:ln w="8890">
                <a:solidFill>
                  <a:srgbClr val="136742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0.18</c:v>
                </c:pt>
                <c:pt idx="1">
                  <c:v>0.18</c:v>
                </c:pt>
                <c:pt idx="2">
                  <c:v>0.18</c:v>
                </c:pt>
                <c:pt idx="3">
                  <c:v>0.18</c:v>
                </c:pt>
              </c:numLit>
            </c:plus>
            <c:minus>
              <c:numLit>
                <c:formatCode>General</c:formatCode>
                <c:ptCount val="4"/>
                <c:pt idx="0">
                  <c:v>0.18</c:v>
                </c:pt>
                <c:pt idx="1">
                  <c:v>0.18</c:v>
                </c:pt>
                <c:pt idx="2">
                  <c:v>0.18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36742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0.38</c:v>
                </c:pt>
                <c:pt idx="1">
                  <c:v>0.46</c:v>
                </c:pt>
                <c:pt idx="2">
                  <c:v>0.23</c:v>
                </c:pt>
                <c:pt idx="3">
                  <c:v>-0.31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d0cc5ea8d0c74a67" /><Relationship Type="http://schemas.openxmlformats.org/officeDocument/2006/relationships/notesMaster" Target="/ppt/notesMasters/notesMaster1.xml" Id="Reeaf5a3cd56d4190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c4e15e69f21a4d07" /><Relationship Type="http://schemas.openxmlformats.org/officeDocument/2006/relationships/notesMaster" Target="/ppt/notesMasters/notesMaster1.xml" Id="R146efe84a7b445ef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4cf529f6e1c7487c" /><Relationship Type="http://schemas.openxmlformats.org/officeDocument/2006/relationships/notesMaster" Target="/ppt/notesMasters/notesMaster1.xml" Id="Rf4725e7255104779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1a98765aa4d045e3" /><Relationship Type="http://schemas.openxmlformats.org/officeDocument/2006/relationships/notesMaster" Target="/ppt/notesMasters/notesMaster1.xml" Id="Rf71fc11f984e4167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人工构造的生态学教学示意，仅检验模板稳定性；不代表文献结论或真实实验结果。</a:t>
            </a:r>
            <a:endParaRPr/>
          </a:p>
          <a:p>
            <a:r>
              <a:rPr/>
              <a:t>Layout: L9</a:t>
            </a:r>
            <a:endParaRPr/>
          </a:p>
          <a:p>
            <a:r>
              <a:rPr/>
              <a:t>Palette: P2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人工构造的生态学教学示意，仅检验模板稳定性；不代表文献结论或真实实验结果。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本样板合成示意数据；区间为人工设定上下界，不代表统计置信区间。</a:t>
            </a:r>
            <a:endParaRPr/>
          </a:p>
          <a:p>
            <a:r>
              <a:rPr/>
              <a:t>charts.1: 本样板合成示意数据；区间为人工设定上下界，不代表统计置信区间。</a:t>
            </a:r>
            <a:endParaRPr/>
          </a:p>
          <a:p>
            <a:r>
              <a:rPr/>
              <a:t>Layout: L10</a:t>
            </a:r>
            <a:endParaRPr/>
          </a:p>
          <a:p>
            <a:r>
              <a:rPr/>
              <a:t>Palette: P2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人工构造的生态学教学示意，仅检验模板稳定性；不代表文献结论或真实实验结果。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本样板合成示意数据；区间为人工设定上下界，不代表统计置信区间。</a:t>
            </a:r>
            <a:endParaRPr/>
          </a:p>
          <a:p>
            <a:r>
              <a:rPr/>
              <a:t>charts.1: 本样板合成示意数据；区间为人工设定上下界，不代表统计置信区间。</a:t>
            </a:r>
            <a:endParaRPr/>
          </a:p>
          <a:p>
            <a:r>
              <a:rPr/>
              <a:t>charts.2: 本样板合成示意数据；区间为人工设定上下界，不代表统计置信区间。</a:t>
            </a:r>
            <a:endParaRPr/>
          </a:p>
          <a:p>
            <a:r>
              <a:rPr/>
              <a:t>charts.3: 本样板合成示意数据；区间为人工设定上下界，不代表统计置信区间。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P2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人工构造的生态学教学示意，仅检验模板稳定性；不代表文献结论或真实实验结果。</a:t>
            </a:r>
            <a:endParaRPr/>
          </a:p>
          <a:p>
            <a:r>
              <a:rPr/>
              <a:t>Layout: L12</a:t>
            </a:r>
            <a:endParaRPr/>
          </a:p>
          <a:p>
            <a:r>
              <a:rPr/>
              <a:t>Palette: P2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5b0de36d0154031" /><Relationship Type="http://schemas.openxmlformats.org/officeDocument/2006/relationships/image" Target="/ppt/media/image.png" Id="R5f155ced3c494a39" /><Relationship Type="http://schemas.openxmlformats.org/officeDocument/2006/relationships/image" Target="/ppt/media/image.png" Id="Ra3e27fc1ebcc433e" /><Relationship Type="http://schemas.openxmlformats.org/officeDocument/2006/relationships/image" Target="/ppt/media/image.png" Id="Rdf017364ef2348d1" /><Relationship Type="http://schemas.openxmlformats.org/officeDocument/2006/relationships/image" Target="/ppt/media/image.png" Id="R32ff49c7cc97420d" /><Relationship Type="http://schemas.openxmlformats.org/officeDocument/2006/relationships/image" Target="/ppt/media/image.png" Id="R172781c0c6724258" /><Relationship Type="http://schemas.openxmlformats.org/officeDocument/2006/relationships/image" Target="/ppt/media/image.png" Id="R7458a5ac3d3448c8" /><Relationship Type="http://schemas.openxmlformats.org/officeDocument/2006/relationships/image" Target="/ppt/media/image.png" Id="R6b80380e3d78440e" /><Relationship Type="http://schemas.openxmlformats.org/officeDocument/2006/relationships/notesSlide" Target="/ppt/notesSlides/notesSlide1.xml" Id="R4ef68450f9d14d7b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acb46eafb4d4a61" /><Relationship Type="http://schemas.openxmlformats.org/officeDocument/2006/relationships/chart" Target="/ppt/charts/chart1.xml" Id="R131fe6ba7eb5426e" /><Relationship Type="http://schemas.openxmlformats.org/officeDocument/2006/relationships/chart" Target="/ppt/charts/chart2.xml" Id="R272f144416c24f5b" /><Relationship Type="http://schemas.openxmlformats.org/officeDocument/2006/relationships/notesSlide" Target="/ppt/notesSlides/notesSlide2.xml" Id="Re932ae2421e947e6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3.xml" Id="R0f90f39fb5cf47f3" /><Relationship Type="http://schemas.openxmlformats.org/officeDocument/2006/relationships/chart" Target="/ppt/charts/chart4.xml" Id="R5ffc3bee95974730" /><Relationship Type="http://schemas.openxmlformats.org/officeDocument/2006/relationships/chart" Target="/ppt/charts/chart5.xml" Id="R5911ad34a6c7462d" /><Relationship Type="http://schemas.openxmlformats.org/officeDocument/2006/relationships/chart" Target="/ppt/charts/chart6.xml" Id="Rffaaf39a0267400e" /><Relationship Type="http://schemas.openxmlformats.org/officeDocument/2006/relationships/notesSlide" Target="/ppt/notesSlides/notesSlide3.xml" Id="R0674bcd17bcf4ba2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049694d72264f0a" /><Relationship Type="http://schemas.openxmlformats.org/officeDocument/2006/relationships/notesSlide" Target="/ppt/notesSlides/notesSlide4.xml" Id="Rb9024c2dfc9c419a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1" name="text-668">
            <a:extLst>
              <a:ext uri="{FF2B5EF4-FFF2-40B4-BE49-F238E27FC236}">
                <ns2:creationId id="{6F93912D-739A-462A-ACF8-066C2D8DBB5C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学术分享｜绿地面积还是廊道连通？</a:t>
            </a:r>
            <a:endParaRPr/>
          </a:p>
        </p:txBody>
      </p:sp>
      <p:sp>
        <p:nvSpPr>
          <p:cNvPr id="2" name="line-669">
            <a:extLst>
              <a:ext uri="{FF2B5EF4-FFF2-40B4-BE49-F238E27FC236}">
                <ns2:creationId id="{3BB5AD08-8DAA-4000-AA3E-43C8AE5FAF2F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6742"/>
            </a:solidFill>
            <a:prstDash val="solid"/>
          </a:ln>
        </p:spPr>
      </p:sp>
      <p:sp>
        <p:nvSpPr>
          <p:cNvPr id="3" name="panel-670">
            <a:extLst>
              <a:ext uri="{FF2B5EF4-FFF2-40B4-BE49-F238E27FC236}">
                <ns2:creationId id="{AA886134-F6EC-4850-ACB9-39ABFF6BBC90}"/>
              </a:ext>
            </a:extLst>
          </p:cNvPr>
          <p:cNvSpPr>
            <a:spLocks noGrp="1"/>
          </p:cNvSpPr>
          <p:nvPr/>
        </p:nvSpPr>
        <p:spPr>
          <a:xfrm>
            <a:off x="304800" y="885825"/>
            <a:ext cx="5715990" cy="3800475"/>
          </a:xfrm>
          <a:prstGeom prst="rect">
            <a:avLst>
              <a:gd name="adj" fmla="val 2005"/>
            </a:avLst>
          </a:prstGeom>
          <a:solidFill>
            <a:srgbClr val="FFFFFF"/>
          </a:solidFill>
          <a:ln w="11430">
            <a:solidFill>
              <a:srgbClr val="136742"/>
            </a:solidFill>
            <a:prstDash val="solid"/>
          </a:ln>
        </p:spPr>
      </p:sp>
      <p:sp>
        <p:nvSpPr>
          <p:cNvPr id="4" name="shape-671">
            <a:extLst>
              <a:ext uri="{FF2B5EF4-FFF2-40B4-BE49-F238E27FC236}">
                <ns2:creationId id="{BD8F2A86-4D03-48C8-97BA-6B3451E3337C}"/>
              </a:ext>
            </a:extLst>
          </p:cNvPr>
          <p:cNvSpPr>
            <a:spLocks noGrp="1"/>
          </p:cNvSpPr>
          <p:nvPr/>
        </p:nvSpPr>
        <p:spPr>
          <a:xfrm>
            <a:off x="314201" y="895350"/>
            <a:ext cx="5697187" cy="400050"/>
          </a:xfrm>
          <a:prstGeom prst="rect">
            <a:avLst>
              <a:gd name="adj" fmla="val 19048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5" name="text-672">
            <a:extLst>
              <a:ext uri="{FF2B5EF4-FFF2-40B4-BE49-F238E27FC236}">
                <ns2:creationId id="{B91519D1-8011-49D4-BCB5-1FC764D05B23}"/>
              </a:ext>
            </a:extLst>
          </p:cNvPr>
          <p:cNvSpPr>
            <a:spLocks noGrp="1"/>
          </p:cNvSpPr>
          <p:nvPr/>
        </p:nvSpPr>
        <p:spPr>
          <a:xfrm>
            <a:off x="436418" y="952500"/>
            <a:ext cx="545275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 A：绿地面积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" name="text-673">
            <a:extLst>
              <a:ext uri="{FF2B5EF4-FFF2-40B4-BE49-F238E27FC236}">
                <ns2:creationId id="{E4F44F3A-CB21-4047-BA04-614D5AF81C8A}"/>
              </a:ext>
            </a:extLst>
          </p:cNvPr>
          <p:cNvSpPr>
            <a:spLocks noGrp="1"/>
          </p:cNvSpPr>
          <p:nvPr/>
        </p:nvSpPr>
        <p:spPr>
          <a:xfrm>
            <a:off x="474023" y="1381125"/>
            <a:ext cx="537754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在相近连通条件下，比较绿地大小与鸟类丰富度。</a:t>
            </a:r>
            <a:endParaRPr/>
          </a:p>
        </p:txBody>
      </p:sp>
      <p:pic>
        <p:nvPicPr>
          <p:cNvPr id="7" name="">
            <a:extLst>
              <a:ext uri="{FF2B5EF4-FFF2-40B4-BE49-F238E27FC236}">
                <ns2:creationId id="{9E465799-1BEA-48A1-B805-F24829FB5C3C}"/>
              </a:ext>
            </a:extLst>
          </p:cNvPr>
          <p:cNvPicPr>
            <a:picLocks noChangeAspect="1"/>
          </p:cNvPicPr>
          <p:nvPr/>
        </p:nvPicPr>
        <p:blipFill>
          <a:blip r:embed="R5f155ced3c494a39">
            <a:duotone>
              <a:srgbClr val="136742"/>
              <a:srgbClr val="FFFFFF"/>
            </a:duotone>
          </a:blip>
          <a:stretch/>
        </p:blipFill>
        <p:spPr>
          <a:xfrm>
            <a:off x="633845" y="2070100"/>
            <a:ext cx="1880260" cy="1270000"/>
          </a:xfrm>
          <a:prstGeom prst="rect">
            <a:avLst/>
          </a:prstGeom>
        </p:spPr>
      </p:pic>
      <p:sp>
        <p:nvSpPr>
          <p:cNvPr id="8" name="arrow-674">
            <a:extLst>
              <a:ext uri="{FF2B5EF4-FFF2-40B4-BE49-F238E27FC236}">
                <ns2:creationId id="{77859C15-A61E-470D-A5A1-1427150DA7DC}"/>
              </a:ext>
            </a:extLst>
          </p:cNvPr>
          <p:cNvSpPr>
            <a:spLocks noGrp="1"/>
          </p:cNvSpPr>
          <p:nvPr/>
        </p:nvSpPr>
        <p:spPr>
          <a:xfrm>
            <a:off x="2645723" y="2524125"/>
            <a:ext cx="733301" cy="209550"/>
          </a:xfrm>
          <a:prstGeom prst="rightArrow">
            <a:avLst/>
          </a:prstGeom>
          <a:solidFill>
            <a:srgbClr val="429C6B"/>
          </a:solidFill>
          <a:ln w="0">
            <a:noFill/>
            <a:prstDash val="solid"/>
          </a:ln>
        </p:spPr>
      </p:sp>
      <p:pic>
        <p:nvPicPr>
          <p:cNvPr id="9" name="">
            <a:extLst>
              <a:ext uri="{FF2B5EF4-FFF2-40B4-BE49-F238E27FC236}">
                <ns2:creationId id="{C030EABC-75FF-4A53-B000-E0F053DE1897}"/>
              </a:ext>
            </a:extLst>
          </p:cNvPr>
          <p:cNvPicPr>
            <a:picLocks noChangeAspect="1"/>
          </p:cNvPicPr>
          <p:nvPr/>
        </p:nvPicPr>
        <p:blipFill>
          <a:blip r:embed="Ra3e27fc1ebcc433e">
            <a:duotone>
              <a:srgbClr val="136742"/>
              <a:srgbClr val="FFFFFF"/>
            </a:duotone>
          </a:blip>
          <a:stretch/>
        </p:blipFill>
        <p:spPr>
          <a:xfrm>
            <a:off x="4008912" y="2425700"/>
            <a:ext cx="1222169" cy="825500"/>
          </a:xfrm>
          <a:prstGeom prst="rect">
            <a:avLst/>
          </a:prstGeom>
        </p:spPr>
      </p:pic>
      <p:sp>
        <p:nvSpPr>
          <p:cNvPr id="10" name="text-675">
            <a:extLst>
              <a:ext uri="{FF2B5EF4-FFF2-40B4-BE49-F238E27FC236}">
                <ns2:creationId id="{7EFEFEB6-15BB-4123-912B-9BB765A1B1D7}"/>
              </a:ext>
            </a:extLst>
          </p:cNvPr>
          <p:cNvSpPr>
            <a:spLocks noGrp="1"/>
          </p:cNvSpPr>
          <p:nvPr/>
        </p:nvSpPr>
        <p:spPr>
          <a:xfrm>
            <a:off x="492826" y="3476625"/>
            <a:ext cx="231271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大型城市绿地</a:t>
            </a:r>
            <a:endParaRPr/>
          </a:p>
        </p:txBody>
      </p:sp>
      <p:sp>
        <p:nvSpPr>
          <p:cNvPr id="11" name="text-676">
            <a:extLst>
              <a:ext uri="{FF2B5EF4-FFF2-40B4-BE49-F238E27FC236}">
                <ns2:creationId id="{5859349E-6FE1-4E8C-9CE8-1F34F50C4D25}"/>
              </a:ext>
            </a:extLst>
          </p:cNvPr>
          <p:cNvSpPr>
            <a:spLocks noGrp="1"/>
          </p:cNvSpPr>
          <p:nvPr/>
        </p:nvSpPr>
        <p:spPr>
          <a:xfrm>
            <a:off x="3491840" y="3476625"/>
            <a:ext cx="233152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小型城市绿地</a:t>
            </a:r>
            <a:endParaRPr/>
          </a:p>
        </p:txBody>
      </p:sp>
      <p:sp>
        <p:nvSpPr>
          <p:cNvPr id="12" name="text-677">
            <a:extLst>
              <a:ext uri="{FF2B5EF4-FFF2-40B4-BE49-F238E27FC236}">
                <ns2:creationId id="{C84A4020-E5EC-4CAC-BDA1-B76E7E0DE001}"/>
              </a:ext>
            </a:extLst>
          </p:cNvPr>
          <p:cNvSpPr>
            <a:spLocks noGrp="1"/>
          </p:cNvSpPr>
          <p:nvPr/>
        </p:nvSpPr>
        <p:spPr>
          <a:xfrm>
            <a:off x="549234" y="4124325"/>
            <a:ext cx="522712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rPr>
              <a:t>预测：丰富度随面积增加</a:t>
            </a:r>
            <a:endParaRPr/>
          </a:p>
        </p:txBody>
      </p:sp>
      <p:sp>
        <p:nvSpPr>
          <p:cNvPr id="13" name="panel-678">
            <a:extLst>
              <a:ext uri="{FF2B5EF4-FFF2-40B4-BE49-F238E27FC236}">
                <ns2:creationId id="{56510612-5B04-434A-8369-D58C3F6E0C36}"/>
              </a:ext>
            </a:extLst>
          </p:cNvPr>
          <p:cNvSpPr>
            <a:spLocks noGrp="1"/>
          </p:cNvSpPr>
          <p:nvPr/>
        </p:nvSpPr>
        <p:spPr>
          <a:xfrm>
            <a:off x="6171210" y="885825"/>
            <a:ext cx="5715990" cy="3800475"/>
          </a:xfrm>
          <a:prstGeom prst="rect">
            <a:avLst>
              <a:gd name="adj" fmla="val 2005"/>
            </a:avLst>
          </a:prstGeom>
          <a:solidFill>
            <a:srgbClr val="FFFFFF"/>
          </a:solidFill>
          <a:ln w="11430">
            <a:solidFill>
              <a:srgbClr val="136742"/>
            </a:solidFill>
            <a:prstDash val="solid"/>
          </a:ln>
        </p:spPr>
      </p:sp>
      <p:sp>
        <p:nvSpPr>
          <p:cNvPr id="14" name="shape-679">
            <a:extLst>
              <a:ext uri="{FF2B5EF4-FFF2-40B4-BE49-F238E27FC236}">
                <ns2:creationId id="{6624AB24-92A6-4EAF-8312-68B81E0B7A03}"/>
              </a:ext>
            </a:extLst>
          </p:cNvPr>
          <p:cNvSpPr>
            <a:spLocks noGrp="1"/>
          </p:cNvSpPr>
          <p:nvPr/>
        </p:nvSpPr>
        <p:spPr>
          <a:xfrm>
            <a:off x="6180612" y="895350"/>
            <a:ext cx="5697187" cy="400050"/>
          </a:xfrm>
          <a:prstGeom prst="rect">
            <a:avLst>
              <a:gd name="adj" fmla="val 19048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15" name="text-680">
            <a:extLst>
              <a:ext uri="{FF2B5EF4-FFF2-40B4-BE49-F238E27FC236}">
                <ns2:creationId id="{7F5B0496-78B1-45A3-A4B8-C514E6B196D3}"/>
              </a:ext>
            </a:extLst>
          </p:cNvPr>
          <p:cNvSpPr>
            <a:spLocks noGrp="1"/>
          </p:cNvSpPr>
          <p:nvPr/>
        </p:nvSpPr>
        <p:spPr>
          <a:xfrm>
            <a:off x="6302829" y="952500"/>
            <a:ext cx="545275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 B：廊道连通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" name="text-681">
            <a:extLst>
              <a:ext uri="{FF2B5EF4-FFF2-40B4-BE49-F238E27FC236}">
                <ns2:creationId id="{E7C987B3-ED09-4CE4-9C8C-98BEAACAA899}"/>
              </a:ext>
            </a:extLst>
          </p:cNvPr>
          <p:cNvSpPr>
            <a:spLocks noGrp="1"/>
          </p:cNvSpPr>
          <p:nvPr/>
        </p:nvSpPr>
        <p:spPr>
          <a:xfrm>
            <a:off x="6340434" y="1381125"/>
            <a:ext cx="537754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在总面积相近时，比较连续绿地与孤立斑块。</a:t>
            </a:r>
            <a:endParaRPr/>
          </a:p>
        </p:txBody>
      </p:sp>
      <p:pic>
        <p:nvPicPr>
          <p:cNvPr id="17" name="">
            <a:extLst>
              <a:ext uri="{FF2B5EF4-FFF2-40B4-BE49-F238E27FC236}">
                <ns2:creationId id="{7F2352F4-1939-476F-8F67-6753F8DC4396}"/>
              </a:ext>
            </a:extLst>
          </p:cNvPr>
          <p:cNvPicPr>
            <a:picLocks noChangeAspect="1"/>
          </p:cNvPicPr>
          <p:nvPr/>
        </p:nvPicPr>
        <p:blipFill>
          <a:blip r:embed="Rdf017364ef2348d1">
            <a:duotone>
              <a:srgbClr val="136742"/>
              <a:srgbClr val="FFFFFF"/>
            </a:duotone>
          </a:blip>
          <a:stretch/>
        </p:blipFill>
        <p:spPr>
          <a:xfrm>
            <a:off x="6500256" y="2070100"/>
            <a:ext cx="1880260" cy="1270000"/>
          </a:xfrm>
          <a:prstGeom prst="rect">
            <a:avLst/>
          </a:prstGeom>
        </p:spPr>
      </p:pic>
      <p:sp>
        <p:nvSpPr>
          <p:cNvPr id="18" name="arrow-682">
            <a:extLst>
              <a:ext uri="{FF2B5EF4-FFF2-40B4-BE49-F238E27FC236}">
                <ns2:creationId id="{1059A1F6-6B48-480C-957D-B2D4FE4E85F8}"/>
              </a:ext>
            </a:extLst>
          </p:cNvPr>
          <p:cNvSpPr>
            <a:spLocks noGrp="1"/>
          </p:cNvSpPr>
          <p:nvPr/>
        </p:nvSpPr>
        <p:spPr>
          <a:xfrm>
            <a:off x="8512134" y="2524125"/>
            <a:ext cx="733301" cy="209550"/>
          </a:xfrm>
          <a:prstGeom prst="rightArrow">
            <a:avLst/>
          </a:prstGeom>
          <a:solidFill>
            <a:srgbClr val="429C6B"/>
          </a:solidFill>
          <a:ln w="0">
            <a:noFill/>
            <a:prstDash val="solid"/>
          </a:ln>
        </p:spPr>
      </p:sp>
      <p:pic>
        <p:nvPicPr>
          <p:cNvPr id="19" name="">
            <a:extLst>
              <a:ext uri="{FF2B5EF4-FFF2-40B4-BE49-F238E27FC236}">
                <ns2:creationId id="{611FDD54-0A3F-4ECF-8566-9CBAB37863B4}"/>
              </a:ext>
            </a:extLst>
          </p:cNvPr>
          <p:cNvPicPr>
            <a:picLocks noChangeAspect="1"/>
          </p:cNvPicPr>
          <p:nvPr/>
        </p:nvPicPr>
        <p:blipFill>
          <a:blip r:embed="R32ff49c7cc97420d">
            <a:duotone>
              <a:srgbClr val="136742"/>
              <a:srgbClr val="FFFFFF"/>
            </a:duotone>
          </a:blip>
          <a:stretch/>
        </p:blipFill>
        <p:spPr>
          <a:xfrm>
            <a:off x="9593283" y="2047970"/>
            <a:ext cx="788299" cy="532448"/>
          </a:xfrm>
          <a:prstGeom prst="rect">
            <a:avLst/>
          </a:prstGeom>
        </p:spPr>
      </p:pic>
      <p:pic>
        <p:nvPicPr>
          <p:cNvPr id="20" name="">
            <a:extLst>
              <a:ext uri="{FF2B5EF4-FFF2-40B4-BE49-F238E27FC236}">
                <ns2:creationId id="{72943F9F-16A0-470B-8EEA-785C7238FB0F}"/>
              </a:ext>
            </a:extLst>
          </p:cNvPr>
          <p:cNvPicPr>
            <a:picLocks noChangeAspect="1"/>
          </p:cNvPicPr>
          <p:nvPr/>
        </p:nvPicPr>
        <p:blipFill>
          <a:blip r:embed="R172781c0c6724258">
            <a:duotone>
              <a:srgbClr val="136742"/>
              <a:srgbClr val="FFFFFF"/>
            </a:duotone>
          </a:blip>
          <a:stretch/>
        </p:blipFill>
        <p:spPr>
          <a:xfrm>
            <a:off x="10601572" y="2082260"/>
            <a:ext cx="788299" cy="532448"/>
          </a:xfrm>
          <a:prstGeom prst="rect">
            <a:avLst/>
          </a:prstGeom>
        </p:spPr>
      </p:pic>
      <p:pic>
        <p:nvPicPr>
          <p:cNvPr id="21" name="">
            <a:extLst>
              <a:ext uri="{FF2B5EF4-FFF2-40B4-BE49-F238E27FC236}">
                <ns2:creationId id="{5FE3745A-E3DD-43EB-A6AB-996C95233375}"/>
              </a:ext>
            </a:extLst>
          </p:cNvPr>
          <p:cNvPicPr>
            <a:picLocks noChangeAspect="1"/>
          </p:cNvPicPr>
          <p:nvPr/>
        </p:nvPicPr>
        <p:blipFill>
          <a:blip r:embed="R7458a5ac3d3448c8">
            <a:duotone>
              <a:srgbClr val="136742"/>
              <a:srgbClr val="FFFFFF"/>
            </a:duotone>
          </a:blip>
          <a:stretch/>
        </p:blipFill>
        <p:spPr>
          <a:xfrm>
            <a:off x="9629949" y="2827782"/>
            <a:ext cx="733301" cy="495300"/>
          </a:xfrm>
          <a:prstGeom prst="rect">
            <a:avLst/>
          </a:prstGeom>
        </p:spPr>
      </p:pic>
      <p:pic>
        <p:nvPicPr>
          <p:cNvPr id="22" name="">
            <a:extLst>
              <a:ext uri="{FF2B5EF4-FFF2-40B4-BE49-F238E27FC236}">
                <ns2:creationId id="{273AB73D-0981-41F6-BA00-3745B8CB1C21}"/>
              </a:ext>
            </a:extLst>
          </p:cNvPr>
          <p:cNvPicPr>
            <a:picLocks noChangeAspect="1"/>
          </p:cNvPicPr>
          <p:nvPr/>
        </p:nvPicPr>
        <p:blipFill>
          <a:blip r:embed="R6b80380e3d78440e">
            <a:duotone>
              <a:srgbClr val="136742"/>
              <a:srgbClr val="FFFFFF"/>
            </a:duotone>
          </a:blip>
          <a:stretch/>
        </p:blipFill>
        <p:spPr>
          <a:xfrm>
            <a:off x="10638238" y="2815400"/>
            <a:ext cx="769966" cy="520065"/>
          </a:xfrm>
          <a:prstGeom prst="rect">
            <a:avLst/>
          </a:prstGeom>
        </p:spPr>
      </p:pic>
      <p:sp>
        <p:nvSpPr>
          <p:cNvPr id="23" name="text-683">
            <a:extLst>
              <a:ext uri="{FF2B5EF4-FFF2-40B4-BE49-F238E27FC236}">
                <ns2:creationId id="{94811222-9D7B-4EC3-8179-209B7B2B8C15}"/>
              </a:ext>
            </a:extLst>
          </p:cNvPr>
          <p:cNvSpPr>
            <a:spLocks noGrp="1"/>
          </p:cNvSpPr>
          <p:nvPr/>
        </p:nvSpPr>
        <p:spPr>
          <a:xfrm>
            <a:off x="6359236" y="3476625"/>
            <a:ext cx="231271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连续绿色网络</a:t>
            </a:r>
            <a:endParaRPr/>
          </a:p>
        </p:txBody>
      </p:sp>
      <p:sp>
        <p:nvSpPr>
          <p:cNvPr id="24" name="text-684">
            <a:extLst>
              <a:ext uri="{FF2B5EF4-FFF2-40B4-BE49-F238E27FC236}">
                <ns2:creationId id="{265C44F1-3D80-4722-B07C-036D3FBDEB23}"/>
              </a:ext>
            </a:extLst>
          </p:cNvPr>
          <p:cNvSpPr>
            <a:spLocks noGrp="1"/>
          </p:cNvSpPr>
          <p:nvPr/>
        </p:nvSpPr>
        <p:spPr>
          <a:xfrm>
            <a:off x="9358251" y="3476625"/>
            <a:ext cx="233152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孤立绿地斑块</a:t>
            </a:r>
            <a:endParaRPr/>
          </a:p>
        </p:txBody>
      </p:sp>
      <p:sp>
        <p:nvSpPr>
          <p:cNvPr id="25" name="text-685">
            <a:extLst>
              <a:ext uri="{FF2B5EF4-FFF2-40B4-BE49-F238E27FC236}">
                <ns2:creationId id="{225BCAD0-173D-4604-9379-25C18AE47927}"/>
              </a:ext>
            </a:extLst>
          </p:cNvPr>
          <p:cNvSpPr>
            <a:spLocks noGrp="1"/>
          </p:cNvSpPr>
          <p:nvPr/>
        </p:nvSpPr>
        <p:spPr>
          <a:xfrm>
            <a:off x="6415644" y="4124325"/>
            <a:ext cx="522712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rPr>
              <a:t>预测：连通性影响物种交流</a:t>
            </a:r>
            <a:endParaRPr/>
          </a:p>
        </p:txBody>
      </p:sp>
      <p:graphicFrame>
        <p:nvGraphicFramePr>
          <p:cNvPr id="26" name="">
            <a:extLst>
              <a:ext uri="{FF2B5EF4-FFF2-40B4-BE49-F238E27FC236}">
                <ns2:creationId id="{BCEDAE83-2AE0-4735-991E-9FE9881224A0}"/>
              </a:ext>
            </a:extLst>
          </p:cNvPr>
          <p:cNvGraphicFramePr/>
          <p:nvPr/>
        </p:nvGraphicFramePr>
        <p:xfrm>
          <a:off x="304800" y="4857750"/>
          <a:ext cx="11582400" cy="1219200"/>
        </p:xfrm>
        <a:graphic>
          <a:graphicData uri="http://schemas.openxmlformats.org/drawingml/2006/table">
            <a:tbl>
              <a:tblPr/>
              <a:tblGrid>
                <a:gridCol w="3860800"/>
                <a:gridCol w="3860800"/>
                <a:gridCol w="3860800"/>
              </a:tblGrid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比较维度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5DF"/>
                      </a:solidFill>
                      <a:prstDash val="solid"/>
                    </a:lnL>
                    <a:lnR w="5715">
                      <a:solidFill>
                        <a:srgbClr val="D7E5DF"/>
                      </a:solidFill>
                      <a:prstDash val="solid"/>
                    </a:lnR>
                    <a:lnT w="5715">
                      <a:solidFill>
                        <a:srgbClr val="D7E5DF"/>
                      </a:solidFill>
                      <a:prstDash val="solid"/>
                    </a:lnT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13674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面积解释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5DF"/>
                      </a:solidFill>
                      <a:prstDash val="solid"/>
                    </a:lnR>
                    <a:lnT w="5715">
                      <a:solidFill>
                        <a:srgbClr val="D7E5DF"/>
                      </a:solidFill>
                      <a:prstDash val="solid"/>
                    </a:lnT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13674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连通解释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5DF"/>
                      </a:solidFill>
                      <a:prstDash val="solid"/>
                    </a:lnR>
                    <a:lnT w="5715">
                      <a:solidFill>
                        <a:srgbClr val="D7E5DF"/>
                      </a:solidFill>
                      <a:prstDash val="solid"/>
                    </a:lnT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136742"/>
                    </a:solidFill>
                  </a:tcPr>
                </a:tc>
              </a:tr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控制因素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5DF"/>
                      </a:solidFill>
                      <a:prstDash val="solid"/>
                    </a:lnL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控制廊道条件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控制绿地面积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响应指标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5DF"/>
                      </a:solidFill>
                      <a:prstDash val="solid"/>
                    </a:lnL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EFF9F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鸟类种数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EFF9F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群落组成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EFF9F2"/>
                    </a:solidFill>
                  </a:tcPr>
                </a:tc>
              </a:tr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补充证据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5DF"/>
                      </a:solidFill>
                      <a:prstDash val="solid"/>
                    </a:lnL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面积梯度调查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移动或重复观测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-686">
            <a:extLst>
              <a:ext uri="{FF2B5EF4-FFF2-40B4-BE49-F238E27FC236}">
                <ns2:creationId id="{75878179-AAB9-4BEF-8E3A-3D09CDED29E5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28" name="text-687">
            <a:extLst>
              <a:ext uri="{FF2B5EF4-FFF2-40B4-BE49-F238E27FC236}">
                <ns2:creationId id="{6935C6BE-D530-4ACD-BA13-5F4F88E35FB0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两种解释可能共同作用，需用对照设计区分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" name="text-688">
            <a:extLst>
              <a:ext uri="{FF2B5EF4-FFF2-40B4-BE49-F238E27FC236}">
                <ns2:creationId id="{49AE60B5-9E5B-41BB-8A43-B977E62D79F4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30" name="text-689">
            <a:extLst>
              <a:ext uri="{FF2B5EF4-FFF2-40B4-BE49-F238E27FC236}">
                <ns2:creationId id="{7D830F3E-B6BE-4B97-914E-D424F1258932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</p:spTree>
    <p:extLst>
      <p:ext uri="{BB962C8B-B14F-4D97-AF65-F5344CB8AC3E}">
        <ns4:creationId val="161307495"/>
      </p:ext>
    </p:extLst>
  </p:cSld>
</p:sld>
</file>

<file path=ppt/slides/slide2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2" name="text-690">
            <a:extLst>
              <a:ext uri="{FF2B5EF4-FFF2-40B4-BE49-F238E27FC236}">
                <ns2:creationId id="{BE046215-C713-4A03-9CC0-8E509B4C6E6F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概念框架｜城市绿地如何影响鸟类？</a:t>
            </a:r>
            <a:endParaRPr/>
          </a:p>
        </p:txBody>
      </p:sp>
      <p:sp>
        <p:nvSpPr>
          <p:cNvPr id="2" name="line-691">
            <a:extLst>
              <a:ext uri="{FF2B5EF4-FFF2-40B4-BE49-F238E27FC236}">
                <ns2:creationId id="{4BA091DF-567E-4DEC-9FEC-7150963C6FA6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6742"/>
            </a:solidFill>
            <a:prstDash val="solid"/>
          </a:ln>
        </p:spPr>
      </p:sp>
      <p:sp>
        <p:nvSpPr>
          <p:cNvPr id="3" name="shape-692">
            <a:extLst>
              <a:ext uri="{FF2B5EF4-FFF2-40B4-BE49-F238E27FC236}">
                <ns2:creationId id="{2A49F383-73C5-49BC-AB7D-5698EBF526B9}"/>
              </a:ext>
            </a:extLst>
          </p:cNvPr>
          <p:cNvSpPr>
            <a:spLocks noGrp="1"/>
          </p:cNvSpPr>
          <p:nvPr/>
        </p:nvSpPr>
        <p:spPr>
          <a:xfrm>
            <a:off x="304800" y="895350"/>
            <a:ext cx="2585357" cy="352425"/>
          </a:xfrm>
          <a:prstGeom prst="rect">
            <a:avLst/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4" name="text-693">
            <a:extLst>
              <a:ext uri="{FF2B5EF4-FFF2-40B4-BE49-F238E27FC236}">
                <ns2:creationId id="{885E4859-9896-452A-B972-38C9249FD8AC}"/>
              </a:ext>
            </a:extLst>
          </p:cNvPr>
          <p:cNvSpPr>
            <a:spLocks noGrp="1"/>
          </p:cNvSpPr>
          <p:nvPr/>
        </p:nvSpPr>
        <p:spPr>
          <a:xfrm>
            <a:off x="417616" y="923925"/>
            <a:ext cx="235972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输入证据</a:t>
            </a:r>
          </a:p>
        </p:txBody>
      </p:sp>
      <p:sp>
        <p:nvSpPr>
          <p:cNvPr id="5" name="shape-694">
            <a:extLst>
              <a:ext uri="{FF2B5EF4-FFF2-40B4-BE49-F238E27FC236}">
                <ns2:creationId id="{B9079D83-932D-4A67-8234-CD1EEA95C74D}"/>
              </a:ext>
            </a:extLst>
          </p:cNvPr>
          <p:cNvSpPr>
            <a:spLocks noGrp="1"/>
          </p:cNvSpPr>
          <p:nvPr/>
        </p:nvSpPr>
        <p:spPr>
          <a:xfrm>
            <a:off x="3059381" y="895350"/>
            <a:ext cx="5321135" cy="352425"/>
          </a:xfrm>
          <a:prstGeom prst="rect">
            <a:avLst/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6" name="text-695">
            <a:extLst>
              <a:ext uri="{FF2B5EF4-FFF2-40B4-BE49-F238E27FC236}">
                <ns2:creationId id="{B089125C-7CDB-478C-88B7-04F2FE95A62E}"/>
              </a:ext>
            </a:extLst>
          </p:cNvPr>
          <p:cNvSpPr>
            <a:spLocks noGrp="1"/>
          </p:cNvSpPr>
          <p:nvPr/>
        </p:nvSpPr>
        <p:spPr>
          <a:xfrm>
            <a:off x="3172196" y="923925"/>
            <a:ext cx="509550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机制模型</a:t>
            </a:r>
          </a:p>
        </p:txBody>
      </p:sp>
      <p:sp>
        <p:nvSpPr>
          <p:cNvPr id="7" name="shape-696">
            <a:extLst>
              <a:ext uri="{FF2B5EF4-FFF2-40B4-BE49-F238E27FC236}">
                <ns2:creationId id="{70317811-38FA-45FD-A5DB-B3631A970460}"/>
              </a:ext>
            </a:extLst>
          </p:cNvPr>
          <p:cNvSpPr>
            <a:spLocks noGrp="1"/>
          </p:cNvSpPr>
          <p:nvPr/>
        </p:nvSpPr>
        <p:spPr>
          <a:xfrm>
            <a:off x="8549739" y="895350"/>
            <a:ext cx="3337461" cy="352425"/>
          </a:xfrm>
          <a:prstGeom prst="rect">
            <a:avLst/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8" name="text-697">
            <a:extLst>
              <a:ext uri="{FF2B5EF4-FFF2-40B4-BE49-F238E27FC236}">
                <ns2:creationId id="{A45ABA9F-8717-4E21-BE6B-D50A4BCD2ED3}"/>
              </a:ext>
            </a:extLst>
          </p:cNvPr>
          <p:cNvSpPr>
            <a:spLocks noGrp="1"/>
          </p:cNvSpPr>
          <p:nvPr/>
        </p:nvSpPr>
        <p:spPr>
          <a:xfrm>
            <a:off x="8662555" y="923925"/>
            <a:ext cx="311183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检验输出</a:t>
            </a:r>
          </a:p>
        </p:txBody>
      </p:sp>
      <p:sp>
        <p:nvSpPr>
          <p:cNvPr id="9" name="shape-698">
            <a:extLst>
              <a:ext uri="{FF2B5EF4-FFF2-40B4-BE49-F238E27FC236}">
                <ns2:creationId id="{A094B222-644A-448C-9EA5-D701B59D0F12}"/>
              </a:ext>
            </a:extLst>
          </p:cNvPr>
          <p:cNvSpPr>
            <a:spLocks noGrp="1"/>
          </p:cNvSpPr>
          <p:nvPr/>
        </p:nvSpPr>
        <p:spPr>
          <a:xfrm>
            <a:off x="304800" y="1409700"/>
            <a:ext cx="2585357" cy="140970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136742"/>
            </a:solidFill>
            <a:prstDash val="solid"/>
          </a:ln>
        </p:spPr>
      </p:sp>
      <p:sp>
        <p:nvSpPr>
          <p:cNvPr id="10" name="vector-699">
            <a:extLst>
              <a:ext uri="{FF2B5EF4-FFF2-40B4-BE49-F238E27FC236}">
                <ns2:creationId id="{91296188-58C2-4ECD-B639-4E09D95225E2}"/>
              </a:ext>
            </a:extLst>
          </p:cNvPr>
          <p:cNvSpPr>
            <a:spLocks noGrp="1"/>
          </p:cNvSpPr>
          <p:nvPr/>
        </p:nvSpPr>
        <p:spPr>
          <a:xfrm>
            <a:off x="445819" y="1543050"/>
            <a:ext cx="432460" cy="43815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11" name="vector-700">
            <a:extLst>
              <a:ext uri="{FF2B5EF4-FFF2-40B4-BE49-F238E27FC236}">
                <ns2:creationId id="{48623E79-69B6-4017-B48C-7B866DAF3EE7}"/>
              </a:ext>
            </a:extLst>
          </p:cNvPr>
          <p:cNvSpPr>
            <a:spLocks noGrp="1"/>
          </p:cNvSpPr>
          <p:nvPr/>
        </p:nvSpPr>
        <p:spPr>
          <a:xfrm>
            <a:off x="445819" y="1543050"/>
            <a:ext cx="432460" cy="43815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2" name="vector-701">
            <a:extLst>
              <a:ext uri="{FF2B5EF4-FFF2-40B4-BE49-F238E27FC236}">
                <ns2:creationId id="{FD249F3C-1E88-4302-94D0-D8DFFED457FD}"/>
              </a:ext>
            </a:extLst>
          </p:cNvPr>
          <p:cNvSpPr>
            <a:spLocks noGrp="1"/>
          </p:cNvSpPr>
          <p:nvPr/>
        </p:nvSpPr>
        <p:spPr>
          <a:xfrm>
            <a:off x="445819" y="1543050"/>
            <a:ext cx="432460" cy="43815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3" name="icon-map-702">
            <a:extLst>
              <a:ext uri="{FF2B5EF4-FFF2-40B4-BE49-F238E27FC236}">
                <ns2:creationId id="{9BE7EA37-E0C8-437F-A78A-E7165388EEE4}"/>
              </a:ext>
            </a:extLst>
          </p:cNvPr>
          <p:cNvSpPr>
            <a:spLocks noGrp="1"/>
          </p:cNvSpPr>
          <p:nvPr/>
        </p:nvSpPr>
        <p:spPr>
          <a:xfrm>
            <a:off x="618803" y="1648206"/>
            <a:ext cx="95141" cy="96393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4" name="text-703">
            <a:extLst>
              <a:ext uri="{FF2B5EF4-FFF2-40B4-BE49-F238E27FC236}">
                <ns2:creationId id="{58A6077E-B12B-4B9B-95B6-A956C83C02F0}"/>
              </a:ext>
            </a:extLst>
          </p:cNvPr>
          <p:cNvSpPr>
            <a:spLocks noGrp="1"/>
          </p:cNvSpPr>
          <p:nvPr/>
        </p:nvSpPr>
        <p:spPr>
          <a:xfrm>
            <a:off x="1019299" y="1533525"/>
            <a:ext cx="173924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绿地格局</a:t>
            </a:r>
            <a:endParaRPr/>
          </a:p>
        </p:txBody>
      </p:sp>
      <p:sp>
        <p:nvSpPr>
          <p:cNvPr id="15" name="text-704">
            <a:extLst>
              <a:ext uri="{FF2B5EF4-FFF2-40B4-BE49-F238E27FC236}">
                <ns2:creationId id="{E2260CB7-2444-48EF-B5C5-20D4C832E635}"/>
              </a:ext>
            </a:extLst>
          </p:cNvPr>
          <p:cNvSpPr>
            <a:spLocks noGrp="1"/>
          </p:cNvSpPr>
          <p:nvPr/>
        </p:nvSpPr>
        <p:spPr>
          <a:xfrm>
            <a:off x="455221" y="2009775"/>
            <a:ext cx="2284516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面积、形状与斑块分布</a:t>
            </a:r>
            <a:endParaRPr/>
          </a:p>
        </p:txBody>
      </p:sp>
      <p:sp>
        <p:nvSpPr>
          <p:cNvPr id="16" name="shape-705">
            <a:extLst>
              <a:ext uri="{FF2B5EF4-FFF2-40B4-BE49-F238E27FC236}">
                <ns2:creationId id="{0987876A-101F-4882-806E-BBAC33B7358A}"/>
              </a:ext>
            </a:extLst>
          </p:cNvPr>
          <p:cNvSpPr>
            <a:spLocks noGrp="1"/>
          </p:cNvSpPr>
          <p:nvPr/>
        </p:nvSpPr>
        <p:spPr>
          <a:xfrm>
            <a:off x="304800" y="2952750"/>
            <a:ext cx="2585357" cy="140970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136742"/>
            </a:solidFill>
            <a:prstDash val="solid"/>
          </a:ln>
        </p:spPr>
      </p:sp>
      <p:sp>
        <p:nvSpPr>
          <p:cNvPr id="17" name="vector-706">
            <a:extLst>
              <a:ext uri="{FF2B5EF4-FFF2-40B4-BE49-F238E27FC236}">
                <ns2:creationId id="{656139E8-0206-4A84-82E5-BC9880392626}"/>
              </a:ext>
            </a:extLst>
          </p:cNvPr>
          <p:cNvSpPr>
            <a:spLocks noGrp="1"/>
          </p:cNvSpPr>
          <p:nvPr/>
        </p:nvSpPr>
        <p:spPr>
          <a:xfrm>
            <a:off x="445819" y="3243834"/>
            <a:ext cx="43246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6742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18" name="vector-707">
            <a:extLst>
              <a:ext uri="{FF2B5EF4-FFF2-40B4-BE49-F238E27FC236}">
                <ns2:creationId id="{A72B4D98-ADE3-40AF-9E67-C2236BCCCCD0}"/>
              </a:ext>
            </a:extLst>
          </p:cNvPr>
          <p:cNvSpPr>
            <a:spLocks noGrp="1"/>
          </p:cNvSpPr>
          <p:nvPr/>
        </p:nvSpPr>
        <p:spPr>
          <a:xfrm>
            <a:off x="445819" y="3164967"/>
            <a:ext cx="43246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6742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19" name="vector-708">
            <a:extLst>
              <a:ext uri="{FF2B5EF4-FFF2-40B4-BE49-F238E27FC236}">
                <ns2:creationId id="{65CFC610-1479-424C-B365-0F8713CB2705}"/>
              </a:ext>
            </a:extLst>
          </p:cNvPr>
          <p:cNvSpPr>
            <a:spLocks noGrp="1"/>
          </p:cNvSpPr>
          <p:nvPr/>
        </p:nvSpPr>
        <p:spPr>
          <a:xfrm>
            <a:off x="445819" y="3086100"/>
            <a:ext cx="43246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6742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20" name="text-709">
            <a:extLst>
              <a:ext uri="{FF2B5EF4-FFF2-40B4-BE49-F238E27FC236}">
                <ns2:creationId id="{3448EDD6-4972-4598-BA9C-66EE119CFFE4}"/>
              </a:ext>
            </a:extLst>
          </p:cNvPr>
          <p:cNvSpPr>
            <a:spLocks noGrp="1"/>
          </p:cNvSpPr>
          <p:nvPr/>
        </p:nvSpPr>
        <p:spPr>
          <a:xfrm>
            <a:off x="1019299" y="3076575"/>
            <a:ext cx="173924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城市环境</a:t>
            </a:r>
            <a:endParaRPr/>
          </a:p>
        </p:txBody>
      </p:sp>
      <p:sp>
        <p:nvSpPr>
          <p:cNvPr id="21" name="text-710">
            <a:extLst>
              <a:ext uri="{FF2B5EF4-FFF2-40B4-BE49-F238E27FC236}">
                <ns2:creationId id="{031BFAA9-AB8C-4FCC-B46E-CE3C33D59E88}"/>
              </a:ext>
            </a:extLst>
          </p:cNvPr>
          <p:cNvSpPr>
            <a:spLocks noGrp="1"/>
          </p:cNvSpPr>
          <p:nvPr/>
        </p:nvSpPr>
        <p:spPr>
          <a:xfrm>
            <a:off x="455221" y="3552825"/>
            <a:ext cx="2284516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道路、噪声与人类活动</a:t>
            </a:r>
            <a:endParaRPr/>
          </a:p>
        </p:txBody>
      </p:sp>
      <p:sp>
        <p:nvSpPr>
          <p:cNvPr id="22" name="shape-711">
            <a:extLst>
              <a:ext uri="{FF2B5EF4-FFF2-40B4-BE49-F238E27FC236}">
                <ns2:creationId id="{009BE411-26E8-4FFE-B29E-A1F32CB32FBB}"/>
              </a:ext>
            </a:extLst>
          </p:cNvPr>
          <p:cNvSpPr>
            <a:spLocks noGrp="1"/>
          </p:cNvSpPr>
          <p:nvPr/>
        </p:nvSpPr>
        <p:spPr>
          <a:xfrm>
            <a:off x="304800" y="4495800"/>
            <a:ext cx="2585357" cy="140970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136742"/>
            </a:solidFill>
            <a:prstDash val="solid"/>
          </a:ln>
        </p:spPr>
      </p:sp>
      <p:sp>
        <p:nvSpPr>
          <p:cNvPr id="23" name="icon-database-712">
            <a:extLst>
              <a:ext uri="{FF2B5EF4-FFF2-40B4-BE49-F238E27FC236}">
                <ns2:creationId id="{514424D3-4B42-434B-80A0-F0F9A91AC65C}"/>
              </a:ext>
            </a:extLst>
          </p:cNvPr>
          <p:cNvSpPr>
            <a:spLocks noGrp="1"/>
          </p:cNvSpPr>
          <p:nvPr/>
        </p:nvSpPr>
        <p:spPr>
          <a:xfrm>
            <a:off x="515013" y="4712399"/>
            <a:ext cx="294073" cy="276035"/>
          </a:xfrm>
          <a:prstGeom prst="can">
            <a:avLst/>
          </a:pr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24" name="vector-713">
            <a:extLst>
              <a:ext uri="{FF2B5EF4-FFF2-40B4-BE49-F238E27FC236}">
                <ns2:creationId id="{CB512FC4-40F1-4E58-B113-878B586A10CB}"/>
              </a:ext>
            </a:extLst>
          </p:cNvPr>
          <p:cNvSpPr>
            <a:spLocks noGrp="1"/>
          </p:cNvSpPr>
          <p:nvPr/>
        </p:nvSpPr>
        <p:spPr>
          <a:xfrm>
            <a:off x="445819" y="4629150"/>
            <a:ext cx="432460" cy="4381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5" name="vector-714">
            <a:extLst>
              <a:ext uri="{FF2B5EF4-FFF2-40B4-BE49-F238E27FC236}">
                <ns2:creationId id="{ABE74259-230C-4D90-AA6A-C89DFE77B450}"/>
              </a:ext>
            </a:extLst>
          </p:cNvPr>
          <p:cNvSpPr>
            <a:spLocks noGrp="1"/>
          </p:cNvSpPr>
          <p:nvPr/>
        </p:nvSpPr>
        <p:spPr>
          <a:xfrm>
            <a:off x="445819" y="4629150"/>
            <a:ext cx="432460" cy="4381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6" name="text-715">
            <a:extLst>
              <a:ext uri="{FF2B5EF4-FFF2-40B4-BE49-F238E27FC236}">
                <ns2:creationId id="{A1E8712E-9AA7-47B8-ABE2-FB680572D07B}"/>
              </a:ext>
            </a:extLst>
          </p:cNvPr>
          <p:cNvSpPr>
            <a:spLocks noGrp="1"/>
          </p:cNvSpPr>
          <p:nvPr/>
        </p:nvSpPr>
        <p:spPr>
          <a:xfrm>
            <a:off x="1019299" y="4619625"/>
            <a:ext cx="173924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鸟类记录</a:t>
            </a:r>
            <a:endParaRPr/>
          </a:p>
        </p:txBody>
      </p:sp>
      <p:sp>
        <p:nvSpPr>
          <p:cNvPr id="27" name="text-716">
            <a:extLst>
              <a:ext uri="{FF2B5EF4-FFF2-40B4-BE49-F238E27FC236}">
                <ns2:creationId id="{52212A1B-44EA-4385-AB13-4F81B322E6BA}"/>
              </a:ext>
            </a:extLst>
          </p:cNvPr>
          <p:cNvSpPr>
            <a:spLocks noGrp="1"/>
          </p:cNvSpPr>
          <p:nvPr/>
        </p:nvSpPr>
        <p:spPr>
          <a:xfrm>
            <a:off x="455221" y="5095875"/>
            <a:ext cx="2284516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重复调查与物种检出</a:t>
            </a:r>
            <a:endParaRPr/>
          </a:p>
        </p:txBody>
      </p:sp>
      <p:sp>
        <p:nvSpPr>
          <p:cNvPr id="28" name="node-717">
            <a:extLst>
              <a:ext uri="{FF2B5EF4-FFF2-40B4-BE49-F238E27FC236}">
                <ns2:creationId id="{E8E825FC-E065-4394-96AD-E2EB7CB2E956}"/>
              </a:ext>
            </a:extLst>
          </p:cNvPr>
          <p:cNvSpPr>
            <a:spLocks noGrp="1"/>
          </p:cNvSpPr>
          <p:nvPr/>
        </p:nvSpPr>
        <p:spPr>
          <a:xfrm>
            <a:off x="3162795" y="1495425"/>
            <a:ext cx="2322121" cy="952500"/>
          </a:xfrm>
          <a:prstGeom prst="roundRect">
            <a:avLst>
              <a:gd name="adj" fmla="val 8000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29" name="vector-718">
            <a:extLst>
              <a:ext uri="{FF2B5EF4-FFF2-40B4-BE49-F238E27FC236}">
                <ns2:creationId id="{A805F1D1-BCF5-4ABC-A25C-51593F747D89}"/>
              </a:ext>
            </a:extLst>
          </p:cNvPr>
          <p:cNvSpPr>
            <a:spLocks noGrp="1"/>
          </p:cNvSpPr>
          <p:nvPr/>
        </p:nvSpPr>
        <p:spPr>
          <a:xfrm>
            <a:off x="3275610" y="1764030"/>
            <a:ext cx="423058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FFFFFF"/>
          </a:solidFill>
          <a:ln w="12382">
            <a:solidFill>
              <a:srgbClr val="136742"/>
            </a:solidFill>
            <a:prstDash val="solid"/>
          </a:ln>
        </p:spPr>
      </p:sp>
      <p:sp>
        <p:nvSpPr>
          <p:cNvPr id="30" name="vector-719">
            <a:extLst>
              <a:ext uri="{FF2B5EF4-FFF2-40B4-BE49-F238E27FC236}">
                <ns2:creationId id="{33AA6A50-D727-4E4F-B36A-CC04D8E0D0CC}"/>
              </a:ext>
            </a:extLst>
          </p:cNvPr>
          <p:cNvSpPr>
            <a:spLocks noGrp="1"/>
          </p:cNvSpPr>
          <p:nvPr/>
        </p:nvSpPr>
        <p:spPr>
          <a:xfrm>
            <a:off x="3275610" y="1686878"/>
            <a:ext cx="423058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FFFFFF"/>
          </a:solidFill>
          <a:ln w="12382">
            <a:solidFill>
              <a:srgbClr val="136742"/>
            </a:solidFill>
            <a:prstDash val="solid"/>
          </a:ln>
        </p:spPr>
      </p:sp>
      <p:sp>
        <p:nvSpPr>
          <p:cNvPr id="31" name="vector-720">
            <a:extLst>
              <a:ext uri="{FF2B5EF4-FFF2-40B4-BE49-F238E27FC236}">
                <ns2:creationId id="{E6130890-74B5-4293-8546-DBB55C7F517A}"/>
              </a:ext>
            </a:extLst>
          </p:cNvPr>
          <p:cNvSpPr>
            <a:spLocks noGrp="1"/>
          </p:cNvSpPr>
          <p:nvPr/>
        </p:nvSpPr>
        <p:spPr>
          <a:xfrm>
            <a:off x="3275610" y="1609725"/>
            <a:ext cx="423058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FFFFFF"/>
          </a:solidFill>
          <a:ln w="12382">
            <a:solidFill>
              <a:srgbClr val="136742"/>
            </a:solidFill>
            <a:prstDash val="solid"/>
          </a:ln>
        </p:spPr>
      </p:sp>
      <p:sp>
        <p:nvSpPr>
          <p:cNvPr id="32" name="text-721">
            <a:extLst>
              <a:ext uri="{FF2B5EF4-FFF2-40B4-BE49-F238E27FC236}">
                <ns2:creationId id="{7DBA225C-74FB-4870-883B-2B1C3C3BAC20}"/>
              </a:ext>
            </a:extLst>
          </p:cNvPr>
          <p:cNvSpPr>
            <a:spLocks noGrp="1"/>
          </p:cNvSpPr>
          <p:nvPr/>
        </p:nvSpPr>
        <p:spPr>
          <a:xfrm>
            <a:off x="3802083" y="1571625"/>
            <a:ext cx="1570017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绿地面积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" name="node-722">
            <a:extLst>
              <a:ext uri="{FF2B5EF4-FFF2-40B4-BE49-F238E27FC236}">
                <ns2:creationId id="{26492E4E-6FDA-4109-BAFD-479FCC0F23AB}"/>
              </a:ext>
            </a:extLst>
          </p:cNvPr>
          <p:cNvSpPr>
            <a:spLocks noGrp="1"/>
          </p:cNvSpPr>
          <p:nvPr/>
        </p:nvSpPr>
        <p:spPr>
          <a:xfrm>
            <a:off x="5926777" y="1495425"/>
            <a:ext cx="2322121" cy="952500"/>
          </a:xfrm>
          <a:prstGeom prst="roundRect">
            <a:avLst>
              <a:gd name="adj" fmla="val 8000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34" name="vector-723">
            <a:extLst>
              <a:ext uri="{FF2B5EF4-FFF2-40B4-BE49-F238E27FC236}">
                <ns2:creationId id="{6C2D415F-8AE6-477B-A5EE-EE219D144BAA}"/>
              </a:ext>
            </a:extLst>
          </p:cNvPr>
          <p:cNvSpPr>
            <a:spLocks noGrp="1"/>
          </p:cNvSpPr>
          <p:nvPr/>
        </p:nvSpPr>
        <p:spPr>
          <a:xfrm>
            <a:off x="6039592" y="1609725"/>
            <a:ext cx="423058" cy="42862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35" name="vector-724">
            <a:extLst>
              <a:ext uri="{FF2B5EF4-FFF2-40B4-BE49-F238E27FC236}">
                <ns2:creationId id="{2D1DA295-FC77-466A-88FE-ED617D006320}"/>
              </a:ext>
            </a:extLst>
          </p:cNvPr>
          <p:cNvSpPr>
            <a:spLocks noGrp="1"/>
          </p:cNvSpPr>
          <p:nvPr/>
        </p:nvSpPr>
        <p:spPr>
          <a:xfrm>
            <a:off x="6039592" y="1609725"/>
            <a:ext cx="423058" cy="42862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>
            <a:solidFill>
              <a:srgbClr val="136742"/>
            </a:solidFill>
            <a:prstDash val="solid"/>
          </a:ln>
        </p:spPr>
      </p:sp>
      <p:sp>
        <p:nvSpPr>
          <p:cNvPr id="36" name="vector-725">
            <a:extLst>
              <a:ext uri="{FF2B5EF4-FFF2-40B4-BE49-F238E27FC236}">
                <ns2:creationId id="{CA954965-121C-43E7-8919-AC611A16A044}"/>
              </a:ext>
            </a:extLst>
          </p:cNvPr>
          <p:cNvSpPr>
            <a:spLocks noGrp="1"/>
          </p:cNvSpPr>
          <p:nvPr/>
        </p:nvSpPr>
        <p:spPr>
          <a:xfrm>
            <a:off x="6039592" y="1609725"/>
            <a:ext cx="423058" cy="42862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>
            <a:solidFill>
              <a:srgbClr val="136742"/>
            </a:solidFill>
            <a:prstDash val="solid"/>
          </a:ln>
        </p:spPr>
      </p:sp>
      <p:sp>
        <p:nvSpPr>
          <p:cNvPr id="37" name="icon-map-726">
            <a:extLst>
              <a:ext uri="{FF2B5EF4-FFF2-40B4-BE49-F238E27FC236}">
                <ns2:creationId id="{D8A79725-A3B7-48DA-A9EA-5D779AF261E3}"/>
              </a:ext>
            </a:extLst>
          </p:cNvPr>
          <p:cNvSpPr>
            <a:spLocks noGrp="1"/>
          </p:cNvSpPr>
          <p:nvPr/>
        </p:nvSpPr>
        <p:spPr>
          <a:xfrm>
            <a:off x="6208816" y="1712595"/>
            <a:ext cx="93073" cy="94298"/>
          </a:xfrm>
          <a:prstGeom prst="ellipse">
            <a:avLst/>
          </a:pr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38" name="text-727">
            <a:extLst>
              <a:ext uri="{FF2B5EF4-FFF2-40B4-BE49-F238E27FC236}">
                <ns2:creationId id="{20E4F937-F78F-4738-9613-3824160B7B89}"/>
              </a:ext>
            </a:extLst>
          </p:cNvPr>
          <p:cNvSpPr>
            <a:spLocks noGrp="1"/>
          </p:cNvSpPr>
          <p:nvPr/>
        </p:nvSpPr>
        <p:spPr>
          <a:xfrm>
            <a:off x="6566065" y="1571625"/>
            <a:ext cx="1570017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廊道连通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9" name="node-728">
            <a:extLst>
              <a:ext uri="{FF2B5EF4-FFF2-40B4-BE49-F238E27FC236}">
                <ns2:creationId id="{29DCB5FC-EFAC-4F05-A332-B053AF4EB151}"/>
              </a:ext>
            </a:extLst>
          </p:cNvPr>
          <p:cNvSpPr>
            <a:spLocks noGrp="1"/>
          </p:cNvSpPr>
          <p:nvPr/>
        </p:nvSpPr>
        <p:spPr>
          <a:xfrm>
            <a:off x="3162795" y="3219450"/>
            <a:ext cx="2322121" cy="952500"/>
          </a:xfrm>
          <a:prstGeom prst="roundRect">
            <a:avLst>
              <a:gd name="adj" fmla="val 8000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40" name="vector-729">
            <a:extLst>
              <a:ext uri="{FF2B5EF4-FFF2-40B4-BE49-F238E27FC236}">
                <ns2:creationId id="{F1A6EB70-7942-4830-9800-3A52A881B1D0}"/>
              </a:ext>
            </a:extLst>
          </p:cNvPr>
          <p:cNvSpPr>
            <a:spLocks noGrp="1"/>
          </p:cNvSpPr>
          <p:nvPr/>
        </p:nvSpPr>
        <p:spPr>
          <a:xfrm>
            <a:off x="3275610" y="3333750"/>
            <a:ext cx="423058" cy="4286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41" name="icon-leaf-730">
            <a:extLst>
              <a:ext uri="{FF2B5EF4-FFF2-40B4-BE49-F238E27FC236}">
                <ns2:creationId id="{DD6AF184-3784-4D60-A55D-3EFBC9E88225}"/>
              </a:ext>
            </a:extLst>
          </p:cNvPr>
          <p:cNvSpPr>
            <a:spLocks noGrp="1"/>
          </p:cNvSpPr>
          <p:nvPr/>
        </p:nvSpPr>
        <p:spPr>
          <a:xfrm>
            <a:off x="3372914" y="3368040"/>
            <a:ext cx="114226" cy="192881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42" name="icon-leaf-731">
            <a:extLst>
              <a:ext uri="{FF2B5EF4-FFF2-40B4-BE49-F238E27FC236}">
                <ns2:creationId id="{F57F2A84-4967-4F12-A0FF-D306F07F18D9}"/>
              </a:ext>
            </a:extLst>
          </p:cNvPr>
          <p:cNvSpPr>
            <a:spLocks noGrp="1"/>
          </p:cNvSpPr>
          <p:nvPr/>
        </p:nvSpPr>
        <p:spPr>
          <a:xfrm>
            <a:off x="3491370" y="3462338"/>
            <a:ext cx="126918" cy="192881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43" name="vector-732">
            <a:extLst>
              <a:ext uri="{FF2B5EF4-FFF2-40B4-BE49-F238E27FC236}">
                <ns2:creationId id="{6A9B13B7-9175-46BE-8BB7-6EA990DF9469}"/>
              </a:ext>
            </a:extLst>
          </p:cNvPr>
          <p:cNvSpPr>
            <a:spLocks noGrp="1"/>
          </p:cNvSpPr>
          <p:nvPr/>
        </p:nvSpPr>
        <p:spPr>
          <a:xfrm>
            <a:off x="3275610" y="3333750"/>
            <a:ext cx="423058" cy="428625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44" name="vector-733">
            <a:extLst>
              <a:ext uri="{FF2B5EF4-FFF2-40B4-BE49-F238E27FC236}">
                <ns2:creationId id="{0FA325D6-60D0-4932-9711-5E04F94A0BDF}"/>
              </a:ext>
            </a:extLst>
          </p:cNvPr>
          <p:cNvSpPr>
            <a:spLocks noGrp="1"/>
          </p:cNvSpPr>
          <p:nvPr/>
        </p:nvSpPr>
        <p:spPr>
          <a:xfrm>
            <a:off x="3275610" y="3333750"/>
            <a:ext cx="423058" cy="428625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45" name="text-734">
            <a:extLst>
              <a:ext uri="{FF2B5EF4-FFF2-40B4-BE49-F238E27FC236}">
                <ns2:creationId id="{CB4AADD4-8D57-42C7-8CB2-CE085A57EF76}"/>
              </a:ext>
            </a:extLst>
          </p:cNvPr>
          <p:cNvSpPr>
            <a:spLocks noGrp="1"/>
          </p:cNvSpPr>
          <p:nvPr/>
        </p:nvSpPr>
        <p:spPr>
          <a:xfrm>
            <a:off x="3802083" y="3295650"/>
            <a:ext cx="1570017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食物资源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6" name="node-735">
            <a:extLst>
              <a:ext uri="{FF2B5EF4-FFF2-40B4-BE49-F238E27FC236}">
                <ns2:creationId id="{35DFD995-F435-489A-81F0-BDB8BB047883}"/>
              </a:ext>
            </a:extLst>
          </p:cNvPr>
          <p:cNvSpPr>
            <a:spLocks noGrp="1"/>
          </p:cNvSpPr>
          <p:nvPr/>
        </p:nvSpPr>
        <p:spPr>
          <a:xfrm>
            <a:off x="5926777" y="3219450"/>
            <a:ext cx="2322121" cy="952500"/>
          </a:xfrm>
          <a:prstGeom prst="roundRect">
            <a:avLst>
              <a:gd name="adj" fmla="val 8000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47" name="vector-736">
            <a:extLst>
              <a:ext uri="{FF2B5EF4-FFF2-40B4-BE49-F238E27FC236}">
                <ns2:creationId id="{3B554001-EC8F-4F04-B94D-56553CD3DA10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48" name="vector-737">
            <a:extLst>
              <a:ext uri="{FF2B5EF4-FFF2-40B4-BE49-F238E27FC236}">
                <ns2:creationId id="{E6CBF9F1-D9E0-4D22-989A-1650BDC1E1D0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49" name="vector-738">
            <a:extLst>
              <a:ext uri="{FF2B5EF4-FFF2-40B4-BE49-F238E27FC236}">
                <ns2:creationId id="{F8592629-59DA-4B4D-8D23-0412D29976AE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50" name="vector-739">
            <a:extLst>
              <a:ext uri="{FF2B5EF4-FFF2-40B4-BE49-F238E27FC236}">
                <ns2:creationId id="{7CDD550F-F064-446A-BBAD-77AB4CBCE345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51" name="vector-740">
            <a:extLst>
              <a:ext uri="{FF2B5EF4-FFF2-40B4-BE49-F238E27FC236}">
                <ns2:creationId id="{51C6A9C1-2B46-4A47-9016-9251B9AD01CD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52" name="vector-741">
            <a:extLst>
              <a:ext uri="{FF2B5EF4-FFF2-40B4-BE49-F238E27FC236}">
                <ns2:creationId id="{49866C12-E3C4-4C61-95F9-5B25961A76F6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53" name="vector-742">
            <a:extLst>
              <a:ext uri="{FF2B5EF4-FFF2-40B4-BE49-F238E27FC236}">
                <ns2:creationId id="{9C57ADF1-83E0-4D55-AD95-7CFA4EDB025C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54" name="icon-network-743">
            <a:extLst>
              <a:ext uri="{FF2B5EF4-FFF2-40B4-BE49-F238E27FC236}">
                <ns2:creationId id="{36CF8364-FAAA-47D0-9824-5134C80C17A1}"/>
              </a:ext>
            </a:extLst>
          </p:cNvPr>
          <p:cNvSpPr>
            <a:spLocks noGrp="1"/>
          </p:cNvSpPr>
          <p:nvPr/>
        </p:nvSpPr>
        <p:spPr>
          <a:xfrm>
            <a:off x="6064976" y="3462338"/>
            <a:ext cx="59229" cy="6000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55" name="icon-network-744">
            <a:extLst>
              <a:ext uri="{FF2B5EF4-FFF2-40B4-BE49-F238E27FC236}">
                <ns2:creationId id="{60D9B44C-44C6-4236-BF50-92AE0C1A71B8}"/>
              </a:ext>
            </a:extLst>
          </p:cNvPr>
          <p:cNvSpPr>
            <a:spLocks noGrp="1"/>
          </p:cNvSpPr>
          <p:nvPr/>
        </p:nvSpPr>
        <p:spPr>
          <a:xfrm>
            <a:off x="6200355" y="3355181"/>
            <a:ext cx="59229" cy="6000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56" name="icon-network-745">
            <a:extLst>
              <a:ext uri="{FF2B5EF4-FFF2-40B4-BE49-F238E27FC236}">
                <ns2:creationId id="{5CA28338-B566-4D1A-8BAA-1BAD04B740B8}"/>
              </a:ext>
            </a:extLst>
          </p:cNvPr>
          <p:cNvSpPr>
            <a:spLocks noGrp="1"/>
          </p:cNvSpPr>
          <p:nvPr/>
        </p:nvSpPr>
        <p:spPr>
          <a:xfrm>
            <a:off x="6365347" y="3432334"/>
            <a:ext cx="59229" cy="6000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57" name="icon-network-746">
            <a:extLst>
              <a:ext uri="{FF2B5EF4-FFF2-40B4-BE49-F238E27FC236}">
                <ns2:creationId id="{0B4A6D73-D4A1-4FE0-82A7-3335211A3E3B}"/>
              </a:ext>
            </a:extLst>
          </p:cNvPr>
          <p:cNvSpPr>
            <a:spLocks noGrp="1"/>
          </p:cNvSpPr>
          <p:nvPr/>
        </p:nvSpPr>
        <p:spPr>
          <a:xfrm>
            <a:off x="6301889" y="3659505"/>
            <a:ext cx="59229" cy="6000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58" name="icon-network-747">
            <a:extLst>
              <a:ext uri="{FF2B5EF4-FFF2-40B4-BE49-F238E27FC236}">
                <ns2:creationId id="{43BEC919-430B-499C-B336-6D10B955A3DB}"/>
              </a:ext>
            </a:extLst>
          </p:cNvPr>
          <p:cNvSpPr>
            <a:spLocks noGrp="1"/>
          </p:cNvSpPr>
          <p:nvPr/>
        </p:nvSpPr>
        <p:spPr>
          <a:xfrm>
            <a:off x="6111512" y="3655219"/>
            <a:ext cx="59229" cy="6000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59" name="text-748">
            <a:extLst>
              <a:ext uri="{FF2B5EF4-FFF2-40B4-BE49-F238E27FC236}">
                <ns2:creationId id="{11672E43-002C-46F8-ADDA-29C6AAFD8D63}"/>
              </a:ext>
            </a:extLst>
          </p:cNvPr>
          <p:cNvSpPr>
            <a:spLocks noGrp="1"/>
          </p:cNvSpPr>
          <p:nvPr/>
        </p:nvSpPr>
        <p:spPr>
          <a:xfrm>
            <a:off x="6566065" y="3295650"/>
            <a:ext cx="1570017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扩散机会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" name="node-749">
            <a:extLst>
              <a:ext uri="{FF2B5EF4-FFF2-40B4-BE49-F238E27FC236}">
                <ns2:creationId id="{0B8A1AFA-6F60-42A6-B557-BAAE994A9A1D}"/>
              </a:ext>
            </a:extLst>
          </p:cNvPr>
          <p:cNvSpPr>
            <a:spLocks noGrp="1"/>
          </p:cNvSpPr>
          <p:nvPr/>
        </p:nvSpPr>
        <p:spPr>
          <a:xfrm>
            <a:off x="3162795" y="4943475"/>
            <a:ext cx="2322121" cy="952500"/>
          </a:xfrm>
          <a:prstGeom prst="roundRect">
            <a:avLst>
              <a:gd name="adj" fmla="val 8000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61" name="vector-750">
            <a:extLst>
              <a:ext uri="{FF2B5EF4-FFF2-40B4-BE49-F238E27FC236}">
                <ns2:creationId id="{E8E10E82-9215-409D-98CF-81F2F86B4E4E}"/>
              </a:ext>
            </a:extLst>
          </p:cNvPr>
          <p:cNvSpPr>
            <a:spLocks noGrp="1"/>
          </p:cNvSpPr>
          <p:nvPr/>
        </p:nvSpPr>
        <p:spPr>
          <a:xfrm>
            <a:off x="3275610" y="5057775"/>
            <a:ext cx="423058" cy="4286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2" name="icon-tree-751">
            <a:extLst>
              <a:ext uri="{FF2B5EF4-FFF2-40B4-BE49-F238E27FC236}">
                <ns2:creationId id="{AEC9296B-D08A-441E-A201-82283406A4D5}"/>
              </a:ext>
            </a:extLst>
          </p:cNvPr>
          <p:cNvSpPr>
            <a:spLocks noGrp="1"/>
          </p:cNvSpPr>
          <p:nvPr/>
        </p:nvSpPr>
        <p:spPr>
          <a:xfrm>
            <a:off x="3343300" y="5079206"/>
            <a:ext cx="291910" cy="265748"/>
          </a:xfrm>
          <a:prstGeom prst="cloud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63" name="text-752">
            <a:extLst>
              <a:ext uri="{FF2B5EF4-FFF2-40B4-BE49-F238E27FC236}">
                <ns2:creationId id="{4319795D-B07C-4973-BD78-308E1DD45782}"/>
              </a:ext>
            </a:extLst>
          </p:cNvPr>
          <p:cNvSpPr>
            <a:spLocks noGrp="1"/>
          </p:cNvSpPr>
          <p:nvPr/>
        </p:nvSpPr>
        <p:spPr>
          <a:xfrm>
            <a:off x="3802083" y="5019675"/>
            <a:ext cx="1570017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鸟类共存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4" name="node-753">
            <a:extLst>
              <a:ext uri="{FF2B5EF4-FFF2-40B4-BE49-F238E27FC236}">
                <ns2:creationId id="{4465DFFA-8F6E-48BD-A4C6-151753879209}"/>
              </a:ext>
            </a:extLst>
          </p:cNvPr>
          <p:cNvSpPr>
            <a:spLocks noGrp="1"/>
          </p:cNvSpPr>
          <p:nvPr/>
        </p:nvSpPr>
        <p:spPr>
          <a:xfrm>
            <a:off x="5926777" y="4943475"/>
            <a:ext cx="2322121" cy="952500"/>
          </a:xfrm>
          <a:prstGeom prst="roundRect">
            <a:avLst>
              <a:gd name="adj" fmla="val 8000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65" name="vector-754">
            <a:extLst>
              <a:ext uri="{FF2B5EF4-FFF2-40B4-BE49-F238E27FC236}">
                <ns2:creationId id="{FEDE843D-AB0F-4940-8331-C8A4F487FF31}"/>
              </a:ext>
            </a:extLst>
          </p:cNvPr>
          <p:cNvSpPr>
            <a:spLocks noGrp="1"/>
          </p:cNvSpPr>
          <p:nvPr/>
        </p:nvSpPr>
        <p:spPr>
          <a:xfrm>
            <a:off x="6039592" y="5057775"/>
            <a:ext cx="423058" cy="42862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6" name="vector-755">
            <a:extLst>
              <a:ext uri="{FF2B5EF4-FFF2-40B4-BE49-F238E27FC236}">
                <ns2:creationId id="{C0CDAA5E-037C-4D0F-9552-F7197F51CD37}"/>
              </a:ext>
            </a:extLst>
          </p:cNvPr>
          <p:cNvSpPr>
            <a:spLocks noGrp="1"/>
          </p:cNvSpPr>
          <p:nvPr/>
        </p:nvSpPr>
        <p:spPr>
          <a:xfrm>
            <a:off x="6039592" y="5057775"/>
            <a:ext cx="423058" cy="42862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7" name="icon-chart-756">
            <a:extLst>
              <a:ext uri="{FF2B5EF4-FFF2-40B4-BE49-F238E27FC236}">
                <ns2:creationId id="{A38ED271-2F47-4004-9458-8148EEF8DB80}"/>
              </a:ext>
            </a:extLst>
          </p:cNvPr>
          <p:cNvSpPr>
            <a:spLocks noGrp="1"/>
          </p:cNvSpPr>
          <p:nvPr/>
        </p:nvSpPr>
        <p:spPr>
          <a:xfrm>
            <a:off x="6145357" y="5289233"/>
            <a:ext cx="54997" cy="141446"/>
          </a:xfrm>
          <a:prstGeom prst="rect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68" name="icon-chart-757">
            <a:extLst>
              <a:ext uri="{FF2B5EF4-FFF2-40B4-BE49-F238E27FC236}">
                <ns2:creationId id="{BF2BA250-EE90-44E5-8C7F-08FFFBFB3AA1}"/>
              </a:ext>
            </a:extLst>
          </p:cNvPr>
          <p:cNvSpPr>
            <a:spLocks noGrp="1"/>
          </p:cNvSpPr>
          <p:nvPr/>
        </p:nvSpPr>
        <p:spPr>
          <a:xfrm>
            <a:off x="6238430" y="5212080"/>
            <a:ext cx="54997" cy="218599"/>
          </a:xfrm>
          <a:prstGeom prst="rect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69" name="icon-chart-758">
            <a:extLst>
              <a:ext uri="{FF2B5EF4-FFF2-40B4-BE49-F238E27FC236}">
                <ns2:creationId id="{10F6B736-5FF0-43C4-BF45-25DCF9AAC027}"/>
              </a:ext>
            </a:extLst>
          </p:cNvPr>
          <p:cNvSpPr>
            <a:spLocks noGrp="1"/>
          </p:cNvSpPr>
          <p:nvPr/>
        </p:nvSpPr>
        <p:spPr>
          <a:xfrm>
            <a:off x="6331502" y="5126355"/>
            <a:ext cx="54997" cy="304324"/>
          </a:xfrm>
          <a:prstGeom prst="rect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0" name="text-759">
            <a:extLst>
              <a:ext uri="{FF2B5EF4-FFF2-40B4-BE49-F238E27FC236}">
                <ns2:creationId id="{C3E0581C-03A4-4830-8F45-8C2BD91EE96C}"/>
              </a:ext>
            </a:extLst>
          </p:cNvPr>
          <p:cNvSpPr>
            <a:spLocks noGrp="1"/>
          </p:cNvSpPr>
          <p:nvPr/>
        </p:nvSpPr>
        <p:spPr>
          <a:xfrm>
            <a:off x="6566065" y="5019675"/>
            <a:ext cx="1570017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群落变化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1" name="">
            <a:extLst>
              <a:ext uri="{FF2B5EF4-FFF2-40B4-BE49-F238E27FC236}">
                <ns2:creationId id="{6592C4EE-92AC-40D1-9FFE-665D02B9DC3B}"/>
              </a:ext>
            </a:extLst>
          </p:cNvPr>
          <p:cNvCxnSpPr>
            <a:stCxn id="28" idx="2"/>
            <a:endCxn id="39" idx="0"/>
          </p:cNvCxnSpPr>
          <p:nvPr/>
        </p:nvCxnSpPr>
        <p:spPr>
          <a:xfrm>
            <a:off x="4323856" y="2447925"/>
            <a:ext cx="0" cy="771525"/>
          </a:xfrm>
          <a:prstGeom prst="straightConnector1">
            <a:avLst/>
          </a:prstGeom>
          <a:ln w="24765">
            <a:solidFill>
              <a:srgbClr val="136742"/>
            </a:solidFill>
            <a:prstDash val="solid"/>
            <a:tailEnd type="triangle" w="med" len="med"/>
          </a:ln>
        </p:spPr>
      </p:cxnSp>
      <p:cxnSp>
        <p:nvCxnSpPr>
          <p:cNvPr id="72" name="">
            <a:extLst>
              <a:ext uri="{FF2B5EF4-FFF2-40B4-BE49-F238E27FC236}">
                <ns2:creationId id="{8F50F5AF-1D1E-437D-81FD-BA83EFC1870D}"/>
              </a:ext>
            </a:extLst>
          </p:cNvPr>
          <p:cNvCxnSpPr>
            <a:stCxn id="33" idx="2"/>
            <a:endCxn id="46" idx="0"/>
          </p:cNvCxnSpPr>
          <p:nvPr/>
        </p:nvCxnSpPr>
        <p:spPr>
          <a:xfrm>
            <a:off x="7087838" y="2447925"/>
            <a:ext cx="0" cy="771525"/>
          </a:xfrm>
          <a:prstGeom prst="straightConnector1">
            <a:avLst/>
          </a:prstGeom>
          <a:ln w="24765">
            <a:solidFill>
              <a:srgbClr val="136742"/>
            </a:solidFill>
            <a:prstDash val="solid"/>
            <a:tailEnd type="triangle" w="med" len="med"/>
          </a:ln>
        </p:spPr>
      </p:cxnSp>
      <p:cxnSp>
        <p:nvCxnSpPr>
          <p:cNvPr id="73" name="">
            <a:extLst>
              <a:ext uri="{FF2B5EF4-FFF2-40B4-BE49-F238E27FC236}">
                <ns2:creationId id="{57D0DD47-318A-463C-AFE0-36F70A815136}"/>
              </a:ext>
            </a:extLst>
          </p:cNvPr>
          <p:cNvCxnSpPr>
            <a:stCxn id="39" idx="2"/>
            <a:endCxn id="60" idx="0"/>
          </p:cNvCxnSpPr>
          <p:nvPr/>
        </p:nvCxnSpPr>
        <p:spPr>
          <a:xfrm>
            <a:off x="4323856" y="4171950"/>
            <a:ext cx="0" cy="771525"/>
          </a:xfrm>
          <a:prstGeom prst="straightConnector1">
            <a:avLst/>
          </a:prstGeom>
          <a:ln w="24765">
            <a:solidFill>
              <a:srgbClr val="136742"/>
            </a:solidFill>
            <a:prstDash val="solid"/>
            <a:tailEnd type="triangle" w="med" len="med"/>
          </a:ln>
        </p:spPr>
      </p:cxnSp>
      <p:cxnSp>
        <p:nvCxnSpPr>
          <p:cNvPr id="74" name="">
            <a:extLst>
              <a:ext uri="{FF2B5EF4-FFF2-40B4-BE49-F238E27FC236}">
                <ns2:creationId id="{186C6992-23E7-4B38-A65D-A2A0EAFC55C0}"/>
              </a:ext>
            </a:extLst>
          </p:cNvPr>
          <p:cNvCxnSpPr>
            <a:stCxn id="46" idx="2"/>
            <a:endCxn id="64" idx="0"/>
          </p:cNvCxnSpPr>
          <p:nvPr/>
        </p:nvCxnSpPr>
        <p:spPr>
          <a:xfrm>
            <a:off x="7087838" y="4171950"/>
            <a:ext cx="0" cy="771525"/>
          </a:xfrm>
          <a:prstGeom prst="straightConnector1">
            <a:avLst/>
          </a:prstGeom>
          <a:ln w="24765">
            <a:solidFill>
              <a:srgbClr val="136742"/>
            </a:solidFill>
            <a:prstDash val="solid"/>
            <a:tailEnd type="triangle" w="med" len="med"/>
          </a:ln>
        </p:spPr>
      </p:cxnSp>
      <p:cxnSp>
        <p:nvCxnSpPr>
          <p:cNvPr id="75" name="">
            <a:extLst>
              <a:ext uri="{FF2B5EF4-FFF2-40B4-BE49-F238E27FC236}">
                <ns2:creationId id="{E36195E8-81ED-444F-8C98-84E9374D3196}"/>
              </a:ext>
            </a:extLst>
          </p:cNvPr>
          <p:cNvCxnSpPr>
            <a:stCxn id="60" idx="3"/>
            <a:endCxn id="64" idx="1"/>
          </p:cNvCxnSpPr>
          <p:nvPr/>
        </p:nvCxnSpPr>
        <p:spPr>
          <a:xfrm>
            <a:off x="5484916" y="5419725"/>
            <a:ext cx="441861" cy="0"/>
          </a:xfrm>
          <a:prstGeom prst="straightConnector1">
            <a:avLst/>
          </a:prstGeom>
          <a:ln w="24765">
            <a:solidFill>
              <a:srgbClr val="136742"/>
            </a:solidFill>
            <a:prstDash val="solid"/>
            <a:tailEnd type="triangle" w="med" len="med"/>
          </a:ln>
        </p:spPr>
      </p:cxnSp>
      <p:sp>
        <p:nvSpPr>
          <p:cNvPr id="76" name="shape-760">
            <a:extLst>
              <a:ext uri="{FF2B5EF4-FFF2-40B4-BE49-F238E27FC236}">
                <ns2:creationId id="{3B581EAE-F962-4017-A157-EC0F705552A0}"/>
              </a:ext>
            </a:extLst>
          </p:cNvPr>
          <p:cNvSpPr>
            <a:spLocks noGrp="1"/>
          </p:cNvSpPr>
          <p:nvPr/>
        </p:nvSpPr>
        <p:spPr>
          <a:xfrm>
            <a:off x="4779818" y="4286250"/>
            <a:ext cx="1917865" cy="54292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7" name="text-761">
            <a:extLst>
              <a:ext uri="{FF2B5EF4-FFF2-40B4-BE49-F238E27FC236}">
                <ns2:creationId id="{48B453BE-66C0-4BBB-A7CE-42154EAACF92}"/>
              </a:ext>
            </a:extLst>
          </p:cNvPr>
          <p:cNvSpPr>
            <a:spLocks noGrp="1"/>
          </p:cNvSpPr>
          <p:nvPr/>
        </p:nvSpPr>
        <p:spPr>
          <a:xfrm>
            <a:off x="4873831" y="4286250"/>
            <a:ext cx="1729839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待检验的</a:t>
            </a:r>
            <a:endParaRPr/>
          </a:p>
          <a:p>
            <a:pPr algn="ctr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作用路径</a:t>
            </a:r>
            <a:endParaRPr/>
          </a:p>
        </p:txBody>
      </p:sp>
      <p:sp>
        <p:nvSpPr>
          <p:cNvPr id="78" name="text-762">
            <a:extLst>
              <a:ext uri="{FF2B5EF4-FFF2-40B4-BE49-F238E27FC236}">
                <ns2:creationId id="{058CB4FF-F6F1-47F3-BA82-1FCF415E4EEC}"/>
              </a:ext>
            </a:extLst>
          </p:cNvPr>
          <p:cNvSpPr>
            <a:spLocks noGrp="1"/>
          </p:cNvSpPr>
          <p:nvPr/>
        </p:nvSpPr>
        <p:spPr>
          <a:xfrm>
            <a:off x="8662555" y="1381125"/>
            <a:ext cx="308362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候选解释的方向与区间</a:t>
            </a:r>
            <a:endParaRPr/>
          </a:p>
        </p:txBody>
      </p:sp>
      <p:graphicFrame>
        <p:nvGraphicFramePr>
          <p:cNvPr id="79" name="Chart">
            <a:extLst>
              <a:ext uri="{FF2B5EF4-FFF2-40B4-BE49-F238E27FC236}">
                <ns2:creationId id="{595ACE3E-BEAC-46EA-A0F7-93D7B3EF08DC}"/>
              </a:ext>
            </a:extLst>
          </p:cNvPr>
          <p:cNvGraphicFramePr/>
          <p:nvPr/>
        </p:nvGraphicFramePr>
        <p:xfrm>
          <a:off x="8596745" y="1752600"/>
          <a:ext cx="3196442" cy="2019300"/>
        </p:xfrm>
        <a:graphic>
          <a:graphicData uri="http://schemas.openxmlformats.org/drawingml/2006/chart">
            <c:chart r:id="R131fe6ba7eb5426e"/>
          </a:graphicData>
        </a:graphic>
      </p:graphicFrame>
      <p:sp>
        <p:nvSpPr>
          <p:cNvPr id="80" name="text-763">
            <a:extLst>
              <a:ext uri="{FF2B5EF4-FFF2-40B4-BE49-F238E27FC236}">
                <ns2:creationId id="{6312CC53-66D9-418C-ABEC-0883056A2281}"/>
              </a:ext>
            </a:extLst>
          </p:cNvPr>
          <p:cNvSpPr>
            <a:spLocks noGrp="1"/>
          </p:cNvSpPr>
          <p:nvPr/>
        </p:nvSpPr>
        <p:spPr>
          <a:xfrm>
            <a:off x="8596745" y="2036978"/>
            <a:ext cx="7991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绿地面积</a:t>
            </a:r>
            <a:endParaRPr/>
          </a:p>
        </p:txBody>
      </p:sp>
      <p:sp>
        <p:nvSpPr>
          <p:cNvPr id="81" name="text-764">
            <a:extLst>
              <a:ext uri="{FF2B5EF4-FFF2-40B4-BE49-F238E27FC236}">
                <ns2:creationId id="{668C535E-B472-4A99-AAC3-F387A91C296F}"/>
              </a:ext>
            </a:extLst>
          </p:cNvPr>
          <p:cNvSpPr>
            <a:spLocks noGrp="1"/>
          </p:cNvSpPr>
          <p:nvPr/>
        </p:nvSpPr>
        <p:spPr>
          <a:xfrm>
            <a:off x="8596745" y="2315642"/>
            <a:ext cx="7991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廊道连通</a:t>
            </a:r>
            <a:endParaRPr/>
          </a:p>
        </p:txBody>
      </p:sp>
      <p:sp>
        <p:nvSpPr>
          <p:cNvPr id="82" name="text-765">
            <a:extLst>
              <a:ext uri="{FF2B5EF4-FFF2-40B4-BE49-F238E27FC236}">
                <ns2:creationId id="{0D24B946-60A0-4307-8E54-E59A4E1396F0}"/>
              </a:ext>
            </a:extLst>
          </p:cNvPr>
          <p:cNvSpPr>
            <a:spLocks noGrp="1"/>
          </p:cNvSpPr>
          <p:nvPr/>
        </p:nvSpPr>
        <p:spPr>
          <a:xfrm>
            <a:off x="8596745" y="2594305"/>
            <a:ext cx="7991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植被层次</a:t>
            </a:r>
            <a:endParaRPr/>
          </a:p>
        </p:txBody>
      </p:sp>
      <p:sp>
        <p:nvSpPr>
          <p:cNvPr id="83" name="text-766">
            <a:extLst>
              <a:ext uri="{FF2B5EF4-FFF2-40B4-BE49-F238E27FC236}">
                <ns2:creationId id="{F32BF7EC-05F8-4E46-BAE1-31F6CFDE32B4}"/>
              </a:ext>
            </a:extLst>
          </p:cNvPr>
          <p:cNvSpPr>
            <a:spLocks noGrp="1"/>
          </p:cNvSpPr>
          <p:nvPr/>
        </p:nvSpPr>
        <p:spPr>
          <a:xfrm>
            <a:off x="8596745" y="2872969"/>
            <a:ext cx="7991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道路密度</a:t>
            </a:r>
            <a:endParaRPr/>
          </a:p>
        </p:txBody>
      </p:sp>
      <p:sp>
        <p:nvSpPr>
          <p:cNvPr id="84" name="text-767">
            <a:extLst>
              <a:ext uri="{FF2B5EF4-FFF2-40B4-BE49-F238E27FC236}">
                <ns2:creationId id="{7B32A187-4AC5-4570-B205-6CA5B6292F82}"/>
              </a:ext>
            </a:extLst>
          </p:cNvPr>
          <p:cNvSpPr>
            <a:spLocks noGrp="1"/>
          </p:cNvSpPr>
          <p:nvPr/>
        </p:nvSpPr>
        <p:spPr>
          <a:xfrm>
            <a:off x="9619607" y="3581400"/>
            <a:ext cx="1598221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85" name="text-768">
            <a:extLst>
              <a:ext uri="{FF2B5EF4-FFF2-40B4-BE49-F238E27FC236}">
                <ns2:creationId id="{AFB2C91A-6CA2-4BC3-9163-7893ADA9ADA9}"/>
              </a:ext>
            </a:extLst>
          </p:cNvPr>
          <p:cNvSpPr>
            <a:spLocks noGrp="1"/>
          </p:cNvSpPr>
          <p:nvPr/>
        </p:nvSpPr>
        <p:spPr>
          <a:xfrm>
            <a:off x="8662555" y="3705225"/>
            <a:ext cx="308362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预测与观测的示意对照</a:t>
            </a:r>
            <a:endParaRPr/>
          </a:p>
        </p:txBody>
      </p:sp>
      <p:graphicFrame>
        <p:nvGraphicFramePr>
          <p:cNvPr id="86" name="Chart">
            <a:extLst>
              <a:ext uri="{FF2B5EF4-FFF2-40B4-BE49-F238E27FC236}">
                <ns2:creationId id="{0C2C577B-948A-4AD1-9250-688EB8736BD5}"/>
              </a:ext>
            </a:extLst>
          </p:cNvPr>
          <p:cNvGraphicFramePr/>
          <p:nvPr/>
        </p:nvGraphicFramePr>
        <p:xfrm>
          <a:off x="8596745" y="4076700"/>
          <a:ext cx="3196442" cy="2019300"/>
        </p:xfrm>
        <a:graphic>
          <a:graphicData uri="http://schemas.openxmlformats.org/drawingml/2006/chart">
            <c:chart r:id="R272f144416c24f5b"/>
          </a:graphicData>
        </a:graphic>
      </p:graphicFrame>
      <p:sp>
        <p:nvSpPr>
          <p:cNvPr id="87" name="text-769">
            <a:extLst>
              <a:ext uri="{FF2B5EF4-FFF2-40B4-BE49-F238E27FC236}">
                <ns2:creationId id="{6EE0E456-8F09-4F80-A193-E7B57263E740}"/>
              </a:ext>
            </a:extLst>
          </p:cNvPr>
          <p:cNvSpPr>
            <a:spLocks noGrp="1"/>
          </p:cNvSpPr>
          <p:nvPr/>
        </p:nvSpPr>
        <p:spPr>
          <a:xfrm>
            <a:off x="9619607" y="5905500"/>
            <a:ext cx="1598221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预测值</a:t>
            </a:r>
            <a:endParaRPr/>
          </a:p>
        </p:txBody>
      </p:sp>
      <p:sp>
        <p:nvSpPr>
          <p:cNvPr id="88" name="shape-770">
            <a:extLst>
              <a:ext uri="{FF2B5EF4-FFF2-40B4-BE49-F238E27FC236}">
                <ns2:creationId id="{9DCB4AC7-305C-4A83-A8E4-FE87DBB34200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89" name="text-771">
            <a:extLst>
              <a:ext uri="{FF2B5EF4-FFF2-40B4-BE49-F238E27FC236}">
                <ns2:creationId id="{A9B78EC0-A214-423D-9181-A4B73B6972BB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概念框架组织假设，箭头本身不证明因果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0" name="text-772">
            <a:extLst>
              <a:ext uri="{FF2B5EF4-FFF2-40B4-BE49-F238E27FC236}">
                <ns2:creationId id="{089EEDCC-5FE0-44A9-8A3F-011FF6226806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1" name="text-773">
            <a:extLst>
              <a:ext uri="{FF2B5EF4-FFF2-40B4-BE49-F238E27FC236}">
                <ns2:creationId id="{C6656870-29BE-482A-8D0D-B1421C792A3B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</p:spTree>
    <p:extLst>
      <p:ext uri="{BB962C8B-B14F-4D97-AF65-F5344CB8AC3E}">
        <ns5:creationId val="327852376"/>
      </p:ext>
    </p:extLst>
  </p:cSld>
</p:sld>
</file>

<file path=ppt/slides/slide3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证据组织｜从梯度格局到解释边界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6742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304800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136742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314201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ellipse">
            <a:avLst/>
          </a:prstGeom>
          <a:solidFill>
            <a:srgbClr val="136742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84266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连通梯度与鸟类丰富度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80010" y="1314450"/>
          <a:ext cx="5546766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54976" y="310515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连通性指数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0612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136742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0013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ellipse">
            <a:avLst/>
          </a:prstGeom>
          <a:solidFill>
            <a:srgbClr val="136742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0078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三类样点的分布比较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5822" y="1314450"/>
          <a:ext cx="5546766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304800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136742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314201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ellipse">
            <a:avLst/>
          </a:prstGeom>
          <a:solidFill>
            <a:srgbClr val="136742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84266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季节变化与情景差异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80010" y="3924300"/>
          <a:ext cx="5546766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98621" y="4124325"/>
            <a:ext cx="206829" cy="95"/>
          </a:xfrm>
          <a:prstGeom prst="line">
            <a:avLst/>
          </a:prstGeom>
          <a:noFill/>
          <a:ln w="19050">
            <a:solidFill>
              <a:srgbClr val="136742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71258" y="403860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连通绿地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98621" y="4352925"/>
            <a:ext cx="206829" cy="95"/>
          </a:xfrm>
          <a:prstGeom prst="line">
            <a:avLst/>
          </a:prstGeom>
          <a:noFill/>
          <a:ln w="19050">
            <a:solidFill>
              <a:srgbClr val="BD4F22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71258" y="426720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rPr>
              <a:t>孤立绿地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54976" y="571500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0612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136742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0013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ellipse">
            <a:avLst/>
          </a:prstGeom>
          <a:solidFill>
            <a:srgbClr val="136742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0078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候选解释的方向与区间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5822" y="3924300"/>
          <a:ext cx="5546766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5822" y="4201516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绿地面积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5822" y="4474921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廊道连通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5822" y="4748327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植被层次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5822" y="5021732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道路密度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30787" y="571500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联合比较梯度、分布、季节与不确定性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5" name="text-811">
            <a:extLst>
              <a:ext uri="{FF2B5EF4-FFF2-40B4-BE49-F238E27FC236}">
                <ns2:creationId id="{26E2E258-35E6-4061-AED8-6EC2A1FFD01C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讨论边界｜哪些证据仍然缺失？</a:t>
            </a:r>
            <a:endParaRPr/>
          </a:p>
        </p:txBody>
      </p:sp>
      <p:sp>
        <p:nvSpPr>
          <p:cNvPr id="2" name="line-812">
            <a:extLst>
              <a:ext uri="{FF2B5EF4-FFF2-40B4-BE49-F238E27FC236}">
                <ns2:creationId id="{88D38F1B-D40B-4253-9BA7-BEEDA700C556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6742"/>
            </a:solidFill>
            <a:prstDash val="solid"/>
          </a:ln>
        </p:spPr>
      </p:sp>
      <p:sp>
        <p:nvSpPr>
          <p:cNvPr id="3" name="panel-813">
            <a:extLst>
              <a:ext uri="{FF2B5EF4-FFF2-40B4-BE49-F238E27FC236}">
                <ns2:creationId id="{43B8C440-77DC-4C0A-8EA0-8301D8CF8088}"/>
              </a:ext>
            </a:extLst>
          </p:cNvPr>
          <p:cNvSpPr>
            <a:spLocks noGrp="1"/>
          </p:cNvSpPr>
          <p:nvPr/>
        </p:nvSpPr>
        <p:spPr>
          <a:xfrm>
            <a:off x="304800" y="89535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>
            <a:solidFill>
              <a:srgbClr val="136742"/>
            </a:solidFill>
            <a:prstDash val="solid"/>
          </a:ln>
        </p:spPr>
      </p:sp>
      <p:sp>
        <p:nvSpPr>
          <p:cNvPr id="4" name="shape-814">
            <a:extLst>
              <a:ext uri="{FF2B5EF4-FFF2-40B4-BE49-F238E27FC236}">
                <ns2:creationId id="{3D540C5B-FCF5-480E-AEE2-330627CE4D96}"/>
              </a:ext>
            </a:extLst>
          </p:cNvPr>
          <p:cNvSpPr>
            <a:spLocks noGrp="1"/>
          </p:cNvSpPr>
          <p:nvPr/>
        </p:nvSpPr>
        <p:spPr>
          <a:xfrm>
            <a:off x="314201" y="904875"/>
            <a:ext cx="3732316" cy="400050"/>
          </a:xfrm>
          <a:prstGeom prst="rect">
            <a:avLst>
              <a:gd name="adj" fmla="val 19048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5" name="vector-815">
            <a:extLst>
              <a:ext uri="{FF2B5EF4-FFF2-40B4-BE49-F238E27FC236}">
                <ns2:creationId id="{6225D1E6-AA80-4C60-B88B-61C843E8936F}"/>
              </a:ext>
            </a:extLst>
          </p:cNvPr>
          <p:cNvSpPr>
            <a:spLocks noGrp="1"/>
          </p:cNvSpPr>
          <p:nvPr/>
        </p:nvSpPr>
        <p:spPr>
          <a:xfrm>
            <a:off x="417616" y="971550"/>
            <a:ext cx="253835" cy="25717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6" name="vector-816">
            <a:extLst>
              <a:ext uri="{FF2B5EF4-FFF2-40B4-BE49-F238E27FC236}">
                <ns2:creationId id="{DC1FEA32-FDFA-481D-91EE-892EAC8AE4AD}"/>
              </a:ext>
            </a:extLst>
          </p:cNvPr>
          <p:cNvSpPr>
            <a:spLocks noGrp="1"/>
          </p:cNvSpPr>
          <p:nvPr/>
        </p:nvSpPr>
        <p:spPr>
          <a:xfrm>
            <a:off x="417616" y="971550"/>
            <a:ext cx="253835" cy="25717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>
            <a:solidFill>
              <a:srgbClr val="136742"/>
            </a:solidFill>
            <a:prstDash val="solid"/>
          </a:ln>
        </p:spPr>
      </p:sp>
      <p:sp>
        <p:nvSpPr>
          <p:cNvPr id="7" name="vector-817">
            <a:extLst>
              <a:ext uri="{FF2B5EF4-FFF2-40B4-BE49-F238E27FC236}">
                <ns2:creationId id="{F914DED3-A5B8-4F37-B3E4-87755B0DB0B3}"/>
              </a:ext>
            </a:extLst>
          </p:cNvPr>
          <p:cNvSpPr>
            <a:spLocks noGrp="1"/>
          </p:cNvSpPr>
          <p:nvPr/>
        </p:nvSpPr>
        <p:spPr>
          <a:xfrm>
            <a:off x="417616" y="971550"/>
            <a:ext cx="253835" cy="25717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>
            <a:solidFill>
              <a:srgbClr val="136742"/>
            </a:solidFill>
            <a:prstDash val="solid"/>
          </a:ln>
        </p:spPr>
      </p:sp>
      <p:sp>
        <p:nvSpPr>
          <p:cNvPr id="8" name="icon-map-818">
            <a:extLst>
              <a:ext uri="{FF2B5EF4-FFF2-40B4-BE49-F238E27FC236}">
                <ns2:creationId id="{3D7B2F38-63DA-4666-90E9-3624410B6A28}"/>
              </a:ext>
            </a:extLst>
          </p:cNvPr>
          <p:cNvSpPr>
            <a:spLocks noGrp="1"/>
          </p:cNvSpPr>
          <p:nvPr/>
        </p:nvSpPr>
        <p:spPr>
          <a:xfrm>
            <a:off x="519150" y="1033272"/>
            <a:ext cx="55844" cy="56579"/>
          </a:xfrm>
          <a:prstGeom prst="ellipse">
            <a:avLst/>
          </a:pr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9" name="text-819">
            <a:extLst>
              <a:ext uri="{FF2B5EF4-FFF2-40B4-BE49-F238E27FC236}">
                <ns2:creationId id="{859A2694-A3FC-4DFF-86E5-8783E7C6B036}"/>
              </a:ext>
            </a:extLst>
          </p:cNvPr>
          <p:cNvSpPr>
            <a:spLocks noGrp="1"/>
          </p:cNvSpPr>
          <p:nvPr/>
        </p:nvSpPr>
        <p:spPr>
          <a:xfrm>
            <a:off x="756062" y="96202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空间代表性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vector-820">
            <a:extLst>
              <a:ext uri="{FF2B5EF4-FFF2-40B4-BE49-F238E27FC236}">
                <ns2:creationId id="{C090C5D8-6E3D-44E5-8BEC-230CA0C498D8}"/>
              </a:ext>
            </a:extLst>
          </p:cNvPr>
          <p:cNvSpPr>
            <a:spLocks noGrp="1"/>
          </p:cNvSpPr>
          <p:nvPr/>
        </p:nvSpPr>
        <p:spPr>
          <a:xfrm>
            <a:off x="474023" y="1733550"/>
            <a:ext cx="940130" cy="9525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11" name="vector-821">
            <a:extLst>
              <a:ext uri="{FF2B5EF4-FFF2-40B4-BE49-F238E27FC236}">
                <ns2:creationId id="{D83C9C1D-955B-4BDC-8BAB-B6E0331ED36A}"/>
              </a:ext>
            </a:extLst>
          </p:cNvPr>
          <p:cNvSpPr>
            <a:spLocks noGrp="1"/>
          </p:cNvSpPr>
          <p:nvPr/>
        </p:nvSpPr>
        <p:spPr>
          <a:xfrm>
            <a:off x="474023" y="1733550"/>
            <a:ext cx="940130" cy="9525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2" name="vector-822">
            <a:extLst>
              <a:ext uri="{FF2B5EF4-FFF2-40B4-BE49-F238E27FC236}">
                <ns2:creationId id="{80B16474-202C-4F16-A89F-8D661E68B50D}"/>
              </a:ext>
            </a:extLst>
          </p:cNvPr>
          <p:cNvSpPr>
            <a:spLocks noGrp="1"/>
          </p:cNvSpPr>
          <p:nvPr/>
        </p:nvSpPr>
        <p:spPr>
          <a:xfrm>
            <a:off x="474023" y="1733550"/>
            <a:ext cx="940130" cy="9525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3" name="icon-map-823">
            <a:extLst>
              <a:ext uri="{FF2B5EF4-FFF2-40B4-BE49-F238E27FC236}">
                <ns2:creationId id="{07073644-9319-48E7-A815-51D3FCF83753}"/>
              </a:ext>
            </a:extLst>
          </p:cNvPr>
          <p:cNvSpPr>
            <a:spLocks noGrp="1"/>
          </p:cNvSpPr>
          <p:nvPr/>
        </p:nvSpPr>
        <p:spPr>
          <a:xfrm>
            <a:off x="850075" y="1962150"/>
            <a:ext cx="206829" cy="209550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4" name="text-824">
            <a:extLst>
              <a:ext uri="{FF2B5EF4-FFF2-40B4-BE49-F238E27FC236}">
                <ns2:creationId id="{59373472-96F1-425A-9014-E97AD7F6226C}"/>
              </a:ext>
            </a:extLst>
          </p:cNvPr>
          <p:cNvSpPr>
            <a:spLocks noGrp="1"/>
          </p:cNvSpPr>
          <p:nvPr/>
        </p:nvSpPr>
        <p:spPr>
          <a:xfrm>
            <a:off x="1583377" y="148590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5" name="text-825">
            <a:extLst>
              <a:ext uri="{FF2B5EF4-FFF2-40B4-BE49-F238E27FC236}">
                <ns2:creationId id="{F2E4ED94-DED4-4E85-A3FC-6EE02B269E1C}"/>
              </a:ext>
            </a:extLst>
          </p:cNvPr>
          <p:cNvSpPr>
            <a:spLocks noGrp="1"/>
          </p:cNvSpPr>
          <p:nvPr/>
        </p:nvSpPr>
        <p:spPr>
          <a:xfrm>
            <a:off x="1583377" y="1781175"/>
            <a:ext cx="2293917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样点集中于大型绿地</a:t>
            </a:r>
            <a:endParaRPr/>
          </a:p>
        </p:txBody>
      </p:sp>
      <p:sp>
        <p:nvSpPr>
          <p:cNvPr id="16" name="line-826">
            <a:extLst>
              <a:ext uri="{FF2B5EF4-FFF2-40B4-BE49-F238E27FC236}">
                <ns2:creationId id="{64A78E1B-40E1-4BCB-ADC6-45A2FAA7352D}"/>
              </a:ext>
            </a:extLst>
          </p:cNvPr>
          <p:cNvSpPr>
            <a:spLocks noGrp="1"/>
          </p:cNvSpPr>
          <p:nvPr/>
        </p:nvSpPr>
        <p:spPr>
          <a:xfrm>
            <a:off x="1583377" y="2390775"/>
            <a:ext cx="2246910" cy="95"/>
          </a:xfrm>
          <a:prstGeom prst="line">
            <a:avLst/>
          </a:prstGeom>
          <a:noFill/>
          <a:ln w="14288">
            <a:solidFill>
              <a:srgbClr val="D7E5DF"/>
            </a:solidFill>
            <a:prstDash val="solid"/>
          </a:ln>
        </p:spPr>
      </p:sp>
      <p:sp>
        <p:nvSpPr>
          <p:cNvPr id="17" name="text-827">
            <a:extLst>
              <a:ext uri="{FF2B5EF4-FFF2-40B4-BE49-F238E27FC236}">
                <ns2:creationId id="{054957C0-B00E-4FA1-91F3-80408519E02F}"/>
              </a:ext>
            </a:extLst>
          </p:cNvPr>
          <p:cNvSpPr>
            <a:spLocks noGrp="1"/>
          </p:cNvSpPr>
          <p:nvPr/>
        </p:nvSpPr>
        <p:spPr>
          <a:xfrm>
            <a:off x="1583377" y="249555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8" name="text-828">
            <a:extLst>
              <a:ext uri="{FF2B5EF4-FFF2-40B4-BE49-F238E27FC236}">
                <ns2:creationId id="{C3E16F33-6CCE-4B2D-BA8D-08E4ECBC933E}"/>
              </a:ext>
            </a:extLst>
          </p:cNvPr>
          <p:cNvSpPr>
            <a:spLocks noGrp="1"/>
          </p:cNvSpPr>
          <p:nvPr/>
        </p:nvSpPr>
        <p:spPr>
          <a:xfrm>
            <a:off x="1583377" y="2790825"/>
            <a:ext cx="229391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增加小型绿地样点</a:t>
            </a:r>
            <a:endParaRPr/>
          </a:p>
        </p:txBody>
      </p:sp>
      <p:sp>
        <p:nvSpPr>
          <p:cNvPr id="19" name="panel-829">
            <a:extLst>
              <a:ext uri="{FF2B5EF4-FFF2-40B4-BE49-F238E27FC236}">
                <ns2:creationId id="{B9050D2B-E969-40E7-8814-E06463138D82}"/>
              </a:ext>
            </a:extLst>
          </p:cNvPr>
          <p:cNvSpPr>
            <a:spLocks noGrp="1"/>
          </p:cNvSpPr>
          <p:nvPr/>
        </p:nvSpPr>
        <p:spPr>
          <a:xfrm>
            <a:off x="4225142" y="89535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>
            <a:solidFill>
              <a:srgbClr val="136742"/>
            </a:solidFill>
            <a:prstDash val="solid"/>
          </a:ln>
        </p:spPr>
      </p:sp>
      <p:sp>
        <p:nvSpPr>
          <p:cNvPr id="20" name="shape-830">
            <a:extLst>
              <a:ext uri="{FF2B5EF4-FFF2-40B4-BE49-F238E27FC236}">
                <ns2:creationId id="{B686954F-8B04-4451-8040-483F68F55D29}"/>
              </a:ext>
            </a:extLst>
          </p:cNvPr>
          <p:cNvSpPr>
            <a:spLocks noGrp="1"/>
          </p:cNvSpPr>
          <p:nvPr/>
        </p:nvSpPr>
        <p:spPr>
          <a:xfrm>
            <a:off x="4234543" y="904875"/>
            <a:ext cx="3732316" cy="400050"/>
          </a:xfrm>
          <a:prstGeom prst="rect">
            <a:avLst>
              <a:gd name="adj" fmla="val 19048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21" name="icon-grid-831">
            <a:extLst>
              <a:ext uri="{FF2B5EF4-FFF2-40B4-BE49-F238E27FC236}">
                <ns2:creationId id="{01C61DE0-F573-43E4-A247-FF934C239349}"/>
              </a:ext>
            </a:extLst>
          </p:cNvPr>
          <p:cNvSpPr>
            <a:spLocks noGrp="1"/>
          </p:cNvSpPr>
          <p:nvPr/>
        </p:nvSpPr>
        <p:spPr>
          <a:xfrm>
            <a:off x="4358264" y="992124"/>
            <a:ext cx="213221" cy="216027"/>
          </a:xfrm>
          <a:prstGeom prst="rect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22" name="vector-832">
            <a:extLst>
              <a:ext uri="{FF2B5EF4-FFF2-40B4-BE49-F238E27FC236}">
                <ns2:creationId id="{198E055E-8FA3-4A1B-83E2-882C90E0A21E}"/>
              </a:ext>
            </a:extLst>
          </p:cNvPr>
          <p:cNvSpPr>
            <a:spLocks noGrp="1"/>
          </p:cNvSpPr>
          <p:nvPr/>
        </p:nvSpPr>
        <p:spPr>
          <a:xfrm>
            <a:off x="4337957" y="971550"/>
            <a:ext cx="253835" cy="257175"/>
          </a:xfrm>
          <a:custGeom>
            <a:pathLst>
              <a:path w="952500" h="952500">
                <a:moveTo>
                  <a:pt x="276225" y="76200"/>
                </a:moveTo>
                <a:lnTo>
                  <a:pt x="276225" y="876300"/>
                </a:lnTo>
              </a:path>
            </a:pathLst>
          </a:custGeom>
          <a:noFill/>
          <a:ln w="20002">
            <a:solidFill>
              <a:srgbClr val="136742"/>
            </a:solidFill>
            <a:prstDash val="solid"/>
          </a:ln>
        </p:spPr>
      </p:sp>
      <p:sp>
        <p:nvSpPr>
          <p:cNvPr id="23" name="vector-833">
            <a:extLst>
              <a:ext uri="{FF2B5EF4-FFF2-40B4-BE49-F238E27FC236}">
                <ns2:creationId id="{68B381BC-D897-4A6A-803A-FF9DA4F191F8}"/>
              </a:ext>
            </a:extLst>
          </p:cNvPr>
          <p:cNvSpPr>
            <a:spLocks noGrp="1"/>
          </p:cNvSpPr>
          <p:nvPr/>
        </p:nvSpPr>
        <p:spPr>
          <a:xfrm>
            <a:off x="4337957" y="971550"/>
            <a:ext cx="253835" cy="257175"/>
          </a:xfrm>
          <a:custGeom>
            <a:pathLst>
              <a:path w="952500" h="952500">
                <a:moveTo>
                  <a:pt x="76200" y="276225"/>
                </a:moveTo>
                <a:lnTo>
                  <a:pt x="876300" y="276225"/>
                </a:lnTo>
              </a:path>
            </a:pathLst>
          </a:custGeom>
          <a:noFill/>
          <a:ln w="20002">
            <a:solidFill>
              <a:srgbClr val="136742"/>
            </a:solidFill>
            <a:prstDash val="solid"/>
          </a:ln>
        </p:spPr>
      </p:sp>
      <p:sp>
        <p:nvSpPr>
          <p:cNvPr id="24" name="vector-834">
            <a:extLst>
              <a:ext uri="{FF2B5EF4-FFF2-40B4-BE49-F238E27FC236}">
                <ns2:creationId id="{474E1845-F872-4448-A4BA-7BE19847FE1F}"/>
              </a:ext>
            </a:extLst>
          </p:cNvPr>
          <p:cNvSpPr>
            <a:spLocks noGrp="1"/>
          </p:cNvSpPr>
          <p:nvPr/>
        </p:nvSpPr>
        <p:spPr>
          <a:xfrm>
            <a:off x="4337957" y="971550"/>
            <a:ext cx="253835" cy="257175"/>
          </a:xfrm>
          <a:custGeom>
            <a:pathLst>
              <a:path w="952500" h="952500">
                <a:moveTo>
                  <a:pt x="476250" y="76200"/>
                </a:moveTo>
                <a:lnTo>
                  <a:pt x="476250" y="876300"/>
                </a:lnTo>
              </a:path>
            </a:pathLst>
          </a:custGeom>
          <a:noFill/>
          <a:ln w="20002">
            <a:solidFill>
              <a:srgbClr val="136742"/>
            </a:solidFill>
            <a:prstDash val="solid"/>
          </a:ln>
        </p:spPr>
      </p:sp>
      <p:sp>
        <p:nvSpPr>
          <p:cNvPr id="25" name="vector-835">
            <a:extLst>
              <a:ext uri="{FF2B5EF4-FFF2-40B4-BE49-F238E27FC236}">
                <ns2:creationId id="{3F2C5E25-1C38-46B2-BAAC-6697A2108930}"/>
              </a:ext>
            </a:extLst>
          </p:cNvPr>
          <p:cNvSpPr>
            <a:spLocks noGrp="1"/>
          </p:cNvSpPr>
          <p:nvPr/>
        </p:nvSpPr>
        <p:spPr>
          <a:xfrm>
            <a:off x="4337957" y="971550"/>
            <a:ext cx="253835" cy="257175"/>
          </a:xfrm>
          <a:custGeom>
            <a:pathLst>
              <a:path w="952500" h="952500">
                <a:moveTo>
                  <a:pt x="76200" y="476250"/>
                </a:moveTo>
                <a:lnTo>
                  <a:pt x="876300" y="476250"/>
                </a:lnTo>
              </a:path>
            </a:pathLst>
          </a:custGeom>
          <a:noFill/>
          <a:ln w="20002">
            <a:solidFill>
              <a:srgbClr val="136742"/>
            </a:solidFill>
            <a:prstDash val="solid"/>
          </a:ln>
        </p:spPr>
      </p:sp>
      <p:sp>
        <p:nvSpPr>
          <p:cNvPr id="26" name="vector-836">
            <a:extLst>
              <a:ext uri="{FF2B5EF4-FFF2-40B4-BE49-F238E27FC236}">
                <ns2:creationId id="{FFDF2836-0FCF-414D-BCD6-34F66E3468BA}"/>
              </a:ext>
            </a:extLst>
          </p:cNvPr>
          <p:cNvSpPr>
            <a:spLocks noGrp="1"/>
          </p:cNvSpPr>
          <p:nvPr/>
        </p:nvSpPr>
        <p:spPr>
          <a:xfrm>
            <a:off x="4337957" y="971550"/>
            <a:ext cx="253835" cy="257175"/>
          </a:xfrm>
          <a:custGeom>
            <a:pathLst>
              <a:path w="952500" h="952500">
                <a:moveTo>
                  <a:pt x="676275" y="76200"/>
                </a:moveTo>
                <a:lnTo>
                  <a:pt x="676275" y="876300"/>
                </a:lnTo>
              </a:path>
            </a:pathLst>
          </a:custGeom>
          <a:noFill/>
          <a:ln w="20002">
            <a:solidFill>
              <a:srgbClr val="136742"/>
            </a:solidFill>
            <a:prstDash val="solid"/>
          </a:ln>
        </p:spPr>
      </p:sp>
      <p:sp>
        <p:nvSpPr>
          <p:cNvPr id="27" name="vector-837">
            <a:extLst>
              <a:ext uri="{FF2B5EF4-FFF2-40B4-BE49-F238E27FC236}">
                <ns2:creationId id="{C009E4BB-E684-457F-891E-DD5426FBC964}"/>
              </a:ext>
            </a:extLst>
          </p:cNvPr>
          <p:cNvSpPr>
            <a:spLocks noGrp="1"/>
          </p:cNvSpPr>
          <p:nvPr/>
        </p:nvSpPr>
        <p:spPr>
          <a:xfrm>
            <a:off x="4337957" y="971550"/>
            <a:ext cx="253835" cy="257175"/>
          </a:xfrm>
          <a:custGeom>
            <a:pathLst>
              <a:path w="952500" h="952500">
                <a:moveTo>
                  <a:pt x="76200" y="676275"/>
                </a:moveTo>
                <a:lnTo>
                  <a:pt x="876300" y="676275"/>
                </a:lnTo>
              </a:path>
            </a:pathLst>
          </a:custGeom>
          <a:noFill/>
          <a:ln w="20002">
            <a:solidFill>
              <a:srgbClr val="136742"/>
            </a:solidFill>
            <a:prstDash val="solid"/>
          </a:ln>
        </p:spPr>
      </p:sp>
      <p:sp>
        <p:nvSpPr>
          <p:cNvPr id="28" name="text-838">
            <a:extLst>
              <a:ext uri="{FF2B5EF4-FFF2-40B4-BE49-F238E27FC236}">
                <ns2:creationId id="{2B6A8FA3-E758-41DC-8303-0F8CF5D8106C}"/>
              </a:ext>
            </a:extLst>
          </p:cNvPr>
          <p:cNvSpPr>
            <a:spLocks noGrp="1"/>
          </p:cNvSpPr>
          <p:nvPr/>
        </p:nvSpPr>
        <p:spPr>
          <a:xfrm>
            <a:off x="4676404" y="96202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空间尺度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" name="icon-grid-839">
            <a:extLst>
              <a:ext uri="{FF2B5EF4-FFF2-40B4-BE49-F238E27FC236}">
                <ns2:creationId id="{7D57C7AB-7347-432B-9CB4-B091418BFA49}"/>
              </a:ext>
            </a:extLst>
          </p:cNvPr>
          <p:cNvSpPr>
            <a:spLocks noGrp="1"/>
          </p:cNvSpPr>
          <p:nvPr/>
        </p:nvSpPr>
        <p:spPr>
          <a:xfrm>
            <a:off x="4469575" y="1809750"/>
            <a:ext cx="789709" cy="800100"/>
          </a:xfrm>
          <a:prstGeom prst="rect">
            <a:avLst/>
          </a:pr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30" name="vector-840">
            <a:extLst>
              <a:ext uri="{FF2B5EF4-FFF2-40B4-BE49-F238E27FC236}">
                <ns2:creationId id="{AE8CEF05-078C-454C-B943-EAE9BC3059DA}"/>
              </a:ext>
            </a:extLst>
          </p:cNvPr>
          <p:cNvSpPr>
            <a:spLocks noGrp="1"/>
          </p:cNvSpPr>
          <p:nvPr/>
        </p:nvSpPr>
        <p:spPr>
          <a:xfrm>
            <a:off x="4394365" y="1733550"/>
            <a:ext cx="940130" cy="952500"/>
          </a:xfrm>
          <a:custGeom>
            <a:pathLst>
              <a:path w="952500" h="952500">
                <a:moveTo>
                  <a:pt x="276225" y="76200"/>
                </a:moveTo>
                <a:lnTo>
                  <a:pt x="276225" y="8763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31" name="vector-841">
            <a:extLst>
              <a:ext uri="{FF2B5EF4-FFF2-40B4-BE49-F238E27FC236}">
                <ns2:creationId id="{F7CCDB68-D60A-4DD4-8051-1E4F13DF8966}"/>
              </a:ext>
            </a:extLst>
          </p:cNvPr>
          <p:cNvSpPr>
            <a:spLocks noGrp="1"/>
          </p:cNvSpPr>
          <p:nvPr/>
        </p:nvSpPr>
        <p:spPr>
          <a:xfrm>
            <a:off x="4394365" y="1733550"/>
            <a:ext cx="940130" cy="952500"/>
          </a:xfrm>
          <a:custGeom>
            <a:pathLst>
              <a:path w="952500" h="952500">
                <a:moveTo>
                  <a:pt x="76200" y="276225"/>
                </a:moveTo>
                <a:lnTo>
                  <a:pt x="876300" y="2762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32" name="vector-842">
            <a:extLst>
              <a:ext uri="{FF2B5EF4-FFF2-40B4-BE49-F238E27FC236}">
                <ns2:creationId id="{6A03EC00-46C5-46DA-A50B-B32055398F69}"/>
              </a:ext>
            </a:extLst>
          </p:cNvPr>
          <p:cNvSpPr>
            <a:spLocks noGrp="1"/>
          </p:cNvSpPr>
          <p:nvPr/>
        </p:nvSpPr>
        <p:spPr>
          <a:xfrm>
            <a:off x="4394365" y="1733550"/>
            <a:ext cx="940130" cy="952500"/>
          </a:xfrm>
          <a:custGeom>
            <a:pathLst>
              <a:path w="952500" h="952500">
                <a:moveTo>
                  <a:pt x="476250" y="76200"/>
                </a:moveTo>
                <a:lnTo>
                  <a:pt x="476250" y="8763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33" name="vector-843">
            <a:extLst>
              <a:ext uri="{FF2B5EF4-FFF2-40B4-BE49-F238E27FC236}">
                <ns2:creationId id="{0EB5089A-F8A7-4CAF-B690-E5CD343DFE5D}"/>
              </a:ext>
            </a:extLst>
          </p:cNvPr>
          <p:cNvSpPr>
            <a:spLocks noGrp="1"/>
          </p:cNvSpPr>
          <p:nvPr/>
        </p:nvSpPr>
        <p:spPr>
          <a:xfrm>
            <a:off x="4394365" y="1733550"/>
            <a:ext cx="940130" cy="952500"/>
          </a:xfrm>
          <a:custGeom>
            <a:pathLst>
              <a:path w="952500" h="952500">
                <a:moveTo>
                  <a:pt x="76200" y="476250"/>
                </a:moveTo>
                <a:lnTo>
                  <a:pt x="876300" y="4762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34" name="vector-844">
            <a:extLst>
              <a:ext uri="{FF2B5EF4-FFF2-40B4-BE49-F238E27FC236}">
                <ns2:creationId id="{A1D78E79-4D95-45D0-99C2-8356C17058B2}"/>
              </a:ext>
            </a:extLst>
          </p:cNvPr>
          <p:cNvSpPr>
            <a:spLocks noGrp="1"/>
          </p:cNvSpPr>
          <p:nvPr/>
        </p:nvSpPr>
        <p:spPr>
          <a:xfrm>
            <a:off x="4394365" y="1733550"/>
            <a:ext cx="940130" cy="952500"/>
          </a:xfrm>
          <a:custGeom>
            <a:pathLst>
              <a:path w="952500" h="952500">
                <a:moveTo>
                  <a:pt x="676275" y="76200"/>
                </a:moveTo>
                <a:lnTo>
                  <a:pt x="676275" y="8763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35" name="vector-845">
            <a:extLst>
              <a:ext uri="{FF2B5EF4-FFF2-40B4-BE49-F238E27FC236}">
                <ns2:creationId id="{AADB899B-C4E0-44EB-BCEA-A93B1AF91B38}"/>
              </a:ext>
            </a:extLst>
          </p:cNvPr>
          <p:cNvSpPr>
            <a:spLocks noGrp="1"/>
          </p:cNvSpPr>
          <p:nvPr/>
        </p:nvSpPr>
        <p:spPr>
          <a:xfrm>
            <a:off x="4394365" y="1733550"/>
            <a:ext cx="940130" cy="952500"/>
          </a:xfrm>
          <a:custGeom>
            <a:pathLst>
              <a:path w="952500" h="952500">
                <a:moveTo>
                  <a:pt x="76200" y="676275"/>
                </a:moveTo>
                <a:lnTo>
                  <a:pt x="876300" y="6762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36" name="text-846">
            <a:extLst>
              <a:ext uri="{FF2B5EF4-FFF2-40B4-BE49-F238E27FC236}">
                <ns2:creationId id="{EF2AE18D-AB9D-4E56-9AD8-B00B5EAB563B}"/>
              </a:ext>
            </a:extLst>
          </p:cNvPr>
          <p:cNvSpPr>
            <a:spLocks noGrp="1"/>
          </p:cNvSpPr>
          <p:nvPr/>
        </p:nvSpPr>
        <p:spPr>
          <a:xfrm>
            <a:off x="5503718" y="148590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37" name="text-847">
            <a:extLst>
              <a:ext uri="{FF2B5EF4-FFF2-40B4-BE49-F238E27FC236}">
                <ns2:creationId id="{51CAA1BC-A7FD-4563-B13D-96506B595D21}"/>
              </a:ext>
            </a:extLst>
          </p:cNvPr>
          <p:cNvSpPr>
            <a:spLocks noGrp="1"/>
          </p:cNvSpPr>
          <p:nvPr/>
        </p:nvSpPr>
        <p:spPr>
          <a:xfrm>
            <a:off x="5503718" y="1781175"/>
            <a:ext cx="2293917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廊道与鸟类尺度不匹配</a:t>
            </a:r>
            <a:endParaRPr/>
          </a:p>
        </p:txBody>
      </p:sp>
      <p:sp>
        <p:nvSpPr>
          <p:cNvPr id="38" name="line-848">
            <a:extLst>
              <a:ext uri="{FF2B5EF4-FFF2-40B4-BE49-F238E27FC236}">
                <ns2:creationId id="{49F66471-59B7-40B8-BB1C-8B5A8ECF65FA}"/>
              </a:ext>
            </a:extLst>
          </p:cNvPr>
          <p:cNvSpPr>
            <a:spLocks noGrp="1"/>
          </p:cNvSpPr>
          <p:nvPr/>
        </p:nvSpPr>
        <p:spPr>
          <a:xfrm>
            <a:off x="5503718" y="2390775"/>
            <a:ext cx="2246910" cy="95"/>
          </a:xfrm>
          <a:prstGeom prst="line">
            <a:avLst/>
          </a:prstGeom>
          <a:noFill/>
          <a:ln w="14288">
            <a:solidFill>
              <a:srgbClr val="D7E5DF"/>
            </a:solidFill>
            <a:prstDash val="solid"/>
          </a:ln>
        </p:spPr>
      </p:sp>
      <p:sp>
        <p:nvSpPr>
          <p:cNvPr id="39" name="text-849">
            <a:extLst>
              <a:ext uri="{FF2B5EF4-FFF2-40B4-BE49-F238E27FC236}">
                <ns2:creationId id="{09315D1A-D69A-4D94-B1BF-EEF4729924ED}"/>
              </a:ext>
            </a:extLst>
          </p:cNvPr>
          <p:cNvSpPr>
            <a:spLocks noGrp="1"/>
          </p:cNvSpPr>
          <p:nvPr/>
        </p:nvSpPr>
        <p:spPr>
          <a:xfrm>
            <a:off x="5503718" y="249555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40" name="text-850">
            <a:extLst>
              <a:ext uri="{FF2B5EF4-FFF2-40B4-BE49-F238E27FC236}">
                <ns2:creationId id="{444AFA24-39B6-472A-BE3A-B47412947017}"/>
              </a:ext>
            </a:extLst>
          </p:cNvPr>
          <p:cNvSpPr>
            <a:spLocks noGrp="1"/>
          </p:cNvSpPr>
          <p:nvPr/>
        </p:nvSpPr>
        <p:spPr>
          <a:xfrm>
            <a:off x="5503718" y="2790825"/>
            <a:ext cx="229391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比较多个缓冲范围</a:t>
            </a:r>
            <a:endParaRPr/>
          </a:p>
        </p:txBody>
      </p:sp>
      <p:sp>
        <p:nvSpPr>
          <p:cNvPr id="41" name="panel-851">
            <a:extLst>
              <a:ext uri="{FF2B5EF4-FFF2-40B4-BE49-F238E27FC236}">
                <ns2:creationId id="{E7215D9E-87CF-4B52-A8F9-CD80EBAD908B}"/>
              </a:ext>
            </a:extLst>
          </p:cNvPr>
          <p:cNvSpPr>
            <a:spLocks noGrp="1"/>
          </p:cNvSpPr>
          <p:nvPr/>
        </p:nvSpPr>
        <p:spPr>
          <a:xfrm>
            <a:off x="8145483" y="89535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>
            <a:solidFill>
              <a:srgbClr val="136742"/>
            </a:solidFill>
            <a:prstDash val="solid"/>
          </a:ln>
        </p:spPr>
      </p:sp>
      <p:sp>
        <p:nvSpPr>
          <p:cNvPr id="42" name="shape-852">
            <a:extLst>
              <a:ext uri="{FF2B5EF4-FFF2-40B4-BE49-F238E27FC236}">
                <ns2:creationId id="{D27890B0-2BF1-4CC1-98D3-AB8C8438F811}"/>
              </a:ext>
            </a:extLst>
          </p:cNvPr>
          <p:cNvSpPr>
            <a:spLocks noGrp="1"/>
          </p:cNvSpPr>
          <p:nvPr/>
        </p:nvSpPr>
        <p:spPr>
          <a:xfrm>
            <a:off x="8154884" y="904875"/>
            <a:ext cx="3732316" cy="400050"/>
          </a:xfrm>
          <a:prstGeom prst="rect">
            <a:avLst>
              <a:gd name="adj" fmla="val 19048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43" name="icon-camera-853">
            <a:extLst>
              <a:ext uri="{FF2B5EF4-FFF2-40B4-BE49-F238E27FC236}">
                <ns2:creationId id="{C3C8EB94-958D-4666-B2C7-5FEE7C0BD701}"/>
              </a:ext>
            </a:extLst>
          </p:cNvPr>
          <p:cNvSpPr>
            <a:spLocks noGrp="1"/>
          </p:cNvSpPr>
          <p:nvPr/>
        </p:nvSpPr>
        <p:spPr>
          <a:xfrm>
            <a:off x="8276067" y="1030700"/>
            <a:ext cx="218299" cy="156877"/>
          </a:xfrm>
          <a:prstGeom prst="roundRect">
            <a:avLst>
              <a:gd name="adj" fmla="val 48573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44" name="icon-camera-854">
            <a:extLst>
              <a:ext uri="{FF2B5EF4-FFF2-40B4-BE49-F238E27FC236}">
                <ns2:creationId id="{AD9E08EC-5A18-406E-A104-1CE7D28C23CD}"/>
              </a:ext>
            </a:extLst>
          </p:cNvPr>
          <p:cNvSpPr>
            <a:spLocks noGrp="1"/>
          </p:cNvSpPr>
          <p:nvPr/>
        </p:nvSpPr>
        <p:spPr>
          <a:xfrm>
            <a:off x="8342065" y="997268"/>
            <a:ext cx="83766" cy="437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45" name="icon-camera-855">
            <a:extLst>
              <a:ext uri="{FF2B5EF4-FFF2-40B4-BE49-F238E27FC236}">
                <ns2:creationId id="{7DC68AEA-E484-49C1-A0B8-21FC6107D3C5}"/>
              </a:ext>
            </a:extLst>
          </p:cNvPr>
          <p:cNvSpPr>
            <a:spLocks noGrp="1"/>
          </p:cNvSpPr>
          <p:nvPr/>
        </p:nvSpPr>
        <p:spPr>
          <a:xfrm>
            <a:off x="8339526" y="1064133"/>
            <a:ext cx="91381" cy="92583"/>
          </a:xfrm>
          <a:prstGeom prst="ellipse">
            <a:avLst/>
          </a:pr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46" name="icon-camera-856">
            <a:extLst>
              <a:ext uri="{FF2B5EF4-FFF2-40B4-BE49-F238E27FC236}">
                <ns2:creationId id="{3412559E-9F65-4A94-BAC9-84538C329824}"/>
              </a:ext>
            </a:extLst>
          </p:cNvPr>
          <p:cNvSpPr>
            <a:spLocks noGrp="1"/>
          </p:cNvSpPr>
          <p:nvPr/>
        </p:nvSpPr>
        <p:spPr>
          <a:xfrm>
            <a:off x="8446137" y="1051274"/>
            <a:ext cx="20307" cy="20574"/>
          </a:xfrm>
          <a:prstGeom prst="ellipse">
            <a:avLst/>
          </a:pr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47" name="text-857">
            <a:extLst>
              <a:ext uri="{FF2B5EF4-FFF2-40B4-BE49-F238E27FC236}">
                <ns2:creationId id="{F56D1759-064E-43B4-B474-7A3A474B9C5B}"/>
              </a:ext>
            </a:extLst>
          </p:cNvPr>
          <p:cNvSpPr>
            <a:spLocks noGrp="1"/>
          </p:cNvSpPr>
          <p:nvPr/>
        </p:nvSpPr>
        <p:spPr>
          <a:xfrm>
            <a:off x="8596745" y="96202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检出过程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" name="icon-camera-858">
            <a:extLst>
              <a:ext uri="{FF2B5EF4-FFF2-40B4-BE49-F238E27FC236}">
                <ns2:creationId id="{1DBB85F9-5EA4-4878-BFDB-4AACC03C3687}"/>
              </a:ext>
            </a:extLst>
          </p:cNvPr>
          <p:cNvSpPr>
            <a:spLocks noGrp="1"/>
          </p:cNvSpPr>
          <p:nvPr/>
        </p:nvSpPr>
        <p:spPr>
          <a:xfrm>
            <a:off x="8380516" y="1952625"/>
            <a:ext cx="808512" cy="581025"/>
          </a:xfrm>
          <a:prstGeom prst="roundRect">
            <a:avLst>
              <a:gd name="adj" fmla="val 13115"/>
            </a:avLst>
          </a:pr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49" name="icon-camera-859">
            <a:extLst>
              <a:ext uri="{FF2B5EF4-FFF2-40B4-BE49-F238E27FC236}">
                <ns2:creationId id="{FA10A094-135C-4601-A08C-7F406435B4F1}"/>
              </a:ext>
            </a:extLst>
          </p:cNvPr>
          <p:cNvSpPr>
            <a:spLocks noGrp="1"/>
          </p:cNvSpPr>
          <p:nvPr/>
        </p:nvSpPr>
        <p:spPr>
          <a:xfrm>
            <a:off x="8624949" y="1828800"/>
            <a:ext cx="310243" cy="161925"/>
          </a:xfrm>
          <a:prstGeom prst="roundRect">
            <a:avLst>
              <a:gd name="adj" fmla="val 47059"/>
            </a:avLst>
          </a:pr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50" name="icon-camera-860">
            <a:extLst>
              <a:ext uri="{FF2B5EF4-FFF2-40B4-BE49-F238E27FC236}">
                <ns2:creationId id="{F975F45B-1B5C-40AD-952F-FC97C09073FA}"/>
              </a:ext>
            </a:extLst>
          </p:cNvPr>
          <p:cNvSpPr>
            <a:spLocks noGrp="1"/>
          </p:cNvSpPr>
          <p:nvPr/>
        </p:nvSpPr>
        <p:spPr>
          <a:xfrm>
            <a:off x="8615548" y="2076450"/>
            <a:ext cx="338447" cy="342900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51" name="icon-camera-861">
            <a:extLst>
              <a:ext uri="{FF2B5EF4-FFF2-40B4-BE49-F238E27FC236}">
                <ns2:creationId id="{23F118D0-DA5D-41CE-A6BD-F98A786FB439}"/>
              </a:ext>
            </a:extLst>
          </p:cNvPr>
          <p:cNvSpPr>
            <a:spLocks noGrp="1"/>
          </p:cNvSpPr>
          <p:nvPr/>
        </p:nvSpPr>
        <p:spPr>
          <a:xfrm>
            <a:off x="9010403" y="2028825"/>
            <a:ext cx="75210" cy="76200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52" name="text-862">
            <a:extLst>
              <a:ext uri="{FF2B5EF4-FFF2-40B4-BE49-F238E27FC236}">
                <ns2:creationId id="{15BD2C19-93C4-47CD-8273-AA2FA6F3A779}"/>
              </a:ext>
            </a:extLst>
          </p:cNvPr>
          <p:cNvSpPr>
            <a:spLocks noGrp="1"/>
          </p:cNvSpPr>
          <p:nvPr/>
        </p:nvSpPr>
        <p:spPr>
          <a:xfrm>
            <a:off x="9424060" y="148590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53" name="text-863">
            <a:extLst>
              <a:ext uri="{FF2B5EF4-FFF2-40B4-BE49-F238E27FC236}">
                <ns2:creationId id="{22A23CDA-E8A5-47F4-BED3-1CEB320735B1}"/>
              </a:ext>
            </a:extLst>
          </p:cNvPr>
          <p:cNvSpPr>
            <a:spLocks noGrp="1"/>
          </p:cNvSpPr>
          <p:nvPr/>
        </p:nvSpPr>
        <p:spPr>
          <a:xfrm>
            <a:off x="9424060" y="1781175"/>
            <a:ext cx="2293917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低声鸣物种容易漏检</a:t>
            </a:r>
            <a:endParaRPr/>
          </a:p>
        </p:txBody>
      </p:sp>
      <p:sp>
        <p:nvSpPr>
          <p:cNvPr id="54" name="line-864">
            <a:extLst>
              <a:ext uri="{FF2B5EF4-FFF2-40B4-BE49-F238E27FC236}">
                <ns2:creationId id="{47089BEF-D5D3-49D6-9857-DB62A6F8ECAF}"/>
              </a:ext>
            </a:extLst>
          </p:cNvPr>
          <p:cNvSpPr>
            <a:spLocks noGrp="1"/>
          </p:cNvSpPr>
          <p:nvPr/>
        </p:nvSpPr>
        <p:spPr>
          <a:xfrm>
            <a:off x="9424060" y="2390775"/>
            <a:ext cx="2246910" cy="95"/>
          </a:xfrm>
          <a:prstGeom prst="line">
            <a:avLst/>
          </a:prstGeom>
          <a:noFill/>
          <a:ln w="14288">
            <a:solidFill>
              <a:srgbClr val="D7E5DF"/>
            </a:solidFill>
            <a:prstDash val="solid"/>
          </a:ln>
        </p:spPr>
      </p:sp>
      <p:sp>
        <p:nvSpPr>
          <p:cNvPr id="55" name="text-865">
            <a:extLst>
              <a:ext uri="{FF2B5EF4-FFF2-40B4-BE49-F238E27FC236}">
                <ns2:creationId id="{223EE566-BB80-4EF6-B4A1-51E769850657}"/>
              </a:ext>
            </a:extLst>
          </p:cNvPr>
          <p:cNvSpPr>
            <a:spLocks noGrp="1"/>
          </p:cNvSpPr>
          <p:nvPr/>
        </p:nvSpPr>
        <p:spPr>
          <a:xfrm>
            <a:off x="9424060" y="249555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56" name="text-866">
            <a:extLst>
              <a:ext uri="{FF2B5EF4-FFF2-40B4-BE49-F238E27FC236}">
                <ns2:creationId id="{1D3B7DB3-E9E4-4BB1-B1C9-6BB85B28E795}"/>
              </a:ext>
            </a:extLst>
          </p:cNvPr>
          <p:cNvSpPr>
            <a:spLocks noGrp="1"/>
          </p:cNvSpPr>
          <p:nvPr/>
        </p:nvSpPr>
        <p:spPr>
          <a:xfrm>
            <a:off x="9424060" y="2790825"/>
            <a:ext cx="229391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增加重复观测</a:t>
            </a:r>
            <a:endParaRPr/>
          </a:p>
        </p:txBody>
      </p:sp>
      <p:sp>
        <p:nvSpPr>
          <p:cNvPr id="57" name="panel-867">
            <a:extLst>
              <a:ext uri="{FF2B5EF4-FFF2-40B4-BE49-F238E27FC236}">
                <ns2:creationId id="{84DC462F-BE86-4589-9621-F06F971454E4}"/>
              </a:ext>
            </a:extLst>
          </p:cNvPr>
          <p:cNvSpPr>
            <a:spLocks noGrp="1"/>
          </p:cNvSpPr>
          <p:nvPr/>
        </p:nvSpPr>
        <p:spPr>
          <a:xfrm>
            <a:off x="304800" y="350520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>
            <a:solidFill>
              <a:srgbClr val="136742"/>
            </a:solidFill>
            <a:prstDash val="solid"/>
          </a:ln>
        </p:spPr>
      </p:sp>
      <p:sp>
        <p:nvSpPr>
          <p:cNvPr id="58" name="shape-868">
            <a:extLst>
              <a:ext uri="{FF2B5EF4-FFF2-40B4-BE49-F238E27FC236}">
                <ns2:creationId id="{9BC45A80-BBA5-48FF-86DB-FBB5DC3D92CC}"/>
              </a:ext>
            </a:extLst>
          </p:cNvPr>
          <p:cNvSpPr>
            <a:spLocks noGrp="1"/>
          </p:cNvSpPr>
          <p:nvPr/>
        </p:nvSpPr>
        <p:spPr>
          <a:xfrm>
            <a:off x="314201" y="3514725"/>
            <a:ext cx="3732316" cy="400050"/>
          </a:xfrm>
          <a:prstGeom prst="rect">
            <a:avLst>
              <a:gd name="adj" fmla="val 19048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59" name="vector-869">
            <a:extLst>
              <a:ext uri="{FF2B5EF4-FFF2-40B4-BE49-F238E27FC236}">
                <ns2:creationId id="{288C6935-20AE-4206-97D9-0EAC4B15686B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0" name="vector-870">
            <a:extLst>
              <a:ext uri="{FF2B5EF4-FFF2-40B4-BE49-F238E27FC236}">
                <ns2:creationId id="{BA2C426A-4620-4997-A71D-5FA9A6BFA7E6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1" name="vector-871">
            <a:extLst>
              <a:ext uri="{FF2B5EF4-FFF2-40B4-BE49-F238E27FC236}">
                <ns2:creationId id="{D073A4A2-909D-4F96-B987-565183FB7DAD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2" name="vector-872">
            <a:extLst>
              <a:ext uri="{FF2B5EF4-FFF2-40B4-BE49-F238E27FC236}">
                <ns2:creationId id="{A958E7CB-0B6D-4CA1-AAFF-7B2387ACABAD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3" name="vector-873">
            <a:extLst>
              <a:ext uri="{FF2B5EF4-FFF2-40B4-BE49-F238E27FC236}">
                <ns2:creationId id="{906BDB2D-C409-49CE-A7FE-A762972C1969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4" name="vector-874">
            <a:extLst>
              <a:ext uri="{FF2B5EF4-FFF2-40B4-BE49-F238E27FC236}">
                <ns2:creationId id="{A447156A-077A-4646-A6EB-DF7A04001F4D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5" name="vector-875">
            <a:extLst>
              <a:ext uri="{FF2B5EF4-FFF2-40B4-BE49-F238E27FC236}">
                <ns2:creationId id="{3A069FB0-8C85-455A-BE43-9F5DB6C0405B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6" name="icon-network-876">
            <a:extLst>
              <a:ext uri="{FF2B5EF4-FFF2-40B4-BE49-F238E27FC236}">
                <ns2:creationId id="{DDE8B522-F563-4C56-880F-57C09D916E48}"/>
              </a:ext>
            </a:extLst>
          </p:cNvPr>
          <p:cNvSpPr>
            <a:spLocks noGrp="1"/>
          </p:cNvSpPr>
          <p:nvPr/>
        </p:nvSpPr>
        <p:spPr>
          <a:xfrm>
            <a:off x="432846" y="3658553"/>
            <a:ext cx="35537" cy="36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67" name="icon-network-877">
            <a:extLst>
              <a:ext uri="{FF2B5EF4-FFF2-40B4-BE49-F238E27FC236}">
                <ns2:creationId id="{3175FDCB-067D-4E36-8611-1533D9BBB932}"/>
              </a:ext>
            </a:extLst>
          </p:cNvPr>
          <p:cNvSpPr>
            <a:spLocks noGrp="1"/>
          </p:cNvSpPr>
          <p:nvPr/>
        </p:nvSpPr>
        <p:spPr>
          <a:xfrm>
            <a:off x="514073" y="3594259"/>
            <a:ext cx="35537" cy="36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68" name="icon-network-878">
            <a:extLst>
              <a:ext uri="{FF2B5EF4-FFF2-40B4-BE49-F238E27FC236}">
                <ns2:creationId id="{024605D2-C321-4CB6-8BD4-3022230CE059}"/>
              </a:ext>
            </a:extLst>
          </p:cNvPr>
          <p:cNvSpPr>
            <a:spLocks noGrp="1"/>
          </p:cNvSpPr>
          <p:nvPr/>
        </p:nvSpPr>
        <p:spPr>
          <a:xfrm>
            <a:off x="613069" y="3640550"/>
            <a:ext cx="35537" cy="36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69" name="icon-network-879">
            <a:extLst>
              <a:ext uri="{FF2B5EF4-FFF2-40B4-BE49-F238E27FC236}">
                <ns2:creationId id="{AA0F662D-1375-40EC-9FFE-A774F5E43BC7}"/>
              </a:ext>
            </a:extLst>
          </p:cNvPr>
          <p:cNvSpPr>
            <a:spLocks noGrp="1"/>
          </p:cNvSpPr>
          <p:nvPr/>
        </p:nvSpPr>
        <p:spPr>
          <a:xfrm>
            <a:off x="574993" y="3776853"/>
            <a:ext cx="35537" cy="36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0" name="icon-network-880">
            <a:extLst>
              <a:ext uri="{FF2B5EF4-FFF2-40B4-BE49-F238E27FC236}">
                <ns2:creationId id="{78F43E62-5F4A-4F34-8798-5E696CC158FC}"/>
              </a:ext>
            </a:extLst>
          </p:cNvPr>
          <p:cNvSpPr>
            <a:spLocks noGrp="1"/>
          </p:cNvSpPr>
          <p:nvPr/>
        </p:nvSpPr>
        <p:spPr>
          <a:xfrm>
            <a:off x="460768" y="3774281"/>
            <a:ext cx="35537" cy="36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1" name="text-881">
            <a:extLst>
              <a:ext uri="{FF2B5EF4-FFF2-40B4-BE49-F238E27FC236}">
                <ns2:creationId id="{402F6C0D-00B8-4CFF-8024-525895A0DDE3}"/>
              </a:ext>
            </a:extLst>
          </p:cNvPr>
          <p:cNvSpPr>
            <a:spLocks noGrp="1"/>
          </p:cNvSpPr>
          <p:nvPr/>
        </p:nvSpPr>
        <p:spPr>
          <a:xfrm>
            <a:off x="756062" y="357187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机制区分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2" name="vector-882">
            <a:extLst>
              <a:ext uri="{FF2B5EF4-FFF2-40B4-BE49-F238E27FC236}">
                <ns2:creationId id="{75B04C26-D9DF-4034-B372-A664631F6AC9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>
            <a:solidFill>
              <a:srgbClr val="136742"/>
            </a:solidFill>
            <a:prstDash val="solid"/>
          </a:ln>
        </p:spPr>
      </p:sp>
      <p:sp>
        <p:nvSpPr>
          <p:cNvPr id="73" name="vector-883">
            <a:extLst>
              <a:ext uri="{FF2B5EF4-FFF2-40B4-BE49-F238E27FC236}">
                <ns2:creationId id="{D0D465E4-509D-4B66-A9AE-6EFA16A42141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>
            <a:solidFill>
              <a:srgbClr val="136742"/>
            </a:solidFill>
            <a:prstDash val="solid"/>
          </a:ln>
        </p:spPr>
      </p:sp>
      <p:sp>
        <p:nvSpPr>
          <p:cNvPr id="74" name="vector-884">
            <a:extLst>
              <a:ext uri="{FF2B5EF4-FFF2-40B4-BE49-F238E27FC236}">
                <ns2:creationId id="{D5A4C432-B506-4B20-906C-20DE9CE5D993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136742"/>
            </a:solidFill>
            <a:prstDash val="solid"/>
          </a:ln>
        </p:spPr>
      </p:sp>
      <p:sp>
        <p:nvSpPr>
          <p:cNvPr id="75" name="vector-885">
            <a:extLst>
              <a:ext uri="{FF2B5EF4-FFF2-40B4-BE49-F238E27FC236}">
                <ns2:creationId id="{8F7E792E-1859-4C42-9F5D-65E90FBD0969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>
            <a:solidFill>
              <a:srgbClr val="136742"/>
            </a:solidFill>
            <a:prstDash val="solid"/>
          </a:ln>
        </p:spPr>
      </p:sp>
      <p:sp>
        <p:nvSpPr>
          <p:cNvPr id="76" name="vector-886">
            <a:extLst>
              <a:ext uri="{FF2B5EF4-FFF2-40B4-BE49-F238E27FC236}">
                <ns2:creationId id="{96436859-3B92-48DB-B2EF-652F65F6A558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>
            <a:solidFill>
              <a:srgbClr val="136742"/>
            </a:solidFill>
            <a:prstDash val="solid"/>
          </a:ln>
        </p:spPr>
      </p:sp>
      <p:sp>
        <p:nvSpPr>
          <p:cNvPr id="77" name="vector-887">
            <a:extLst>
              <a:ext uri="{FF2B5EF4-FFF2-40B4-BE49-F238E27FC236}">
                <ns2:creationId id="{E0EA5027-9E04-4AEF-9968-864DABA2BF73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136742"/>
            </a:solidFill>
            <a:prstDash val="solid"/>
          </a:ln>
        </p:spPr>
      </p:sp>
      <p:sp>
        <p:nvSpPr>
          <p:cNvPr id="78" name="vector-888">
            <a:extLst>
              <a:ext uri="{FF2B5EF4-FFF2-40B4-BE49-F238E27FC236}">
                <ns2:creationId id="{2900469B-F8EE-4DF8-9370-F371774C91B3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136742"/>
            </a:solidFill>
            <a:prstDash val="solid"/>
          </a:ln>
        </p:spPr>
      </p:sp>
      <p:sp>
        <p:nvSpPr>
          <p:cNvPr id="79" name="icon-network-889">
            <a:extLst>
              <a:ext uri="{FF2B5EF4-FFF2-40B4-BE49-F238E27FC236}">
                <ns2:creationId id="{1FCD7DFC-C60B-42E2-B9F4-A267B8C61A4F}"/>
              </a:ext>
            </a:extLst>
          </p:cNvPr>
          <p:cNvSpPr>
            <a:spLocks noGrp="1"/>
          </p:cNvSpPr>
          <p:nvPr/>
        </p:nvSpPr>
        <p:spPr>
          <a:xfrm>
            <a:off x="530431" y="4629150"/>
            <a:ext cx="131618" cy="133350"/>
          </a:xfrm>
          <a:prstGeom prst="ellipse">
            <a:avLst/>
          </a:pr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80" name="icon-network-890">
            <a:extLst>
              <a:ext uri="{FF2B5EF4-FFF2-40B4-BE49-F238E27FC236}">
                <ns2:creationId id="{ADA1329D-7973-4775-BD3B-93E0D0441332}"/>
              </a:ext>
            </a:extLst>
          </p:cNvPr>
          <p:cNvSpPr>
            <a:spLocks noGrp="1"/>
          </p:cNvSpPr>
          <p:nvPr/>
        </p:nvSpPr>
        <p:spPr>
          <a:xfrm>
            <a:off x="831273" y="4391025"/>
            <a:ext cx="131618" cy="133350"/>
          </a:xfrm>
          <a:prstGeom prst="ellipse">
            <a:avLst/>
          </a:pr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81" name="icon-network-891">
            <a:extLst>
              <a:ext uri="{FF2B5EF4-FFF2-40B4-BE49-F238E27FC236}">
                <ns2:creationId id="{BDE5D1DF-6F90-4ADE-880D-7027D8A81B5B}"/>
              </a:ext>
            </a:extLst>
          </p:cNvPr>
          <p:cNvSpPr>
            <a:spLocks noGrp="1"/>
          </p:cNvSpPr>
          <p:nvPr/>
        </p:nvSpPr>
        <p:spPr>
          <a:xfrm>
            <a:off x="1197923" y="4562475"/>
            <a:ext cx="131618" cy="133350"/>
          </a:xfrm>
          <a:prstGeom prst="ellipse">
            <a:avLst/>
          </a:pr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82" name="icon-network-892">
            <a:extLst>
              <a:ext uri="{FF2B5EF4-FFF2-40B4-BE49-F238E27FC236}">
                <ns2:creationId id="{AAD1AB06-16C7-4336-B9F9-EF4CA93EFEE0}"/>
              </a:ext>
            </a:extLst>
          </p:cNvPr>
          <p:cNvSpPr>
            <a:spLocks noGrp="1"/>
          </p:cNvSpPr>
          <p:nvPr/>
        </p:nvSpPr>
        <p:spPr>
          <a:xfrm>
            <a:off x="1056904" y="5067300"/>
            <a:ext cx="131618" cy="133350"/>
          </a:xfrm>
          <a:prstGeom prst="ellipse">
            <a:avLst/>
          </a:pr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83" name="icon-network-893">
            <a:extLst>
              <a:ext uri="{FF2B5EF4-FFF2-40B4-BE49-F238E27FC236}">
                <ns2:creationId id="{BA4D73E9-9C4D-47C9-BD73-9A833CFBDE6C}"/>
              </a:ext>
            </a:extLst>
          </p:cNvPr>
          <p:cNvSpPr>
            <a:spLocks noGrp="1"/>
          </p:cNvSpPr>
          <p:nvPr/>
        </p:nvSpPr>
        <p:spPr>
          <a:xfrm>
            <a:off x="633845" y="5057775"/>
            <a:ext cx="131618" cy="133350"/>
          </a:xfrm>
          <a:prstGeom prst="ellipse">
            <a:avLst/>
          </a:pr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84" name="text-894">
            <a:extLst>
              <a:ext uri="{FF2B5EF4-FFF2-40B4-BE49-F238E27FC236}">
                <ns2:creationId id="{761E1876-2B1A-46D6-8715-E07E33F71D54}"/>
              </a:ext>
            </a:extLst>
          </p:cNvPr>
          <p:cNvSpPr>
            <a:spLocks noGrp="1"/>
          </p:cNvSpPr>
          <p:nvPr/>
        </p:nvSpPr>
        <p:spPr>
          <a:xfrm>
            <a:off x="1583377" y="409575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85" name="text-895">
            <a:extLst>
              <a:ext uri="{FF2B5EF4-FFF2-40B4-BE49-F238E27FC236}">
                <ns2:creationId id="{DA1F54A6-A4DE-4F05-BBC4-81A2A257AF04}"/>
              </a:ext>
            </a:extLst>
          </p:cNvPr>
          <p:cNvSpPr>
            <a:spLocks noGrp="1"/>
          </p:cNvSpPr>
          <p:nvPr/>
        </p:nvSpPr>
        <p:spPr>
          <a:xfrm>
            <a:off x="1583377" y="4391025"/>
            <a:ext cx="2293917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面积与连通性可能相关</a:t>
            </a:r>
            <a:endParaRPr/>
          </a:p>
        </p:txBody>
      </p:sp>
      <p:sp>
        <p:nvSpPr>
          <p:cNvPr id="86" name="line-896">
            <a:extLst>
              <a:ext uri="{FF2B5EF4-FFF2-40B4-BE49-F238E27FC236}">
                <ns2:creationId id="{B2C8AABA-F857-4DDE-B2F7-D4231F023BA3}"/>
              </a:ext>
            </a:extLst>
          </p:cNvPr>
          <p:cNvSpPr>
            <a:spLocks noGrp="1"/>
          </p:cNvSpPr>
          <p:nvPr/>
        </p:nvSpPr>
        <p:spPr>
          <a:xfrm>
            <a:off x="1583377" y="5000625"/>
            <a:ext cx="2246910" cy="95"/>
          </a:xfrm>
          <a:prstGeom prst="line">
            <a:avLst/>
          </a:prstGeom>
          <a:noFill/>
          <a:ln w="14288">
            <a:solidFill>
              <a:srgbClr val="D7E5DF"/>
            </a:solidFill>
            <a:prstDash val="solid"/>
          </a:ln>
        </p:spPr>
      </p:sp>
      <p:sp>
        <p:nvSpPr>
          <p:cNvPr id="87" name="text-897">
            <a:extLst>
              <a:ext uri="{FF2B5EF4-FFF2-40B4-BE49-F238E27FC236}">
                <ns2:creationId id="{823D2A94-1B77-4030-AA19-F20B2476126C}"/>
              </a:ext>
            </a:extLst>
          </p:cNvPr>
          <p:cNvSpPr>
            <a:spLocks noGrp="1"/>
          </p:cNvSpPr>
          <p:nvPr/>
        </p:nvSpPr>
        <p:spPr>
          <a:xfrm>
            <a:off x="1583377" y="510540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88" name="text-898">
            <a:extLst>
              <a:ext uri="{FF2B5EF4-FFF2-40B4-BE49-F238E27FC236}">
                <ns2:creationId id="{31A67130-76BB-419F-8DCB-63E14AD5228E}"/>
              </a:ext>
            </a:extLst>
          </p:cNvPr>
          <p:cNvSpPr>
            <a:spLocks noGrp="1"/>
          </p:cNvSpPr>
          <p:nvPr/>
        </p:nvSpPr>
        <p:spPr>
          <a:xfrm>
            <a:off x="1583377" y="5400675"/>
            <a:ext cx="229391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选择交叉对照样点</a:t>
            </a:r>
            <a:endParaRPr/>
          </a:p>
        </p:txBody>
      </p:sp>
      <p:sp>
        <p:nvSpPr>
          <p:cNvPr id="89" name="panel-899">
            <a:extLst>
              <a:ext uri="{FF2B5EF4-FFF2-40B4-BE49-F238E27FC236}">
                <ns2:creationId id="{51527BE0-625E-4AFA-BECE-9E87A194CB91}"/>
              </a:ext>
            </a:extLst>
          </p:cNvPr>
          <p:cNvSpPr>
            <a:spLocks noGrp="1"/>
          </p:cNvSpPr>
          <p:nvPr/>
        </p:nvSpPr>
        <p:spPr>
          <a:xfrm>
            <a:off x="4225142" y="350520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>
            <a:solidFill>
              <a:srgbClr val="136742"/>
            </a:solidFill>
            <a:prstDash val="solid"/>
          </a:ln>
        </p:spPr>
      </p:sp>
      <p:sp>
        <p:nvSpPr>
          <p:cNvPr id="90" name="shape-900">
            <a:extLst>
              <a:ext uri="{FF2B5EF4-FFF2-40B4-BE49-F238E27FC236}">
                <ns2:creationId id="{1D410AF0-0F7C-461C-B523-F4B7E3CB11E6}"/>
              </a:ext>
            </a:extLst>
          </p:cNvPr>
          <p:cNvSpPr>
            <a:spLocks noGrp="1"/>
          </p:cNvSpPr>
          <p:nvPr/>
        </p:nvSpPr>
        <p:spPr>
          <a:xfrm>
            <a:off x="4234543" y="3514725"/>
            <a:ext cx="3732316" cy="400050"/>
          </a:xfrm>
          <a:prstGeom prst="rect">
            <a:avLst>
              <a:gd name="adj" fmla="val 19048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91" name="vector-901">
            <a:extLst>
              <a:ext uri="{FF2B5EF4-FFF2-40B4-BE49-F238E27FC236}">
                <ns2:creationId id="{FEB66B01-D24D-4209-8FAA-590621179702}"/>
              </a:ext>
            </a:extLst>
          </p:cNvPr>
          <p:cNvSpPr>
            <a:spLocks noGrp="1"/>
          </p:cNvSpPr>
          <p:nvPr/>
        </p:nvSpPr>
        <p:spPr>
          <a:xfrm>
            <a:off x="4337957" y="3581400"/>
            <a:ext cx="253835" cy="2571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92" name="vector-902">
            <a:extLst>
              <a:ext uri="{FF2B5EF4-FFF2-40B4-BE49-F238E27FC236}">
                <ns2:creationId id="{F34AE9BA-A2F4-4541-8994-F373EF37F4DD}"/>
              </a:ext>
            </a:extLst>
          </p:cNvPr>
          <p:cNvSpPr>
            <a:spLocks noGrp="1"/>
          </p:cNvSpPr>
          <p:nvPr/>
        </p:nvSpPr>
        <p:spPr>
          <a:xfrm>
            <a:off x="4337957" y="3581400"/>
            <a:ext cx="253835" cy="2571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93" name="icon-chart-903">
            <a:extLst>
              <a:ext uri="{FF2B5EF4-FFF2-40B4-BE49-F238E27FC236}">
                <ns2:creationId id="{3EDB9760-079B-46C4-9025-DB7AC2576258}"/>
              </a:ext>
            </a:extLst>
          </p:cNvPr>
          <p:cNvSpPr>
            <a:spLocks noGrp="1"/>
          </p:cNvSpPr>
          <p:nvPr/>
        </p:nvSpPr>
        <p:spPr>
          <a:xfrm>
            <a:off x="4401416" y="3720275"/>
            <a:ext cx="32999" cy="84868"/>
          </a:xfrm>
          <a:prstGeom prst="rect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94" name="icon-chart-904">
            <a:extLst>
              <a:ext uri="{FF2B5EF4-FFF2-40B4-BE49-F238E27FC236}">
                <ns2:creationId id="{27A7FBDA-48DC-4642-8911-D551B778D590}"/>
              </a:ext>
            </a:extLst>
          </p:cNvPr>
          <p:cNvSpPr>
            <a:spLocks noGrp="1"/>
          </p:cNvSpPr>
          <p:nvPr/>
        </p:nvSpPr>
        <p:spPr>
          <a:xfrm>
            <a:off x="4457259" y="3673983"/>
            <a:ext cx="32999" cy="131159"/>
          </a:xfrm>
          <a:prstGeom prst="rect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95" name="icon-chart-905">
            <a:extLst>
              <a:ext uri="{FF2B5EF4-FFF2-40B4-BE49-F238E27FC236}">
                <ns2:creationId id="{1E8C57C7-CE08-4D7B-837F-C8CA7E7CA8E0}"/>
              </a:ext>
            </a:extLst>
          </p:cNvPr>
          <p:cNvSpPr>
            <a:spLocks noGrp="1"/>
          </p:cNvSpPr>
          <p:nvPr/>
        </p:nvSpPr>
        <p:spPr>
          <a:xfrm>
            <a:off x="4513104" y="3622548"/>
            <a:ext cx="32999" cy="182594"/>
          </a:xfrm>
          <a:prstGeom prst="rect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96" name="text-906">
            <a:extLst>
              <a:ext uri="{FF2B5EF4-FFF2-40B4-BE49-F238E27FC236}">
                <ns2:creationId id="{317D44D0-906B-4470-8924-780B483ECB79}"/>
              </a:ext>
            </a:extLst>
          </p:cNvPr>
          <p:cNvSpPr>
            <a:spLocks noGrp="1"/>
          </p:cNvSpPr>
          <p:nvPr/>
        </p:nvSpPr>
        <p:spPr>
          <a:xfrm>
            <a:off x="4676404" y="357187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模型设定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7" name="vector-907">
            <a:extLst>
              <a:ext uri="{FF2B5EF4-FFF2-40B4-BE49-F238E27FC236}">
                <ns2:creationId id="{05F8BC68-A27C-4438-81B4-5572A64BDBFA}"/>
              </a:ext>
            </a:extLst>
          </p:cNvPr>
          <p:cNvSpPr>
            <a:spLocks noGrp="1"/>
          </p:cNvSpPr>
          <p:nvPr/>
        </p:nvSpPr>
        <p:spPr>
          <a:xfrm>
            <a:off x="4394365" y="4343400"/>
            <a:ext cx="940130" cy="95250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002">
            <a:solidFill>
              <a:srgbClr val="136742"/>
            </a:solidFill>
            <a:prstDash val="solid"/>
          </a:ln>
        </p:spPr>
      </p:sp>
      <p:sp>
        <p:nvSpPr>
          <p:cNvPr id="98" name="vector-908">
            <a:extLst>
              <a:ext uri="{FF2B5EF4-FFF2-40B4-BE49-F238E27FC236}">
                <ns2:creationId id="{30017A32-C19E-42D3-8E96-AF6713FDC448}"/>
              </a:ext>
            </a:extLst>
          </p:cNvPr>
          <p:cNvSpPr>
            <a:spLocks noGrp="1"/>
          </p:cNvSpPr>
          <p:nvPr/>
        </p:nvSpPr>
        <p:spPr>
          <a:xfrm>
            <a:off x="4394365" y="4343400"/>
            <a:ext cx="940130" cy="95250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002">
            <a:solidFill>
              <a:srgbClr val="136742"/>
            </a:solidFill>
            <a:prstDash val="solid"/>
          </a:ln>
        </p:spPr>
      </p:sp>
      <p:sp>
        <p:nvSpPr>
          <p:cNvPr id="99" name="icon-chart-909">
            <a:extLst>
              <a:ext uri="{FF2B5EF4-FFF2-40B4-BE49-F238E27FC236}">
                <ns2:creationId id="{572AC1AA-11D5-43E9-A787-A0E99582B677}"/>
              </a:ext>
            </a:extLst>
          </p:cNvPr>
          <p:cNvSpPr>
            <a:spLocks noGrp="1"/>
          </p:cNvSpPr>
          <p:nvPr/>
        </p:nvSpPr>
        <p:spPr>
          <a:xfrm>
            <a:off x="4629397" y="4857750"/>
            <a:ext cx="122217" cy="314325"/>
          </a:xfrm>
          <a:prstGeom prst="rect">
            <a:avLst/>
          </a:pr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100" name="icon-chart-910">
            <a:extLst>
              <a:ext uri="{FF2B5EF4-FFF2-40B4-BE49-F238E27FC236}">
                <ns2:creationId id="{D01C0150-4320-416F-BB69-C54B2A72C365}"/>
              </a:ext>
            </a:extLst>
          </p:cNvPr>
          <p:cNvSpPr>
            <a:spLocks noGrp="1"/>
          </p:cNvSpPr>
          <p:nvPr/>
        </p:nvSpPr>
        <p:spPr>
          <a:xfrm>
            <a:off x="4836226" y="4686300"/>
            <a:ext cx="122217" cy="485775"/>
          </a:xfrm>
          <a:prstGeom prst="rect">
            <a:avLst/>
          </a:pr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101" name="icon-chart-911">
            <a:extLst>
              <a:ext uri="{FF2B5EF4-FFF2-40B4-BE49-F238E27FC236}">
                <ns2:creationId id="{AC8A9254-6A24-411E-B014-38D90133FB6E}"/>
              </a:ext>
            </a:extLst>
          </p:cNvPr>
          <p:cNvSpPr>
            <a:spLocks noGrp="1"/>
          </p:cNvSpPr>
          <p:nvPr/>
        </p:nvSpPr>
        <p:spPr>
          <a:xfrm>
            <a:off x="5043055" y="4495800"/>
            <a:ext cx="122217" cy="676275"/>
          </a:xfrm>
          <a:prstGeom prst="rect">
            <a:avLst/>
          </a:pr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102" name="text-912">
            <a:extLst>
              <a:ext uri="{FF2B5EF4-FFF2-40B4-BE49-F238E27FC236}">
                <ns2:creationId id="{4500D67F-C238-40B1-8CF2-20C667854D19}"/>
              </a:ext>
            </a:extLst>
          </p:cNvPr>
          <p:cNvSpPr>
            <a:spLocks noGrp="1"/>
          </p:cNvSpPr>
          <p:nvPr/>
        </p:nvSpPr>
        <p:spPr>
          <a:xfrm>
            <a:off x="5503718" y="409575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03" name="text-913">
            <a:extLst>
              <a:ext uri="{FF2B5EF4-FFF2-40B4-BE49-F238E27FC236}">
                <ns2:creationId id="{7CCF5B2E-7E44-4310-8C4C-CDB4B0242C8E}"/>
              </a:ext>
            </a:extLst>
          </p:cNvPr>
          <p:cNvSpPr>
            <a:spLocks noGrp="1"/>
          </p:cNvSpPr>
          <p:nvPr/>
        </p:nvSpPr>
        <p:spPr>
          <a:xfrm>
            <a:off x="5503718" y="4391025"/>
            <a:ext cx="2293917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结果可能依赖变量组合</a:t>
            </a:r>
            <a:endParaRPr/>
          </a:p>
        </p:txBody>
      </p:sp>
      <p:sp>
        <p:nvSpPr>
          <p:cNvPr id="104" name="line-914">
            <a:extLst>
              <a:ext uri="{FF2B5EF4-FFF2-40B4-BE49-F238E27FC236}">
                <ns2:creationId id="{4AA07BC6-1775-4B3F-AA5C-9781887185C5}"/>
              </a:ext>
            </a:extLst>
          </p:cNvPr>
          <p:cNvSpPr>
            <a:spLocks noGrp="1"/>
          </p:cNvSpPr>
          <p:nvPr/>
        </p:nvSpPr>
        <p:spPr>
          <a:xfrm>
            <a:off x="5503718" y="5000625"/>
            <a:ext cx="2246910" cy="95"/>
          </a:xfrm>
          <a:prstGeom prst="line">
            <a:avLst/>
          </a:prstGeom>
          <a:noFill/>
          <a:ln w="14288">
            <a:solidFill>
              <a:srgbClr val="D7E5DF"/>
            </a:solidFill>
            <a:prstDash val="solid"/>
          </a:ln>
        </p:spPr>
      </p:sp>
      <p:sp>
        <p:nvSpPr>
          <p:cNvPr id="105" name="text-915">
            <a:extLst>
              <a:ext uri="{FF2B5EF4-FFF2-40B4-BE49-F238E27FC236}">
                <ns2:creationId id="{37BC30D9-705D-4346-ABF3-41E90C0CD76D}"/>
              </a:ext>
            </a:extLst>
          </p:cNvPr>
          <p:cNvSpPr>
            <a:spLocks noGrp="1"/>
          </p:cNvSpPr>
          <p:nvPr/>
        </p:nvSpPr>
        <p:spPr>
          <a:xfrm>
            <a:off x="5503718" y="510540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06" name="text-916">
            <a:extLst>
              <a:ext uri="{FF2B5EF4-FFF2-40B4-BE49-F238E27FC236}">
                <ns2:creationId id="{4B00BAA6-DD14-4931-B605-CA2BE0E2ECF3}"/>
              </a:ext>
            </a:extLst>
          </p:cNvPr>
          <p:cNvSpPr>
            <a:spLocks noGrp="1"/>
          </p:cNvSpPr>
          <p:nvPr/>
        </p:nvSpPr>
        <p:spPr>
          <a:xfrm>
            <a:off x="5503718" y="5400675"/>
            <a:ext cx="229391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报告敏感性分析</a:t>
            </a:r>
            <a:endParaRPr/>
          </a:p>
        </p:txBody>
      </p:sp>
      <p:sp>
        <p:nvSpPr>
          <p:cNvPr id="107" name="panel-917">
            <a:extLst>
              <a:ext uri="{FF2B5EF4-FFF2-40B4-BE49-F238E27FC236}">
                <ns2:creationId id="{F686F0AD-D5AF-4533-9A0C-FAD5BD1DAD1C}"/>
              </a:ext>
            </a:extLst>
          </p:cNvPr>
          <p:cNvSpPr>
            <a:spLocks noGrp="1"/>
          </p:cNvSpPr>
          <p:nvPr/>
        </p:nvSpPr>
        <p:spPr>
          <a:xfrm>
            <a:off x="8145483" y="350520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>
            <a:solidFill>
              <a:srgbClr val="136742"/>
            </a:solidFill>
            <a:prstDash val="solid"/>
          </a:ln>
        </p:spPr>
      </p:sp>
      <p:sp>
        <p:nvSpPr>
          <p:cNvPr id="108" name="shape-918">
            <a:extLst>
              <a:ext uri="{FF2B5EF4-FFF2-40B4-BE49-F238E27FC236}">
                <ns2:creationId id="{72702B08-C2E8-4DE8-8648-EF5FDC5E58B4}"/>
              </a:ext>
            </a:extLst>
          </p:cNvPr>
          <p:cNvSpPr>
            <a:spLocks noGrp="1"/>
          </p:cNvSpPr>
          <p:nvPr/>
        </p:nvSpPr>
        <p:spPr>
          <a:xfrm>
            <a:off x="8154884" y="3514725"/>
            <a:ext cx="3732316" cy="400050"/>
          </a:xfrm>
          <a:prstGeom prst="rect">
            <a:avLst>
              <a:gd name="adj" fmla="val 19048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109" name="icon-compass-919">
            <a:extLst>
              <a:ext uri="{FF2B5EF4-FFF2-40B4-BE49-F238E27FC236}">
                <ns2:creationId id="{7229B405-FFE4-405B-9CE6-7843E61AFDCF}"/>
              </a:ext>
            </a:extLst>
          </p:cNvPr>
          <p:cNvSpPr>
            <a:spLocks noGrp="1"/>
          </p:cNvSpPr>
          <p:nvPr/>
        </p:nvSpPr>
        <p:spPr>
          <a:xfrm>
            <a:off x="8273529" y="3596831"/>
            <a:ext cx="223375" cy="226314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10" name="vector-920">
            <a:extLst>
              <a:ext uri="{FF2B5EF4-FFF2-40B4-BE49-F238E27FC236}">
                <ns2:creationId id="{82C24DB9-CA4A-4CF4-AC61-81A3F544C90A}"/>
              </a:ext>
            </a:extLst>
          </p:cNvPr>
          <p:cNvSpPr>
            <a:spLocks noGrp="1"/>
          </p:cNvSpPr>
          <p:nvPr/>
        </p:nvSpPr>
        <p:spPr>
          <a:xfrm>
            <a:off x="8258299" y="3581400"/>
            <a:ext cx="253835" cy="257175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111" name="vector-921">
            <a:extLst>
              <a:ext uri="{FF2B5EF4-FFF2-40B4-BE49-F238E27FC236}">
                <ns2:creationId id="{BD1954BF-E09C-49E7-991A-21C1CAB6B5D8}"/>
              </a:ext>
            </a:extLst>
          </p:cNvPr>
          <p:cNvSpPr>
            <a:spLocks noGrp="1"/>
          </p:cNvSpPr>
          <p:nvPr/>
        </p:nvSpPr>
        <p:spPr>
          <a:xfrm>
            <a:off x="8258299" y="3581400"/>
            <a:ext cx="253835" cy="257175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112" name="text-922">
            <a:extLst>
              <a:ext uri="{FF2B5EF4-FFF2-40B4-BE49-F238E27FC236}">
                <ns2:creationId id="{C0D0D8BC-7CC3-405A-BD64-FB30A4EA2468}"/>
              </a:ext>
            </a:extLst>
          </p:cNvPr>
          <p:cNvSpPr>
            <a:spLocks noGrp="1"/>
          </p:cNvSpPr>
          <p:nvPr/>
        </p:nvSpPr>
        <p:spPr>
          <a:xfrm>
            <a:off x="8596745" y="357187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季节外推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3" name="icon-compass-923">
            <a:extLst>
              <a:ext uri="{FF2B5EF4-FFF2-40B4-BE49-F238E27FC236}">
                <ns2:creationId id="{AAC18344-19FA-43FA-88C4-420BB0366736}"/>
              </a:ext>
            </a:extLst>
          </p:cNvPr>
          <p:cNvSpPr>
            <a:spLocks noGrp="1"/>
          </p:cNvSpPr>
          <p:nvPr/>
        </p:nvSpPr>
        <p:spPr>
          <a:xfrm>
            <a:off x="8371114" y="4400550"/>
            <a:ext cx="827314" cy="838200"/>
          </a:xfrm>
          <a:prstGeom prst="ellipse">
            <a:avLst/>
          </a:prstGeom>
          <a:solidFill>
            <a:srgbClr val="136742"/>
          </a:solidFill>
          <a:ln w="20002">
            <a:solidFill>
              <a:srgbClr val="136742"/>
            </a:solidFill>
            <a:prstDash val="solid"/>
          </a:ln>
        </p:spPr>
      </p:sp>
      <p:sp>
        <p:nvSpPr>
          <p:cNvPr id="114" name="vector-924">
            <a:extLst>
              <a:ext uri="{FF2B5EF4-FFF2-40B4-BE49-F238E27FC236}">
                <ns2:creationId id="{22DEAC6A-22C7-4806-8EFB-67FE770D9F91}"/>
              </a:ext>
            </a:extLst>
          </p:cNvPr>
          <p:cNvSpPr>
            <a:spLocks noGrp="1"/>
          </p:cNvSpPr>
          <p:nvPr/>
        </p:nvSpPr>
        <p:spPr>
          <a:xfrm>
            <a:off x="8314706" y="4343400"/>
            <a:ext cx="940130" cy="95250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15" name="vector-925">
            <a:extLst>
              <a:ext uri="{FF2B5EF4-FFF2-40B4-BE49-F238E27FC236}">
                <ns2:creationId id="{5439BED5-EEB8-407D-A256-CDBFFEFA2951}"/>
              </a:ext>
            </a:extLst>
          </p:cNvPr>
          <p:cNvSpPr>
            <a:spLocks noGrp="1"/>
          </p:cNvSpPr>
          <p:nvPr/>
        </p:nvSpPr>
        <p:spPr>
          <a:xfrm>
            <a:off x="8314706" y="4343400"/>
            <a:ext cx="940130" cy="95250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16" name="text-926">
            <a:extLst>
              <a:ext uri="{FF2B5EF4-FFF2-40B4-BE49-F238E27FC236}">
                <ns2:creationId id="{00316DE5-6D9E-401A-9F72-5085BC8A8633}"/>
              </a:ext>
            </a:extLst>
          </p:cNvPr>
          <p:cNvSpPr>
            <a:spLocks noGrp="1"/>
          </p:cNvSpPr>
          <p:nvPr/>
        </p:nvSpPr>
        <p:spPr>
          <a:xfrm>
            <a:off x="9424060" y="409575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17" name="text-927">
            <a:extLst>
              <a:ext uri="{FF2B5EF4-FFF2-40B4-BE49-F238E27FC236}">
                <ns2:creationId id="{19BDF6EC-D81A-47A1-B268-AF019CCC8FB9}"/>
              </a:ext>
            </a:extLst>
          </p:cNvPr>
          <p:cNvSpPr>
            <a:spLocks noGrp="1"/>
          </p:cNvSpPr>
          <p:nvPr/>
        </p:nvSpPr>
        <p:spPr>
          <a:xfrm>
            <a:off x="9424060" y="4391025"/>
            <a:ext cx="2293917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繁殖季结果难外推全年</a:t>
            </a:r>
            <a:endParaRPr/>
          </a:p>
        </p:txBody>
      </p:sp>
      <p:sp>
        <p:nvSpPr>
          <p:cNvPr id="118" name="line-928">
            <a:extLst>
              <a:ext uri="{FF2B5EF4-FFF2-40B4-BE49-F238E27FC236}">
                <ns2:creationId id="{F7F65DE1-557F-4365-BAE7-A4971B1D844A}"/>
              </a:ext>
            </a:extLst>
          </p:cNvPr>
          <p:cNvSpPr>
            <a:spLocks noGrp="1"/>
          </p:cNvSpPr>
          <p:nvPr/>
        </p:nvSpPr>
        <p:spPr>
          <a:xfrm>
            <a:off x="9424060" y="5000625"/>
            <a:ext cx="2246910" cy="95"/>
          </a:xfrm>
          <a:prstGeom prst="line">
            <a:avLst/>
          </a:prstGeom>
          <a:noFill/>
          <a:ln w="14288">
            <a:solidFill>
              <a:srgbClr val="D7E5DF"/>
            </a:solidFill>
            <a:prstDash val="solid"/>
          </a:ln>
        </p:spPr>
      </p:sp>
      <p:sp>
        <p:nvSpPr>
          <p:cNvPr id="119" name="text-929">
            <a:extLst>
              <a:ext uri="{FF2B5EF4-FFF2-40B4-BE49-F238E27FC236}">
                <ns2:creationId id="{6368B308-95EA-47E7-959F-9637854D3244}"/>
              </a:ext>
            </a:extLst>
          </p:cNvPr>
          <p:cNvSpPr>
            <a:spLocks noGrp="1"/>
          </p:cNvSpPr>
          <p:nvPr/>
        </p:nvSpPr>
        <p:spPr>
          <a:xfrm>
            <a:off x="9424060" y="510540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20" name="text-930">
            <a:extLst>
              <a:ext uri="{FF2B5EF4-FFF2-40B4-BE49-F238E27FC236}">
                <ns2:creationId id="{644D21A1-AEA6-4944-879A-00D34C139367}"/>
              </a:ext>
            </a:extLst>
          </p:cNvPr>
          <p:cNvSpPr>
            <a:spLocks noGrp="1"/>
          </p:cNvSpPr>
          <p:nvPr/>
        </p:nvSpPr>
        <p:spPr>
          <a:xfrm>
            <a:off x="9424060" y="5400675"/>
            <a:ext cx="229391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补充越冬期观测</a:t>
            </a:r>
            <a:endParaRPr/>
          </a:p>
        </p:txBody>
      </p:sp>
      <p:sp>
        <p:nvSpPr>
          <p:cNvPr id="121" name="shape-931">
            <a:extLst>
              <a:ext uri="{FF2B5EF4-FFF2-40B4-BE49-F238E27FC236}">
                <ns2:creationId id="{C8213CC0-1B34-4D54-A182-5EAB81ABF212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6742"/>
          </a:solidFill>
          <a:ln w="14288">
            <a:solidFill>
              <a:srgbClr val="136742"/>
            </a:solidFill>
            <a:prstDash val="solid"/>
          </a:ln>
        </p:spPr>
      </p:sp>
      <p:sp>
        <p:nvSpPr>
          <p:cNvPr id="122" name="text-932">
            <a:extLst>
              <a:ext uri="{FF2B5EF4-FFF2-40B4-BE49-F238E27FC236}">
                <ns2:creationId id="{C9BF64A0-E60E-4543-AA4C-773F5ED47063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明确支持范围、未决问题与下一步检验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3" name="text-933">
            <a:extLst>
              <a:ext uri="{FF2B5EF4-FFF2-40B4-BE49-F238E27FC236}">
                <ns2:creationId id="{D3D20350-7165-44E3-9DFD-FB9E0CDD0972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24" name="text-934">
            <a:extLst>
              <a:ext uri="{FF2B5EF4-FFF2-40B4-BE49-F238E27FC236}">
                <ns2:creationId id="{1B518F5D-5E79-413C-AE7C-CFB44DE15D2E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29C6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/>
          </a:p>
        </p:txBody>
      </p:sp>
    </p:spTree>
    <p:extLst>
      <p:ext uri="{BB962C8B-B14F-4D97-AF65-F5344CB8AC3E}">
        <ns3:creationId val="1684708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4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editable-research-ppt contributors</dc:creator>
  <ns0:lastModifiedBy>editable-research-ppt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