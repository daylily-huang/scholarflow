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plus>
            <c:min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6742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0.38</c:v>
                </c:pt>
                <c:pt idx="1">
                  <c:v>0.46</c:v>
                </c:pt>
                <c:pt idx="2">
                  <c:v>0.23</c:v>
                </c:pt>
                <c:pt idx="3">
                  <c:v>-0.31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trendline>
            <c:spPr>
              <a:ln w="19050">
                <a:solidFill>
                  <a:srgbClr val="136742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12.5</c:v>
                </c:pt>
                <c:pt idx="1">
                  <c:v>18.2</c:v>
                </c:pt>
                <c:pt idx="2">
                  <c:v>13.01</c:v>
                </c:pt>
                <c:pt idx="3">
                  <c:v>16.92</c:v>
                </c:pt>
                <c:pt idx="4">
                  <c:v>24.14</c:v>
                </c:pt>
                <c:pt idx="5">
                  <c:v>19.55</c:v>
                </c:pt>
                <c:pt idx="6">
                  <c:v>21.43</c:v>
                </c:pt>
                <c:pt idx="7">
                  <c:v>29.84</c:v>
                </c:pt>
                <c:pt idx="8">
                  <c:v>26.27</c:v>
                </c:pt>
                <c:pt idx="9">
                  <c:v>26.1</c:v>
                </c:pt>
                <c:pt idx="10">
                  <c:v>35.11</c:v>
                </c:pt>
                <c:pt idx="11">
                  <c:v>33.07</c:v>
                </c:pt>
                <c:pt idx="12">
                  <c:v>31.11</c:v>
                </c:pt>
                <c:pt idx="13">
                  <c:v>40.04</c:v>
                </c:pt>
                <c:pt idx="14">
                  <c:v>39.87</c:v>
                </c:pt>
                <c:pt idx="15">
                  <c:v>36.38</c:v>
                </c:pt>
                <c:pt idx="16">
                  <c:v>44.8</c:v>
                </c:pt>
                <c:pt idx="17">
                  <c:v>46.5</c:v>
                </c:pt>
                <c:pt idx="18">
                  <c:v>41.91</c:v>
                </c:pt>
                <c:pt idx="19">
                  <c:v>49.3</c:v>
                </c:pt>
                <c:pt idx="20">
                  <c:v>53.05</c:v>
                </c:pt>
                <c:pt idx="21">
                  <c:v>47.86</c:v>
                </c:pt>
                <c:pt idx="22">
                  <c:v>53.73</c:v>
                </c:pt>
                <c:pt idx="23">
                  <c:v>59.33</c:v>
                </c:pt>
                <c:pt idx="24">
                  <c:v>54.15</c:v>
                </c:pt>
                <c:pt idx="25">
                  <c:v>58.15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trendline>
            <c:spPr>
              <a:ln w="19050">
                <a:solidFill>
                  <a:srgbClr val="136742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Data'!$A$2:$A$26</c:f>
              <c:numCache>
                <c:formatCode>General</c:formatCode>
                <c:ptCount val="25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</c:numCache>
            </c:numRef>
          </c:xVal>
          <c:yVal>
            <c:numRef>
              <c:f>'Chart Data'!$B$2:$B$26</c:f>
              <c:numCache>
                <c:formatCode>General</c:formatCode>
                <c:ptCount val="25"/>
                <c:pt idx="0">
                  <c:v>20</c:v>
                </c:pt>
                <c:pt idx="1">
                  <c:v>27.99</c:v>
                </c:pt>
                <c:pt idx="2">
                  <c:v>20.89</c:v>
                </c:pt>
                <c:pt idx="3">
                  <c:v>23.57</c:v>
                </c:pt>
                <c:pt idx="4">
                  <c:v>34.99</c:v>
                </c:pt>
                <c:pt idx="5">
                  <c:v>30.99</c:v>
                </c:pt>
                <c:pt idx="6">
                  <c:v>28.23</c:v>
                </c:pt>
                <c:pt idx="7">
                  <c:v>40.08</c:v>
                </c:pt>
                <c:pt idx="8">
                  <c:v>41.23</c:v>
                </c:pt>
                <c:pt idx="9">
                  <c:v>34.72</c:v>
                </c:pt>
                <c:pt idx="10">
                  <c:v>43.83</c:v>
                </c:pt>
                <c:pt idx="11">
                  <c:v>50.51</c:v>
                </c:pt>
                <c:pt idx="12">
                  <c:v>43.16</c:v>
                </c:pt>
                <c:pt idx="13">
                  <c:v>47.29</c:v>
                </c:pt>
                <c:pt idx="14">
                  <c:v>58.03</c:v>
                </c:pt>
                <c:pt idx="15">
                  <c:v>53.03</c:v>
                </c:pt>
                <c:pt idx="16">
                  <c:v>51.59</c:v>
                </c:pt>
                <c:pt idx="17">
                  <c:v>63.58</c:v>
                </c:pt>
                <c:pt idx="18">
                  <c:v>63.35</c:v>
                </c:pt>
                <c:pt idx="19">
                  <c:v>57.56</c:v>
                </c:pt>
                <c:pt idx="20">
                  <c:v>67.59</c:v>
                </c:pt>
                <c:pt idx="21">
                  <c:v>72.97</c:v>
                </c:pt>
                <c:pt idx="22">
                  <c:v>65.52</c:v>
                </c:pt>
                <c:pt idx="23">
                  <c:v>71.02</c:v>
                </c:pt>
                <c:pt idx="24">
                  <c:v>80.99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鸟类种数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0.093</c:v>
                </c:pt>
                <c:pt idx="1">
                  <c:v>0.093</c:v>
                </c:pt>
                <c:pt idx="2">
                  <c:v>0.093</c:v>
                </c:pt>
              </c:numLit>
            </c:minus>
            <c:spPr>
              <a:ln w="15240">
                <a:solidFill>
                  <a:srgbClr val="136742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低连通</c:v>
                </c:pt>
                <c:pt idx="1">
                  <c:v>中连通</c:v>
                </c:pt>
                <c:pt idx="2">
                  <c:v>高连通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0.699</c:v>
                </c:pt>
                <c:pt idx="1">
                  <c:v>1.199</c:v>
                </c:pt>
                <c:pt idx="2">
                  <c:v>1.699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429C6B"/>
            </a:solidFill>
            <a:ln w="11430">
              <a:solidFill>
                <a:srgbClr val="136742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低连通</c:v>
                </c:pt>
                <c:pt idx="1">
                  <c:v>中连通</c:v>
                </c:pt>
                <c:pt idx="2">
                  <c:v>高连通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0.09</c:v>
                </c:pt>
                <c:pt idx="1">
                  <c:v>0.09</c:v>
                </c:pt>
                <c:pt idx="2">
                  <c:v>0.09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429C6B"/>
            </a:solidFill>
            <a:ln w="11430">
              <a:solidFill>
                <a:srgbClr val="136742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0.09375</c:v>
                </c:pt>
                <c:pt idx="1">
                  <c:v>0.09375</c:v>
                </c:pt>
                <c:pt idx="2">
                  <c:v>0.09375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6742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低连通</c:v>
                </c:pt>
                <c:pt idx="1">
                  <c:v>中连通</c:v>
                </c:pt>
                <c:pt idx="2">
                  <c:v>高连通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0.09825</c:v>
                </c:pt>
                <c:pt idx="1">
                  <c:v>0.09825</c:v>
                </c:pt>
                <c:pt idx="2">
                  <c:v>0.09825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0.92</c:v>
                </c:pt>
                <c:pt idx="1">
                  <c:v>1.05</c:v>
                </c:pt>
                <c:pt idx="2">
                  <c:v>1.11</c:v>
                </c:pt>
                <c:pt idx="3">
                  <c:v>1.09</c:v>
                </c:pt>
                <c:pt idx="4">
                  <c:v>1</c:v>
                </c:pt>
                <c:pt idx="5">
                  <c:v>0.87</c:v>
                </c:pt>
                <c:pt idx="6">
                  <c:v>0.74</c:v>
                </c:pt>
                <c:pt idx="7">
                  <c:v>0.65</c:v>
                </c:pt>
                <c:pt idx="8">
                  <c:v>0.63</c:v>
                </c:pt>
                <c:pt idx="9">
                  <c:v>0.69</c:v>
                </c:pt>
                <c:pt idx="10">
                  <c:v>0.82</c:v>
                </c:pt>
                <c:pt idx="11">
                  <c:v>0.99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FF9F2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0.26</c:v>
                </c:pt>
                <c:pt idx="1">
                  <c:v>0.26</c:v>
                </c:pt>
                <c:pt idx="2">
                  <c:v>0.26</c:v>
                </c:pt>
                <c:pt idx="3">
                  <c:v>0.26</c:v>
                </c:pt>
                <c:pt idx="4">
                  <c:v>0.26</c:v>
                </c:pt>
                <c:pt idx="5">
                  <c:v>0.26</c:v>
                </c:pt>
                <c:pt idx="6">
                  <c:v>0.26</c:v>
                </c:pt>
                <c:pt idx="7">
                  <c:v>0.26</c:v>
                </c:pt>
                <c:pt idx="8">
                  <c:v>0.26</c:v>
                </c:pt>
                <c:pt idx="9">
                  <c:v>0.26</c:v>
                </c:pt>
                <c:pt idx="10">
                  <c:v>0.26</c:v>
                </c:pt>
                <c:pt idx="11">
                  <c:v>0.26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连通绿地</c:v>
          </c:tx>
          <c:spPr>
            <a:solidFill>
              <a:srgbClr val="136742"/>
            </a:solidFill>
            <a:ln w="19050">
              <a:solidFill>
                <a:srgbClr val="1367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1.05</c:v>
                </c:pt>
                <c:pt idx="1">
                  <c:v>1.18</c:v>
                </c:pt>
                <c:pt idx="2">
                  <c:v>1.24</c:v>
                </c:pt>
                <c:pt idx="3">
                  <c:v>1.22</c:v>
                </c:pt>
                <c:pt idx="4">
                  <c:v>1.13</c:v>
                </c:pt>
                <c:pt idx="5">
                  <c:v>1</c:v>
                </c:pt>
                <c:pt idx="6">
                  <c:v>0.87</c:v>
                </c:pt>
                <c:pt idx="7">
                  <c:v>0.78</c:v>
                </c:pt>
                <c:pt idx="8">
                  <c:v>0.76</c:v>
                </c:pt>
                <c:pt idx="9">
                  <c:v>0.82</c:v>
                </c:pt>
                <c:pt idx="10">
                  <c:v>0.95</c:v>
                </c:pt>
                <c:pt idx="11">
                  <c:v>1.12</c:v>
                </c:pt>
              </c:numCache>
            </c:numRef>
          </c:val>
          <c:smooth val="0"/>
        </c:ser>
        <c:ser>
          <c:idx val="3"/>
          <c:order val="3"/>
          <c:tx>
            <c:v>孤立绿地</c:v>
          </c:tx>
          <c:spPr>
            <a:solidFill>
              <a:srgbClr val="BD4F22"/>
            </a:solidFill>
            <a:ln w="19050">
              <a:solidFill>
                <a:srgbClr val="BD4F2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D4F22"/>
              </a:solidFill>
              <a:ln w="8890">
                <a:solidFill>
                  <a:srgbClr val="BD4F2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0.7</c:v>
                </c:pt>
                <c:pt idx="1">
                  <c:v>0.83</c:v>
                </c:pt>
                <c:pt idx="2">
                  <c:v>0.89</c:v>
                </c:pt>
                <c:pt idx="3">
                  <c:v>0.87</c:v>
                </c:pt>
                <c:pt idx="4">
                  <c:v>0.78</c:v>
                </c:pt>
                <c:pt idx="5">
                  <c:v>0.65</c:v>
                </c:pt>
                <c:pt idx="6">
                  <c:v>0.52</c:v>
                </c:pt>
                <c:pt idx="7">
                  <c:v>0.43</c:v>
                </c:pt>
                <c:pt idx="8">
                  <c:v>0.41</c:v>
                </c:pt>
                <c:pt idx="9">
                  <c:v>0.47</c:v>
                </c:pt>
                <c:pt idx="10">
                  <c:v>0.6</c:v>
                </c:pt>
                <c:pt idx="11">
                  <c:v>0.77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plus>
            <c:min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6742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0.38</c:v>
                </c:pt>
                <c:pt idx="1">
                  <c:v>0.46</c:v>
                </c:pt>
                <c:pt idx="2">
                  <c:v>0.23</c:v>
                </c:pt>
                <c:pt idx="3">
                  <c:v>-0.31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d0cc5ea8d0c74a67" /><Relationship Type="http://schemas.openxmlformats.org/officeDocument/2006/relationships/notesMaster" Target="/ppt/notesMasters/notesMaster1.xml" Id="Reeaf5a3cd56d4190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c4e15e69f21a4d07" /><Relationship Type="http://schemas.openxmlformats.org/officeDocument/2006/relationships/notesMaster" Target="/ppt/notesMasters/notesMaster1.xml" Id="R146efe84a7b445ef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a98765aa4d045e3" /><Relationship Type="http://schemas.openxmlformats.org/officeDocument/2006/relationships/notesMaster" Target="/ppt/notesMasters/notesMaster1.xml" Id="Rf71fc11f984e4167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本样板合成示意数据；区间为人工设定上下界，不代表统计置信区间。</a:t>
            </a:r>
            <a:endParaRPr/>
          </a:p>
          <a:p>
            <a:r>
              <a:rPr/>
              <a:t>charts.1: 本样板合成示意数据；区间为人工设定上下界，不代表统计置信区间。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本样板合成示意数据；区间为人工设定上下界，不代表统计置信区间。</a:t>
            </a:r>
            <a:endParaRPr/>
          </a:p>
          <a:p>
            <a:r>
              <a:rPr/>
              <a:t>charts.1: 本样板合成示意数据；区间为人工设定上下界，不代表统计置信区间。</a:t>
            </a:r>
            <a:endParaRPr/>
          </a:p>
          <a:p>
            <a:r>
              <a:rPr/>
              <a:t>charts.2: 本样板合成示意数据；区间为人工设定上下界，不代表统计置信区间。</a:t>
            </a:r>
            <a:endParaRPr/>
          </a:p>
          <a:p>
            <a:r>
              <a:rPr/>
              <a:t>charts.3: 本样板合成示意数据；区间为人工设定上下界，不代表统计置信区间。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1.xml" Id="R4ef68450f9d14d7b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1.xml" Id="R131fe6ba7eb5426e" /><Relationship Type="http://schemas.openxmlformats.org/officeDocument/2006/relationships/chart" Target="/ppt/charts/chart2.xml" Id="R272f144416c24f5b" /><Relationship Type="http://schemas.openxmlformats.org/officeDocument/2006/relationships/notesSlide" Target="/ppt/notesSlides/notesSlide2.xml" Id="Re932ae2421e947e6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3.xml" Id="R0f90f39fb5cf47f3" /><Relationship Type="http://schemas.openxmlformats.org/officeDocument/2006/relationships/chart" Target="/ppt/charts/chart4.xml" Id="R5ffc3bee95974730" /><Relationship Type="http://schemas.openxmlformats.org/officeDocument/2006/relationships/chart" Target="/ppt/charts/chart5.xml" Id="R5911ad34a6c7462d" /><Relationship Type="http://schemas.openxmlformats.org/officeDocument/2006/relationships/chart" Target="/ppt/charts/chart6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4.xml" Id="Rb9024c2dfc9c419a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学术分享｜绿地面积还是廊道连通？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436418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 A：绿地面积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74023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在相近连通条件下，比较绿地大小与鸟类丰富度。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>
            <a:duotone>
              <a:srgbClr val="136742"/>
              <a:srgbClr val="FFFFFF"/>
            </a:duotone>
          </a:blip>
          <a:stretch/>
        </p:blipFill>
        <p:spPr>
          <a:xfrm>
            <a:off x="633845" y="2070100"/>
            <a:ext cx="188026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45723" y="2524125"/>
            <a:ext cx="733301" cy="209550"/>
          </a:xfrm>
          <a:prstGeom prst="rightArrow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>
            <a:duotone>
              <a:srgbClr val="136742"/>
              <a:srgbClr val="FFFFFF"/>
            </a:duotone>
          </a:blip>
          <a:stretch/>
        </p:blipFill>
        <p:spPr>
          <a:xfrm>
            <a:off x="4008912" y="2425700"/>
            <a:ext cx="1222169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92826" y="3476625"/>
            <a:ext cx="2312719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大型城市绿地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91840" y="3476625"/>
            <a:ext cx="233152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小型城市绿地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54923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预测：丰富度随面积增加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121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0612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2829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 B：廊道连通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0434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在总面积相近时，比较连续绿地与孤立斑块。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>
            <a:duotone>
              <a:srgbClr val="136742"/>
              <a:srgbClr val="FFFFFF"/>
            </a:duotone>
          </a:blip>
          <a:stretch/>
        </p:blipFill>
        <p:spPr>
          <a:xfrm>
            <a:off x="6500256" y="2070100"/>
            <a:ext cx="188026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12134" y="2524125"/>
            <a:ext cx="733301" cy="209550"/>
          </a:xfrm>
          <a:prstGeom prst="rightArrow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>
            <a:duotone>
              <a:srgbClr val="136742"/>
              <a:srgbClr val="FFFFFF"/>
            </a:duotone>
          </a:blip>
          <a:stretch/>
        </p:blipFill>
        <p:spPr>
          <a:xfrm>
            <a:off x="9593283" y="2047970"/>
            <a:ext cx="788299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>
            <a:duotone>
              <a:srgbClr val="136742"/>
              <a:srgbClr val="FFFFFF"/>
            </a:duotone>
          </a:blip>
          <a:stretch/>
        </p:blipFill>
        <p:spPr>
          <a:xfrm>
            <a:off x="10601572" y="2082260"/>
            <a:ext cx="788299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>
            <a:duotone>
              <a:srgbClr val="136742"/>
              <a:srgbClr val="FFFFFF"/>
            </a:duotone>
          </a:blip>
          <a:stretch/>
        </p:blipFill>
        <p:spPr>
          <a:xfrm>
            <a:off x="9629949" y="2827782"/>
            <a:ext cx="733301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>
            <a:duotone>
              <a:srgbClr val="136742"/>
              <a:srgbClr val="FFFFFF"/>
            </a:duotone>
          </a:blip>
          <a:stretch/>
        </p:blipFill>
        <p:spPr>
          <a:xfrm>
            <a:off x="10638238" y="2815400"/>
            <a:ext cx="769966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59236" y="3476625"/>
            <a:ext cx="2312719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连续绿色网络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358251" y="3476625"/>
            <a:ext cx="233152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孤立绿地斑块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564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预测：连通性影响物种交流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304800" y="4857750"/>
          <a:ext cx="11582400" cy="1219200"/>
        </p:xfrm>
        <a:graphic>
          <a:graphicData uri="http://schemas.openxmlformats.org/drawingml/2006/table">
            <a:tbl>
              <a:tblPr/>
              <a:tblGrid>
                <a:gridCol w="3860800"/>
                <a:gridCol w="3860800"/>
                <a:gridCol w="38608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比较维度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面积解释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连通解释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控制因素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控制廊道条件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控制绿地面积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响应指标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EFF9F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鸟类种数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EFF9F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群落组成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EFF9F2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补充证据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面积梯度调查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移动或重复观测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两种解释可能共同作用，需用对照设计区分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概念框架｜城市绿地如何影响鸟类？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2585357" cy="352425"/>
          </a:xfrm>
          <a:prstGeom prst="rect">
            <a:avLst/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417616" y="923925"/>
            <a:ext cx="235972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59381" y="895350"/>
            <a:ext cx="5321135" cy="352425"/>
          </a:xfrm>
          <a:prstGeom prst="rect">
            <a:avLst/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72196" y="923925"/>
            <a:ext cx="5095504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49739" y="895350"/>
            <a:ext cx="3337461" cy="352425"/>
          </a:xfrm>
          <a:prstGeom prst="rect">
            <a:avLst/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62555" y="923925"/>
            <a:ext cx="311183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304800" y="14097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618803" y="1648206"/>
            <a:ext cx="95141" cy="9639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1019299" y="15335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绿地格局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455221" y="20097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面积、形状与斑块分布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304800" y="295275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445819" y="3243834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445819" y="3164967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445819" y="3086100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1019299" y="307657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城市环境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455221" y="355282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道路、噪声与人类活动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304800" y="44958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515013" y="4712399"/>
            <a:ext cx="294073" cy="276035"/>
          </a:xfrm>
          <a:prstGeom prst="can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1019299" y="46196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鸟类记录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455221" y="50958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重复调查与物种检出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62795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75610" y="1764030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6742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75610" y="1686878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6742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75610" y="1609725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6742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802083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绿地面积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6777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08816" y="1712595"/>
            <a:ext cx="93073" cy="94298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66065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廊道连通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62795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72914" y="3368040"/>
            <a:ext cx="114226" cy="19288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91370" y="3462338"/>
            <a:ext cx="126918" cy="19288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802083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食物资源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6777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976" y="34623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0355" y="33551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5347" y="34323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1889" y="36595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512" y="36552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66065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扩散机会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62795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75610" y="5057775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43300" y="5079206"/>
            <a:ext cx="291910" cy="265748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802083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鸟类共存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6777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5357" y="5289233"/>
            <a:ext cx="54997" cy="141446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38430" y="5212080"/>
            <a:ext cx="54997" cy="218599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1502" y="5126355"/>
            <a:ext cx="54997" cy="304324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66065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群落变化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23856" y="2447925"/>
            <a:ext cx="0" cy="771525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087838" y="2447925"/>
            <a:ext cx="0" cy="771525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23856" y="4171950"/>
            <a:ext cx="0" cy="771525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087838" y="4171950"/>
            <a:ext cx="0" cy="771525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84916" y="5419725"/>
            <a:ext cx="441861" cy="0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79818" y="4286250"/>
            <a:ext cx="1917865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73831" y="4286250"/>
            <a:ext cx="1729839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待检验的</a:t>
            </a:r>
            <a:endParaRPr/>
          </a:p>
          <a:p>
            <a:pPr algn="ctr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作用路径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62555" y="13811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候选解释的方向与区间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596745" y="1752600"/>
          <a:ext cx="3196442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596745" y="2036978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绿地面积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596745" y="2315642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廊道连通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596745" y="2594305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植被层次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596745" y="2872969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道路密度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19607" y="3581400"/>
            <a:ext cx="159822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62555" y="37052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预测与观测的示意对照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596745" y="4076700"/>
          <a:ext cx="3196442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19607" y="5905500"/>
            <a:ext cx="159822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概念框架组织假设，箭头本身不证明因果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证据组织｜从梯度格局到解释边界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连通梯度与鸟类丰富度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连通性指数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三类样点的分布比较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季节变化与情景差异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6742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连通绿地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D4F2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孤立绿地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候选解释的方向与区间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绿地面积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廊道连通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植被层次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道路密度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联合比较梯度、分布、季节与不确定性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讨论边界｜哪些证据仍然缺失？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314201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519150" y="1033272"/>
            <a:ext cx="55844" cy="56579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756062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空间代表性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850075" y="1962150"/>
            <a:ext cx="206829" cy="20955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83377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83377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样点集中于大型绿地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83377" y="2390775"/>
            <a:ext cx="2246910" cy="95"/>
          </a:xfrm>
          <a:prstGeom prst="line">
            <a:avLst/>
          </a:prstGeom>
          <a:noFill/>
          <a:ln w="14288">
            <a:solidFill>
              <a:srgbClr val="D7E5DF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83377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83377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增加小型绿地样点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25142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34543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58264" y="992124"/>
            <a:ext cx="213221" cy="216027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76404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空间尺度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69575" y="1809750"/>
            <a:ext cx="789709" cy="800100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503718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503718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廊道与鸟类尺度不匹配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503718" y="2390775"/>
            <a:ext cx="2246910" cy="95"/>
          </a:xfrm>
          <a:prstGeom prst="line">
            <a:avLst/>
          </a:prstGeom>
          <a:noFill/>
          <a:ln w="14288">
            <a:solidFill>
              <a:srgbClr val="D7E5DF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503718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503718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比较多个缓冲范围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45483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54884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276067" y="10307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42065" y="9972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39526" y="1064133"/>
            <a:ext cx="91381" cy="92583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46137" y="1051274"/>
            <a:ext cx="20307" cy="20574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596745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检出过程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380516" y="1952625"/>
            <a:ext cx="808512" cy="581025"/>
          </a:xfrm>
          <a:prstGeom prst="roundRect">
            <a:avLst>
              <a:gd name="adj" fmla="val 13115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24949" y="1828800"/>
            <a:ext cx="310243" cy="161925"/>
          </a:xfrm>
          <a:prstGeom prst="roundRect">
            <a:avLst>
              <a:gd name="adj" fmla="val 47059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15548" y="2076450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10403" y="2028825"/>
            <a:ext cx="75210" cy="762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24060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24060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低声鸣物种容易漏检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24060" y="2390775"/>
            <a:ext cx="2246910" cy="95"/>
          </a:xfrm>
          <a:prstGeom prst="line">
            <a:avLst/>
          </a:prstGeom>
          <a:noFill/>
          <a:ln w="14288">
            <a:solidFill>
              <a:srgbClr val="D7E5DF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24060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24060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增加重复观测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304800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314201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432846" y="365855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514073" y="3594259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613069" y="3640550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74993" y="377685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460768" y="3774281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756062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机制区分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530431" y="4629150"/>
            <a:ext cx="131618" cy="13335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831273" y="4391025"/>
            <a:ext cx="131618" cy="13335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97923" y="4562475"/>
            <a:ext cx="131618" cy="13335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1056904" y="5067300"/>
            <a:ext cx="131618" cy="13335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633845" y="5057775"/>
            <a:ext cx="131618" cy="13335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83377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83377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面积与连通性可能相关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83377" y="5000625"/>
            <a:ext cx="2246910" cy="95"/>
          </a:xfrm>
          <a:prstGeom prst="line">
            <a:avLst/>
          </a:prstGeom>
          <a:noFill/>
          <a:ln w="14288">
            <a:solidFill>
              <a:srgbClr val="D7E5DF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83377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83377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选择交叉对照样点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25142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34543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401416" y="3720275"/>
            <a:ext cx="32999" cy="8486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57259" y="3673983"/>
            <a:ext cx="32999" cy="131159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513104" y="3622548"/>
            <a:ext cx="32999" cy="182594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76404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模型设定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29397" y="4857750"/>
            <a:ext cx="122217" cy="314325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36226" y="4686300"/>
            <a:ext cx="122217" cy="485775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43055" y="4495800"/>
            <a:ext cx="122217" cy="676275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503718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503718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结果可能依赖变量组合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503718" y="5000625"/>
            <a:ext cx="2246910" cy="95"/>
          </a:xfrm>
          <a:prstGeom prst="line">
            <a:avLst/>
          </a:prstGeom>
          <a:noFill/>
          <a:ln w="14288">
            <a:solidFill>
              <a:srgbClr val="D7E5DF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503718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503718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报告敏感性分析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45483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54884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273529" y="3596831"/>
            <a:ext cx="223375" cy="22631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596745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季节外推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371114" y="4400550"/>
            <a:ext cx="827314" cy="83820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24060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24060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繁殖季结果难外推全年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24060" y="5000625"/>
            <a:ext cx="2246910" cy="95"/>
          </a:xfrm>
          <a:prstGeom prst="line">
            <a:avLst/>
          </a:prstGeom>
          <a:noFill/>
          <a:ln w="14288">
            <a:solidFill>
              <a:srgbClr val="D7E5DF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24060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24060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补充越冬期观测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明确支持范围、未决问题与下一步检验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