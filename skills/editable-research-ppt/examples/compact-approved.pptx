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/Relationships>
</file>

<file path=ppt/charts/_rels/chart1.xml.rels><?xml version='1.0' encoding='utf-8'?>
<Relationships xmlns="http://schemas.openxmlformats.org/package/2006/relationships"><Relationship Id="rId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1" Type="http://schemas.openxmlformats.org/officeDocument/2006/relationships/package" Target="/ppt/embeddings/data6.xlsx" /></Relationships>
</file>

<file path=ppt/charts/_rels/chart7.xml.rels><?xml version='1.0' encoding='utf-8'?>
<Relationships xmlns="http://schemas.openxmlformats.org/package/2006/relationships"><Relationship Id="rId1" Type="http://schemas.openxmlformats.org/officeDocument/2006/relationships/package" Target="/ppt/embeddings/data7.xlsx" /></Relationships>
</file>

<file path=ppt/charts/_rels/chart8.xml.rels><?xml version='1.0' encoding='utf-8'?>
<Relationships xmlns="http://schemas.openxmlformats.org/package/2006/relationships"><Relationship Id="rId1" Type="http://schemas.openxmlformats.org/officeDocument/2006/relationships/package" Target="/ppt/embeddings/data8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6"/>
          <c:y val="0.03"/>
          <c:w val="0.8"/>
          <c:h val="0.83"/>
        </c:manualLayout>
      </c:layout>
      <c:barChart>
        <c:barDir val="col"/>
        <c:grouping val="clustered"/>
        <c:ser>
          <c:idx val="0"/>
          <c:order val="0"/>
          <c:tx>
            <c:v>合成示例</c:v>
          </c:tx>
          <c:dPt>
            <c:idx val="0"/>
            <c:spPr>
              <a:solidFill>
                <a:srgbClr val="A84B22"/>
              </a:solidFill>
              <a:ln>
                <a:noFill/>
              </a:ln>
            </c:spPr>
          </c:dPt>
          <c:dPt>
            <c:idx val="1"/>
            <c:spPr>
              <a:solidFill>
                <a:srgbClr val="245C6D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24</c:v>
                </c:pt>
                <c:pt idx="1">
                  <c:v>36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92C30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"/>
          <c:min val="0"/>
        </c:scaling>
        <c:delete val="0"/>
        <c:axPos val="l"/>
        <c:title>
          <c:tx>
            <c:rich>
              <a:bodyPr/>
              <a:lstStyle/>
              <a:p>
                <a:endParaRPr/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275" b="0">
          <a:solidFill>
            <a:srgbClr val="292C30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6"/>
          <c:y val="0.03"/>
          <c:w val="0.8"/>
          <c:h val="0.83"/>
        </c:manualLayout>
      </c:layout>
      <c:barChart>
        <c:barDir val="col"/>
        <c:grouping val="clustered"/>
        <c:ser>
          <c:idx val="0"/>
          <c:order val="0"/>
          <c:tx>
            <c:v>合成示例</c:v>
          </c:tx>
          <c:dPt>
            <c:idx val="0"/>
            <c:spPr>
              <a:solidFill>
                <a:srgbClr val="A84B22"/>
              </a:solidFill>
              <a:ln>
                <a:noFill/>
              </a:ln>
            </c:spPr>
          </c:dPt>
          <c:dPt>
            <c:idx val="1"/>
            <c:spPr>
              <a:solidFill>
                <a:srgbClr val="245C6D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92C30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"/>
          <c:min val="0"/>
        </c:scaling>
        <c:delete val="0"/>
        <c:axPos val="l"/>
        <c:title>
          <c:tx>
            <c:rich>
              <a:bodyPr/>
              <a:lstStyle/>
              <a:p>
                <a:endParaRPr/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75" b="0">
          <a:solidFill>
            <a:srgbClr val="292C30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"/>
          <c:y val="0.03"/>
          <c:w val="0.91"/>
          <c:h val="0.83"/>
        </c:manualLayout>
      </c:layout>
      <c:lineChart>
        <c:grouping val="standard"/>
        <c:varyColors val="0"/>
        <c:ser>
          <c:idx val="0"/>
          <c:order val="0"/>
          <c:tx>
            <c:v>连续林</c:v>
          </c:tx>
          <c:spPr>
            <a:ln w="25400">
              <a:solidFill>
                <a:srgbClr val="15385C"/>
              </a:solidFill>
            </a:ln>
          </c:spPr>
          <c:marker>
            <c:symbol val="circle"/>
            <c:size val="7"/>
            <c:spPr>
              <a:solidFill>
                <a:srgbClr val="15385C"/>
              </a:solidFill>
              <a:ln>
                <a:solidFill>
                  <a:srgbClr val="15385C"/>
                </a:solidFill>
              </a:ln>
            </c:spPr>
          </c:marker>
          <c:cat>
            <c:strRef>
              <c:f>'Chart Data'!$A$2:$A$7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18</c:v>
                </c:pt>
                <c:pt idx="1">
                  <c:v>20</c:v>
                </c:pt>
                <c:pt idx="2">
                  <c:v>24</c:v>
                </c:pt>
                <c:pt idx="3">
                  <c:v>28</c:v>
                </c:pt>
                <c:pt idx="4">
                  <c:v>30</c:v>
                </c:pt>
                <c:pt idx="5">
                  <c:v>32</c:v>
                </c:pt>
              </c:numCache>
            </c:numRef>
          </c:val>
          <c:smooth val="0"/>
        </c:ser>
        <c:ser>
          <c:idx val="1"/>
          <c:order val="1"/>
          <c:tx>
            <c:v>破碎林</c:v>
          </c:tx>
          <c:spPr>
            <a:ln w="25400">
              <a:solidFill>
                <a:srgbClr val="AE7A25"/>
              </a:solidFill>
            </a:ln>
          </c:spPr>
          <c:marker>
            <c:symbol val="circle"/>
            <c:size val="7"/>
            <c:spPr>
              <a:solidFill>
                <a:srgbClr val="AE7A25"/>
              </a:solidFill>
              <a:ln>
                <a:solidFill>
                  <a:srgbClr val="AE7A25"/>
                </a:solidFill>
              </a:ln>
            </c:spPr>
          </c:marker>
          <c:dLbls>
            <c:dLblPos val="b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'Chart Data'!$C$2:$C$7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16</c:v>
                </c:pt>
                <c:pt idx="1">
                  <c:v>17</c:v>
                </c:pt>
                <c:pt idx="2">
                  <c:v>18</c:v>
                </c:pt>
                <c:pt idx="3">
                  <c:v>19</c:v>
                </c:pt>
                <c:pt idx="4">
                  <c:v>19</c:v>
                </c:pt>
                <c:pt idx="5">
                  <c:v>20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02C3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275" b="0">
          <a:solidFill>
            <a:srgbClr val="202C3A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6"/>
          <c:y val="0.03"/>
          <c:w val="0.8"/>
          <c:h val="0.83"/>
        </c:manualLayout>
      </c:layout>
      <c:barChart>
        <c:barDir val="col"/>
        <c:grouping val="clustered"/>
        <c:ser>
          <c:idx val="0"/>
          <c:order val="0"/>
          <c:tx>
            <c:v>合成示例</c:v>
          </c:tx>
          <c:dPt>
            <c:idx val="0"/>
            <c:spPr>
              <a:solidFill>
                <a:srgbClr val="15385C"/>
              </a:solidFill>
              <a:ln>
                <a:noFill/>
              </a:ln>
            </c:spPr>
          </c:dPt>
          <c:dPt>
            <c:idx val="1"/>
            <c:spPr>
              <a:solidFill>
                <a:srgbClr val="AE7A25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24</c:v>
                </c:pt>
                <c:pt idx="1">
                  <c:v>36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02C3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"/>
          <c:min val="0"/>
        </c:scaling>
        <c:delete val="0"/>
        <c:axPos val="l"/>
        <c:title>
          <c:tx>
            <c:rich>
              <a:bodyPr/>
              <a:lstStyle/>
              <a:p>
                <a:endParaRPr/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275" b="0">
          <a:solidFill>
            <a:srgbClr val="202C3A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6"/>
          <c:y val="0.03"/>
          <c:w val="0.8"/>
          <c:h val="0.83"/>
        </c:manualLayout>
      </c:layout>
      <c:barChart>
        <c:barDir val="col"/>
        <c:grouping val="clustered"/>
        <c:ser>
          <c:idx val="0"/>
          <c:order val="0"/>
          <c:tx>
            <c:v>合成示例</c:v>
          </c:tx>
          <c:dPt>
            <c:idx val="0"/>
            <c:spPr>
              <a:solidFill>
                <a:srgbClr val="15385C"/>
              </a:solidFill>
              <a:ln>
                <a:noFill/>
              </a:ln>
            </c:spPr>
          </c:dPt>
          <c:dPt>
            <c:idx val="1"/>
            <c:spPr>
              <a:solidFill>
                <a:srgbClr val="AE7A25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02C3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"/>
          <c:min val="0"/>
        </c:scaling>
        <c:delete val="0"/>
        <c:axPos val="l"/>
        <c:title>
          <c:tx>
            <c:rich>
              <a:bodyPr/>
              <a:lstStyle/>
              <a:p>
                <a:endParaRPr/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75" b="0">
          <a:solidFill>
            <a:srgbClr val="202C3A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"/>
          <c:y val="0.03"/>
          <c:w val="0.91"/>
          <c:h val="0.83"/>
        </c:manualLayout>
      </c:layout>
      <c:barChart>
        <c:barDir val="col"/>
        <c:grouping val="clustered"/>
        <c:ser>
          <c:idx val="0"/>
          <c:order val="0"/>
          <c:tx>
            <c:v>合成示例</c:v>
          </c:tx>
          <c:dPt>
            <c:idx val="0"/>
            <c:spPr>
              <a:solidFill>
                <a:srgbClr val="006A6C"/>
              </a:solidFill>
              <a:ln>
                <a:noFill/>
              </a:ln>
            </c:spPr>
          </c:dPt>
          <c:dPt>
            <c:idx val="1"/>
            <c:spPr>
              <a:solidFill>
                <a:srgbClr val="6854A4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24</c:v>
                </c:pt>
                <c:pt idx="1">
                  <c:v>36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16393C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275" b="0">
          <a:solidFill>
            <a:srgbClr val="16393C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"/>
          <c:y val="0.03"/>
          <c:w val="0.91"/>
          <c:h val="0.83"/>
        </c:manualLayout>
      </c:layout>
      <c:barChart>
        <c:barDir val="col"/>
        <c:grouping val="clustered"/>
        <c:ser>
          <c:idx val="0"/>
          <c:order val="0"/>
          <c:tx>
            <c:v>合成示例</c:v>
          </c:tx>
          <c:dPt>
            <c:idx val="0"/>
            <c:spPr>
              <a:solidFill>
                <a:srgbClr val="006A6C"/>
              </a:solidFill>
              <a:ln>
                <a:noFill/>
              </a:ln>
            </c:spPr>
          </c:dPt>
          <c:dPt>
            <c:idx val="1"/>
            <c:spPr>
              <a:solidFill>
                <a:srgbClr val="6854A4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16393C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75" b="0">
          <a:solidFill>
            <a:srgbClr val="16393C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"/>
          <c:y val="0.03"/>
          <c:w val="0.91"/>
          <c:h val="0.83"/>
        </c:manualLayout>
      </c:layout>
      <c:lineChart>
        <c:grouping val="standard"/>
        <c:varyColors val="0"/>
        <c:ser>
          <c:idx val="0"/>
          <c:order val="0"/>
          <c:tx>
            <c:v>连续林</c:v>
          </c:tx>
          <c:spPr>
            <a:ln w="25400">
              <a:solidFill>
                <a:srgbClr val="22252A"/>
              </a:solidFill>
            </a:ln>
          </c:spPr>
          <c:marker>
            <c:symbol val="circle"/>
            <c:size val="7"/>
            <c:spPr>
              <a:solidFill>
                <a:srgbClr val="22252A"/>
              </a:solidFill>
              <a:ln>
                <a:solidFill>
                  <a:srgbClr val="22252A"/>
                </a:solidFill>
              </a:ln>
            </c:spPr>
          </c:marker>
          <c:cat>
            <c:strRef>
              <c:f>'Chart Data'!$A$2:$A$7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18</c:v>
                </c:pt>
                <c:pt idx="1">
                  <c:v>20</c:v>
                </c:pt>
                <c:pt idx="2">
                  <c:v>24</c:v>
                </c:pt>
                <c:pt idx="3">
                  <c:v>28</c:v>
                </c:pt>
                <c:pt idx="4">
                  <c:v>30</c:v>
                </c:pt>
                <c:pt idx="5">
                  <c:v>32</c:v>
                </c:pt>
              </c:numCache>
            </c:numRef>
          </c:val>
          <c:smooth val="0"/>
        </c:ser>
        <c:ser>
          <c:idx val="1"/>
          <c:order val="1"/>
          <c:tx>
            <c:v>破碎林</c:v>
          </c:tx>
          <c:spPr>
            <a:ln w="25400">
              <a:solidFill>
                <a:srgbClr val="BE3038"/>
              </a:solidFill>
            </a:ln>
          </c:spPr>
          <c:marker>
            <c:symbol val="circle"/>
            <c:size val="7"/>
            <c:spPr>
              <a:solidFill>
                <a:srgbClr val="BE3038"/>
              </a:solidFill>
              <a:ln>
                <a:solidFill>
                  <a:srgbClr val="BE3038"/>
                </a:solidFill>
              </a:ln>
            </c:spPr>
          </c:marker>
          <c:dLbls>
            <c:dLblPos val="b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'Chart Data'!$C$2:$C$7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16</c:v>
                </c:pt>
                <c:pt idx="1">
                  <c:v>17</c:v>
                </c:pt>
                <c:pt idx="2">
                  <c:v>18</c:v>
                </c:pt>
                <c:pt idx="3">
                  <c:v>19</c:v>
                </c:pt>
                <c:pt idx="4">
                  <c:v>19</c:v>
                </c:pt>
                <c:pt idx="5">
                  <c:v>20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2252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275" b="0">
          <a:solidFill>
            <a:srgbClr val="22252A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notesMaster" Target="/ppt/notesMasters/notesMaster1.xml" /><Relationship Id="rId2" Type="http://schemas.openxmlformats.org/officeDocument/2006/relationships/slide" Target="/ppt/slides/slide1.xml" /></Relationships>
</file>

<file path=ppt/notesSlides/_rels/notesSlide2.xml.rels><?xml version='1.0' encoding='utf-8'?>
<Relationships xmlns="http://schemas.openxmlformats.org/package/2006/relationships"><Relationship Id="rId1" Type="http://schemas.openxmlformats.org/officeDocument/2006/relationships/notesMaster" Target="/ppt/notesMasters/notesMaster1.xml" /><Relationship Id="rId2" Type="http://schemas.openxmlformats.org/officeDocument/2006/relationships/slide" Target="/ppt/slides/slide2.xml" /></Relationships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/ppt/notesMasters/notesMaster1.xml" /><Relationship Id="rId2" Type="http://schemas.openxmlformats.org/officeDocument/2006/relationships/slide" Target="/ppt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/ppt/notesMasters/notesMaster1.xml" /><Relationship Id="rId2" Type="http://schemas.openxmlformats.org/officeDocument/2006/relationships/slide" Target="/ppt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/ppt/notesMasters/notesMaster1.xml" /><Relationship Id="rId2" Type="http://schemas.openxmlformats.org/officeDocument/2006/relationships/slide" Target="/ppt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/ppt/notesMasters/notesMaster1.xml" /><Relationship Id="rId2" Type="http://schemas.openxmlformats.org/officeDocument/2006/relationships/slide" Target="/ppt/slides/slide6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合成演示数据，用于已批准版式的可编辑性验证。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Layout: L22</a:t>
            </a:r>
            <a:endParaRPr/>
          </a:p>
          <a:p>
            <a:r>
              <a:rPr/>
              <a:t>Variant: fraction</a:t>
            </a:r>
            <a:endParaRPr/>
          </a:p>
          <a:p>
            <a:r>
              <a:rPr/>
              <a:t>Palette: P7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Approved reference page: 2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  <a:p>
            <a:r>
              <a:rPr/>
              <a:t>Lucide Icons and Contributors; https://lucide.dev/license</a:t>
            </a:r>
            <a:endParaRPr/>
          </a:p>
          <a:p>
            <a:r>
              <a:rPr/>
              <a:t>ISC License</a:t>
            </a:r>
            <a:endParaRPr/>
          </a:p>
          <a:p>
            <a:endParaRPr/>
          </a:p>
          <a:p>
            <a:r>
              <a:rPr/>
              <a:t>Copyright (c) 2026 Lucide Icons and Contributors</a:t>
            </a:r>
            <a:endParaRPr/>
          </a:p>
          <a:p>
            <a:endParaRPr/>
          </a:p>
          <a:p>
            <a:r>
              <a:rPr/>
              <a:t>Permission to use, copy, modify, and/or distribute this software for any</a:t>
            </a:r>
            <a:endParaRPr/>
          </a:p>
          <a:p>
            <a:r>
              <a:rPr/>
              <a:t>purpose with or without fee is hereby granted, provided that the above</a:t>
            </a:r>
            <a:endParaRPr/>
          </a:p>
          <a:p>
            <a:r>
              <a:rPr/>
              <a:t>copyright notice and this permission notice appear in all copies.</a:t>
            </a:r>
            <a:endParaRPr/>
          </a:p>
          <a:p>
            <a:endParaRPr/>
          </a:p>
          <a:p>
            <a:r>
              <a:rPr/>
              <a:t>THE SOFTWARE IS PROVIDED "AS IS" AND THE AUTHOR DISCLAIMS ALL WARRANTIES</a:t>
            </a:r>
            <a:endParaRPr/>
          </a:p>
          <a:p>
            <a:r>
              <a:rPr/>
              <a:t>WITH REGARD TO THIS SOFTWARE INCLUDING ALL IMPLIED WARRANTIES OF</a:t>
            </a:r>
            <a:endParaRPr/>
          </a:p>
          <a:p>
            <a:r>
              <a:rPr/>
              <a:t>MERCHANTABILITY AND FITNESS. IN NO EVENT SHALL THE AUTHOR BE LIABLE FOR</a:t>
            </a:r>
            <a:endParaRPr/>
          </a:p>
          <a:p>
            <a:r>
              <a:rPr/>
              <a:t>ANY SPECIAL, DIRECT, INDIRECT, OR CONSEQUENTIAL DAMAGES OR ANY DAMAGES</a:t>
            </a:r>
            <a:endParaRPr/>
          </a:p>
          <a:p>
            <a:r>
              <a:rPr/>
              <a:t>WHATSOEVER RESULTING FROM LOSS OF USE, DATA OR PROFITS, WHETHER IN AN</a:t>
            </a:r>
            <a:endParaRPr/>
          </a:p>
          <a:p>
            <a:r>
              <a:rPr/>
              <a:t>ACTION OF CONTRACT, NEGLIGENCE OR OTHER TORTIOUS ACTION, ARISING OUT OF</a:t>
            </a:r>
            <a:endParaRPr/>
          </a:p>
          <a:p>
            <a:r>
              <a:rPr/>
              <a:t>OR IN CONNECTION WITH THE USE OR PERFORMANCE OF THIS SOFTWARE.</a:t>
            </a:r>
            <a:endParaRPr/>
          </a:p>
          <a:p>
            <a:endParaRPr/>
          </a:p>
          <a:p>
            <a:r>
              <a:rPr/>
              <a:t>---</a:t>
            </a:r>
            <a:endParaRPr/>
          </a:p>
          <a:p>
            <a:endParaRPr/>
          </a:p>
          <a:p>
            <a:r>
              <a:rPr/>
              <a:t>The following Lucide icons are derived from the Feather project:</a:t>
            </a:r>
            <a:endParaRPr/>
          </a:p>
          <a:p>
            <a:endParaRPr/>
          </a:p>
          <a:p>
            <a:r>
              <a:rPr/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  <a:endParaRPr/>
          </a:p>
          <a:p>
            <a:endParaRPr/>
          </a:p>
          <a:p>
            <a:r>
              <a:rPr/>
              <a:t>The MIT License (MIT) (for the icons listed above)</a:t>
            </a:r>
            <a:endParaRPr/>
          </a:p>
          <a:p>
            <a:endParaRPr/>
          </a:p>
          <a:p>
            <a:r>
              <a:rPr/>
              <a:t>Copyright (c) 2013-present Cole Bemis</a:t>
            </a:r>
            <a:endParaRPr/>
          </a:p>
          <a:p>
            <a:endParaRPr/>
          </a:p>
          <a:p>
            <a:r>
              <a:rPr/>
              <a:t>Permission is hereby granted, free of charge, to any person obtaining a copy</a:t>
            </a:r>
            <a:endParaRPr/>
          </a:p>
          <a:p>
            <a:r>
              <a:rPr/>
              <a:t>of this software and associated documentation files (the "Software"), to deal</a:t>
            </a:r>
            <a:endParaRPr/>
          </a:p>
          <a:p>
            <a:r>
              <a:rPr/>
              <a:t>in the Software without restriction, including without limitation the rights</a:t>
            </a:r>
            <a:endParaRPr/>
          </a:p>
          <a:p>
            <a:r>
              <a:rPr/>
              <a:t>to use, copy, modify, merge, publish, distribute, sublicense, and/or sell</a:t>
            </a:r>
            <a:endParaRPr/>
          </a:p>
          <a:p>
            <a:r>
              <a:rPr/>
              <a:t>copies of the Software, and to permit persons to whom the Software is</a:t>
            </a:r>
            <a:endParaRPr/>
          </a:p>
          <a:p>
            <a:r>
              <a:rPr/>
              <a:t>furnished to do so, subject to the following conditions:</a:t>
            </a:r>
            <a:endParaRPr/>
          </a:p>
          <a:p>
            <a:endParaRPr/>
          </a:p>
          <a:p>
            <a:r>
              <a:rPr/>
              <a:t>The above copyright notice and this permission notice shall be included in all</a:t>
            </a:r>
            <a:endParaRPr/>
          </a:p>
          <a:p>
            <a:r>
              <a:rPr/>
              <a:t>copies or substantial portions of the Software.</a:t>
            </a:r>
            <a:endParaRPr/>
          </a:p>
          <a:p>
            <a:endParaRPr/>
          </a:p>
          <a:p>
            <a:r>
              <a:rPr/>
              <a:t>THE SOFTWARE IS PROVIDED "AS IS", WITHOUT WARRANTY OF ANY KIND, EXPRESS OR</a:t>
            </a:r>
            <a:endParaRPr/>
          </a:p>
          <a:p>
            <a:r>
              <a:rPr/>
              <a:t>IMPLIED, INCLUDING BUT NOT LIMITED TO THE WARRANTIES OF MERCHANTABILITY,</a:t>
            </a:r>
            <a:endParaRPr/>
          </a:p>
          <a:p>
            <a:r>
              <a:rPr/>
              <a:t>FITNESS FOR A PARTICULAR PURPOSE AND NONINFRINGEMENT. IN NO EVENT SHALL THE</a:t>
            </a:r>
            <a:endParaRPr/>
          </a:p>
          <a:p>
            <a:r>
              <a:rPr/>
              <a:t>AUTHORS OR COPYRIGHT HOLDERS BE LIABLE FOR ANY CLAIM, DAMAGES OR OTHER</a:t>
            </a:r>
            <a:endParaRPr/>
          </a:p>
          <a:p>
            <a:r>
              <a:rPr/>
              <a:t>LIABILITY, WHETHER IN AN ACTION OF CONTRACT, TORT OR OTHERWISE, ARISING FROM,</a:t>
            </a:r>
            <a:endParaRPr/>
          </a:p>
          <a:p>
            <a:r>
              <a:rPr/>
              <a:t>OUT OF OR IN CONNECTION WITH THE SOFTWARE OR THE USE OR OTHER DEALINGS IN THE</a:t>
            </a:r>
            <a:endParaRPr/>
          </a:p>
          <a:p>
            <a:r>
              <a:rPr/>
              <a:t>SOFTWARE.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合成演示数据，用于已批准版式的可编辑性验证。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Layout: L21</a:t>
            </a:r>
            <a:endParaRPr/>
          </a:p>
          <a:p>
            <a:r>
              <a:rPr/>
              <a:t>Variant: sidebar</a:t>
            </a:r>
            <a:endParaRPr/>
          </a:p>
          <a:p>
            <a:r>
              <a:rPr/>
              <a:t>Palette: P8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Approved reference page: 4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  <a:p>
            <a:r>
              <a:rPr/>
              <a:t>Lucide Icons and Contributors; https://lucide.dev/license</a:t>
            </a:r>
            <a:endParaRPr/>
          </a:p>
          <a:p>
            <a:r>
              <a:rPr/>
              <a:t>ISC License</a:t>
            </a:r>
            <a:endParaRPr/>
          </a:p>
          <a:p>
            <a:endParaRPr/>
          </a:p>
          <a:p>
            <a:r>
              <a:rPr/>
              <a:t>Copyright (c) 2026 Lucide Icons and Contributors</a:t>
            </a:r>
            <a:endParaRPr/>
          </a:p>
          <a:p>
            <a:endParaRPr/>
          </a:p>
          <a:p>
            <a:r>
              <a:rPr/>
              <a:t>Permission to use, copy, modify, and/or distribute this software for any</a:t>
            </a:r>
            <a:endParaRPr/>
          </a:p>
          <a:p>
            <a:r>
              <a:rPr/>
              <a:t>purpose with or without fee is hereby granted, provided that the above</a:t>
            </a:r>
            <a:endParaRPr/>
          </a:p>
          <a:p>
            <a:r>
              <a:rPr/>
              <a:t>copyright notice and this permission notice appear in all copies.</a:t>
            </a:r>
            <a:endParaRPr/>
          </a:p>
          <a:p>
            <a:endParaRPr/>
          </a:p>
          <a:p>
            <a:r>
              <a:rPr/>
              <a:t>THE SOFTWARE IS PROVIDED "AS IS" AND THE AUTHOR DISCLAIMS ALL WARRANTIES</a:t>
            </a:r>
            <a:endParaRPr/>
          </a:p>
          <a:p>
            <a:r>
              <a:rPr/>
              <a:t>WITH REGARD TO THIS SOFTWARE INCLUDING ALL IMPLIED WARRANTIES OF</a:t>
            </a:r>
            <a:endParaRPr/>
          </a:p>
          <a:p>
            <a:r>
              <a:rPr/>
              <a:t>MERCHANTABILITY AND FITNESS. IN NO EVENT SHALL THE AUTHOR BE LIABLE FOR</a:t>
            </a:r>
            <a:endParaRPr/>
          </a:p>
          <a:p>
            <a:r>
              <a:rPr/>
              <a:t>ANY SPECIAL, DIRECT, INDIRECT, OR CONSEQUENTIAL DAMAGES OR ANY DAMAGES</a:t>
            </a:r>
            <a:endParaRPr/>
          </a:p>
          <a:p>
            <a:r>
              <a:rPr/>
              <a:t>WHATSOEVER RESULTING FROM LOSS OF USE, DATA OR PROFITS, WHETHER IN AN</a:t>
            </a:r>
            <a:endParaRPr/>
          </a:p>
          <a:p>
            <a:r>
              <a:rPr/>
              <a:t>ACTION OF CONTRACT, NEGLIGENCE OR OTHER TORTIOUS ACTION, ARISING OUT OF</a:t>
            </a:r>
            <a:endParaRPr/>
          </a:p>
          <a:p>
            <a:r>
              <a:rPr/>
              <a:t>OR IN CONNECTION WITH THE USE OR PERFORMANCE OF THIS SOFTWARE.</a:t>
            </a:r>
            <a:endParaRPr/>
          </a:p>
          <a:p>
            <a:endParaRPr/>
          </a:p>
          <a:p>
            <a:r>
              <a:rPr/>
              <a:t>---</a:t>
            </a:r>
            <a:endParaRPr/>
          </a:p>
          <a:p>
            <a:endParaRPr/>
          </a:p>
          <a:p>
            <a:r>
              <a:rPr/>
              <a:t>The following Lucide icons are derived from the Feather project:</a:t>
            </a:r>
            <a:endParaRPr/>
          </a:p>
          <a:p>
            <a:endParaRPr/>
          </a:p>
          <a:p>
            <a:r>
              <a:rPr/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  <a:endParaRPr/>
          </a:p>
          <a:p>
            <a:endParaRPr/>
          </a:p>
          <a:p>
            <a:r>
              <a:rPr/>
              <a:t>The MIT License (MIT) (for the icons listed above)</a:t>
            </a:r>
            <a:endParaRPr/>
          </a:p>
          <a:p>
            <a:endParaRPr/>
          </a:p>
          <a:p>
            <a:r>
              <a:rPr/>
              <a:t>Copyright (c) 2013-present Cole Bemis</a:t>
            </a:r>
            <a:endParaRPr/>
          </a:p>
          <a:p>
            <a:endParaRPr/>
          </a:p>
          <a:p>
            <a:r>
              <a:rPr/>
              <a:t>Permission is hereby granted, free of charge, to any person obtaining a copy</a:t>
            </a:r>
            <a:endParaRPr/>
          </a:p>
          <a:p>
            <a:r>
              <a:rPr/>
              <a:t>of this software and associated documentation files (the "Software"), to deal</a:t>
            </a:r>
            <a:endParaRPr/>
          </a:p>
          <a:p>
            <a:r>
              <a:rPr/>
              <a:t>in the Software without restriction, including without limitation the rights</a:t>
            </a:r>
            <a:endParaRPr/>
          </a:p>
          <a:p>
            <a:r>
              <a:rPr/>
              <a:t>to use, copy, modify, merge, publish, distribute, sublicense, and/or sell</a:t>
            </a:r>
            <a:endParaRPr/>
          </a:p>
          <a:p>
            <a:r>
              <a:rPr/>
              <a:t>copies of the Software, and to permit persons to whom the Software is</a:t>
            </a:r>
            <a:endParaRPr/>
          </a:p>
          <a:p>
            <a:r>
              <a:rPr/>
              <a:t>furnished to do so, subject to the following conditions:</a:t>
            </a:r>
            <a:endParaRPr/>
          </a:p>
          <a:p>
            <a:endParaRPr/>
          </a:p>
          <a:p>
            <a:r>
              <a:rPr/>
              <a:t>The above copyright notice and this permission notice shall be included in all</a:t>
            </a:r>
            <a:endParaRPr/>
          </a:p>
          <a:p>
            <a:r>
              <a:rPr/>
              <a:t>copies or substantial portions of the Software.</a:t>
            </a:r>
            <a:endParaRPr/>
          </a:p>
          <a:p>
            <a:endParaRPr/>
          </a:p>
          <a:p>
            <a:r>
              <a:rPr/>
              <a:t>THE SOFTWARE IS PROVIDED "AS IS", WITHOUT WARRANTY OF ANY KIND, EXPRESS OR</a:t>
            </a:r>
            <a:endParaRPr/>
          </a:p>
          <a:p>
            <a:r>
              <a:rPr/>
              <a:t>IMPLIED, INCLUDING BUT NOT LIMITED TO THE WARRANTIES OF MERCHANTABILITY,</a:t>
            </a:r>
            <a:endParaRPr/>
          </a:p>
          <a:p>
            <a:r>
              <a:rPr/>
              <a:t>FITNESS FOR A PARTICULAR PURPOSE AND NONINFRINGEMENT. IN NO EVENT SHALL THE</a:t>
            </a:r>
            <a:endParaRPr/>
          </a:p>
          <a:p>
            <a:r>
              <a:rPr/>
              <a:t>AUTHORS OR COPYRIGHT HOLDERS BE LIABLE FOR ANY CLAIM, DAMAGES OR OTHER</a:t>
            </a:r>
            <a:endParaRPr/>
          </a:p>
          <a:p>
            <a:r>
              <a:rPr/>
              <a:t>LIABILITY, WHETHER IN AN ACTION OF CONTRACT, TORT OR OTHERWISE, ARISING FROM,</a:t>
            </a:r>
            <a:endParaRPr/>
          </a:p>
          <a:p>
            <a:r>
              <a:rPr/>
              <a:t>OUT OF OR IN CONNECTION WITH THE SOFTWARE OR THE USE OR OTHER DEALINGS IN THE</a:t>
            </a:r>
            <a:endParaRPr/>
          </a:p>
          <a:p>
            <a:r>
              <a:rPr/>
              <a:t>SOFTWARE.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合成演示数据，用于已批准版式的可编辑性验证。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Layout: L22</a:t>
            </a:r>
            <a:endParaRPr/>
          </a:p>
          <a:p>
            <a:r>
              <a:rPr/>
              <a:t>Variant: metrics</a:t>
            </a:r>
            <a:endParaRPr/>
          </a:p>
          <a:p>
            <a:r>
              <a:rPr/>
              <a:t>Palette: P8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Approved reference page: 5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  <a:p>
            <a:r>
              <a:rPr/>
              <a:t>Lucide Icons and Contributors; https://lucide.dev/license</a:t>
            </a:r>
            <a:endParaRPr/>
          </a:p>
          <a:p>
            <a:r>
              <a:rPr/>
              <a:t>ISC License</a:t>
            </a:r>
            <a:endParaRPr/>
          </a:p>
          <a:p>
            <a:endParaRPr/>
          </a:p>
          <a:p>
            <a:r>
              <a:rPr/>
              <a:t>Copyright (c) 2026 Lucide Icons and Contributors</a:t>
            </a:r>
            <a:endParaRPr/>
          </a:p>
          <a:p>
            <a:endParaRPr/>
          </a:p>
          <a:p>
            <a:r>
              <a:rPr/>
              <a:t>Permission to use, copy, modify, and/or distribute this software for any</a:t>
            </a:r>
            <a:endParaRPr/>
          </a:p>
          <a:p>
            <a:r>
              <a:rPr/>
              <a:t>purpose with or without fee is hereby granted, provided that the above</a:t>
            </a:r>
            <a:endParaRPr/>
          </a:p>
          <a:p>
            <a:r>
              <a:rPr/>
              <a:t>copyright notice and this permission notice appear in all copies.</a:t>
            </a:r>
            <a:endParaRPr/>
          </a:p>
          <a:p>
            <a:endParaRPr/>
          </a:p>
          <a:p>
            <a:r>
              <a:rPr/>
              <a:t>THE SOFTWARE IS PROVIDED "AS IS" AND THE AUTHOR DISCLAIMS ALL WARRANTIES</a:t>
            </a:r>
            <a:endParaRPr/>
          </a:p>
          <a:p>
            <a:r>
              <a:rPr/>
              <a:t>WITH REGARD TO THIS SOFTWARE INCLUDING ALL IMPLIED WARRANTIES OF</a:t>
            </a:r>
            <a:endParaRPr/>
          </a:p>
          <a:p>
            <a:r>
              <a:rPr/>
              <a:t>MERCHANTABILITY AND FITNESS. IN NO EVENT SHALL THE AUTHOR BE LIABLE FOR</a:t>
            </a:r>
            <a:endParaRPr/>
          </a:p>
          <a:p>
            <a:r>
              <a:rPr/>
              <a:t>ANY SPECIAL, DIRECT, INDIRECT, OR CONSEQUENTIAL DAMAGES OR ANY DAMAGES</a:t>
            </a:r>
            <a:endParaRPr/>
          </a:p>
          <a:p>
            <a:r>
              <a:rPr/>
              <a:t>WHATSOEVER RESULTING FROM LOSS OF USE, DATA OR PROFITS, WHETHER IN AN</a:t>
            </a:r>
            <a:endParaRPr/>
          </a:p>
          <a:p>
            <a:r>
              <a:rPr/>
              <a:t>ACTION OF CONTRACT, NEGLIGENCE OR OTHER TORTIOUS ACTION, ARISING OUT OF</a:t>
            </a:r>
            <a:endParaRPr/>
          </a:p>
          <a:p>
            <a:r>
              <a:rPr/>
              <a:t>OR IN CONNECTION WITH THE USE OR PERFORMANCE OF THIS SOFTWARE.</a:t>
            </a:r>
            <a:endParaRPr/>
          </a:p>
          <a:p>
            <a:endParaRPr/>
          </a:p>
          <a:p>
            <a:r>
              <a:rPr/>
              <a:t>---</a:t>
            </a:r>
            <a:endParaRPr/>
          </a:p>
          <a:p>
            <a:endParaRPr/>
          </a:p>
          <a:p>
            <a:r>
              <a:rPr/>
              <a:t>The following Lucide icons are derived from the Feather project:</a:t>
            </a:r>
            <a:endParaRPr/>
          </a:p>
          <a:p>
            <a:endParaRPr/>
          </a:p>
          <a:p>
            <a:r>
              <a:rPr/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  <a:endParaRPr/>
          </a:p>
          <a:p>
            <a:endParaRPr/>
          </a:p>
          <a:p>
            <a:r>
              <a:rPr/>
              <a:t>The MIT License (MIT) (for the icons listed above)</a:t>
            </a:r>
            <a:endParaRPr/>
          </a:p>
          <a:p>
            <a:endParaRPr/>
          </a:p>
          <a:p>
            <a:r>
              <a:rPr/>
              <a:t>Copyright (c) 2013-present Cole Bemis</a:t>
            </a:r>
            <a:endParaRPr/>
          </a:p>
          <a:p>
            <a:endParaRPr/>
          </a:p>
          <a:p>
            <a:r>
              <a:rPr/>
              <a:t>Permission is hereby granted, free of charge, to any person obtaining a copy</a:t>
            </a:r>
            <a:endParaRPr/>
          </a:p>
          <a:p>
            <a:r>
              <a:rPr/>
              <a:t>of this software and associated documentation files (the "Software"), to deal</a:t>
            </a:r>
            <a:endParaRPr/>
          </a:p>
          <a:p>
            <a:r>
              <a:rPr/>
              <a:t>in the Software without restriction, including without limitation the rights</a:t>
            </a:r>
            <a:endParaRPr/>
          </a:p>
          <a:p>
            <a:r>
              <a:rPr/>
              <a:t>to use, copy, modify, merge, publish, distribute, sublicense, and/or sell</a:t>
            </a:r>
            <a:endParaRPr/>
          </a:p>
          <a:p>
            <a:r>
              <a:rPr/>
              <a:t>copies of the Software, and to permit persons to whom the Software is</a:t>
            </a:r>
            <a:endParaRPr/>
          </a:p>
          <a:p>
            <a:r>
              <a:rPr/>
              <a:t>furnished to do so, subject to the following conditions:</a:t>
            </a:r>
            <a:endParaRPr/>
          </a:p>
          <a:p>
            <a:endParaRPr/>
          </a:p>
          <a:p>
            <a:r>
              <a:rPr/>
              <a:t>The above copyright notice and this permission notice shall be included in all</a:t>
            </a:r>
            <a:endParaRPr/>
          </a:p>
          <a:p>
            <a:r>
              <a:rPr/>
              <a:t>copies or substantial portions of the Software.</a:t>
            </a:r>
            <a:endParaRPr/>
          </a:p>
          <a:p>
            <a:endParaRPr/>
          </a:p>
          <a:p>
            <a:r>
              <a:rPr/>
              <a:t>THE SOFTWARE IS PROVIDED "AS IS", WITHOUT WARRANTY OF ANY KIND, EXPRESS OR</a:t>
            </a:r>
            <a:endParaRPr/>
          </a:p>
          <a:p>
            <a:r>
              <a:rPr/>
              <a:t>IMPLIED, INCLUDING BUT NOT LIMITED TO THE WARRANTIES OF MERCHANTABILITY,</a:t>
            </a:r>
            <a:endParaRPr/>
          </a:p>
          <a:p>
            <a:r>
              <a:rPr/>
              <a:t>FITNESS FOR A PARTICULAR PURPOSE AND NONINFRINGEMENT. IN NO EVENT SHALL THE</a:t>
            </a:r>
            <a:endParaRPr/>
          </a:p>
          <a:p>
            <a:r>
              <a:rPr/>
              <a:t>AUTHORS OR COPYRIGHT HOLDERS BE LIABLE FOR ANY CLAIM, DAMAGES OR OTHER</a:t>
            </a:r>
            <a:endParaRPr/>
          </a:p>
          <a:p>
            <a:r>
              <a:rPr/>
              <a:t>LIABILITY, WHETHER IN AN ACTION OF CONTRACT, TORT OR OTHERWISE, ARISING FROM,</a:t>
            </a:r>
            <a:endParaRPr/>
          </a:p>
          <a:p>
            <a:r>
              <a:rPr/>
              <a:t>OUT OF OR IN CONNECTION WITH THE SOFTWARE OR THE USE OR OTHER DEALINGS IN THE</a:t>
            </a:r>
            <a:endParaRPr/>
          </a:p>
          <a:p>
            <a:r>
              <a:rPr/>
              <a:t>SOFTWARE.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合成演示数据，用于已批准版式的可编辑性验证。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Layout: L22</a:t>
            </a:r>
            <a:endParaRPr/>
          </a:p>
          <a:p>
            <a:r>
              <a:rPr/>
              <a:t>Variant: pipeline</a:t>
            </a:r>
            <a:endParaRPr/>
          </a:p>
          <a:p>
            <a:r>
              <a:rPr/>
              <a:t>Palette: P9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Approved reference page: 8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  <a:p>
            <a:r>
              <a:rPr/>
              <a:t>Lucide Icons and Contributors; https://lucide.dev/license</a:t>
            </a:r>
            <a:endParaRPr/>
          </a:p>
          <a:p>
            <a:r>
              <a:rPr/>
              <a:t>ISC License</a:t>
            </a:r>
            <a:endParaRPr/>
          </a:p>
          <a:p>
            <a:endParaRPr/>
          </a:p>
          <a:p>
            <a:r>
              <a:rPr/>
              <a:t>Copyright (c) 2026 Lucide Icons and Contributors</a:t>
            </a:r>
            <a:endParaRPr/>
          </a:p>
          <a:p>
            <a:endParaRPr/>
          </a:p>
          <a:p>
            <a:r>
              <a:rPr/>
              <a:t>Permission to use, copy, modify, and/or distribute this software for any</a:t>
            </a:r>
            <a:endParaRPr/>
          </a:p>
          <a:p>
            <a:r>
              <a:rPr/>
              <a:t>purpose with or without fee is hereby granted, provided that the above</a:t>
            </a:r>
            <a:endParaRPr/>
          </a:p>
          <a:p>
            <a:r>
              <a:rPr/>
              <a:t>copyright notice and this permission notice appear in all copies.</a:t>
            </a:r>
            <a:endParaRPr/>
          </a:p>
          <a:p>
            <a:endParaRPr/>
          </a:p>
          <a:p>
            <a:r>
              <a:rPr/>
              <a:t>THE SOFTWARE IS PROVIDED "AS IS" AND THE AUTHOR DISCLAIMS ALL WARRANTIES</a:t>
            </a:r>
            <a:endParaRPr/>
          </a:p>
          <a:p>
            <a:r>
              <a:rPr/>
              <a:t>WITH REGARD TO THIS SOFTWARE INCLUDING ALL IMPLIED WARRANTIES OF</a:t>
            </a:r>
            <a:endParaRPr/>
          </a:p>
          <a:p>
            <a:r>
              <a:rPr/>
              <a:t>MERCHANTABILITY AND FITNESS. IN NO EVENT SHALL THE AUTHOR BE LIABLE FOR</a:t>
            </a:r>
            <a:endParaRPr/>
          </a:p>
          <a:p>
            <a:r>
              <a:rPr/>
              <a:t>ANY SPECIAL, DIRECT, INDIRECT, OR CONSEQUENTIAL DAMAGES OR ANY DAMAGES</a:t>
            </a:r>
            <a:endParaRPr/>
          </a:p>
          <a:p>
            <a:r>
              <a:rPr/>
              <a:t>WHATSOEVER RESULTING FROM LOSS OF USE, DATA OR PROFITS, WHETHER IN AN</a:t>
            </a:r>
            <a:endParaRPr/>
          </a:p>
          <a:p>
            <a:r>
              <a:rPr/>
              <a:t>ACTION OF CONTRACT, NEGLIGENCE OR OTHER TORTIOUS ACTION, ARISING OUT OF</a:t>
            </a:r>
            <a:endParaRPr/>
          </a:p>
          <a:p>
            <a:r>
              <a:rPr/>
              <a:t>OR IN CONNECTION WITH THE USE OR PERFORMANCE OF THIS SOFTWARE.</a:t>
            </a:r>
            <a:endParaRPr/>
          </a:p>
          <a:p>
            <a:endParaRPr/>
          </a:p>
          <a:p>
            <a:r>
              <a:rPr/>
              <a:t>---</a:t>
            </a:r>
            <a:endParaRPr/>
          </a:p>
          <a:p>
            <a:endParaRPr/>
          </a:p>
          <a:p>
            <a:r>
              <a:rPr/>
              <a:t>The following Lucide icons are derived from the Feather project:</a:t>
            </a:r>
            <a:endParaRPr/>
          </a:p>
          <a:p>
            <a:endParaRPr/>
          </a:p>
          <a:p>
            <a:r>
              <a:rPr/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  <a:endParaRPr/>
          </a:p>
          <a:p>
            <a:endParaRPr/>
          </a:p>
          <a:p>
            <a:r>
              <a:rPr/>
              <a:t>The MIT License (MIT) (for the icons listed above)</a:t>
            </a:r>
            <a:endParaRPr/>
          </a:p>
          <a:p>
            <a:endParaRPr/>
          </a:p>
          <a:p>
            <a:r>
              <a:rPr/>
              <a:t>Copyright (c) 2013-present Cole Bemis</a:t>
            </a:r>
            <a:endParaRPr/>
          </a:p>
          <a:p>
            <a:endParaRPr/>
          </a:p>
          <a:p>
            <a:r>
              <a:rPr/>
              <a:t>Permission is hereby granted, free of charge, to any person obtaining a copy</a:t>
            </a:r>
            <a:endParaRPr/>
          </a:p>
          <a:p>
            <a:r>
              <a:rPr/>
              <a:t>of this software and associated documentation files (the "Software"), to deal</a:t>
            </a:r>
            <a:endParaRPr/>
          </a:p>
          <a:p>
            <a:r>
              <a:rPr/>
              <a:t>in the Software without restriction, including without limitation the rights</a:t>
            </a:r>
            <a:endParaRPr/>
          </a:p>
          <a:p>
            <a:r>
              <a:rPr/>
              <a:t>to use, copy, modify, merge, publish, distribute, sublicense, and/or sell</a:t>
            </a:r>
            <a:endParaRPr/>
          </a:p>
          <a:p>
            <a:r>
              <a:rPr/>
              <a:t>copies of the Software, and to permit persons to whom the Software is</a:t>
            </a:r>
            <a:endParaRPr/>
          </a:p>
          <a:p>
            <a:r>
              <a:rPr/>
              <a:t>furnished to do so, subject to the following conditions:</a:t>
            </a:r>
            <a:endParaRPr/>
          </a:p>
          <a:p>
            <a:endParaRPr/>
          </a:p>
          <a:p>
            <a:r>
              <a:rPr/>
              <a:t>The above copyright notice and this permission notice shall be included in all</a:t>
            </a:r>
            <a:endParaRPr/>
          </a:p>
          <a:p>
            <a:r>
              <a:rPr/>
              <a:t>copies or substantial portions of the Software.</a:t>
            </a:r>
            <a:endParaRPr/>
          </a:p>
          <a:p>
            <a:endParaRPr/>
          </a:p>
          <a:p>
            <a:r>
              <a:rPr/>
              <a:t>THE SOFTWARE IS PROVIDED "AS IS", WITHOUT WARRANTY OF ANY KIND, EXPRESS OR</a:t>
            </a:r>
            <a:endParaRPr/>
          </a:p>
          <a:p>
            <a:r>
              <a:rPr/>
              <a:t>IMPLIED, INCLUDING BUT NOT LIMITED TO THE WARRANTIES OF MERCHANTABILITY,</a:t>
            </a:r>
            <a:endParaRPr/>
          </a:p>
          <a:p>
            <a:r>
              <a:rPr/>
              <a:t>FITNESS FOR A PARTICULAR PURPOSE AND NONINFRINGEMENT. IN NO EVENT SHALL THE</a:t>
            </a:r>
            <a:endParaRPr/>
          </a:p>
          <a:p>
            <a:r>
              <a:rPr/>
              <a:t>AUTHORS OR COPYRIGHT HOLDERS BE LIABLE FOR ANY CLAIM, DAMAGES OR OTHER</a:t>
            </a:r>
            <a:endParaRPr/>
          </a:p>
          <a:p>
            <a:r>
              <a:rPr/>
              <a:t>LIABILITY, WHETHER IN AN ACTION OF CONTRACT, TORT OR OTHERWISE, ARISING FROM,</a:t>
            </a:r>
            <a:endParaRPr/>
          </a:p>
          <a:p>
            <a:r>
              <a:rPr/>
              <a:t>OUT OF OR IN CONNECTION WITH THE SOFTWARE OR THE USE OR OTHER DEALINGS IN THE</a:t>
            </a:r>
            <a:endParaRPr/>
          </a:p>
          <a:p>
            <a:r>
              <a:rPr/>
              <a:t>SOFTWARE.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合成演示数据，用于已批准版式的可编辑性验证。</a:t>
            </a:r>
            <a:endParaRPr/>
          </a:p>
          <a:p>
            <a:endParaRPr/>
          </a:p>
          <a:p>
            <a:r>
              <a:rPr/>
              <a:t>Layout: L23</a:t>
            </a:r>
            <a:endParaRPr/>
          </a:p>
          <a:p>
            <a:r>
              <a:rPr/>
              <a:t>Variant: lanes</a:t>
            </a:r>
            <a:endParaRPr/>
          </a:p>
          <a:p>
            <a:r>
              <a:rPr/>
              <a:t>Palette: P9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Approved reference page: 9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  <a:p>
            <a:r>
              <a:rPr/>
              <a:t>Lucide Icons and Contributors; https://lucide.dev/license</a:t>
            </a:r>
            <a:endParaRPr/>
          </a:p>
          <a:p>
            <a:r>
              <a:rPr/>
              <a:t>ISC License</a:t>
            </a:r>
            <a:endParaRPr/>
          </a:p>
          <a:p>
            <a:endParaRPr/>
          </a:p>
          <a:p>
            <a:r>
              <a:rPr/>
              <a:t>Copyright (c) 2026 Lucide Icons and Contributors</a:t>
            </a:r>
            <a:endParaRPr/>
          </a:p>
          <a:p>
            <a:endParaRPr/>
          </a:p>
          <a:p>
            <a:r>
              <a:rPr/>
              <a:t>Permission to use, copy, modify, and/or distribute this software for any</a:t>
            </a:r>
            <a:endParaRPr/>
          </a:p>
          <a:p>
            <a:r>
              <a:rPr/>
              <a:t>purpose with or without fee is hereby granted, provided that the above</a:t>
            </a:r>
            <a:endParaRPr/>
          </a:p>
          <a:p>
            <a:r>
              <a:rPr/>
              <a:t>copyright notice and this permission notice appear in all copies.</a:t>
            </a:r>
            <a:endParaRPr/>
          </a:p>
          <a:p>
            <a:endParaRPr/>
          </a:p>
          <a:p>
            <a:r>
              <a:rPr/>
              <a:t>THE SOFTWARE IS PROVIDED "AS IS" AND THE AUTHOR DISCLAIMS ALL WARRANTIES</a:t>
            </a:r>
            <a:endParaRPr/>
          </a:p>
          <a:p>
            <a:r>
              <a:rPr/>
              <a:t>WITH REGARD TO THIS SOFTWARE INCLUDING ALL IMPLIED WARRANTIES OF</a:t>
            </a:r>
            <a:endParaRPr/>
          </a:p>
          <a:p>
            <a:r>
              <a:rPr/>
              <a:t>MERCHANTABILITY AND FITNESS. IN NO EVENT SHALL THE AUTHOR BE LIABLE FOR</a:t>
            </a:r>
            <a:endParaRPr/>
          </a:p>
          <a:p>
            <a:r>
              <a:rPr/>
              <a:t>ANY SPECIAL, DIRECT, INDIRECT, OR CONSEQUENTIAL DAMAGES OR ANY DAMAGES</a:t>
            </a:r>
            <a:endParaRPr/>
          </a:p>
          <a:p>
            <a:r>
              <a:rPr/>
              <a:t>WHATSOEVER RESULTING FROM LOSS OF USE, DATA OR PROFITS, WHETHER IN AN</a:t>
            </a:r>
            <a:endParaRPr/>
          </a:p>
          <a:p>
            <a:r>
              <a:rPr/>
              <a:t>ACTION OF CONTRACT, NEGLIGENCE OR OTHER TORTIOUS ACTION, ARISING OUT OF</a:t>
            </a:r>
            <a:endParaRPr/>
          </a:p>
          <a:p>
            <a:r>
              <a:rPr/>
              <a:t>OR IN CONNECTION WITH THE USE OR PERFORMANCE OF THIS SOFTWARE.</a:t>
            </a:r>
            <a:endParaRPr/>
          </a:p>
          <a:p>
            <a:endParaRPr/>
          </a:p>
          <a:p>
            <a:r>
              <a:rPr/>
              <a:t>---</a:t>
            </a:r>
            <a:endParaRPr/>
          </a:p>
          <a:p>
            <a:endParaRPr/>
          </a:p>
          <a:p>
            <a:r>
              <a:rPr/>
              <a:t>The following Lucide icons are derived from the Feather project:</a:t>
            </a:r>
            <a:endParaRPr/>
          </a:p>
          <a:p>
            <a:endParaRPr/>
          </a:p>
          <a:p>
            <a:r>
              <a:rPr/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  <a:endParaRPr/>
          </a:p>
          <a:p>
            <a:endParaRPr/>
          </a:p>
          <a:p>
            <a:r>
              <a:rPr/>
              <a:t>The MIT License (MIT) (for the icons listed above)</a:t>
            </a:r>
            <a:endParaRPr/>
          </a:p>
          <a:p>
            <a:endParaRPr/>
          </a:p>
          <a:p>
            <a:r>
              <a:rPr/>
              <a:t>Copyright (c) 2013-present Cole Bemis</a:t>
            </a:r>
            <a:endParaRPr/>
          </a:p>
          <a:p>
            <a:endParaRPr/>
          </a:p>
          <a:p>
            <a:r>
              <a:rPr/>
              <a:t>Permission is hereby granted, free of charge, to any person obtaining a copy</a:t>
            </a:r>
            <a:endParaRPr/>
          </a:p>
          <a:p>
            <a:r>
              <a:rPr/>
              <a:t>of this software and associated documentation files (the "Software"), to deal</a:t>
            </a:r>
            <a:endParaRPr/>
          </a:p>
          <a:p>
            <a:r>
              <a:rPr/>
              <a:t>in the Software without restriction, including without limitation the rights</a:t>
            </a:r>
            <a:endParaRPr/>
          </a:p>
          <a:p>
            <a:r>
              <a:rPr/>
              <a:t>to use, copy, modify, merge, publish, distribute, sublicense, and/or sell</a:t>
            </a:r>
            <a:endParaRPr/>
          </a:p>
          <a:p>
            <a:r>
              <a:rPr/>
              <a:t>copies of the Software, and to permit persons to whom the Software is</a:t>
            </a:r>
            <a:endParaRPr/>
          </a:p>
          <a:p>
            <a:r>
              <a:rPr/>
              <a:t>furnished to do so, subject to the following conditions:</a:t>
            </a:r>
            <a:endParaRPr/>
          </a:p>
          <a:p>
            <a:endParaRPr/>
          </a:p>
          <a:p>
            <a:r>
              <a:rPr/>
              <a:t>The above copyright notice and this permission notice shall be included in all</a:t>
            </a:r>
            <a:endParaRPr/>
          </a:p>
          <a:p>
            <a:r>
              <a:rPr/>
              <a:t>copies or substantial portions of the Software.</a:t>
            </a:r>
            <a:endParaRPr/>
          </a:p>
          <a:p>
            <a:endParaRPr/>
          </a:p>
          <a:p>
            <a:r>
              <a:rPr/>
              <a:t>THE SOFTWARE IS PROVIDED "AS IS", WITHOUT WARRANTY OF ANY KIND, EXPRESS OR</a:t>
            </a:r>
            <a:endParaRPr/>
          </a:p>
          <a:p>
            <a:r>
              <a:rPr/>
              <a:t>IMPLIED, INCLUDING BUT NOT LIMITED TO THE WARRANTIES OF MERCHANTABILITY,</a:t>
            </a:r>
            <a:endParaRPr/>
          </a:p>
          <a:p>
            <a:r>
              <a:rPr/>
              <a:t>FITNESS FOR A PARTICULAR PURPOSE AND NONINFRINGEMENT. IN NO EVENT SHALL THE</a:t>
            </a:r>
            <a:endParaRPr/>
          </a:p>
          <a:p>
            <a:r>
              <a:rPr/>
              <a:t>AUTHORS OR COPYRIGHT HOLDERS BE LIABLE FOR ANY CLAIM, DAMAGES OR OTHER</a:t>
            </a:r>
            <a:endParaRPr/>
          </a:p>
          <a:p>
            <a:r>
              <a:rPr/>
              <a:t>LIABILITY, WHETHER IN AN ACTION OF CONTRACT, TORT OR OTHERWISE, ARISING FROM,</a:t>
            </a:r>
            <a:endParaRPr/>
          </a:p>
          <a:p>
            <a:r>
              <a:rPr/>
              <a:t>OUT OF OR IN CONNECTION WITH THE SOFTWARE OR THE USE OR OTHER DEALINGS IN THE</a:t>
            </a:r>
            <a:endParaRPr/>
          </a:p>
          <a:p>
            <a:r>
              <a:rPr/>
              <a:t>SOFTWARE.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合成演示数据，用于已批准版式的可编辑性验证。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Layout: L21</a:t>
            </a:r>
            <a:endParaRPr/>
          </a:p>
          <a:p>
            <a:r>
              <a:rPr/>
              <a:t>Variant: journal</a:t>
            </a:r>
            <a:endParaRPr/>
          </a:p>
          <a:p>
            <a:r>
              <a:rPr/>
              <a:t>Palette: P10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Approved reference page: 10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  <a:p>
            <a:r>
              <a:rPr/>
              <a:t>Lucide Icons and Contributors; https://lucide.dev/license</a:t>
            </a:r>
            <a:endParaRPr/>
          </a:p>
          <a:p>
            <a:r>
              <a:rPr/>
              <a:t>ISC License</a:t>
            </a:r>
            <a:endParaRPr/>
          </a:p>
          <a:p>
            <a:endParaRPr/>
          </a:p>
          <a:p>
            <a:r>
              <a:rPr/>
              <a:t>Copyright (c) 2026 Lucide Icons and Contributors</a:t>
            </a:r>
            <a:endParaRPr/>
          </a:p>
          <a:p>
            <a:endParaRPr/>
          </a:p>
          <a:p>
            <a:r>
              <a:rPr/>
              <a:t>Permission to use, copy, modify, and/or distribute this software for any</a:t>
            </a:r>
            <a:endParaRPr/>
          </a:p>
          <a:p>
            <a:r>
              <a:rPr/>
              <a:t>purpose with or without fee is hereby granted, provided that the above</a:t>
            </a:r>
            <a:endParaRPr/>
          </a:p>
          <a:p>
            <a:r>
              <a:rPr/>
              <a:t>copyright notice and this permission notice appear in all copies.</a:t>
            </a:r>
            <a:endParaRPr/>
          </a:p>
          <a:p>
            <a:endParaRPr/>
          </a:p>
          <a:p>
            <a:r>
              <a:rPr/>
              <a:t>THE SOFTWARE IS PROVIDED "AS IS" AND THE AUTHOR DISCLAIMS ALL WARRANTIES</a:t>
            </a:r>
            <a:endParaRPr/>
          </a:p>
          <a:p>
            <a:r>
              <a:rPr/>
              <a:t>WITH REGARD TO THIS SOFTWARE INCLUDING ALL IMPLIED WARRANTIES OF</a:t>
            </a:r>
            <a:endParaRPr/>
          </a:p>
          <a:p>
            <a:r>
              <a:rPr/>
              <a:t>MERCHANTABILITY AND FITNESS. IN NO EVENT SHALL THE AUTHOR BE LIABLE FOR</a:t>
            </a:r>
            <a:endParaRPr/>
          </a:p>
          <a:p>
            <a:r>
              <a:rPr/>
              <a:t>ANY SPECIAL, DIRECT, INDIRECT, OR CONSEQUENTIAL DAMAGES OR ANY DAMAGES</a:t>
            </a:r>
            <a:endParaRPr/>
          </a:p>
          <a:p>
            <a:r>
              <a:rPr/>
              <a:t>WHATSOEVER RESULTING FROM LOSS OF USE, DATA OR PROFITS, WHETHER IN AN</a:t>
            </a:r>
            <a:endParaRPr/>
          </a:p>
          <a:p>
            <a:r>
              <a:rPr/>
              <a:t>ACTION OF CONTRACT, NEGLIGENCE OR OTHER TORTIOUS ACTION, ARISING OUT OF</a:t>
            </a:r>
            <a:endParaRPr/>
          </a:p>
          <a:p>
            <a:r>
              <a:rPr/>
              <a:t>OR IN CONNECTION WITH THE USE OR PERFORMANCE OF THIS SOFTWARE.</a:t>
            </a:r>
            <a:endParaRPr/>
          </a:p>
          <a:p>
            <a:endParaRPr/>
          </a:p>
          <a:p>
            <a:r>
              <a:rPr/>
              <a:t>---</a:t>
            </a:r>
            <a:endParaRPr/>
          </a:p>
          <a:p>
            <a:endParaRPr/>
          </a:p>
          <a:p>
            <a:r>
              <a:rPr/>
              <a:t>The following Lucide icons are derived from the Feather project:</a:t>
            </a:r>
            <a:endParaRPr/>
          </a:p>
          <a:p>
            <a:endParaRPr/>
          </a:p>
          <a:p>
            <a:r>
              <a:rPr/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  <a:endParaRPr/>
          </a:p>
          <a:p>
            <a:endParaRPr/>
          </a:p>
          <a:p>
            <a:r>
              <a:rPr/>
              <a:t>The MIT License (MIT) (for the icons listed above)</a:t>
            </a:r>
            <a:endParaRPr/>
          </a:p>
          <a:p>
            <a:endParaRPr/>
          </a:p>
          <a:p>
            <a:r>
              <a:rPr/>
              <a:t>Copyright (c) 2013-present Cole Bemis</a:t>
            </a:r>
            <a:endParaRPr/>
          </a:p>
          <a:p>
            <a:endParaRPr/>
          </a:p>
          <a:p>
            <a:r>
              <a:rPr/>
              <a:t>Permission is hereby granted, free of charge, to any person obtaining a copy</a:t>
            </a:r>
            <a:endParaRPr/>
          </a:p>
          <a:p>
            <a:r>
              <a:rPr/>
              <a:t>of this software and associated documentation files (the "Software"), to deal</a:t>
            </a:r>
            <a:endParaRPr/>
          </a:p>
          <a:p>
            <a:r>
              <a:rPr/>
              <a:t>in the Software without restriction, including without limitation the rights</a:t>
            </a:r>
            <a:endParaRPr/>
          </a:p>
          <a:p>
            <a:r>
              <a:rPr/>
              <a:t>to use, copy, modify, merge, publish, distribute, sublicense, and/or sell</a:t>
            </a:r>
            <a:endParaRPr/>
          </a:p>
          <a:p>
            <a:r>
              <a:rPr/>
              <a:t>copies of the Software, and to permit persons to whom the Software is</a:t>
            </a:r>
            <a:endParaRPr/>
          </a:p>
          <a:p>
            <a:r>
              <a:rPr/>
              <a:t>furnished to do so, subject to the following conditions:</a:t>
            </a:r>
            <a:endParaRPr/>
          </a:p>
          <a:p>
            <a:endParaRPr/>
          </a:p>
          <a:p>
            <a:r>
              <a:rPr/>
              <a:t>The above copyright notice and this permission notice shall be included in all</a:t>
            </a:r>
            <a:endParaRPr/>
          </a:p>
          <a:p>
            <a:r>
              <a:rPr/>
              <a:t>copies or substantial portions of the Software.</a:t>
            </a:r>
            <a:endParaRPr/>
          </a:p>
          <a:p>
            <a:endParaRPr/>
          </a:p>
          <a:p>
            <a:r>
              <a:rPr/>
              <a:t>THE SOFTWARE IS PROVIDED "AS IS", WITHOUT WARRANTY OF ANY KIND, EXPRESS OR</a:t>
            </a:r>
            <a:endParaRPr/>
          </a:p>
          <a:p>
            <a:r>
              <a:rPr/>
              <a:t>IMPLIED, INCLUDING BUT NOT LIMITED TO THE WARRANTIES OF MERCHANTABILITY,</a:t>
            </a:r>
            <a:endParaRPr/>
          </a:p>
          <a:p>
            <a:r>
              <a:rPr/>
              <a:t>FITNESS FOR A PARTICULAR PURPOSE AND NONINFRINGEMENT. IN NO EVENT SHALL THE</a:t>
            </a:r>
            <a:endParaRPr/>
          </a:p>
          <a:p>
            <a:r>
              <a:rPr/>
              <a:t>AUTHORS OR COPYRIGHT HOLDERS BE LIABLE FOR ANY CLAIM, DAMAGES OR OTHER</a:t>
            </a:r>
            <a:endParaRPr/>
          </a:p>
          <a:p>
            <a:r>
              <a:rPr/>
              <a:t>LIABILITY, WHETHER IN AN ACTION OF CONTRACT, TORT OR OTHERWISE, ARISING FROM,</a:t>
            </a:r>
            <a:endParaRPr/>
          </a:p>
          <a:p>
            <a:r>
              <a:rPr/>
              <a:t>OUT OF OR IN CONNECTION WITH THE SOFTWARE OR THE USE OR OTHER DEALINGS IN THE</a:t>
            </a:r>
            <a:endParaRPr/>
          </a:p>
          <a:p>
            <a:r>
              <a:rPr/>
              <a:t>SOFTWARE.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/ppt/slideLayouts/slideLayout1.xml" /><Relationship Id="rId2" Type="http://schemas.openxmlformats.org/officeDocument/2006/relationships/notesSlide" Target="/ppt/notesSlides/notesSlide1.xml" /><Relationship Id="rId3" Type="http://schemas.openxmlformats.org/officeDocument/2006/relationships/chart" Target="/ppt/charts/chart1.xml" /><Relationship Id="rId4" Type="http://schemas.openxmlformats.org/officeDocument/2006/relationships/chart" Target="/ppt/charts/chart2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/ppt/slideLayouts/slideLayout1.xml" /><Relationship Id="rId2" Type="http://schemas.openxmlformats.org/officeDocument/2006/relationships/notesSlide" Target="/ppt/notesSlides/notesSlide2.xml" /><Relationship Id="rId3" Type="http://schemas.openxmlformats.org/officeDocument/2006/relationships/chart" Target="/ppt/charts/chart3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/ppt/slideLayouts/slideLayout1.xml" /><Relationship Id="rId2" Type="http://schemas.openxmlformats.org/officeDocument/2006/relationships/notesSlide" Target="/ppt/notesSlides/notesSlide3.xml" /><Relationship Id="rId3" Type="http://schemas.openxmlformats.org/officeDocument/2006/relationships/chart" Target="/ppt/charts/chart4.xml" /><Relationship Id="rId4" Type="http://schemas.openxmlformats.org/officeDocument/2006/relationships/chart" Target="/ppt/charts/chart5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/ppt/slideLayouts/slideLayout1.xml" /><Relationship Id="rId2" Type="http://schemas.openxmlformats.org/officeDocument/2006/relationships/notesSlide" Target="/ppt/notesSlides/notesSlide4.xml" /><Relationship Id="rId3" Type="http://schemas.openxmlformats.org/officeDocument/2006/relationships/chart" Target="/ppt/charts/chart6.xml" /><Relationship Id="rId4" Type="http://schemas.openxmlformats.org/officeDocument/2006/relationships/chart" Target="/ppt/charts/chart7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/ppt/slideLayouts/slideLayout1.xml" /><Relationship Id="rId2" Type="http://schemas.openxmlformats.org/officeDocument/2006/relationships/notesSlide" Target="/ppt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/ppt/slideLayouts/slideLayout1.xml" /><Relationship Id="rId2" Type="http://schemas.openxmlformats.org/officeDocument/2006/relationships/notesSlide" Target="/ppt/notesSlides/notesSlide6.xml" /><Relationship Id="rId3" Type="http://schemas.openxmlformats.org/officeDocument/2006/relationships/chart" Target="/ppt/charts/chart8.xml" /></Relationships>
</file>

<file path=ppt/slides/slide1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1"/>
          <p:cNvSpPr txBox="1"/>
          <p:nvPr/>
        </p:nvSpPr>
        <p:spPr>
          <a:xfrm>
            <a:off x="304800" y="228600"/>
            <a:ext cx="1038225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让不同调查努力下的记录可以比较</a:t>
            </a:r>
            <a:endParaRPr/>
          </a:p>
        </p:txBody>
      </p:sp>
      <p:sp>
        <p:nvSpPr>
          <p:cNvPr id="3" name="text-2"/>
          <p:cNvSpPr txBox="1"/>
          <p:nvPr/>
        </p:nvSpPr>
        <p:spPr>
          <a:xfrm>
            <a:off x="10763250" y="400050"/>
            <a:ext cx="11239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学术分享型</a:t>
            </a:r>
            <a:endParaRPr/>
          </a:p>
        </p:txBody>
      </p:sp>
      <p:cxnSp>
        <p:nvCxnSpPr>
          <p:cNvPr id="4" name="connector-3"/>
          <p:cNvCxnSpPr/>
          <p:nvPr/>
        </p:nvCxnSpPr>
        <p:spPr>
          <a:xfrm>
            <a:off x="304800" y="1066800"/>
            <a:ext cx="11582400" cy="0"/>
          </a:xfrm>
          <a:prstGeom prst="line">
            <a:avLst/>
          </a:prstGeom>
          <a:ln w="12382">
            <a:solidFill>
              <a:srgbClr val="A8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ynthetic-source-4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合成数据，仅供版式演示</a:t>
            </a:r>
            <a:endParaRPr/>
          </a:p>
        </p:txBody>
      </p:sp>
      <p:sp>
        <p:nvSpPr>
          <p:cNvPr id="6" name="page-number-5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  <p:sp>
        <p:nvSpPr>
          <p:cNvPr id="7" name="shape-6"/>
          <p:cNvSpPr/>
          <p:nvPr/>
        </p:nvSpPr>
        <p:spPr>
          <a:xfrm>
            <a:off x="304800" y="1200150"/>
            <a:ext cx="11582400" cy="971550"/>
          </a:xfrm>
          <a:prstGeom prst="rect">
            <a:avLst/>
          </a:prstGeom>
          <a:solidFill>
            <a:srgbClr val="FF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-7"/>
          <p:cNvSpPr txBox="1"/>
          <p:nvPr/>
        </p:nvSpPr>
        <p:spPr>
          <a:xfrm>
            <a:off x="3009900" y="1428750"/>
            <a:ext cx="1285875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  <a:endParaRPr/>
          </a:p>
        </p:txBody>
      </p:sp>
      <p:sp>
        <p:nvSpPr>
          <p:cNvPr id="9" name="text-8"/>
          <p:cNvSpPr txBox="1"/>
          <p:nvPr/>
        </p:nvSpPr>
        <p:spPr>
          <a:xfrm>
            <a:off x="4391025" y="1428750"/>
            <a:ext cx="4000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=</a:t>
            </a:r>
          </a:p>
        </p:txBody>
      </p:sp>
      <p:sp>
        <p:nvSpPr>
          <p:cNvPr id="10" name="text-9"/>
          <p:cNvSpPr txBox="1"/>
          <p:nvPr/>
        </p:nvSpPr>
        <p:spPr>
          <a:xfrm>
            <a:off x="4895850" y="1238250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  <a:endParaRPr/>
          </a:p>
        </p:txBody>
      </p:sp>
      <p:cxnSp>
        <p:nvCxnSpPr>
          <p:cNvPr id="11" name="connector-10"/>
          <p:cNvCxnSpPr/>
          <p:nvPr/>
        </p:nvCxnSpPr>
        <p:spPr>
          <a:xfrm>
            <a:off x="4895850" y="1657350"/>
            <a:ext cx="2190750" cy="0"/>
          </a:xfrm>
          <a:prstGeom prst="line">
            <a:avLst/>
          </a:prstGeom>
          <a:ln w="13334">
            <a:solidFill>
              <a:srgbClr val="A8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-11"/>
          <p:cNvSpPr txBox="1"/>
          <p:nvPr/>
        </p:nvSpPr>
        <p:spPr>
          <a:xfrm>
            <a:off x="4895850" y="1685925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  <a:endParaRPr/>
          </a:p>
        </p:txBody>
      </p:sp>
      <p:sp>
        <p:nvSpPr>
          <p:cNvPr id="13" name="text-12"/>
          <p:cNvSpPr txBox="1"/>
          <p:nvPr/>
        </p:nvSpPr>
        <p:spPr>
          <a:xfrm>
            <a:off x="7315200" y="1428750"/>
            <a:ext cx="16954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× 100</a:t>
            </a:r>
          </a:p>
        </p:txBody>
      </p:sp>
      <p:sp>
        <p:nvSpPr>
          <p:cNvPr id="14" name="shape-13"/>
          <p:cNvSpPr/>
          <p:nvPr/>
        </p:nvSpPr>
        <p:spPr>
          <a:xfrm>
            <a:off x="304800" y="2305050"/>
            <a:ext cx="5638800" cy="400050"/>
          </a:xfrm>
          <a:prstGeom prst="rect">
            <a:avLst/>
          </a:prstGeom>
          <a:solidFill>
            <a:srgbClr val="A84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-14"/>
          <p:cNvSpPr txBox="1"/>
          <p:nvPr/>
        </p:nvSpPr>
        <p:spPr>
          <a:xfrm>
            <a:off x="419100" y="2333625"/>
            <a:ext cx="54102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原始记录数（独立记录）</a:t>
            </a:r>
            <a:endParaRPr/>
          </a:p>
        </p:txBody>
      </p:sp>
      <p:graphicFrame>
        <p:nvGraphicFramePr>
          <p:cNvPr id="16" name="native-chart-15"/>
          <p:cNvGraphicFramePr>
            <a:graphicFrameLocks noGrp="1"/>
          </p:cNvGraphicFramePr>
          <p:nvPr/>
        </p:nvGraphicFramePr>
        <p:xfrm>
          <a:off x="304800" y="2876550"/>
          <a:ext cx="5638800" cy="24574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7" name="shape-16"/>
          <p:cNvSpPr/>
          <p:nvPr/>
        </p:nvSpPr>
        <p:spPr>
          <a:xfrm>
            <a:off x="6248400" y="2305050"/>
            <a:ext cx="5638800" cy="400050"/>
          </a:xfrm>
          <a:prstGeom prst="rect">
            <a:avLst/>
          </a:prstGeom>
          <a:solidFill>
            <a:srgbClr val="A84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-17"/>
          <p:cNvSpPr txBox="1"/>
          <p:nvPr/>
        </p:nvSpPr>
        <p:spPr>
          <a:xfrm>
            <a:off x="6362700" y="2333625"/>
            <a:ext cx="54102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标准化记录率</a:t>
            </a:r>
            <a:endParaRPr/>
          </a:p>
        </p:txBody>
      </p:sp>
      <p:graphicFrame>
        <p:nvGraphicFramePr>
          <p:cNvPr id="19" name="native-chart-18"/>
          <p:cNvGraphicFramePr>
            <a:graphicFrameLocks noGrp="1"/>
          </p:cNvGraphicFramePr>
          <p:nvPr/>
        </p:nvGraphicFramePr>
        <p:xfrm>
          <a:off x="6248400" y="2876550"/>
          <a:ext cx="5638800" cy="245745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0" name="shape-19"/>
          <p:cNvSpPr/>
          <p:nvPr/>
        </p:nvSpPr>
        <p:spPr>
          <a:xfrm>
            <a:off x="304800" y="5514975"/>
            <a:ext cx="5638800" cy="628650"/>
          </a:xfrm>
          <a:prstGeom prst="rect">
            <a:avLst/>
          </a:prstGeom>
          <a:solidFill>
            <a:srgbClr val="FF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-20"/>
          <p:cNvSpPr txBox="1"/>
          <p:nvPr/>
        </p:nvSpPr>
        <p:spPr>
          <a:xfrm>
            <a:off x="457200" y="5572125"/>
            <a:ext cx="53340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点位甲：独立记录24，有效相机日120</a:t>
            </a:r>
            <a:endParaRPr/>
          </a:p>
        </p:txBody>
      </p:sp>
      <p:sp>
        <p:nvSpPr>
          <p:cNvPr id="22" name="text-21"/>
          <p:cNvSpPr txBox="1"/>
          <p:nvPr/>
        </p:nvSpPr>
        <p:spPr>
          <a:xfrm>
            <a:off x="457200" y="5838825"/>
            <a:ext cx="5334000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记录率 = 24 ÷ 120 × 100 = 20</a:t>
            </a:r>
            <a:endParaRPr/>
          </a:p>
        </p:txBody>
      </p:sp>
      <p:sp>
        <p:nvSpPr>
          <p:cNvPr id="23" name="shape-22"/>
          <p:cNvSpPr/>
          <p:nvPr/>
        </p:nvSpPr>
        <p:spPr>
          <a:xfrm>
            <a:off x="6248400" y="5514975"/>
            <a:ext cx="5638800" cy="628650"/>
          </a:xfrm>
          <a:prstGeom prst="rect">
            <a:avLst/>
          </a:prstGeom>
          <a:solidFill>
            <a:srgbClr val="FF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-23"/>
          <p:cNvSpPr txBox="1"/>
          <p:nvPr/>
        </p:nvSpPr>
        <p:spPr>
          <a:xfrm>
            <a:off x="6400800" y="5572125"/>
            <a:ext cx="53340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点位乙：独立记录36，有效相机日240</a:t>
            </a:r>
            <a:endParaRPr/>
          </a:p>
        </p:txBody>
      </p:sp>
      <p:sp>
        <p:nvSpPr>
          <p:cNvPr id="25" name="text-24"/>
          <p:cNvSpPr txBox="1"/>
          <p:nvPr/>
        </p:nvSpPr>
        <p:spPr>
          <a:xfrm>
            <a:off x="6400800" y="5838825"/>
            <a:ext cx="5334000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记录率 = 36 ÷ 240 × 100 = 15</a:t>
            </a:r>
            <a:endParaRPr/>
          </a:p>
        </p:txBody>
      </p:sp>
      <p:sp>
        <p:nvSpPr>
          <p:cNvPr id="26" name="text-25"/>
          <p:cNvSpPr txBox="1"/>
          <p:nvPr/>
        </p:nvSpPr>
        <p:spPr>
          <a:xfrm>
            <a:off x="304800" y="6238875"/>
            <a:ext cx="47625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  <a:endParaRPr/>
          </a:p>
        </p:txBody>
      </p:sp>
      <p:sp>
        <p:nvSpPr>
          <p:cNvPr id="27" name="text-26"/>
          <p:cNvSpPr txBox="1"/>
          <p:nvPr/>
        </p:nvSpPr>
        <p:spPr>
          <a:xfrm>
            <a:off x="6248400" y="6248400"/>
            <a:ext cx="5638800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记录率用于描述，不直接等同于种群密度。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1"/>
          <p:cNvSpPr txBox="1"/>
          <p:nvPr/>
        </p:nvSpPr>
        <p:spPr>
          <a:xfrm>
            <a:off x="304800" y="228600"/>
            <a:ext cx="1038225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群落变化需要结合时间与生境一起解释</a:t>
            </a:r>
            <a:endParaRPr/>
          </a:p>
        </p:txBody>
      </p:sp>
      <p:sp>
        <p:nvSpPr>
          <p:cNvPr id="3" name="text-2"/>
          <p:cNvSpPr txBox="1"/>
          <p:nvPr/>
        </p:nvSpPr>
        <p:spPr>
          <a:xfrm>
            <a:off x="10763250" y="400050"/>
            <a:ext cx="11239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学术分享型</a:t>
            </a:r>
            <a:endParaRPr/>
          </a:p>
        </p:txBody>
      </p:sp>
      <p:cxnSp>
        <p:nvCxnSpPr>
          <p:cNvPr id="4" name="connector-3"/>
          <p:cNvCxnSpPr/>
          <p:nvPr/>
        </p:nvCxnSpPr>
        <p:spPr>
          <a:xfrm>
            <a:off x="304800" y="1066800"/>
            <a:ext cx="11582400" cy="0"/>
          </a:xfrm>
          <a:prstGeom prst="line">
            <a:avLst/>
          </a:prstGeom>
          <a:ln w="12382">
            <a:solidFill>
              <a:srgbClr val="15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hape-4"/>
          <p:cNvSpPr/>
          <p:nvPr/>
        </p:nvSpPr>
        <p:spPr>
          <a:xfrm>
            <a:off x="304800" y="1047750"/>
            <a:ext cx="1428750" cy="28575"/>
          </a:xfrm>
          <a:prstGeom prst="rect">
            <a:avLst/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ynthetic-source-5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合成数据，仅供版式演示</a:t>
            </a:r>
            <a:endParaRPr/>
          </a:p>
        </p:txBody>
      </p:sp>
      <p:sp>
        <p:nvSpPr>
          <p:cNvPr id="7" name="page-number-6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  <p:sp>
        <p:nvSpPr>
          <p:cNvPr id="8" name="shape-7"/>
          <p:cNvSpPr/>
          <p:nvPr/>
        </p:nvSpPr>
        <p:spPr>
          <a:xfrm>
            <a:off x="304800" y="1390650"/>
            <a:ext cx="1638300" cy="4895850"/>
          </a:xfrm>
          <a:prstGeom prst="rect">
            <a:avLst/>
          </a:prstGeom>
          <a:solidFill>
            <a:srgbClr val="15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-8"/>
          <p:cNvSpPr txBox="1"/>
          <p:nvPr/>
        </p:nvSpPr>
        <p:spPr>
          <a:xfrm>
            <a:off x="457200" y="1571625"/>
            <a:ext cx="13335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六月记录率</a:t>
            </a:r>
            <a:endParaRPr/>
          </a:p>
        </p:txBody>
      </p:sp>
      <p:sp>
        <p:nvSpPr>
          <p:cNvPr id="10" name="text-9"/>
          <p:cNvSpPr txBox="1"/>
          <p:nvPr/>
        </p:nvSpPr>
        <p:spPr>
          <a:xfrm>
            <a:off x="457200" y="2000250"/>
            <a:ext cx="13335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次/100相机日</a:t>
            </a:r>
            <a:endParaRPr/>
          </a:p>
        </p:txBody>
      </p:sp>
      <p:cxnSp>
        <p:nvCxnSpPr>
          <p:cNvPr id="11" name="connector-10"/>
          <p:cNvCxnSpPr/>
          <p:nvPr/>
        </p:nvCxnSpPr>
        <p:spPr>
          <a:xfrm>
            <a:off x="457200" y="2495550"/>
            <a:ext cx="1333500" cy="0"/>
          </a:xfrm>
          <a:prstGeom prst="line">
            <a:avLst/>
          </a:prstGeom>
          <a:ln w="9525">
            <a:solidFill>
              <a:srgbClr val="8CAC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-11"/>
          <p:cNvSpPr txBox="1"/>
          <p:nvPr/>
        </p:nvSpPr>
        <p:spPr>
          <a:xfrm>
            <a:off x="457200" y="2695575"/>
            <a:ext cx="13335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连续林</a:t>
            </a:r>
            <a:endParaRPr/>
          </a:p>
        </p:txBody>
      </p:sp>
      <p:sp>
        <p:nvSpPr>
          <p:cNvPr id="13" name="text-12"/>
          <p:cNvSpPr txBox="1"/>
          <p:nvPr/>
        </p:nvSpPr>
        <p:spPr>
          <a:xfrm>
            <a:off x="409575" y="3105150"/>
            <a:ext cx="1381125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32</a:t>
            </a:r>
            <a:endParaRPr/>
          </a:p>
        </p:txBody>
      </p:sp>
      <p:cxnSp>
        <p:nvCxnSpPr>
          <p:cNvPr id="14" name="connector-13"/>
          <p:cNvCxnSpPr/>
          <p:nvPr/>
        </p:nvCxnSpPr>
        <p:spPr>
          <a:xfrm>
            <a:off x="457200" y="4257675"/>
            <a:ext cx="1333500" cy="0"/>
          </a:xfrm>
          <a:prstGeom prst="line">
            <a:avLst/>
          </a:prstGeom>
          <a:ln w="9525">
            <a:solidFill>
              <a:srgbClr val="8CAC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-14"/>
          <p:cNvSpPr txBox="1"/>
          <p:nvPr/>
        </p:nvSpPr>
        <p:spPr>
          <a:xfrm>
            <a:off x="457200" y="4448175"/>
            <a:ext cx="13335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破碎林</a:t>
            </a:r>
            <a:endParaRPr/>
          </a:p>
        </p:txBody>
      </p:sp>
      <p:sp>
        <p:nvSpPr>
          <p:cNvPr id="16" name="text-15"/>
          <p:cNvSpPr txBox="1"/>
          <p:nvPr/>
        </p:nvSpPr>
        <p:spPr>
          <a:xfrm>
            <a:off x="409575" y="4848225"/>
            <a:ext cx="1381125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20</a:t>
            </a:r>
            <a:endParaRPr/>
          </a:p>
        </p:txBody>
      </p:sp>
      <p:sp>
        <p:nvSpPr>
          <p:cNvPr id="17" name="text-16"/>
          <p:cNvSpPr txBox="1"/>
          <p:nvPr/>
        </p:nvSpPr>
        <p:spPr>
          <a:xfrm>
            <a:off x="2305050" y="1419225"/>
            <a:ext cx="55245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记录率（次/100相机日）</a:t>
            </a:r>
            <a:endParaRPr/>
          </a:p>
        </p:txBody>
      </p:sp>
      <p:cxnSp>
        <p:nvCxnSpPr>
          <p:cNvPr id="18" name="connector-17"/>
          <p:cNvCxnSpPr/>
          <p:nvPr/>
        </p:nvCxnSpPr>
        <p:spPr>
          <a:xfrm>
            <a:off x="2476500" y="1895475"/>
            <a:ext cx="342900" cy="0"/>
          </a:xfrm>
          <a:prstGeom prst="line">
            <a:avLst/>
          </a:prstGeom>
          <a:ln w="20955">
            <a:solidFill>
              <a:srgbClr val="15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hape-18"/>
          <p:cNvSpPr/>
          <p:nvPr/>
        </p:nvSpPr>
        <p:spPr>
          <a:xfrm>
            <a:off x="2609850" y="1847850"/>
            <a:ext cx="95250" cy="95250"/>
          </a:xfrm>
          <a:prstGeom prst="ellipse">
            <a:avLst/>
          </a:prstGeom>
          <a:solidFill>
            <a:srgbClr val="15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-19"/>
          <p:cNvSpPr txBox="1"/>
          <p:nvPr/>
        </p:nvSpPr>
        <p:spPr>
          <a:xfrm>
            <a:off x="2914650" y="1771650"/>
            <a:ext cx="857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连续林</a:t>
            </a:r>
            <a:endParaRPr/>
          </a:p>
        </p:txBody>
      </p:sp>
      <p:cxnSp>
        <p:nvCxnSpPr>
          <p:cNvPr id="21" name="connector-20"/>
          <p:cNvCxnSpPr/>
          <p:nvPr/>
        </p:nvCxnSpPr>
        <p:spPr>
          <a:xfrm>
            <a:off x="3952875" y="1895475"/>
            <a:ext cx="342900" cy="0"/>
          </a:xfrm>
          <a:prstGeom prst="line">
            <a:avLst/>
          </a:prstGeom>
          <a:ln w="20955">
            <a:solidFill>
              <a:srgbClr val="AE7A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hape-21"/>
          <p:cNvSpPr/>
          <p:nvPr/>
        </p:nvSpPr>
        <p:spPr>
          <a:xfrm>
            <a:off x="4086225" y="1847850"/>
            <a:ext cx="95250" cy="95250"/>
          </a:xfrm>
          <a:prstGeom prst="ellipse">
            <a:avLst/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-22"/>
          <p:cNvSpPr txBox="1"/>
          <p:nvPr/>
        </p:nvSpPr>
        <p:spPr>
          <a:xfrm>
            <a:off x="4391025" y="1771650"/>
            <a:ext cx="857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破碎林</a:t>
            </a:r>
            <a:endParaRPr/>
          </a:p>
        </p:txBody>
      </p:sp>
      <p:graphicFrame>
        <p:nvGraphicFramePr>
          <p:cNvPr id="24" name="native-chart-23"/>
          <p:cNvGraphicFramePr>
            <a:graphicFrameLocks noGrp="1"/>
          </p:cNvGraphicFramePr>
          <p:nvPr/>
        </p:nvGraphicFramePr>
        <p:xfrm>
          <a:off x="2152650" y="2133600"/>
          <a:ext cx="6819900" cy="4076700"/>
        </p:xfrm>
        <a:graphic>
          <a:graphicData uri="http://schemas.openxmlformats.org/drawingml/2006/chart">
            <c:chart r:id="rId3"/>
          </a:graphicData>
        </a:graphic>
      </p:graphicFrame>
      <p:cxnSp>
        <p:nvCxnSpPr>
          <p:cNvPr id="25" name="connector-24"/>
          <p:cNvCxnSpPr/>
          <p:nvPr/>
        </p:nvCxnSpPr>
        <p:spPr>
          <a:xfrm>
            <a:off x="9144000" y="1466850"/>
            <a:ext cx="0" cy="4743450"/>
          </a:xfrm>
          <a:prstGeom prst="line">
            <a:avLst/>
          </a:prstGeom>
          <a:ln w="9525">
            <a:solidFill>
              <a:srgbClr val="DCE5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hape-25"/>
          <p:cNvSpPr/>
          <p:nvPr/>
        </p:nvSpPr>
        <p:spPr>
          <a:xfrm>
            <a:off x="9372600" y="1952625"/>
            <a:ext cx="2514600" cy="1314450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hape-26"/>
          <p:cNvSpPr/>
          <p:nvPr/>
        </p:nvSpPr>
        <p:spPr>
          <a:xfrm>
            <a:off x="9372600" y="1714500"/>
            <a:ext cx="1409700" cy="400050"/>
          </a:xfrm>
          <a:prstGeom prst="roundRect">
            <a:avLst>
              <a:gd name="adj" fmla="val 8000"/>
            </a:avLst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-27"/>
          <p:cNvSpPr txBox="1"/>
          <p:nvPr/>
        </p:nvSpPr>
        <p:spPr>
          <a:xfrm>
            <a:off x="9505950" y="1752600"/>
            <a:ext cx="12573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同期比较</a:t>
            </a:r>
            <a:endParaRPr/>
          </a:p>
        </p:txBody>
      </p:sp>
      <p:sp>
        <p:nvSpPr>
          <p:cNvPr id="29" name="text-28"/>
          <p:cNvSpPr txBox="1"/>
          <p:nvPr/>
        </p:nvSpPr>
        <p:spPr>
          <a:xfrm>
            <a:off x="9544050" y="2286000"/>
            <a:ext cx="21717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在相同时间窗内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比较生境差异。</a:t>
            </a:r>
            <a:endParaRPr/>
          </a:p>
        </p:txBody>
      </p:sp>
      <p:sp>
        <p:nvSpPr>
          <p:cNvPr id="30" name="shape-29"/>
          <p:cNvSpPr/>
          <p:nvPr/>
        </p:nvSpPr>
        <p:spPr>
          <a:xfrm>
            <a:off x="9372600" y="3714750"/>
            <a:ext cx="2514600" cy="1314450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hape-30"/>
          <p:cNvSpPr/>
          <p:nvPr/>
        </p:nvSpPr>
        <p:spPr>
          <a:xfrm>
            <a:off x="9372600" y="3476625"/>
            <a:ext cx="1409700" cy="400050"/>
          </a:xfrm>
          <a:prstGeom prst="roundRect">
            <a:avLst>
              <a:gd name="adj" fmla="val 8000"/>
            </a:avLst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-31"/>
          <p:cNvSpPr txBox="1"/>
          <p:nvPr/>
        </p:nvSpPr>
        <p:spPr>
          <a:xfrm>
            <a:off x="9505950" y="3514725"/>
            <a:ext cx="12573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重复观测</a:t>
            </a:r>
            <a:endParaRPr/>
          </a:p>
        </p:txBody>
      </p:sp>
      <p:sp>
        <p:nvSpPr>
          <p:cNvPr id="33" name="text-32"/>
          <p:cNvSpPr txBox="1"/>
          <p:nvPr/>
        </p:nvSpPr>
        <p:spPr>
          <a:xfrm>
            <a:off x="9544050" y="4048125"/>
            <a:ext cx="21717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保留逐月变化，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不以单次记录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概括全年。</a:t>
            </a:r>
            <a:endParaRPr/>
          </a:p>
        </p:txBody>
      </p:sp>
      <p:cxnSp>
        <p:nvCxnSpPr>
          <p:cNvPr id="34" name="connector-33"/>
          <p:cNvCxnSpPr/>
          <p:nvPr/>
        </p:nvCxnSpPr>
        <p:spPr>
          <a:xfrm>
            <a:off x="9372600" y="5514975"/>
            <a:ext cx="2514600" cy="0"/>
          </a:xfrm>
          <a:prstGeom prst="line">
            <a:avLst/>
          </a:prstGeom>
          <a:ln w="9525">
            <a:solidFill>
              <a:srgbClr val="D4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-34"/>
          <p:cNvSpPr txBox="1"/>
          <p:nvPr/>
        </p:nvSpPr>
        <p:spPr>
          <a:xfrm>
            <a:off x="9372600" y="5667375"/>
            <a:ext cx="2514600" cy="523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六月：连续林32 / 破碎林20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-1"/>
          <p:cNvSpPr/>
          <p:nvPr/>
        </p:nvSpPr>
        <p:spPr>
          <a:xfrm>
            <a:off x="190500" y="171450"/>
            <a:ext cx="11811000" cy="2095500"/>
          </a:xfrm>
          <a:prstGeom prst="rect">
            <a:avLst/>
          </a:prstGeom>
          <a:solidFill>
            <a:srgbClr val="15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2"/>
          <p:cNvSpPr txBox="1"/>
          <p:nvPr/>
        </p:nvSpPr>
        <p:spPr>
          <a:xfrm>
            <a:off x="457200" y="333375"/>
            <a:ext cx="1043940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让不同调查努力下的记录可以比较</a:t>
            </a:r>
            <a:endParaRPr/>
          </a:p>
        </p:txBody>
      </p:sp>
      <p:sp>
        <p:nvSpPr>
          <p:cNvPr id="4" name="text-3"/>
          <p:cNvSpPr txBox="1"/>
          <p:nvPr/>
        </p:nvSpPr>
        <p:spPr>
          <a:xfrm>
            <a:off x="10934700" y="428625"/>
            <a:ext cx="8763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学术分享型</a:t>
            </a:r>
            <a:endParaRPr/>
          </a:p>
        </p:txBody>
      </p:sp>
      <p:sp>
        <p:nvSpPr>
          <p:cNvPr id="5" name="shape-4"/>
          <p:cNvSpPr/>
          <p:nvPr/>
        </p:nvSpPr>
        <p:spPr>
          <a:xfrm>
            <a:off x="10934700" y="781050"/>
            <a:ext cx="876300" cy="38100"/>
          </a:xfrm>
          <a:prstGeom prst="rect">
            <a:avLst/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ape-5"/>
          <p:cNvSpPr/>
          <p:nvPr/>
        </p:nvSpPr>
        <p:spPr>
          <a:xfrm>
            <a:off x="2038350" y="1133475"/>
            <a:ext cx="8115300" cy="97155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B7C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-6"/>
          <p:cNvSpPr txBox="1"/>
          <p:nvPr/>
        </p:nvSpPr>
        <p:spPr>
          <a:xfrm>
            <a:off x="3009900" y="1371600"/>
            <a:ext cx="1285875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  <a:endParaRPr/>
          </a:p>
        </p:txBody>
      </p:sp>
      <p:sp>
        <p:nvSpPr>
          <p:cNvPr id="8" name="text-7"/>
          <p:cNvSpPr txBox="1"/>
          <p:nvPr/>
        </p:nvSpPr>
        <p:spPr>
          <a:xfrm>
            <a:off x="4391025" y="1371600"/>
            <a:ext cx="4000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=</a:t>
            </a:r>
          </a:p>
        </p:txBody>
      </p:sp>
      <p:sp>
        <p:nvSpPr>
          <p:cNvPr id="9" name="text-8"/>
          <p:cNvSpPr txBox="1"/>
          <p:nvPr/>
        </p:nvSpPr>
        <p:spPr>
          <a:xfrm>
            <a:off x="4895850" y="1181100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  <a:endParaRPr/>
          </a:p>
        </p:txBody>
      </p:sp>
      <p:cxnSp>
        <p:nvCxnSpPr>
          <p:cNvPr id="10" name="connector-9"/>
          <p:cNvCxnSpPr/>
          <p:nvPr/>
        </p:nvCxnSpPr>
        <p:spPr>
          <a:xfrm>
            <a:off x="4895850" y="1600200"/>
            <a:ext cx="2190750" cy="0"/>
          </a:xfrm>
          <a:prstGeom prst="line">
            <a:avLst/>
          </a:prstGeom>
          <a:ln w="13334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-10"/>
          <p:cNvSpPr txBox="1"/>
          <p:nvPr/>
        </p:nvSpPr>
        <p:spPr>
          <a:xfrm>
            <a:off x="4895850" y="1628775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  <a:endParaRPr/>
          </a:p>
        </p:txBody>
      </p:sp>
      <p:sp>
        <p:nvSpPr>
          <p:cNvPr id="12" name="text-11"/>
          <p:cNvSpPr txBox="1"/>
          <p:nvPr/>
        </p:nvSpPr>
        <p:spPr>
          <a:xfrm>
            <a:off x="7315200" y="1371600"/>
            <a:ext cx="16954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× 100</a:t>
            </a:r>
          </a:p>
        </p:txBody>
      </p:sp>
      <p:sp>
        <p:nvSpPr>
          <p:cNvPr id="13" name="synthetic-source-12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合成数据，仅供版式演示</a:t>
            </a:r>
            <a:endParaRPr/>
          </a:p>
        </p:txBody>
      </p:sp>
      <p:sp>
        <p:nvSpPr>
          <p:cNvPr id="14" name="page-number-13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  <p:sp>
        <p:nvSpPr>
          <p:cNvPr id="15" name="shape-14"/>
          <p:cNvSpPr/>
          <p:nvPr/>
        </p:nvSpPr>
        <p:spPr>
          <a:xfrm>
            <a:off x="304800" y="2409825"/>
            <a:ext cx="5638800" cy="781050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hape-15"/>
          <p:cNvSpPr/>
          <p:nvPr/>
        </p:nvSpPr>
        <p:spPr>
          <a:xfrm>
            <a:off x="457200" y="2581275"/>
            <a:ext cx="933450" cy="409575"/>
          </a:xfrm>
          <a:prstGeom prst="roundRect">
            <a:avLst>
              <a:gd name="adj" fmla="val 8000"/>
            </a:avLst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-16"/>
          <p:cNvSpPr txBox="1"/>
          <p:nvPr/>
        </p:nvSpPr>
        <p:spPr>
          <a:xfrm>
            <a:off x="457200" y="2609850"/>
            <a:ext cx="9334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点位甲</a:t>
            </a:r>
            <a:endParaRPr/>
          </a:p>
        </p:txBody>
      </p:sp>
      <p:sp>
        <p:nvSpPr>
          <p:cNvPr id="18" name="text-17"/>
          <p:cNvSpPr txBox="1"/>
          <p:nvPr/>
        </p:nvSpPr>
        <p:spPr>
          <a:xfrm>
            <a:off x="161925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  <a:endParaRPr/>
          </a:p>
        </p:txBody>
      </p:sp>
      <p:sp>
        <p:nvSpPr>
          <p:cNvPr id="19" name="text-18"/>
          <p:cNvSpPr txBox="1"/>
          <p:nvPr/>
        </p:nvSpPr>
        <p:spPr>
          <a:xfrm>
            <a:off x="161925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24</a:t>
            </a:r>
            <a:endParaRPr/>
          </a:p>
        </p:txBody>
      </p:sp>
      <p:sp>
        <p:nvSpPr>
          <p:cNvPr id="20" name="text-19"/>
          <p:cNvSpPr txBox="1"/>
          <p:nvPr/>
        </p:nvSpPr>
        <p:spPr>
          <a:xfrm>
            <a:off x="302895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  <a:endParaRPr/>
          </a:p>
        </p:txBody>
      </p:sp>
      <p:sp>
        <p:nvSpPr>
          <p:cNvPr id="21" name="text-20"/>
          <p:cNvSpPr txBox="1"/>
          <p:nvPr/>
        </p:nvSpPr>
        <p:spPr>
          <a:xfrm>
            <a:off x="302895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120</a:t>
            </a:r>
            <a:endParaRPr/>
          </a:p>
        </p:txBody>
      </p:sp>
      <p:sp>
        <p:nvSpPr>
          <p:cNvPr id="22" name="text-21"/>
          <p:cNvSpPr txBox="1"/>
          <p:nvPr/>
        </p:nvSpPr>
        <p:spPr>
          <a:xfrm>
            <a:off x="461010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  <a:endParaRPr/>
          </a:p>
        </p:txBody>
      </p:sp>
      <p:sp>
        <p:nvSpPr>
          <p:cNvPr id="23" name="text-22"/>
          <p:cNvSpPr txBox="1"/>
          <p:nvPr/>
        </p:nvSpPr>
        <p:spPr>
          <a:xfrm>
            <a:off x="461010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20</a:t>
            </a:r>
            <a:endParaRPr/>
          </a:p>
        </p:txBody>
      </p:sp>
      <p:sp>
        <p:nvSpPr>
          <p:cNvPr id="24" name="shape-23"/>
          <p:cNvSpPr/>
          <p:nvPr/>
        </p:nvSpPr>
        <p:spPr>
          <a:xfrm>
            <a:off x="6248400" y="2409825"/>
            <a:ext cx="5638800" cy="781050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hape-24"/>
          <p:cNvSpPr/>
          <p:nvPr/>
        </p:nvSpPr>
        <p:spPr>
          <a:xfrm>
            <a:off x="6400800" y="2581275"/>
            <a:ext cx="933450" cy="409575"/>
          </a:xfrm>
          <a:prstGeom prst="roundRect">
            <a:avLst>
              <a:gd name="adj" fmla="val 8000"/>
            </a:avLst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-25"/>
          <p:cNvSpPr txBox="1"/>
          <p:nvPr/>
        </p:nvSpPr>
        <p:spPr>
          <a:xfrm>
            <a:off x="6400800" y="2609850"/>
            <a:ext cx="9334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点位乙</a:t>
            </a:r>
            <a:endParaRPr/>
          </a:p>
        </p:txBody>
      </p:sp>
      <p:sp>
        <p:nvSpPr>
          <p:cNvPr id="27" name="text-26"/>
          <p:cNvSpPr txBox="1"/>
          <p:nvPr/>
        </p:nvSpPr>
        <p:spPr>
          <a:xfrm>
            <a:off x="756285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  <a:endParaRPr/>
          </a:p>
        </p:txBody>
      </p:sp>
      <p:sp>
        <p:nvSpPr>
          <p:cNvPr id="28" name="text-27"/>
          <p:cNvSpPr txBox="1"/>
          <p:nvPr/>
        </p:nvSpPr>
        <p:spPr>
          <a:xfrm>
            <a:off x="756285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36</a:t>
            </a:r>
            <a:endParaRPr/>
          </a:p>
        </p:txBody>
      </p:sp>
      <p:sp>
        <p:nvSpPr>
          <p:cNvPr id="29" name="text-28"/>
          <p:cNvSpPr txBox="1"/>
          <p:nvPr/>
        </p:nvSpPr>
        <p:spPr>
          <a:xfrm>
            <a:off x="897255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  <a:endParaRPr/>
          </a:p>
        </p:txBody>
      </p:sp>
      <p:sp>
        <p:nvSpPr>
          <p:cNvPr id="30" name="text-29"/>
          <p:cNvSpPr txBox="1"/>
          <p:nvPr/>
        </p:nvSpPr>
        <p:spPr>
          <a:xfrm>
            <a:off x="897255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240</a:t>
            </a:r>
            <a:endParaRPr/>
          </a:p>
        </p:txBody>
      </p:sp>
      <p:sp>
        <p:nvSpPr>
          <p:cNvPr id="31" name="text-30"/>
          <p:cNvSpPr txBox="1"/>
          <p:nvPr/>
        </p:nvSpPr>
        <p:spPr>
          <a:xfrm>
            <a:off x="1055370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  <a:endParaRPr/>
          </a:p>
        </p:txBody>
      </p:sp>
      <p:sp>
        <p:nvSpPr>
          <p:cNvPr id="32" name="text-31"/>
          <p:cNvSpPr txBox="1"/>
          <p:nvPr/>
        </p:nvSpPr>
        <p:spPr>
          <a:xfrm>
            <a:off x="1055370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/>
          </a:p>
        </p:txBody>
      </p:sp>
      <p:sp>
        <p:nvSpPr>
          <p:cNvPr id="33" name="text-32"/>
          <p:cNvSpPr txBox="1"/>
          <p:nvPr/>
        </p:nvSpPr>
        <p:spPr>
          <a:xfrm>
            <a:off x="304800" y="3371850"/>
            <a:ext cx="56388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原始记录数</a:t>
            </a:r>
            <a:endParaRPr/>
          </a:p>
        </p:txBody>
      </p:sp>
      <p:graphicFrame>
        <p:nvGraphicFramePr>
          <p:cNvPr id="34" name="native-chart-33"/>
          <p:cNvGraphicFramePr>
            <a:graphicFrameLocks noGrp="1"/>
          </p:cNvGraphicFramePr>
          <p:nvPr/>
        </p:nvGraphicFramePr>
        <p:xfrm>
          <a:off x="304800" y="3819525"/>
          <a:ext cx="5638800" cy="20764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5" name="text-34"/>
          <p:cNvSpPr txBox="1"/>
          <p:nvPr/>
        </p:nvSpPr>
        <p:spPr>
          <a:xfrm>
            <a:off x="6248400" y="3371850"/>
            <a:ext cx="56388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标准化记录率</a:t>
            </a:r>
            <a:endParaRPr/>
          </a:p>
        </p:txBody>
      </p:sp>
      <p:graphicFrame>
        <p:nvGraphicFramePr>
          <p:cNvPr id="36" name="native-chart-35"/>
          <p:cNvGraphicFramePr>
            <a:graphicFrameLocks noGrp="1"/>
          </p:cNvGraphicFramePr>
          <p:nvPr/>
        </p:nvGraphicFramePr>
        <p:xfrm>
          <a:off x="6248400" y="3819525"/>
          <a:ext cx="5638800" cy="207645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37" name="shape-36"/>
          <p:cNvSpPr/>
          <p:nvPr/>
        </p:nvSpPr>
        <p:spPr>
          <a:xfrm>
            <a:off x="304800" y="6115050"/>
            <a:ext cx="11582400" cy="409575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hape-37"/>
          <p:cNvSpPr/>
          <p:nvPr/>
        </p:nvSpPr>
        <p:spPr>
          <a:xfrm>
            <a:off x="457200" y="6200775"/>
            <a:ext cx="38100" cy="247650"/>
          </a:xfrm>
          <a:prstGeom prst="rect">
            <a:avLst/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-38"/>
          <p:cNvSpPr txBox="1"/>
          <p:nvPr/>
        </p:nvSpPr>
        <p:spPr>
          <a:xfrm>
            <a:off x="647700" y="6172200"/>
            <a:ext cx="295275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  <a:endParaRPr/>
          </a:p>
        </p:txBody>
      </p:sp>
      <p:sp>
        <p:nvSpPr>
          <p:cNvPr id="40" name="text-39"/>
          <p:cNvSpPr txBox="1"/>
          <p:nvPr/>
        </p:nvSpPr>
        <p:spPr>
          <a:xfrm>
            <a:off x="4076700" y="6191250"/>
            <a:ext cx="7620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记录率用于描述，不直接等同于种群密度。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1"/>
          <p:cNvSpPr txBox="1"/>
          <p:nvPr/>
        </p:nvSpPr>
        <p:spPr>
          <a:xfrm>
            <a:off x="381000" y="142875"/>
            <a:ext cx="1524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学术分享型</a:t>
            </a:r>
            <a:endParaRPr/>
          </a:p>
        </p:txBody>
      </p:sp>
      <p:sp>
        <p:nvSpPr>
          <p:cNvPr id="3" name="shape-2"/>
          <p:cNvSpPr/>
          <p:nvPr/>
        </p:nvSpPr>
        <p:spPr>
          <a:xfrm>
            <a:off x="304800" y="190500"/>
            <a:ext cx="47625" cy="209550"/>
          </a:xfrm>
          <a:prstGeom prst="rect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3"/>
          <p:cNvSpPr txBox="1"/>
          <p:nvPr/>
        </p:nvSpPr>
        <p:spPr>
          <a:xfrm>
            <a:off x="304800" y="523875"/>
            <a:ext cx="1158240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让不同调查努力下的记录可以比较</a:t>
            </a:r>
            <a:endParaRPr/>
          </a:p>
        </p:txBody>
      </p:sp>
      <p:sp>
        <p:nvSpPr>
          <p:cNvPr id="5" name="synthetic-source-4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合成数据，仅供版式演示</a:t>
            </a:r>
            <a:endParaRPr/>
          </a:p>
        </p:txBody>
      </p:sp>
      <p:sp>
        <p:nvSpPr>
          <p:cNvPr id="6" name="page-number-5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  <p:sp>
        <p:nvSpPr>
          <p:cNvPr id="7" name="shape-6"/>
          <p:cNvSpPr/>
          <p:nvPr/>
        </p:nvSpPr>
        <p:spPr>
          <a:xfrm>
            <a:off x="304800" y="1257300"/>
            <a:ext cx="3695700" cy="895350"/>
          </a:xfrm>
          <a:prstGeom prst="chevron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online-icon-camera"/>
          <p:cNvGrpSpPr/>
          <p:nvPr/>
        </p:nvGrpSpPr>
        <p:grpSpPr>
          <a:xfrm>
            <a:off x="476250" y="1419225"/>
            <a:ext cx="304800" cy="304800"/>
            <a:chOff x="476250" y="1419225"/>
            <a:chExt cx="304800" cy="304800"/>
          </a:xfrm>
        </p:grpSpPr>
        <p:sp>
          <p:nvSpPr>
            <p:cNvPr id="8" name="online-vector-camera-7" descr="{&quot;origin&quot;: &quot;online&quot;, &quot;asset&quot;: &quot;camera&quot;, &quot;source&quot;: &quot;https://lucide.dev/icons/camera&quot;, &quot;license&quot;: &quot;ISC&quot;}"/>
            <p:cNvSpPr/>
            <p:nvPr/>
          </p:nvSpPr>
          <p:spPr>
            <a:xfrm>
              <a:off x="4762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3997" y="4000"/>
                  </a:moveTo>
                  <a:cubicBezTo>
                    <a:pt x="14732" y="4000"/>
                    <a:pt x="15408" y="4403"/>
                    <a:pt x="15757" y="5050"/>
                  </a:cubicBezTo>
                  <a:lnTo>
                    <a:pt x="16243" y="5950"/>
                  </a:lnTo>
                  <a:cubicBezTo>
                    <a:pt x="16592" y="6597"/>
                    <a:pt x="17268" y="7000"/>
                    <a:pt x="18003" y="7000"/>
                  </a:cubicBezTo>
                  <a:lnTo>
                    <a:pt x="20000" y="7000"/>
                  </a:lnTo>
                  <a:cubicBezTo>
                    <a:pt x="21105" y="7000"/>
                    <a:pt x="22000" y="7895"/>
                    <a:pt x="22000" y="9000"/>
                  </a:cubicBezTo>
                  <a:lnTo>
                    <a:pt x="22000" y="18000"/>
                  </a:lnTo>
                  <a:cubicBezTo>
                    <a:pt x="22000" y="19105"/>
                    <a:pt x="21105" y="20000"/>
                    <a:pt x="20000" y="20000"/>
                  </a:cubicBezTo>
                  <a:lnTo>
                    <a:pt x="4000" y="20000"/>
                  </a:lnTo>
                  <a:cubicBezTo>
                    <a:pt x="2895" y="20000"/>
                    <a:pt x="2000" y="19105"/>
                    <a:pt x="2000" y="18000"/>
                  </a:cubicBezTo>
                  <a:lnTo>
                    <a:pt x="2000" y="9000"/>
                  </a:lnTo>
                  <a:cubicBezTo>
                    <a:pt x="2000" y="7895"/>
                    <a:pt x="2895" y="7000"/>
                    <a:pt x="4000" y="7000"/>
                  </a:cubicBezTo>
                  <a:lnTo>
                    <a:pt x="5997" y="7000"/>
                  </a:lnTo>
                  <a:cubicBezTo>
                    <a:pt x="6731" y="7000"/>
                    <a:pt x="7406" y="6598"/>
                    <a:pt x="7756" y="5952"/>
                  </a:cubicBezTo>
                  <a:lnTo>
                    <a:pt x="8245" y="5048"/>
                  </a:lnTo>
                  <a:cubicBezTo>
                    <a:pt x="8595" y="4402"/>
                    <a:pt x="9270" y="4000"/>
                    <a:pt x="10004" y="4000"/>
                  </a:cubicBezTo>
                  <a:lnTo>
                    <a:pt x="13997" y="4000"/>
                  </a:lnTo>
                  <a:close/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nline-vector-camera-8" descr="{&quot;origin&quot;: &quot;online&quot;, &quot;asset&quot;: &quot;camera&quot;, &quot;source&quot;: &quot;https://lucide.dev/icons/camera&quot;, &quot;license&quot;: &quot;ISC&quot;}"/>
            <p:cNvSpPr/>
            <p:nvPr/>
          </p:nvSpPr>
          <p:spPr>
            <a:xfrm>
              <a:off x="4762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9000" y="13000"/>
                  </a:moveTo>
                  <a:cubicBezTo>
                    <a:pt x="9000" y="14657"/>
                    <a:pt x="10343" y="16000"/>
                    <a:pt x="12000" y="16000"/>
                  </a:cubicBezTo>
                  <a:cubicBezTo>
                    <a:pt x="13657" y="16000"/>
                    <a:pt x="15000" y="14657"/>
                    <a:pt x="15000" y="13000"/>
                  </a:cubicBezTo>
                  <a:cubicBezTo>
                    <a:pt x="15000" y="11343"/>
                    <a:pt x="13657" y="10000"/>
                    <a:pt x="12000" y="10000"/>
                  </a:cubicBezTo>
                  <a:cubicBezTo>
                    <a:pt x="10343" y="10000"/>
                    <a:pt x="9000" y="11343"/>
                    <a:pt x="9000" y="13000"/>
                  </a:cubicBezTo>
                  <a:close/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" name="text-9"/>
          <p:cNvSpPr txBox="1"/>
          <p:nvPr/>
        </p:nvSpPr>
        <p:spPr>
          <a:xfrm>
            <a:off x="1009650" y="1333500"/>
            <a:ext cx="27432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独立记录</a:t>
            </a:r>
            <a:endParaRPr/>
          </a:p>
        </p:txBody>
      </p:sp>
      <p:sp>
        <p:nvSpPr>
          <p:cNvPr id="12" name="text-10"/>
          <p:cNvSpPr txBox="1"/>
          <p:nvPr/>
        </p:nvSpPr>
        <p:spPr>
          <a:xfrm>
            <a:off x="1009650" y="1666875"/>
            <a:ext cx="27432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统一规则识别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独立事件数。</a:t>
            </a:r>
            <a:endParaRPr/>
          </a:p>
        </p:txBody>
      </p:sp>
      <p:sp>
        <p:nvSpPr>
          <p:cNvPr id="13" name="shape-11"/>
          <p:cNvSpPr/>
          <p:nvPr/>
        </p:nvSpPr>
        <p:spPr>
          <a:xfrm>
            <a:off x="4248150" y="1257300"/>
            <a:ext cx="3695700" cy="895350"/>
          </a:xfrm>
          <a:prstGeom prst="chevron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4" name="online-icon-calendar-days"/>
          <p:cNvGrpSpPr/>
          <p:nvPr/>
        </p:nvGrpSpPr>
        <p:grpSpPr>
          <a:xfrm>
            <a:off x="4419600" y="1419225"/>
            <a:ext cx="304800" cy="304800"/>
            <a:chOff x="4419600" y="1419225"/>
            <a:chExt cx="304800" cy="304800"/>
          </a:xfrm>
        </p:grpSpPr>
        <p:sp>
          <p:nvSpPr>
            <p:cNvPr id="14" name="online-vector-calendar-days-12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8000" y="2000"/>
                  </a:moveTo>
                  <a:lnTo>
                    <a:pt x="8000" y="5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nline-vector-calendar-days-13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000" y="2000"/>
                  </a:moveTo>
                  <a:lnTo>
                    <a:pt x="16000" y="5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nline-vector-calendar-days-14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5000" y="3000"/>
                  </a:moveTo>
                  <a:lnTo>
                    <a:pt x="19000" y="3000"/>
                  </a:lnTo>
                  <a:quadBezTo>
                    <a:pt x="21000" y="3000"/>
                    <a:pt x="21000" y="5000"/>
                  </a:quadBezTo>
                  <a:lnTo>
                    <a:pt x="21000" y="19000"/>
                  </a:lnTo>
                  <a:quadBezTo>
                    <a:pt x="21000" y="21000"/>
                    <a:pt x="19000" y="21000"/>
                  </a:quadBezTo>
                  <a:lnTo>
                    <a:pt x="5000" y="21000"/>
                  </a:lnTo>
                  <a:quadBezTo>
                    <a:pt x="3000" y="21000"/>
                    <a:pt x="3000" y="19000"/>
                  </a:quadBezTo>
                  <a:lnTo>
                    <a:pt x="3000" y="5000"/>
                  </a:lnTo>
                  <a:quadBezTo>
                    <a:pt x="3000" y="3000"/>
                    <a:pt x="5000" y="3000"/>
                  </a:quadBezTo>
                  <a:close/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nline-vector-calendar-days-15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3000" y="9000"/>
                  </a:moveTo>
                  <a:lnTo>
                    <a:pt x="21000" y="9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nline-vector-calendar-days-16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8000" y="13000"/>
                  </a:moveTo>
                  <a:lnTo>
                    <a:pt x="8010" y="13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nline-vector-calendar-days-17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2000" y="13000"/>
                  </a:moveTo>
                  <a:lnTo>
                    <a:pt x="12010" y="13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nline-vector-calendar-days-18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000" y="13000"/>
                  </a:moveTo>
                  <a:lnTo>
                    <a:pt x="16010" y="13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nline-vector-calendar-days-19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8000" y="17000"/>
                  </a:moveTo>
                  <a:lnTo>
                    <a:pt x="8010" y="17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nline-vector-calendar-days-20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nline-vector-calendar-days-21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000" y="17000"/>
                  </a:moveTo>
                  <a:lnTo>
                    <a:pt x="16010" y="17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5" name="text-22"/>
          <p:cNvSpPr txBox="1"/>
          <p:nvPr/>
        </p:nvSpPr>
        <p:spPr>
          <a:xfrm>
            <a:off x="4953000" y="1333500"/>
            <a:ext cx="27432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有效努力量</a:t>
            </a:r>
            <a:endParaRPr/>
          </a:p>
        </p:txBody>
      </p:sp>
      <p:sp>
        <p:nvSpPr>
          <p:cNvPr id="26" name="text-23"/>
          <p:cNvSpPr txBox="1"/>
          <p:nvPr/>
        </p:nvSpPr>
        <p:spPr>
          <a:xfrm>
            <a:off x="4953000" y="1666875"/>
            <a:ext cx="27432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逐台累加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有效相机日。</a:t>
            </a:r>
            <a:endParaRPr/>
          </a:p>
        </p:txBody>
      </p:sp>
      <p:sp>
        <p:nvSpPr>
          <p:cNvPr id="27" name="shape-24"/>
          <p:cNvSpPr/>
          <p:nvPr/>
        </p:nvSpPr>
        <p:spPr>
          <a:xfrm>
            <a:off x="8191500" y="1257300"/>
            <a:ext cx="3695700" cy="895350"/>
          </a:xfrm>
          <a:prstGeom prst="chevron">
            <a:avLst/>
          </a:prstGeom>
          <a:solidFill>
            <a:srgbClr val="EE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1" name="online-icon-chart-no-axes-column"/>
          <p:cNvGrpSpPr/>
          <p:nvPr/>
        </p:nvGrpSpPr>
        <p:grpSpPr>
          <a:xfrm>
            <a:off x="8362950" y="1419225"/>
            <a:ext cx="304800" cy="304800"/>
            <a:chOff x="8362950" y="1419225"/>
            <a:chExt cx="304800" cy="304800"/>
          </a:xfrm>
        </p:grpSpPr>
        <p:sp>
          <p:nvSpPr>
            <p:cNvPr id="28" name="online-vector-chart-no-axes-column-25" descr="{&quot;origin&quot;: &quot;online&quot;, &quot;asset&quot;: &quot;chart-no-axes-column&quot;, &quot;source&quot;: &quot;https://lucide.dev/icons/chart-no-axes-column&quot;, &quot;license&quot;: &quot;ISC&quot;}"/>
            <p:cNvSpPr/>
            <p:nvPr/>
          </p:nvSpPr>
          <p:spPr>
            <a:xfrm>
              <a:off x="83629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5000" y="21000"/>
                  </a:moveTo>
                  <a:lnTo>
                    <a:pt x="5000" y="15000"/>
                  </a:lnTo>
                </a:path>
              </a:pathLst>
            </a:custGeom>
            <a:noFill/>
            <a:ln w="16192" cap="rnd">
              <a:solidFill>
                <a:srgbClr val="6854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nline-vector-chart-no-axes-column-26" descr="{&quot;origin&quot;: &quot;online&quot;, &quot;asset&quot;: &quot;chart-no-axes-column&quot;, &quot;source&quot;: &quot;https://lucide.dev/icons/chart-no-axes-column&quot;, &quot;license&quot;: &quot;ISC&quot;}"/>
            <p:cNvSpPr/>
            <p:nvPr/>
          </p:nvSpPr>
          <p:spPr>
            <a:xfrm>
              <a:off x="83629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2000" y="21000"/>
                  </a:moveTo>
                  <a:lnTo>
                    <a:pt x="12000" y="3000"/>
                  </a:lnTo>
                </a:path>
              </a:pathLst>
            </a:custGeom>
            <a:noFill/>
            <a:ln w="16192" cap="rnd">
              <a:solidFill>
                <a:srgbClr val="6854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nline-vector-chart-no-axes-column-27" descr="{&quot;origin&quot;: &quot;online&quot;, &quot;asset&quot;: &quot;chart-no-axes-column&quot;, &quot;source&quot;: &quot;https://lucide.dev/icons/chart-no-axes-column&quot;, &quot;license&quot;: &quot;ISC&quot;}"/>
            <p:cNvSpPr/>
            <p:nvPr/>
          </p:nvSpPr>
          <p:spPr>
            <a:xfrm>
              <a:off x="83629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9000" y="21000"/>
                  </a:moveTo>
                  <a:lnTo>
                    <a:pt x="19000" y="9000"/>
                  </a:lnTo>
                </a:path>
              </a:pathLst>
            </a:custGeom>
            <a:noFill/>
            <a:ln w="16192" cap="rnd">
              <a:solidFill>
                <a:srgbClr val="6854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2" name="text-28"/>
          <p:cNvSpPr txBox="1"/>
          <p:nvPr/>
        </p:nvSpPr>
        <p:spPr>
          <a:xfrm>
            <a:off x="8896350" y="1333500"/>
            <a:ext cx="27432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6854A4"/>
                </a:solidFill>
                <a:latin typeface="Noto Sans CJK SC"/>
                <a:ea typeface="Noto Sans CJK SC"/>
                <a:cs typeface="Noto Sans CJK SC"/>
              </a:rPr>
              <a:t>标准化记录率</a:t>
            </a:r>
            <a:endParaRPr/>
          </a:p>
        </p:txBody>
      </p:sp>
      <p:sp>
        <p:nvSpPr>
          <p:cNvPr id="33" name="text-29"/>
          <p:cNvSpPr txBox="1"/>
          <p:nvPr/>
        </p:nvSpPr>
        <p:spPr>
          <a:xfrm>
            <a:off x="8896350" y="1666875"/>
            <a:ext cx="27432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按有效努力量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换算记录率。</a:t>
            </a:r>
            <a:endParaRPr/>
          </a:p>
        </p:txBody>
      </p:sp>
      <p:sp>
        <p:nvSpPr>
          <p:cNvPr id="34" name="shape-30"/>
          <p:cNvSpPr/>
          <p:nvPr/>
        </p:nvSpPr>
        <p:spPr>
          <a:xfrm>
            <a:off x="304800" y="2295525"/>
            <a:ext cx="11582400" cy="933450"/>
          </a:xfrm>
          <a:prstGeom prst="roundRect">
            <a:avLst>
              <a:gd name="adj" fmla="val 8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-31"/>
          <p:cNvSpPr txBox="1"/>
          <p:nvPr/>
        </p:nvSpPr>
        <p:spPr>
          <a:xfrm>
            <a:off x="3009900" y="2524125"/>
            <a:ext cx="1285875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  <a:endParaRPr/>
          </a:p>
        </p:txBody>
      </p:sp>
      <p:sp>
        <p:nvSpPr>
          <p:cNvPr id="36" name="text-32"/>
          <p:cNvSpPr txBox="1"/>
          <p:nvPr/>
        </p:nvSpPr>
        <p:spPr>
          <a:xfrm>
            <a:off x="4391025" y="2524125"/>
            <a:ext cx="4000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=</a:t>
            </a:r>
          </a:p>
        </p:txBody>
      </p:sp>
      <p:sp>
        <p:nvSpPr>
          <p:cNvPr id="37" name="text-33"/>
          <p:cNvSpPr txBox="1"/>
          <p:nvPr/>
        </p:nvSpPr>
        <p:spPr>
          <a:xfrm>
            <a:off x="4895850" y="2333625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  <a:endParaRPr/>
          </a:p>
        </p:txBody>
      </p:sp>
      <p:cxnSp>
        <p:nvCxnSpPr>
          <p:cNvPr id="38" name="connector-34"/>
          <p:cNvCxnSpPr/>
          <p:nvPr/>
        </p:nvCxnSpPr>
        <p:spPr>
          <a:xfrm>
            <a:off x="4895850" y="2752725"/>
            <a:ext cx="2190750" cy="0"/>
          </a:xfrm>
          <a:prstGeom prst="line">
            <a:avLst/>
          </a:prstGeom>
          <a:ln w="13334">
            <a:solidFill>
              <a:srgbClr val="006A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-35"/>
          <p:cNvSpPr txBox="1"/>
          <p:nvPr/>
        </p:nvSpPr>
        <p:spPr>
          <a:xfrm>
            <a:off x="4895850" y="2781300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  <a:endParaRPr/>
          </a:p>
        </p:txBody>
      </p:sp>
      <p:sp>
        <p:nvSpPr>
          <p:cNvPr id="40" name="text-36"/>
          <p:cNvSpPr txBox="1"/>
          <p:nvPr/>
        </p:nvSpPr>
        <p:spPr>
          <a:xfrm>
            <a:off x="7315200" y="2524125"/>
            <a:ext cx="16954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× 100</a:t>
            </a:r>
          </a:p>
        </p:txBody>
      </p:sp>
      <p:sp>
        <p:nvSpPr>
          <p:cNvPr id="41" name="shape-37"/>
          <p:cNvSpPr/>
          <p:nvPr/>
        </p:nvSpPr>
        <p:spPr>
          <a:xfrm>
            <a:off x="304800" y="3381375"/>
            <a:ext cx="5638800" cy="542925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-38"/>
          <p:cNvSpPr txBox="1"/>
          <p:nvPr/>
        </p:nvSpPr>
        <p:spPr>
          <a:xfrm>
            <a:off x="438150" y="3457575"/>
            <a:ext cx="10668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点位甲</a:t>
            </a:r>
            <a:endParaRPr/>
          </a:p>
        </p:txBody>
      </p:sp>
      <p:sp>
        <p:nvSpPr>
          <p:cNvPr id="43" name="text-39"/>
          <p:cNvSpPr txBox="1"/>
          <p:nvPr/>
        </p:nvSpPr>
        <p:spPr>
          <a:xfrm>
            <a:off x="1619250" y="3457575"/>
            <a:ext cx="40957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24 ÷ 120 × 100 = 20</a:t>
            </a:r>
            <a:endParaRPr/>
          </a:p>
        </p:txBody>
      </p:sp>
      <p:sp>
        <p:nvSpPr>
          <p:cNvPr id="44" name="shape-40"/>
          <p:cNvSpPr/>
          <p:nvPr/>
        </p:nvSpPr>
        <p:spPr>
          <a:xfrm>
            <a:off x="6248400" y="3381375"/>
            <a:ext cx="5638800" cy="542925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-41"/>
          <p:cNvSpPr txBox="1"/>
          <p:nvPr/>
        </p:nvSpPr>
        <p:spPr>
          <a:xfrm>
            <a:off x="6381750" y="3457575"/>
            <a:ext cx="10668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点位乙</a:t>
            </a:r>
            <a:endParaRPr/>
          </a:p>
        </p:txBody>
      </p:sp>
      <p:sp>
        <p:nvSpPr>
          <p:cNvPr id="46" name="text-42"/>
          <p:cNvSpPr txBox="1"/>
          <p:nvPr/>
        </p:nvSpPr>
        <p:spPr>
          <a:xfrm>
            <a:off x="7562850" y="3457575"/>
            <a:ext cx="40957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36 ÷ 240 × 100 = 15</a:t>
            </a:r>
            <a:endParaRPr/>
          </a:p>
        </p:txBody>
      </p:sp>
      <p:sp>
        <p:nvSpPr>
          <p:cNvPr id="47" name="text-43"/>
          <p:cNvSpPr txBox="1"/>
          <p:nvPr/>
        </p:nvSpPr>
        <p:spPr>
          <a:xfrm>
            <a:off x="381000" y="4048125"/>
            <a:ext cx="54102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原始记录数（次）</a:t>
            </a:r>
            <a:endParaRPr/>
          </a:p>
        </p:txBody>
      </p:sp>
      <p:graphicFrame>
        <p:nvGraphicFramePr>
          <p:cNvPr id="48" name="native-chart-44"/>
          <p:cNvGraphicFramePr>
            <a:graphicFrameLocks noGrp="1"/>
          </p:cNvGraphicFramePr>
          <p:nvPr/>
        </p:nvGraphicFramePr>
        <p:xfrm>
          <a:off x="304800" y="4457700"/>
          <a:ext cx="5638800" cy="16192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9" name="text-45"/>
          <p:cNvSpPr txBox="1"/>
          <p:nvPr/>
        </p:nvSpPr>
        <p:spPr>
          <a:xfrm>
            <a:off x="6324600" y="4048125"/>
            <a:ext cx="54102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标准化记录率</a:t>
            </a:r>
            <a:endParaRPr/>
          </a:p>
        </p:txBody>
      </p:sp>
      <p:graphicFrame>
        <p:nvGraphicFramePr>
          <p:cNvPr id="50" name="native-chart-46"/>
          <p:cNvGraphicFramePr>
            <a:graphicFrameLocks noGrp="1"/>
          </p:cNvGraphicFramePr>
          <p:nvPr/>
        </p:nvGraphicFramePr>
        <p:xfrm>
          <a:off x="6248400" y="4457700"/>
          <a:ext cx="5638800" cy="161925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51" name="shape-47"/>
          <p:cNvSpPr/>
          <p:nvPr/>
        </p:nvSpPr>
        <p:spPr>
          <a:xfrm>
            <a:off x="304800" y="6181725"/>
            <a:ext cx="11582400" cy="361950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-48"/>
          <p:cNvSpPr txBox="1"/>
          <p:nvPr/>
        </p:nvSpPr>
        <p:spPr>
          <a:xfrm>
            <a:off x="457200" y="6229350"/>
            <a:ext cx="319087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  <a:endParaRPr/>
          </a:p>
        </p:txBody>
      </p:sp>
      <p:sp>
        <p:nvSpPr>
          <p:cNvPr id="53" name="text-49"/>
          <p:cNvSpPr txBox="1"/>
          <p:nvPr/>
        </p:nvSpPr>
        <p:spPr>
          <a:xfrm>
            <a:off x="4076700" y="6248400"/>
            <a:ext cx="7562850" cy="238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记录率用于描述，不直接等同于种群密度。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1"/>
          <p:cNvSpPr txBox="1"/>
          <p:nvPr/>
        </p:nvSpPr>
        <p:spPr>
          <a:xfrm>
            <a:off x="381000" y="142875"/>
            <a:ext cx="1524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学术分享型</a:t>
            </a:r>
            <a:endParaRPr/>
          </a:p>
        </p:txBody>
      </p:sp>
      <p:sp>
        <p:nvSpPr>
          <p:cNvPr id="3" name="shape-2"/>
          <p:cNvSpPr/>
          <p:nvPr/>
        </p:nvSpPr>
        <p:spPr>
          <a:xfrm>
            <a:off x="304800" y="190500"/>
            <a:ext cx="47625" cy="209550"/>
          </a:xfrm>
          <a:prstGeom prst="rect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3"/>
          <p:cNvSpPr txBox="1"/>
          <p:nvPr/>
        </p:nvSpPr>
        <p:spPr>
          <a:xfrm>
            <a:off x="304800" y="523875"/>
            <a:ext cx="1158240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先补齐验证，再推进下一轮实验</a:t>
            </a:r>
            <a:endParaRPr/>
          </a:p>
        </p:txBody>
      </p:sp>
      <p:sp>
        <p:nvSpPr>
          <p:cNvPr id="5" name="synthetic-source-4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合成数据，仅供版式演示</a:t>
            </a:r>
            <a:endParaRPr/>
          </a:p>
        </p:txBody>
      </p:sp>
      <p:sp>
        <p:nvSpPr>
          <p:cNvPr id="6" name="page-number-5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/>
          </a:p>
        </p:txBody>
      </p:sp>
      <p:sp>
        <p:nvSpPr>
          <p:cNvPr id="7" name="shape-6"/>
          <p:cNvSpPr/>
          <p:nvPr/>
        </p:nvSpPr>
        <p:spPr>
          <a:xfrm>
            <a:off x="304800" y="1409700"/>
            <a:ext cx="7200900" cy="4933950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ape-7"/>
          <p:cNvSpPr/>
          <p:nvPr/>
        </p:nvSpPr>
        <p:spPr>
          <a:xfrm>
            <a:off x="971550" y="1657350"/>
            <a:ext cx="2114550" cy="704850"/>
          </a:xfrm>
          <a:prstGeom prst="chevron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ape-8"/>
          <p:cNvSpPr/>
          <p:nvPr/>
        </p:nvSpPr>
        <p:spPr>
          <a:xfrm>
            <a:off x="1104900" y="1847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-9"/>
          <p:cNvSpPr txBox="1"/>
          <p:nvPr/>
        </p:nvSpPr>
        <p:spPr>
          <a:xfrm>
            <a:off x="110490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1" name="text-10"/>
          <p:cNvSpPr txBox="1"/>
          <p:nvPr/>
        </p:nvSpPr>
        <p:spPr>
          <a:xfrm>
            <a:off x="110490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-11"/>
          <p:cNvSpPr txBox="1"/>
          <p:nvPr/>
        </p:nvSpPr>
        <p:spPr>
          <a:xfrm>
            <a:off x="1514475" y="1800225"/>
            <a:ext cx="150495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引物初筛</a:t>
            </a:r>
            <a:endParaRPr/>
          </a:p>
        </p:txBody>
      </p:sp>
      <p:sp>
        <p:nvSpPr>
          <p:cNvPr id="13" name="shape-12"/>
          <p:cNvSpPr/>
          <p:nvPr/>
        </p:nvSpPr>
        <p:spPr>
          <a:xfrm>
            <a:off x="3086100" y="1657350"/>
            <a:ext cx="2114550" cy="704850"/>
          </a:xfrm>
          <a:prstGeom prst="chevron">
            <a:avLst/>
          </a:prstGeom>
          <a:solidFill>
            <a:srgbClr val="168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hape-13"/>
          <p:cNvSpPr/>
          <p:nvPr/>
        </p:nvSpPr>
        <p:spPr>
          <a:xfrm>
            <a:off x="3219450" y="1847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-14"/>
          <p:cNvSpPr txBox="1"/>
          <p:nvPr/>
        </p:nvSpPr>
        <p:spPr>
          <a:xfrm>
            <a:off x="321945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6" name="text-15"/>
          <p:cNvSpPr txBox="1"/>
          <p:nvPr/>
        </p:nvSpPr>
        <p:spPr>
          <a:xfrm>
            <a:off x="321945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8E92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-16"/>
          <p:cNvSpPr txBox="1"/>
          <p:nvPr/>
        </p:nvSpPr>
        <p:spPr>
          <a:xfrm>
            <a:off x="3629025" y="1800225"/>
            <a:ext cx="150495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条件优化</a:t>
            </a:r>
            <a:endParaRPr/>
          </a:p>
        </p:txBody>
      </p:sp>
      <p:sp>
        <p:nvSpPr>
          <p:cNvPr id="18" name="shape-17"/>
          <p:cNvSpPr/>
          <p:nvPr/>
        </p:nvSpPr>
        <p:spPr>
          <a:xfrm>
            <a:off x="5200650" y="1657350"/>
            <a:ext cx="2114550" cy="704850"/>
          </a:xfrm>
          <a:prstGeom prst="chevron">
            <a:avLst/>
          </a:prstGeom>
          <a:solidFill>
            <a:srgbClr val="6854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hape-18"/>
          <p:cNvSpPr/>
          <p:nvPr/>
        </p:nvSpPr>
        <p:spPr>
          <a:xfrm>
            <a:off x="5334000" y="1847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-19"/>
          <p:cNvSpPr txBox="1"/>
          <p:nvPr/>
        </p:nvSpPr>
        <p:spPr>
          <a:xfrm>
            <a:off x="533400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1" name="text-20"/>
          <p:cNvSpPr txBox="1"/>
          <p:nvPr/>
        </p:nvSpPr>
        <p:spPr>
          <a:xfrm>
            <a:off x="533400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54A4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-21"/>
          <p:cNvSpPr txBox="1"/>
          <p:nvPr/>
        </p:nvSpPr>
        <p:spPr>
          <a:xfrm>
            <a:off x="5743575" y="1800225"/>
            <a:ext cx="150495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重复验证</a:t>
            </a:r>
            <a:endParaRPr/>
          </a:p>
        </p:txBody>
      </p:sp>
      <p:sp>
        <p:nvSpPr>
          <p:cNvPr id="23" name="text-22"/>
          <p:cNvSpPr txBox="1"/>
          <p:nvPr/>
        </p:nvSpPr>
        <p:spPr>
          <a:xfrm>
            <a:off x="409575" y="2952750"/>
            <a:ext cx="55245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核心</a:t>
            </a:r>
            <a:endParaRPr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任务</a:t>
            </a:r>
            <a:endParaRPr/>
          </a:p>
        </p:txBody>
      </p:sp>
      <p:sp>
        <p:nvSpPr>
          <p:cNvPr id="24" name="text-23"/>
          <p:cNvSpPr txBox="1"/>
          <p:nvPr/>
        </p:nvSpPr>
        <p:spPr>
          <a:xfrm>
            <a:off x="409575" y="4486275"/>
            <a:ext cx="55245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时间</a:t>
            </a:r>
            <a:endParaRPr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安排</a:t>
            </a:r>
            <a:endParaRPr/>
          </a:p>
        </p:txBody>
      </p:sp>
      <p:sp>
        <p:nvSpPr>
          <p:cNvPr id="25" name="text-24"/>
          <p:cNvSpPr txBox="1"/>
          <p:nvPr/>
        </p:nvSpPr>
        <p:spPr>
          <a:xfrm>
            <a:off x="409575" y="5495925"/>
            <a:ext cx="55245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状态</a:t>
            </a:r>
            <a:endParaRPr/>
          </a:p>
        </p:txBody>
      </p:sp>
      <p:grpSp>
        <p:nvGrpSpPr>
          <p:cNvPr id="37" name="online-icon-dna"/>
          <p:cNvGrpSpPr/>
          <p:nvPr/>
        </p:nvGrpSpPr>
        <p:grpSpPr>
          <a:xfrm>
            <a:off x="1828800" y="2686050"/>
            <a:ext cx="342900" cy="342900"/>
            <a:chOff x="1828800" y="2686050"/>
            <a:chExt cx="342900" cy="342900"/>
          </a:xfrm>
        </p:grpSpPr>
        <p:sp>
          <p:nvSpPr>
            <p:cNvPr id="26" name="online-vector-dna-25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0000" y="16000"/>
                  </a:moveTo>
                  <a:lnTo>
                    <a:pt x="11500" y="175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nline-vector-dna-26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4000" y="8000"/>
                  </a:moveTo>
                  <a:lnTo>
                    <a:pt x="12500" y="65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nline-vector-dna-27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5000" y="2000"/>
                  </a:moveTo>
                  <a:cubicBezTo>
                    <a:pt x="13202" y="3998"/>
                    <a:pt x="12482" y="5995"/>
                    <a:pt x="12193" y="7993"/>
                  </a:cubicBez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nline-vector-dna-28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500" y="10500"/>
                  </a:moveTo>
                  <a:lnTo>
                    <a:pt x="17500" y="115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nline-vector-dna-29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7000" y="6000"/>
                  </a:moveTo>
                  <a:lnTo>
                    <a:pt x="14109" y="3109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nline-vector-dna-30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2000" y="15000"/>
                  </a:moveTo>
                  <a:cubicBezTo>
                    <a:pt x="8667" y="9000"/>
                    <a:pt x="15333" y="15000"/>
                    <a:pt x="22000" y="9000"/>
                  </a:cubicBez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nline-vector-dna-31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20000" y="9000"/>
                  </a:moveTo>
                  <a:lnTo>
                    <a:pt x="20891" y="9891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nline-vector-dna-32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3109" y="14109"/>
                  </a:moveTo>
                  <a:lnTo>
                    <a:pt x="4000" y="15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nline-vector-dna-33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6500" y="12500"/>
                  </a:moveTo>
                  <a:lnTo>
                    <a:pt x="7500" y="135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nline-vector-dna-34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7000" y="18000"/>
                  </a:moveTo>
                  <a:lnTo>
                    <a:pt x="9891" y="20891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nline-vector-dna-35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9000" y="22000"/>
                  </a:moveTo>
                  <a:cubicBezTo>
                    <a:pt x="10798" y="20002"/>
                    <a:pt x="11518" y="18005"/>
                    <a:pt x="11807" y="16007"/>
                  </a:cubicBez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8" name="text-36"/>
          <p:cNvSpPr txBox="1"/>
          <p:nvPr/>
        </p:nvSpPr>
        <p:spPr>
          <a:xfrm>
            <a:off x="1162050" y="3333750"/>
            <a:ext cx="1924050" cy="714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设计与初步扩增</a:t>
            </a:r>
            <a:endParaRPr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核对特异性</a:t>
            </a:r>
            <a:endParaRPr/>
          </a:p>
        </p:txBody>
      </p:sp>
      <p:sp>
        <p:nvSpPr>
          <p:cNvPr id="39" name="shape-37"/>
          <p:cNvSpPr/>
          <p:nvPr/>
        </p:nvSpPr>
        <p:spPr>
          <a:xfrm>
            <a:off x="2009775" y="4562475"/>
            <a:ext cx="152400" cy="152400"/>
          </a:xfrm>
          <a:prstGeom prst="ellipse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-38"/>
          <p:cNvSpPr txBox="1"/>
          <p:nvPr/>
        </p:nvSpPr>
        <p:spPr>
          <a:xfrm>
            <a:off x="1162050" y="4762500"/>
            <a:ext cx="19240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第1周</a:t>
            </a:r>
            <a:endParaRPr/>
          </a:p>
        </p:txBody>
      </p:sp>
      <p:cxnSp>
        <p:nvCxnSpPr>
          <p:cNvPr id="41" name="connector-39"/>
          <p:cNvCxnSpPr/>
          <p:nvPr/>
        </p:nvCxnSpPr>
        <p:spPr>
          <a:xfrm>
            <a:off x="2200275" y="4638675"/>
            <a:ext cx="1809750" cy="0"/>
          </a:xfrm>
          <a:prstGeom prst="line">
            <a:avLst/>
          </a:prstGeom>
          <a:ln w="17145">
            <a:solidFill>
              <a:srgbClr val="006A6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hape-40"/>
          <p:cNvSpPr/>
          <p:nvPr/>
        </p:nvSpPr>
        <p:spPr>
          <a:xfrm>
            <a:off x="1238250" y="5486400"/>
            <a:ext cx="1771650" cy="485775"/>
          </a:xfrm>
          <a:prstGeom prst="roundRect">
            <a:avLst>
              <a:gd name="adj" fmla="val 8000"/>
            </a:avLst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-41"/>
          <p:cNvSpPr txBox="1"/>
          <p:nvPr/>
        </p:nvSpPr>
        <p:spPr>
          <a:xfrm>
            <a:off x="1238250" y="5553075"/>
            <a:ext cx="17716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已完成</a:t>
            </a:r>
            <a:endParaRPr/>
          </a:p>
        </p:txBody>
      </p:sp>
      <p:grpSp>
        <p:nvGrpSpPr>
          <p:cNvPr id="47" name="online-icon-flask-conical"/>
          <p:cNvGrpSpPr/>
          <p:nvPr/>
        </p:nvGrpSpPr>
        <p:grpSpPr>
          <a:xfrm>
            <a:off x="3943350" y="2686050"/>
            <a:ext cx="342900" cy="342900"/>
            <a:chOff x="3943350" y="2686050"/>
            <a:chExt cx="342900" cy="342900"/>
          </a:xfrm>
        </p:grpSpPr>
        <p:sp>
          <p:nvSpPr>
            <p:cNvPr id="44" name="online-vector-flask-conical-42" descr="{&quot;origin&quot;: &quot;online&quot;, &quot;asset&quot;: &quot;flask-conical&quot;, &quot;source&quot;: &quot;https://lucide.dev/icons/flask-conical&quot;, &quot;license&quot;: &quot;ISC&quot;}"/>
            <p:cNvSpPr/>
            <p:nvPr/>
          </p:nvSpPr>
          <p:spPr>
            <a:xfrm>
              <a:off x="394335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4000" y="2000"/>
                  </a:moveTo>
                  <a:lnTo>
                    <a:pt x="14000" y="8000"/>
                  </a:lnTo>
                  <a:cubicBezTo>
                    <a:pt x="14000" y="8335"/>
                    <a:pt x="14084" y="8666"/>
                    <a:pt x="14245" y="8960"/>
                  </a:cubicBezTo>
                  <a:lnTo>
                    <a:pt x="19755" y="19040"/>
                  </a:lnTo>
                  <a:cubicBezTo>
                    <a:pt x="20094" y="19660"/>
                    <a:pt x="20081" y="20412"/>
                    <a:pt x="19721" y="21020"/>
                  </a:cubicBezTo>
                  <a:cubicBezTo>
                    <a:pt x="19361" y="21628"/>
                    <a:pt x="18706" y="22000"/>
                    <a:pt x="18000" y="22000"/>
                  </a:cubicBezTo>
                  <a:lnTo>
                    <a:pt x="6000" y="22000"/>
                  </a:lnTo>
                  <a:cubicBezTo>
                    <a:pt x="5294" y="22000"/>
                    <a:pt x="4639" y="21628"/>
                    <a:pt x="4279" y="21020"/>
                  </a:cubicBezTo>
                  <a:cubicBezTo>
                    <a:pt x="3919" y="20412"/>
                    <a:pt x="3906" y="19660"/>
                    <a:pt x="4245" y="19040"/>
                  </a:cubicBezTo>
                  <a:lnTo>
                    <a:pt x="9755" y="8960"/>
                  </a:lnTo>
                  <a:cubicBezTo>
                    <a:pt x="9916" y="8666"/>
                    <a:pt x="10000" y="8335"/>
                    <a:pt x="10000" y="8000"/>
                  </a:cubicBezTo>
                  <a:lnTo>
                    <a:pt x="10000" y="2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nline-vector-flask-conical-43" descr="{&quot;origin&quot;: &quot;online&quot;, &quot;asset&quot;: &quot;flask-conical&quot;, &quot;source&quot;: &quot;https://lucide.dev/icons/flask-conical&quot;, &quot;license&quot;: &quot;ISC&quot;}"/>
            <p:cNvSpPr/>
            <p:nvPr/>
          </p:nvSpPr>
          <p:spPr>
            <a:xfrm>
              <a:off x="394335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6453" y="15000"/>
                  </a:moveTo>
                  <a:lnTo>
                    <a:pt x="17547" y="15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nline-vector-flask-conical-44" descr="{&quot;origin&quot;: &quot;online&quot;, &quot;asset&quot;: &quot;flask-conical&quot;, &quot;source&quot;: &quot;https://lucide.dev/icons/flask-conical&quot;, &quot;license&quot;: &quot;ISC&quot;}"/>
            <p:cNvSpPr/>
            <p:nvPr/>
          </p:nvSpPr>
          <p:spPr>
            <a:xfrm>
              <a:off x="394335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8500" y="2000"/>
                  </a:moveTo>
                  <a:lnTo>
                    <a:pt x="15500" y="2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8" name="text-45"/>
          <p:cNvSpPr txBox="1"/>
          <p:nvPr/>
        </p:nvSpPr>
        <p:spPr>
          <a:xfrm>
            <a:off x="3276600" y="3333750"/>
            <a:ext cx="1924050" cy="714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比较温度与浓度</a:t>
            </a:r>
            <a:endParaRPr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记录反应条件</a:t>
            </a:r>
            <a:endParaRPr/>
          </a:p>
        </p:txBody>
      </p:sp>
      <p:sp>
        <p:nvSpPr>
          <p:cNvPr id="49" name="shape-46"/>
          <p:cNvSpPr/>
          <p:nvPr/>
        </p:nvSpPr>
        <p:spPr>
          <a:xfrm>
            <a:off x="4124325" y="4562475"/>
            <a:ext cx="152400" cy="152400"/>
          </a:xfrm>
          <a:prstGeom prst="ellipse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-47"/>
          <p:cNvSpPr txBox="1"/>
          <p:nvPr/>
        </p:nvSpPr>
        <p:spPr>
          <a:xfrm>
            <a:off x="3276600" y="4762500"/>
            <a:ext cx="19240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第2周</a:t>
            </a:r>
            <a:endParaRPr/>
          </a:p>
        </p:txBody>
      </p:sp>
      <p:cxnSp>
        <p:nvCxnSpPr>
          <p:cNvPr id="51" name="connector-48"/>
          <p:cNvCxnSpPr/>
          <p:nvPr/>
        </p:nvCxnSpPr>
        <p:spPr>
          <a:xfrm>
            <a:off x="4314825" y="4638675"/>
            <a:ext cx="1809750" cy="0"/>
          </a:xfrm>
          <a:prstGeom prst="line">
            <a:avLst/>
          </a:prstGeom>
          <a:ln w="17145">
            <a:solidFill>
              <a:srgbClr val="006A6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hape-49"/>
          <p:cNvSpPr/>
          <p:nvPr/>
        </p:nvSpPr>
        <p:spPr>
          <a:xfrm>
            <a:off x="3352800" y="5486400"/>
            <a:ext cx="1771650" cy="485775"/>
          </a:xfrm>
          <a:prstGeom prst="roundRect">
            <a:avLst>
              <a:gd name="adj" fmla="val 8000"/>
            </a:avLst>
          </a:prstGeom>
          <a:solidFill>
            <a:srgbClr val="D4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-50"/>
          <p:cNvSpPr txBox="1"/>
          <p:nvPr/>
        </p:nvSpPr>
        <p:spPr>
          <a:xfrm>
            <a:off x="3352800" y="5553075"/>
            <a:ext cx="17716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进行中</a:t>
            </a:r>
            <a:endParaRPr/>
          </a:p>
        </p:txBody>
      </p:sp>
      <p:grpSp>
        <p:nvGrpSpPr>
          <p:cNvPr id="57" name="online-icon-clipboard-check"/>
          <p:cNvGrpSpPr/>
          <p:nvPr/>
        </p:nvGrpSpPr>
        <p:grpSpPr>
          <a:xfrm>
            <a:off x="6057900" y="2686050"/>
            <a:ext cx="342900" cy="342900"/>
            <a:chOff x="6057900" y="2686050"/>
            <a:chExt cx="342900" cy="342900"/>
          </a:xfrm>
        </p:grpSpPr>
        <p:sp>
          <p:nvSpPr>
            <p:cNvPr id="54" name="online-vector-clipboard-check-51" descr="{&quot;origin&quot;: &quot;online&quot;, &quot;asset&quot;: &quot;clipboard-check&quot;, &quot;source&quot;: &quot;https://lucide.dev/icons/clipboard-check&quot;, &quot;license&quot;: &quot;ISC&quot;}"/>
            <p:cNvSpPr/>
            <p:nvPr/>
          </p:nvSpPr>
          <p:spPr>
            <a:xfrm>
              <a:off x="60579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9000" y="2000"/>
                  </a:moveTo>
                  <a:lnTo>
                    <a:pt x="15000" y="2000"/>
                  </a:lnTo>
                  <a:quadBezTo>
                    <a:pt x="16000" y="2000"/>
                    <a:pt x="16000" y="3000"/>
                  </a:quadBezTo>
                  <a:lnTo>
                    <a:pt x="16000" y="5000"/>
                  </a:lnTo>
                  <a:quadBezTo>
                    <a:pt x="16000" y="6000"/>
                    <a:pt x="15000" y="6000"/>
                  </a:quadBezTo>
                  <a:lnTo>
                    <a:pt x="9000" y="6000"/>
                  </a:lnTo>
                  <a:quadBezTo>
                    <a:pt x="8000" y="6000"/>
                    <a:pt x="8000" y="5000"/>
                  </a:quadBezTo>
                  <a:lnTo>
                    <a:pt x="8000" y="3000"/>
                  </a:lnTo>
                  <a:quadBezTo>
                    <a:pt x="8000" y="2000"/>
                    <a:pt x="9000" y="2000"/>
                  </a:quadBezTo>
                  <a:close/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nline-vector-clipboard-check-52" descr="{&quot;origin&quot;: &quot;online&quot;, &quot;asset&quot;: &quot;clipboard-check&quot;, &quot;source&quot;: &quot;https://lucide.dev/icons/clipboard-check&quot;, &quot;license&quot;: &quot;ISC&quot;}"/>
            <p:cNvSpPr/>
            <p:nvPr/>
          </p:nvSpPr>
          <p:spPr>
            <a:xfrm>
              <a:off x="60579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000" y="4000"/>
                  </a:moveTo>
                  <a:lnTo>
                    <a:pt x="18000" y="4000"/>
                  </a:lnTo>
                  <a:cubicBezTo>
                    <a:pt x="19105" y="4000"/>
                    <a:pt x="20000" y="4895"/>
                    <a:pt x="20000" y="6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6000"/>
                  </a:lnTo>
                  <a:cubicBezTo>
                    <a:pt x="4000" y="4895"/>
                    <a:pt x="4895" y="4000"/>
                    <a:pt x="6000" y="4000"/>
                  </a:cubicBezTo>
                  <a:lnTo>
                    <a:pt x="8000" y="4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nline-vector-clipboard-check-53" descr="{&quot;origin&quot;: &quot;online&quot;, &quot;asset&quot;: &quot;clipboard-check&quot;, &quot;source&quot;: &quot;https://lucide.dev/icons/clipboard-check&quot;, &quot;license&quot;: &quot;ISC&quot;}"/>
            <p:cNvSpPr/>
            <p:nvPr/>
          </p:nvSpPr>
          <p:spPr>
            <a:xfrm>
              <a:off x="60579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9000" y="14000"/>
                  </a:moveTo>
                  <a:lnTo>
                    <a:pt x="11000" y="16000"/>
                  </a:lnTo>
                  <a:lnTo>
                    <a:pt x="15000" y="12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8" name="text-54"/>
          <p:cNvSpPr txBox="1"/>
          <p:nvPr/>
        </p:nvSpPr>
        <p:spPr>
          <a:xfrm>
            <a:off x="5391150" y="3333750"/>
            <a:ext cx="1924050" cy="714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独立重复实验</a:t>
            </a:r>
            <a:endParaRPr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评估结果稳定性</a:t>
            </a:r>
            <a:endParaRPr/>
          </a:p>
        </p:txBody>
      </p:sp>
      <p:sp>
        <p:nvSpPr>
          <p:cNvPr id="59" name="shape-55"/>
          <p:cNvSpPr/>
          <p:nvPr/>
        </p:nvSpPr>
        <p:spPr>
          <a:xfrm>
            <a:off x="6238875" y="4562475"/>
            <a:ext cx="152400" cy="152400"/>
          </a:xfrm>
          <a:prstGeom prst="ellipse">
            <a:avLst/>
          </a:prstGeom>
          <a:solidFill>
            <a:srgbClr val="6854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-56"/>
          <p:cNvSpPr txBox="1"/>
          <p:nvPr/>
        </p:nvSpPr>
        <p:spPr>
          <a:xfrm>
            <a:off x="5391150" y="4762500"/>
            <a:ext cx="19240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第3周</a:t>
            </a:r>
            <a:endParaRPr/>
          </a:p>
        </p:txBody>
      </p:sp>
      <p:sp>
        <p:nvSpPr>
          <p:cNvPr id="61" name="shape-57"/>
          <p:cNvSpPr/>
          <p:nvPr/>
        </p:nvSpPr>
        <p:spPr>
          <a:xfrm>
            <a:off x="5467350" y="5486400"/>
            <a:ext cx="1771650" cy="485775"/>
          </a:xfrm>
          <a:prstGeom prst="roundRect">
            <a:avLst>
              <a:gd name="adj" fmla="val 8000"/>
            </a:avLst>
          </a:prstGeom>
          <a:solidFill>
            <a:srgbClr val="E8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-58"/>
          <p:cNvSpPr txBox="1"/>
          <p:nvPr/>
        </p:nvSpPr>
        <p:spPr>
          <a:xfrm>
            <a:off x="5467350" y="5553075"/>
            <a:ext cx="17716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待开展</a:t>
            </a:r>
            <a:endParaRPr/>
          </a:p>
        </p:txBody>
      </p:sp>
      <p:cxnSp>
        <p:nvCxnSpPr>
          <p:cNvPr id="63" name="connector-59"/>
          <p:cNvCxnSpPr/>
          <p:nvPr/>
        </p:nvCxnSpPr>
        <p:spPr>
          <a:xfrm>
            <a:off x="1076325" y="4267200"/>
            <a:ext cx="6305550" cy="0"/>
          </a:xfrm>
          <a:prstGeom prst="line">
            <a:avLst/>
          </a:prstGeom>
          <a:ln w="9525">
            <a:solidFill>
              <a:srgbClr val="B6D5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-60"/>
          <p:cNvCxnSpPr/>
          <p:nvPr/>
        </p:nvCxnSpPr>
        <p:spPr>
          <a:xfrm>
            <a:off x="1076325" y="5181600"/>
            <a:ext cx="6305550" cy="0"/>
          </a:xfrm>
          <a:prstGeom prst="line">
            <a:avLst/>
          </a:prstGeom>
          <a:ln w="9525">
            <a:solidFill>
              <a:srgbClr val="B6D5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shape-61"/>
          <p:cNvSpPr/>
          <p:nvPr/>
        </p:nvSpPr>
        <p:spPr>
          <a:xfrm>
            <a:off x="7791450" y="1409700"/>
            <a:ext cx="4095750" cy="485775"/>
          </a:xfrm>
          <a:prstGeom prst="rect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-62"/>
          <p:cNvSpPr txBox="1"/>
          <p:nvPr/>
        </p:nvSpPr>
        <p:spPr>
          <a:xfrm>
            <a:off x="7924800" y="1485900"/>
            <a:ext cx="38290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实验计划与进度</a:t>
            </a:r>
            <a:endParaRPr/>
          </a:p>
        </p:txBody>
      </p:sp>
      <p:graphicFrame>
        <p:nvGraphicFramePr>
          <p:cNvPr id="67" name="native-table-63"/>
          <p:cNvGraphicFramePr>
            <a:graphicFrameLocks noGrp="1"/>
          </p:cNvGraphicFramePr>
          <p:nvPr/>
        </p:nvGraphicFramePr>
        <p:xfrm>
          <a:off x="7791450" y="1895475"/>
          <a:ext cx="409575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343"/>
                <a:gridCol w="1228725"/>
                <a:gridCol w="1269682"/>
              </a:tblGrid>
              <a:tr h="46672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计划规模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状态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引物初筛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 组合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已完成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条件优化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FFFFFF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 组合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FFFFFF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6854A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进行中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FFFFFF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重复验证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 组合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待开展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8" name="shape-64"/>
          <p:cNvSpPr/>
          <p:nvPr/>
        </p:nvSpPr>
        <p:spPr>
          <a:xfrm>
            <a:off x="7791450" y="4572000"/>
            <a:ext cx="4095750" cy="1352550"/>
          </a:xfrm>
          <a:prstGeom prst="roundRect">
            <a:avLst>
              <a:gd name="adj" fmla="val 8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hape-65"/>
          <p:cNvSpPr/>
          <p:nvPr/>
        </p:nvSpPr>
        <p:spPr>
          <a:xfrm>
            <a:off x="7791450" y="4572000"/>
            <a:ext cx="57150" cy="1352550"/>
          </a:xfrm>
          <a:prstGeom prst="rect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-66"/>
          <p:cNvSpPr txBox="1"/>
          <p:nvPr/>
        </p:nvSpPr>
        <p:spPr>
          <a:xfrm>
            <a:off x="8001000" y="4705350"/>
            <a:ext cx="36195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当前优先</a:t>
            </a:r>
            <a:endParaRPr/>
          </a:p>
        </p:txBody>
      </p:sp>
      <p:sp>
        <p:nvSpPr>
          <p:cNvPr id="71" name="text-67"/>
          <p:cNvSpPr txBox="1"/>
          <p:nvPr/>
        </p:nvSpPr>
        <p:spPr>
          <a:xfrm>
            <a:off x="8001000" y="5133975"/>
            <a:ext cx="36195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完成条件优化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与重复性核查</a:t>
            </a:r>
            <a:endParaRPr/>
          </a:p>
        </p:txBody>
      </p:sp>
      <p:sp>
        <p:nvSpPr>
          <p:cNvPr id="72" name="text-68"/>
          <p:cNvSpPr txBox="1"/>
          <p:nvPr/>
        </p:nvSpPr>
        <p:spPr>
          <a:xfrm>
            <a:off x="7791450" y="6029325"/>
            <a:ext cx="409575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数量为计划规模，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不表示实际结果。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1"/>
          <p:cNvSpPr txBox="1"/>
          <p:nvPr/>
        </p:nvSpPr>
        <p:spPr>
          <a:xfrm>
            <a:off x="304800" y="142875"/>
            <a:ext cx="1524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学术分享型</a:t>
            </a:r>
            <a:endParaRPr/>
          </a:p>
        </p:txBody>
      </p:sp>
      <p:sp>
        <p:nvSpPr>
          <p:cNvPr id="3" name="shape-2"/>
          <p:cNvSpPr/>
          <p:nvPr/>
        </p:nvSpPr>
        <p:spPr>
          <a:xfrm>
            <a:off x="304800" y="447675"/>
            <a:ext cx="438150" cy="28575"/>
          </a:xfrm>
          <a:prstGeom prst="rect">
            <a:avLst/>
          </a:prstGeom>
          <a:solidFill>
            <a:srgbClr val="BE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3"/>
          <p:cNvSpPr txBox="1"/>
          <p:nvPr/>
        </p:nvSpPr>
        <p:spPr>
          <a:xfrm>
            <a:off x="304800" y="523875"/>
            <a:ext cx="1158240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群落变化需要结合时间与生境一起解释</a:t>
            </a:r>
            <a:endParaRPr/>
          </a:p>
        </p:txBody>
      </p:sp>
      <p:sp>
        <p:nvSpPr>
          <p:cNvPr id="5" name="synthetic-source-4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合成数据，仅供版式演示</a:t>
            </a:r>
            <a:endParaRPr/>
          </a:p>
        </p:txBody>
      </p:sp>
      <p:sp>
        <p:nvSpPr>
          <p:cNvPr id="6" name="page-number-5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/>
          </a:p>
        </p:txBody>
      </p:sp>
      <p:cxnSp>
        <p:nvCxnSpPr>
          <p:cNvPr id="7" name="connector-6"/>
          <p:cNvCxnSpPr/>
          <p:nvPr/>
        </p:nvCxnSpPr>
        <p:spPr>
          <a:xfrm>
            <a:off x="1047750" y="1704975"/>
            <a:ext cx="342900" cy="0"/>
          </a:xfrm>
          <a:prstGeom prst="line">
            <a:avLst/>
          </a:prstGeom>
          <a:ln w="20955">
            <a:solidFill>
              <a:srgbClr val="2225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-7"/>
          <p:cNvSpPr/>
          <p:nvPr/>
        </p:nvSpPr>
        <p:spPr>
          <a:xfrm>
            <a:off x="1181100" y="1657350"/>
            <a:ext cx="95250" cy="95250"/>
          </a:xfrm>
          <a:prstGeom prst="ellipse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-8"/>
          <p:cNvSpPr txBox="1"/>
          <p:nvPr/>
        </p:nvSpPr>
        <p:spPr>
          <a:xfrm>
            <a:off x="1485900" y="1581150"/>
            <a:ext cx="857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连续林</a:t>
            </a:r>
            <a:endParaRPr/>
          </a:p>
        </p:txBody>
      </p:sp>
      <p:cxnSp>
        <p:nvCxnSpPr>
          <p:cNvPr id="10" name="connector-9"/>
          <p:cNvCxnSpPr/>
          <p:nvPr/>
        </p:nvCxnSpPr>
        <p:spPr>
          <a:xfrm>
            <a:off x="2524125" y="1704975"/>
            <a:ext cx="342900" cy="0"/>
          </a:xfrm>
          <a:prstGeom prst="line">
            <a:avLst/>
          </a:prstGeom>
          <a:ln w="20955">
            <a:solidFill>
              <a:srgbClr val="BE30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hape-10"/>
          <p:cNvSpPr/>
          <p:nvPr/>
        </p:nvSpPr>
        <p:spPr>
          <a:xfrm>
            <a:off x="2657475" y="1657350"/>
            <a:ext cx="95250" cy="95250"/>
          </a:xfrm>
          <a:prstGeom prst="ellipse">
            <a:avLst/>
          </a:prstGeom>
          <a:solidFill>
            <a:srgbClr val="BE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-11"/>
          <p:cNvSpPr txBox="1"/>
          <p:nvPr/>
        </p:nvSpPr>
        <p:spPr>
          <a:xfrm>
            <a:off x="2962275" y="1581150"/>
            <a:ext cx="857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BE3038"/>
                </a:solidFill>
                <a:latin typeface="Noto Sans CJK SC"/>
                <a:ea typeface="Noto Sans CJK SC"/>
                <a:cs typeface="Noto Sans CJK SC"/>
              </a:rPr>
              <a:t>破碎林</a:t>
            </a:r>
            <a:endParaRPr/>
          </a:p>
        </p:txBody>
      </p:sp>
      <p:graphicFrame>
        <p:nvGraphicFramePr>
          <p:cNvPr id="13" name="native-chart-12"/>
          <p:cNvGraphicFramePr>
            <a:graphicFrameLocks noGrp="1"/>
          </p:cNvGraphicFramePr>
          <p:nvPr/>
        </p:nvGraphicFramePr>
        <p:xfrm>
          <a:off x="304800" y="1885950"/>
          <a:ext cx="7943850" cy="3990975"/>
        </p:xfrm>
        <a:graphic>
          <a:graphicData uri="http://schemas.openxmlformats.org/drawingml/2006/chart">
            <c:chart r:id="rId3"/>
          </a:graphicData>
        </a:graphic>
      </p:graphicFrame>
      <p:cxnSp>
        <p:nvCxnSpPr>
          <p:cNvPr id="14" name="connector-13"/>
          <p:cNvCxnSpPr/>
          <p:nvPr/>
        </p:nvCxnSpPr>
        <p:spPr>
          <a:xfrm>
            <a:off x="8448675" y="1571625"/>
            <a:ext cx="0" cy="4791075"/>
          </a:xfrm>
          <a:prstGeom prst="line">
            <a:avLst/>
          </a:prstGeom>
          <a:ln w="9525">
            <a:solidFill>
              <a:srgbClr val="BF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-14"/>
          <p:cNvSpPr txBox="1"/>
          <p:nvPr/>
        </p:nvSpPr>
        <p:spPr>
          <a:xfrm>
            <a:off x="8839200" y="1571625"/>
            <a:ext cx="3048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六月记录率</a:t>
            </a:r>
            <a:endParaRPr/>
          </a:p>
        </p:txBody>
      </p:sp>
      <p:sp>
        <p:nvSpPr>
          <p:cNvPr id="16" name="text-15"/>
          <p:cNvSpPr txBox="1"/>
          <p:nvPr/>
        </p:nvSpPr>
        <p:spPr>
          <a:xfrm>
            <a:off x="8791575" y="1971675"/>
            <a:ext cx="1333500" cy="1066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32</a:t>
            </a:r>
            <a:endParaRPr/>
          </a:p>
        </p:txBody>
      </p:sp>
      <p:sp>
        <p:nvSpPr>
          <p:cNvPr id="17" name="text-16"/>
          <p:cNvSpPr txBox="1"/>
          <p:nvPr/>
        </p:nvSpPr>
        <p:spPr>
          <a:xfrm>
            <a:off x="10096500" y="2066925"/>
            <a:ext cx="476250" cy="933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>
                <a:solidFill>
                  <a:srgbClr val="B2B6BC"/>
                </a:solidFill>
                <a:latin typeface="Noto Sans CJK SC"/>
                <a:ea typeface="Noto Sans CJK SC"/>
                <a:cs typeface="Noto Sans CJK SC"/>
              </a:rPr>
              <a:t>/</a:t>
            </a:r>
          </a:p>
        </p:txBody>
      </p:sp>
      <p:sp>
        <p:nvSpPr>
          <p:cNvPr id="18" name="text-17"/>
          <p:cNvSpPr txBox="1"/>
          <p:nvPr/>
        </p:nvSpPr>
        <p:spPr>
          <a:xfrm>
            <a:off x="10610850" y="1971675"/>
            <a:ext cx="1276350" cy="1066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BE3038"/>
                </a:solidFill>
                <a:latin typeface="Noto Serif CJK SC"/>
                <a:ea typeface="Noto Serif CJK SC"/>
                <a:cs typeface="Noto Serif CJK SC"/>
              </a:rPr>
              <a:t>20</a:t>
            </a:r>
            <a:endParaRPr/>
          </a:p>
        </p:txBody>
      </p:sp>
      <p:sp>
        <p:nvSpPr>
          <p:cNvPr id="19" name="text-18"/>
          <p:cNvSpPr txBox="1"/>
          <p:nvPr/>
        </p:nvSpPr>
        <p:spPr>
          <a:xfrm>
            <a:off x="8858250" y="3057525"/>
            <a:ext cx="128587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连续林</a:t>
            </a:r>
            <a:endParaRPr/>
          </a:p>
        </p:txBody>
      </p:sp>
      <p:sp>
        <p:nvSpPr>
          <p:cNvPr id="20" name="text-19"/>
          <p:cNvSpPr txBox="1"/>
          <p:nvPr/>
        </p:nvSpPr>
        <p:spPr>
          <a:xfrm>
            <a:off x="10648950" y="3057525"/>
            <a:ext cx="1238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E3038"/>
                </a:solidFill>
                <a:latin typeface="Noto Sans CJK SC"/>
                <a:ea typeface="Noto Sans CJK SC"/>
                <a:cs typeface="Noto Sans CJK SC"/>
              </a:rPr>
              <a:t>破碎林</a:t>
            </a:r>
            <a:endParaRPr/>
          </a:p>
        </p:txBody>
      </p:sp>
      <p:sp>
        <p:nvSpPr>
          <p:cNvPr id="21" name="text-20"/>
          <p:cNvSpPr txBox="1"/>
          <p:nvPr/>
        </p:nvSpPr>
        <p:spPr>
          <a:xfrm>
            <a:off x="8848725" y="3457575"/>
            <a:ext cx="303847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  <a:endParaRPr/>
          </a:p>
        </p:txBody>
      </p:sp>
      <p:cxnSp>
        <p:nvCxnSpPr>
          <p:cNvPr id="22" name="connector-21"/>
          <p:cNvCxnSpPr/>
          <p:nvPr/>
        </p:nvCxnSpPr>
        <p:spPr>
          <a:xfrm>
            <a:off x="8743950" y="3857625"/>
            <a:ext cx="3143250" cy="0"/>
          </a:xfrm>
          <a:prstGeom prst="line">
            <a:avLst/>
          </a:prstGeom>
          <a:ln w="9525">
            <a:solidFill>
              <a:srgbClr val="BF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hape-22"/>
          <p:cNvSpPr/>
          <p:nvPr/>
        </p:nvSpPr>
        <p:spPr>
          <a:xfrm>
            <a:off x="8743950" y="4048125"/>
            <a:ext cx="361950" cy="361950"/>
          </a:xfrm>
          <a:prstGeom prst="ellipse">
            <a:avLst/>
          </a:prstGeom>
          <a:solidFill>
            <a:srgbClr val="BE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-23"/>
          <p:cNvSpPr txBox="1"/>
          <p:nvPr/>
        </p:nvSpPr>
        <p:spPr>
          <a:xfrm>
            <a:off x="8743950" y="4048125"/>
            <a:ext cx="3619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5" name="text-24"/>
          <p:cNvSpPr txBox="1"/>
          <p:nvPr/>
        </p:nvSpPr>
        <p:spPr>
          <a:xfrm>
            <a:off x="9220200" y="4048125"/>
            <a:ext cx="2667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同期比较</a:t>
            </a:r>
            <a:endParaRPr/>
          </a:p>
        </p:txBody>
      </p:sp>
      <p:sp>
        <p:nvSpPr>
          <p:cNvPr id="26" name="text-25"/>
          <p:cNvSpPr txBox="1"/>
          <p:nvPr/>
        </p:nvSpPr>
        <p:spPr>
          <a:xfrm>
            <a:off x="9220200" y="4505325"/>
            <a:ext cx="26670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在相同时间窗内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比较生境差异。</a:t>
            </a:r>
            <a:endParaRPr/>
          </a:p>
        </p:txBody>
      </p:sp>
      <p:cxnSp>
        <p:nvCxnSpPr>
          <p:cNvPr id="27" name="connector-26"/>
          <p:cNvCxnSpPr/>
          <p:nvPr/>
        </p:nvCxnSpPr>
        <p:spPr>
          <a:xfrm>
            <a:off x="8743950" y="5238750"/>
            <a:ext cx="3143250" cy="0"/>
          </a:xfrm>
          <a:prstGeom prst="line">
            <a:avLst/>
          </a:prstGeom>
          <a:ln w="9525">
            <a:solidFill>
              <a:srgbClr val="BF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hape-27"/>
          <p:cNvSpPr/>
          <p:nvPr/>
        </p:nvSpPr>
        <p:spPr>
          <a:xfrm>
            <a:off x="8743950" y="5400675"/>
            <a:ext cx="361950" cy="361950"/>
          </a:xfrm>
          <a:prstGeom prst="ellipse">
            <a:avLst/>
          </a:prstGeom>
          <a:solidFill>
            <a:srgbClr val="BE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-28"/>
          <p:cNvSpPr txBox="1"/>
          <p:nvPr/>
        </p:nvSpPr>
        <p:spPr>
          <a:xfrm>
            <a:off x="8743950" y="5400675"/>
            <a:ext cx="3619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30" name="text-29"/>
          <p:cNvSpPr txBox="1"/>
          <p:nvPr/>
        </p:nvSpPr>
        <p:spPr>
          <a:xfrm>
            <a:off x="9220200" y="5400675"/>
            <a:ext cx="2667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重复观测</a:t>
            </a:r>
            <a:endParaRPr/>
          </a:p>
        </p:txBody>
      </p:sp>
      <p:sp>
        <p:nvSpPr>
          <p:cNvPr id="31" name="text-30"/>
          <p:cNvSpPr txBox="1"/>
          <p:nvPr/>
        </p:nvSpPr>
        <p:spPr>
          <a:xfrm>
            <a:off x="9220200" y="5857875"/>
            <a:ext cx="26670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保留逐月变化，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不以单次记录概括全年。</a:t>
            </a:r>
            <a:endParaRPr/>
          </a:p>
        </p:txBody>
      </p:sp>
      <p:sp>
        <p:nvSpPr>
          <p:cNvPr id="32" name="text-31"/>
          <p:cNvSpPr txBox="1"/>
          <p:nvPr/>
        </p:nvSpPr>
        <p:spPr>
          <a:xfrm>
            <a:off x="304800" y="6105525"/>
            <a:ext cx="79438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图1  不同生境下记录率的逐月变化</a:t>
            </a:r>
            <a:endParaRPr/>
          </a:p>
        </p:txBody>
      </p:sp>
      <p:sp>
        <p:nvSpPr>
          <p:cNvPr id="33" name="text-32"/>
          <p:cNvSpPr txBox="1"/>
          <p:nvPr/>
        </p:nvSpPr>
        <p:spPr>
          <a:xfrm>
            <a:off x="304800" y="6362700"/>
            <a:ext cx="79438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6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ScholarFlow contributors</dc:creator>
  <ns0:lastModifiedBy>ScholarFlow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