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Default Extension="xlsx" ContentType="application/vnd.openxmlformats-officedocument.spreadsheetml.sheet"/>
  <Override PartName="/docProps/app.xml" ContentType="application/vnd.openxmlformats-officedocument.extended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?>
<Relationships xmlns="http://schemas.openxmlformats.org/package/2006/relationships"><Relationship Type="http://schemas.openxmlformats.org/package/2006/relationships/metadata/core-properties" Target="/docProps/core.xml" Id="R32fc68590ff54f8e" /><Relationship Type="http://schemas.openxmlformats.org/officeDocument/2006/relationships/extended-properties" Target="/docProps/app.xml" Id="R9996562d962046fa" /><Relationship Type="http://schemas.openxmlformats.org/officeDocument/2006/relationships/officeDocument" Target="/ppt/presentation.xml" Id="R13872f0bbada46e6" 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b19ee25308e24c04"/>
  </p:sldMasterIdLst>
  <p:notesMasterIdLst>
    <p:notesMasterId r:id="R61c415f220744dd4"/>
  </p:notesMasterIdLst>
  <p:sldIdLst>
    <p:sldId id="256" r:id="researchSlide1"/>
    <p:sldId id="257" r:id="researchSlide2"/>
    <p:sldId id="258" r:id="researchSlide3"/>
    <p:sldId id="259" r:id="researchSlide4"/>
    <p:sldId id="260" r:id="researchSlide5"/>
    <p:sldId id="261" r:id="researchSlide6"/>
    <p:sldId id="262" r:id="researchSlide7"/>
    <p:sldId id="263" r:id="researchSlide8"/>
  </p:sldIdLst>
  <p:sldSz cx="12192000" cy="6858000"/>
  <p:notesSz cx="6858000" cy="9144000"/>
</p:presentation>
</file>

<file path=ppt/presProps.xml><?xml version="1.0" encoding="utf-8"?>
<p:presentationPr xmlns:ns1="http://schemas.microsoft.com/office/powerpoint/2010/main" xmlns:ns2="http://schemas.microsoft.com/office/powerpoint/2012/main" xmlns:p="http://schemas.openxmlformats.org/presentationml/2006/main">
  <p:extLst>
    <p:ext uri="{E76CE94A-603C-4142-B9EB-6D1370010A27}">
      <ns1:discardImageEditData val="0"/>
    </p:ext>
    <p:ext uri="{D31A062A-798A-4329-ABDD-BBA856620510}">
      <ns1:defaultImageDpi val="32767"/>
    </p:ext>
    <p:ext uri="{FD5EFAAD-0ECE-453E-9831-46B23BE46B34}">
      <ns2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?>
<Relationships xmlns="http://schemas.openxmlformats.org/package/2006/relationships"><Relationship Type="http://schemas.openxmlformats.org/officeDocument/2006/relationships/theme" Target="/ppt/theme/theme1.xml" Id="R03c946439b9f4075" /><Relationship Type="http://schemas.openxmlformats.org/officeDocument/2006/relationships/slideMaster" Target="/ppt/slideMasters/slideMaster1.xml" Id="Rb19ee25308e24c04" /><Relationship Type="http://schemas.openxmlformats.org/officeDocument/2006/relationships/notesMaster" Target="/ppt/notesMasters/notesMaster1.xml" Id="R61c415f220744dd4" /><Relationship Type="http://schemas.openxmlformats.org/officeDocument/2006/relationships/presProps" Target="/ppt/presProps.xml" Id="Ra206bb6ddb7e4a48" /><Relationship Type="http://schemas.openxmlformats.org/officeDocument/2006/relationships/tableStyles" Target="/ppt/tableStyles.xml" Id="R708608b2d79d4b97" /><Relationship Id="researchSlide1" Type="http://schemas.openxmlformats.org/officeDocument/2006/relationships/slide" Target="/ppt/slides/slide1.xml" /><Relationship Id="researchSlide2" Type="http://schemas.openxmlformats.org/officeDocument/2006/relationships/slide" Target="/ppt/slides/slide2.xml" /><Relationship Id="researchSlide3" Type="http://schemas.openxmlformats.org/officeDocument/2006/relationships/slide" Target="/ppt/slides/slide3.xml" /><Relationship Id="researchSlide4" Type="http://schemas.openxmlformats.org/officeDocument/2006/relationships/slide" Target="/ppt/slides/slide4.xml" /><Relationship Id="researchSlide5" Type="http://schemas.openxmlformats.org/officeDocument/2006/relationships/slide" Target="/ppt/slides/slide5.xml" /><Relationship Id="researchSlide6" Type="http://schemas.openxmlformats.org/officeDocument/2006/relationships/slide" Target="/ppt/slides/slide6.xml" /><Relationship Id="researchSlide7" Type="http://schemas.openxmlformats.org/officeDocument/2006/relationships/slide" Target="/ppt/slides/slide7.xml" /><Relationship Id="researchSlide8" Type="http://schemas.openxmlformats.org/officeDocument/2006/relationships/slide" Target="/ppt/slides/slide8.xml" /></Relationships>
</file>

<file path=ppt/charts/_rels/chart1.xml.rels><?xml version='1.0' encoding='utf-8'?>
<Relationships xmlns="http://schemas.openxmlformats.org/package/2006/relationships"><Relationship Id="rIdChartSnapshot1" Type="http://schemas.openxmlformats.org/officeDocument/2006/relationships/package" Target="/ppt/embeddings/data1.xlsx" /></Relationships>
</file>

<file path=ppt/charts/_rels/chart2.xml.rels><?xml version='1.0' encoding='utf-8'?>
<Relationships xmlns="http://schemas.openxmlformats.org/package/2006/relationships"><Relationship Id="rIdChartSnapshot1" Type="http://schemas.openxmlformats.org/officeDocument/2006/relationships/package" Target="/ppt/embeddings/data2.xlsx" /></Relationships>
</file>

<file path=ppt/charts/_rels/chart3.xml.rels><?xml version='1.0' encoding='utf-8'?>
<Relationships xmlns="http://schemas.openxmlformats.org/package/2006/relationships"><Relationship Id="rIdChartSnapshot1" Type="http://schemas.openxmlformats.org/officeDocument/2006/relationships/package" Target="/ppt/embeddings/data3.xlsx" /></Relationships>
</file>

<file path=ppt/charts/_rels/chart4.xml.rels><?xml version='1.0' encoding='utf-8'?>
<Relationships xmlns="http://schemas.openxmlformats.org/package/2006/relationships"><Relationship Id="rIdChartSnapshot1" Type="http://schemas.openxmlformats.org/officeDocument/2006/relationships/package" Target="/ppt/embeddings/data4.xlsx" /></Relationships>
</file>

<file path=ppt/charts/_rels/chart5.xml.rels><?xml version='1.0' encoding='utf-8'?>
<Relationships xmlns="http://schemas.openxmlformats.org/package/2006/relationships"><Relationship Id="rIdChartSnapshot1" Type="http://schemas.openxmlformats.org/officeDocument/2006/relationships/package" Target="/ppt/embeddings/data5.xlsx" /></Relationships>
</file>

<file path=ppt/charts/_rels/chart6.xml.rels><?xml version='1.0' encoding='utf-8'?>
<Relationships xmlns="http://schemas.openxmlformats.org/package/2006/relationships"><Relationship Id="rIdChartSnapshot1" Type="http://schemas.openxmlformats.org/officeDocument/2006/relationships/package" Target="/ppt/embeddings/data6.xlsx" /></Relationships>
</file>

<file path=ppt/charts/_rels/chart7.xml.rels><?xml version='1.0' encoding='utf-8'?>
<Relationships xmlns="http://schemas.openxmlformats.org/package/2006/relationships"><Relationship Id="rIdChartSnapshot1" Type="http://schemas.openxmlformats.org/officeDocument/2006/relationships/package" Target="/ppt/embeddings/data7.xlsx" /></Relationships>
</file>

<file path=ppt/charts/chart1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27"/>
          <c:y val="0.05"/>
          <c:w val="0.69"/>
          <c:h val="0.69"/>
        </c:manualLayout>
      </c:layout>
      <c:scatterChart>
        <c:scatterStyle val="marker"/>
        <c:varyColors val="0"/>
        <c:ser>
          <c:idx val="0"/>
          <c:order val="0"/>
          <c:tx>
            <c:v>效应估计</c:v>
          </c:tx>
          <c:spPr>
            <a:noFill/>
            <a:ln>
              <a:noFill/>
            </a:ln>
          </c:spPr>
          <c:marker>
            <c:symbol val="circle"/>
            <c:size val="7"/>
            <c:spPr>
              <a:solidFill>
                <a:srgbClr val="173D67"/>
              </a:solidFill>
              <a:ln w="8890">
                <a:solidFill>
                  <a:srgbClr val="173D67"/>
                </a:solidFill>
              </a:ln>
            </c:spPr>
          </c:marker>
          <c:errBars>
            <c:errDir val="x"/>
            <c:errBarType val="both"/>
            <c:errValType val="cust"/>
            <c:noEndCap val="0"/>
            <c:plus>
              <c:numLit>
                <c:formatCode>General</c:formatCode>
                <c:ptCount val="4"/>
                <c:pt idx="0">
                  <c:v>0.23</c:v>
                </c:pt>
                <c:pt idx="1">
                  <c:v>0.17</c:v>
                </c:pt>
                <c:pt idx="2">
                  <c:v>0.22</c:v>
                </c:pt>
                <c:pt idx="3">
                  <c:v>0.2</c:v>
                </c:pt>
              </c:numLit>
            </c:plus>
            <c:minus>
              <c:numLit>
                <c:formatCode>General</c:formatCode>
                <c:ptCount val="4"/>
                <c:pt idx="0">
                  <c:v>0.23</c:v>
                </c:pt>
                <c:pt idx="1">
                  <c:v>0.17</c:v>
                </c:pt>
                <c:pt idx="2">
                  <c:v>0.21</c:v>
                </c:pt>
                <c:pt idx="3">
                  <c:v>0.18</c:v>
                </c:pt>
              </c:numLit>
            </c:minus>
            <c:spPr>
              <a:ln w="15240">
                <a:solidFill>
                  <a:srgbClr val="173D67"/>
                </a:solidFill>
              </a:ln>
            </c:spPr>
          </c:errBars>
          <c:xVal>
            <c:numRef>
              <c:f>'Chart Data'!$A$2:$A$5</c:f>
              <c:numCache>
                <c:formatCode>General</c:formatCode>
                <c:ptCount val="4"/>
                <c:pt idx="0">
                  <c:v>0.42</c:v>
                </c:pt>
                <c:pt idx="1">
                  <c:v>-0.24</c:v>
                </c:pt>
                <c:pt idx="2">
                  <c:v>0.31</c:v>
                </c:pt>
                <c:pt idx="3">
                  <c:v>-0.44</c:v>
                </c:pt>
              </c:numCache>
            </c:numRef>
          </c:xVal>
          <c:yVal>
            <c:numRef>
              <c:f>'Chart Data'!$B$2:$B$5</c:f>
              <c:numCache>
                <c:formatCode>General</c:formatCode>
                <c:ptCount val="4"/>
                <c:pt idx="0">
                  <c:v>4</c:v>
                </c:pt>
                <c:pt idx="1">
                  <c:v>3</c:v>
                </c:pt>
                <c:pt idx="2">
                  <c:v>2</c:v>
                </c:pt>
                <c:pt idx="3">
                  <c:v>1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5"/>
          <c:min val="0"/>
        </c:scaling>
        <c:delete val="0"/>
        <c:axPos val="l"/>
        <c:numFmt formatCode="&quot;&quot;" sourceLinked="0"/>
        <c:majorTickMark val="none"/>
        <c:minorTickMark val="none"/>
        <c:tickLblPos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majorUnit val="1"/>
      </c:valAx>
      <c:valAx>
        <c:axId val="48650112"/>
        <c:scaling>
          <c:orientation val="minMax"/>
          <c:max val="0.8"/>
          <c:min val="-0.8"/>
        </c:scaling>
        <c:delete val="0"/>
        <c:axPos val="b"/>
        <c:numFmt formatCode="0.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majorUnit val="0.4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charts/chart2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27"/>
          <c:y val="0.05"/>
          <c:w val="0.69"/>
          <c:h val="0.69"/>
        </c:manualLayout>
      </c:layout>
      <c:scatterChart>
        <c:scatterStyle val="marker"/>
        <c:varyColors val="0"/>
        <c:ser>
          <c:idx val="0"/>
          <c:order val="0"/>
          <c:tx>
            <c:v>效应估计</c:v>
          </c:tx>
          <c:spPr>
            <a:noFill/>
            <a:ln>
              <a:noFill/>
            </a:ln>
          </c:spPr>
          <c:marker>
            <c:symbol val="circle"/>
            <c:size val="7"/>
            <c:spPr>
              <a:solidFill>
                <a:srgbClr val="173D67"/>
              </a:solidFill>
              <a:ln w="8890">
                <a:solidFill>
                  <a:srgbClr val="173D67"/>
                </a:solidFill>
              </a:ln>
            </c:spPr>
          </c:marker>
          <c:errBars>
            <c:errDir val="x"/>
            <c:errBarType val="both"/>
            <c:errValType val="cust"/>
            <c:noEndCap val="0"/>
            <c:plus>
              <c:numLit>
                <c:formatCode>General</c:formatCode>
                <c:ptCount val="4"/>
                <c:pt idx="0">
                  <c:v>0.23</c:v>
                </c:pt>
                <c:pt idx="1">
                  <c:v>0.17</c:v>
                </c:pt>
                <c:pt idx="2">
                  <c:v>0.22</c:v>
                </c:pt>
                <c:pt idx="3">
                  <c:v>0.2</c:v>
                </c:pt>
              </c:numLit>
            </c:plus>
            <c:minus>
              <c:numLit>
                <c:formatCode>General</c:formatCode>
                <c:ptCount val="4"/>
                <c:pt idx="0">
                  <c:v>0.23</c:v>
                </c:pt>
                <c:pt idx="1">
                  <c:v>0.17</c:v>
                </c:pt>
                <c:pt idx="2">
                  <c:v>0.21</c:v>
                </c:pt>
                <c:pt idx="3">
                  <c:v>0.18</c:v>
                </c:pt>
              </c:numLit>
            </c:minus>
            <c:spPr>
              <a:ln w="15240">
                <a:solidFill>
                  <a:srgbClr val="173D67"/>
                </a:solidFill>
              </a:ln>
            </c:spPr>
          </c:errBars>
          <c:xVal>
            <c:numRef>
              <c:f>'Chart Data'!$A$2:$A$5</c:f>
              <c:numCache>
                <c:formatCode>General</c:formatCode>
                <c:ptCount val="4"/>
                <c:pt idx="0">
                  <c:v>0.42</c:v>
                </c:pt>
                <c:pt idx="1">
                  <c:v>-0.24</c:v>
                </c:pt>
                <c:pt idx="2">
                  <c:v>0.31</c:v>
                </c:pt>
                <c:pt idx="3">
                  <c:v>-0.44</c:v>
                </c:pt>
              </c:numCache>
            </c:numRef>
          </c:xVal>
          <c:yVal>
            <c:numRef>
              <c:f>'Chart Data'!$B$2:$B$5</c:f>
              <c:numCache>
                <c:formatCode>General</c:formatCode>
                <c:ptCount val="4"/>
                <c:pt idx="0">
                  <c:v>4</c:v>
                </c:pt>
                <c:pt idx="1">
                  <c:v>3</c:v>
                </c:pt>
                <c:pt idx="2">
                  <c:v>2</c:v>
                </c:pt>
                <c:pt idx="3">
                  <c:v>1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5"/>
          <c:min val="0"/>
        </c:scaling>
        <c:delete val="0"/>
        <c:axPos val="l"/>
        <c:numFmt formatCode="&quot;&quot;" sourceLinked="0"/>
        <c:majorTickMark val="none"/>
        <c:minorTickMark val="none"/>
        <c:tickLblPos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majorUnit val="1"/>
      </c:valAx>
      <c:valAx>
        <c:axId val="48650112"/>
        <c:scaling>
          <c:orientation val="minMax"/>
          <c:max val="0.8"/>
          <c:min val="-0.8"/>
        </c:scaling>
        <c:delete val="0"/>
        <c:axPos val="b"/>
        <c:numFmt formatCode="0.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majorUnit val="0.4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charts/chart3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12"/>
          <c:y val="0.06"/>
          <c:w val="0.84"/>
          <c:h val="0.69"/>
        </c:manualLayout>
      </c:layout>
      <c:scatterChart>
        <c:scatterStyle val="marker"/>
        <c:varyColors val="0"/>
        <c:ser>
          <c:idx val="0"/>
          <c:order val="0"/>
          <c:tx>
            <c:v>示意数据</c:v>
          </c:tx>
          <c:spPr>
            <a:noFill/>
            <a:ln>
              <a:noFill/>
            </a:ln>
          </c:spPr>
          <c:marker>
            <c:symbol val="circle"/>
            <c:size val="4"/>
            <c:spPr>
              <a:solidFill>
                <a:srgbClr val="173D67"/>
              </a:solidFill>
              <a:ln w="8890">
                <a:solidFill>
                  <a:srgbClr val="173D67"/>
                </a:solidFill>
              </a:ln>
            </c:spPr>
          </c:marker>
          <c:trendline>
            <c:spPr>
              <a:ln w="19050">
                <a:solidFill>
                  <a:srgbClr val="173D67"/>
                </a:solidFill>
                <a:prstDash val="solid"/>
              </a:ln>
            </c:spPr>
            <c:trendlineType val="linear"/>
            <c:dispRSqr val="0"/>
            <c:dispEq val="0"/>
          </c:trendline>
          <c:xVal>
            <c:numRef>
              <c:f>'Chart Data'!$A$2:$A$27</c:f>
              <c:numCache>
                <c:formatCode>General</c:formatCode>
                <c:ptCount val="26"/>
                <c:pt idx="0">
                  <c:v>10</c:v>
                </c:pt>
                <c:pt idx="1">
                  <c:v>12.2</c:v>
                </c:pt>
                <c:pt idx="2">
                  <c:v>14.4</c:v>
                </c:pt>
                <c:pt idx="3">
                  <c:v>16.6</c:v>
                </c:pt>
                <c:pt idx="4">
                  <c:v>18.8</c:v>
                </c:pt>
                <c:pt idx="5">
                  <c:v>21</c:v>
                </c:pt>
                <c:pt idx="6">
                  <c:v>23.2</c:v>
                </c:pt>
                <c:pt idx="7">
                  <c:v>25.4</c:v>
                </c:pt>
                <c:pt idx="8">
                  <c:v>27.6</c:v>
                </c:pt>
                <c:pt idx="9">
                  <c:v>29.8</c:v>
                </c:pt>
                <c:pt idx="10">
                  <c:v>32</c:v>
                </c:pt>
                <c:pt idx="11">
                  <c:v>34.2</c:v>
                </c:pt>
                <c:pt idx="12">
                  <c:v>36.4</c:v>
                </c:pt>
                <c:pt idx="13">
                  <c:v>38.6</c:v>
                </c:pt>
                <c:pt idx="14">
                  <c:v>40.8</c:v>
                </c:pt>
                <c:pt idx="15">
                  <c:v>43</c:v>
                </c:pt>
                <c:pt idx="16">
                  <c:v>45.2</c:v>
                </c:pt>
                <c:pt idx="17">
                  <c:v>47.4</c:v>
                </c:pt>
                <c:pt idx="18">
                  <c:v>49.6</c:v>
                </c:pt>
                <c:pt idx="19">
                  <c:v>51.8</c:v>
                </c:pt>
                <c:pt idx="20">
                  <c:v>54</c:v>
                </c:pt>
                <c:pt idx="21">
                  <c:v>56.2</c:v>
                </c:pt>
                <c:pt idx="22">
                  <c:v>58.4</c:v>
                </c:pt>
                <c:pt idx="23">
                  <c:v>60.6</c:v>
                </c:pt>
                <c:pt idx="24">
                  <c:v>62.8</c:v>
                </c:pt>
                <c:pt idx="25">
                  <c:v>65</c:v>
                </c:pt>
              </c:numCache>
            </c:numRef>
          </c:xVal>
          <c:yVal>
            <c:numRef>
              <c:f>'Chart Data'!$B$2:$B$27</c:f>
              <c:numCache>
                <c:formatCode>General</c:formatCode>
                <c:ptCount val="26"/>
                <c:pt idx="0">
                  <c:v>10</c:v>
                </c:pt>
                <c:pt idx="1">
                  <c:v>16.7</c:v>
                </c:pt>
                <c:pt idx="2">
                  <c:v>10.6</c:v>
                </c:pt>
                <c:pt idx="3">
                  <c:v>15.2</c:v>
                </c:pt>
                <c:pt idx="4">
                  <c:v>23.7</c:v>
                </c:pt>
                <c:pt idx="5">
                  <c:v>18.3</c:v>
                </c:pt>
                <c:pt idx="6">
                  <c:v>20.5</c:v>
                </c:pt>
                <c:pt idx="7">
                  <c:v>30.4</c:v>
                </c:pt>
                <c:pt idx="8">
                  <c:v>26.2</c:v>
                </c:pt>
                <c:pt idx="9">
                  <c:v>26</c:v>
                </c:pt>
                <c:pt idx="10">
                  <c:v>36.6</c:v>
                </c:pt>
                <c:pt idx="11">
                  <c:v>34.2</c:v>
                </c:pt>
                <c:pt idx="12">
                  <c:v>31.9</c:v>
                </c:pt>
                <c:pt idx="13">
                  <c:v>42.4</c:v>
                </c:pt>
                <c:pt idx="14">
                  <c:v>42.2</c:v>
                </c:pt>
                <c:pt idx="15">
                  <c:v>38.1</c:v>
                </c:pt>
                <c:pt idx="16">
                  <c:v>48</c:v>
                </c:pt>
                <c:pt idx="17">
                  <c:v>50</c:v>
                </c:pt>
                <c:pt idx="18">
                  <c:v>44.6</c:v>
                </c:pt>
                <c:pt idx="19">
                  <c:v>53.3</c:v>
                </c:pt>
                <c:pt idx="20">
                  <c:v>57.7</c:v>
                </c:pt>
                <c:pt idx="21">
                  <c:v>51.6</c:v>
                </c:pt>
                <c:pt idx="22">
                  <c:v>58.5</c:v>
                </c:pt>
                <c:pt idx="23">
                  <c:v>65.1</c:v>
                </c:pt>
                <c:pt idx="24">
                  <c:v>59</c:v>
                </c:pt>
                <c:pt idx="25">
                  <c:v>63.7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80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sz="1125">
                    <a:latin typeface="Noto Sans CJK SC"/>
                    <a:ea typeface="Noto Sans CJK SC"/>
                    <a:cs typeface="Noto Sans CJK SC"/>
                  </a:rPr>
                  <a:t>观测值</a:t>
                </a:r>
                <a:endParaRPr/>
              </a:p>
            </c:rich>
          </c:tx>
          <c:layout>
            <c:manualLayout>
              <c:xMode val="edge"/>
              <c:yMode val="edge"/>
              <c:x val="-0.05"/>
              <c:y val="0.2"/>
            </c:manualLayout>
          </c:layout>
          <c:overlay val="0"/>
          <c:txPr>
            <a:bodyPr anchorCtr="1"/>
            <a:lstStyle/>
            <a:p>
              <a:pPr>
                <a:defRPr sz="1125">
                  <a:latin typeface="Noto Sans CJK SC"/>
                  <a:ea typeface="Noto Sans CJK SC"/>
                  <a:cs typeface="Noto Sans CJK SC"/>
                </a:defRPr>
              </a:pPr>
            </a:p>
          </c:txPr>
        </c:title>
        <c:numFmt formatCode="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majorUnit val="20"/>
      </c:valAx>
      <c:valAx>
        <c:axId val="48650112"/>
        <c:scaling>
          <c:orientation val="minMax"/>
          <c:max val="80"/>
          <c:min val="0"/>
        </c:scaling>
        <c:delete val="0"/>
        <c:axPos val="b"/>
        <c:numFmt formatCode="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majorUnit val="20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charts/chart4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12"/>
          <c:y val="0.06"/>
          <c:w val="0.84"/>
          <c:h val="0.69"/>
        </c:manualLayout>
      </c:layout>
      <c:scatterChart>
        <c:scatterStyle val="marker"/>
        <c:varyColors val="0"/>
        <c:ser>
          <c:idx val="0"/>
          <c:order val="0"/>
          <c:tx>
            <c:v>示意观测</c:v>
          </c:tx>
          <c:spPr>
            <a:noFill/>
            <a:ln>
              <a:noFill/>
            </a:ln>
          </c:spPr>
          <c:marker>
            <c:symbol val="circle"/>
            <c:size val="4"/>
            <c:spPr>
              <a:solidFill>
                <a:srgbClr val="173D67"/>
              </a:solidFill>
              <a:ln w="8890">
                <a:solidFill>
                  <a:srgbClr val="173D67"/>
                </a:solidFill>
              </a:ln>
            </c:spPr>
          </c:marker>
          <c:trendline>
            <c:spPr>
              <a:ln w="19050">
                <a:solidFill>
                  <a:srgbClr val="173D67"/>
                </a:solidFill>
                <a:prstDash val="solid"/>
              </a:ln>
            </c:spPr>
            <c:trendlineType val="linear"/>
            <c:dispRSqr val="0"/>
            <c:dispEq val="0"/>
          </c:trendline>
          <c:xVal>
            <c:numRef>
              <c:f>'Chart Data'!$A$2:$A$42</c:f>
              <c:numCache>
                <c:formatCode>General</c:formatCode>
                <c:ptCount val="41"/>
                <c:pt idx="0">
                  <c:v>0</c:v>
                </c:pt>
                <c:pt idx="1">
                  <c:v>0.025</c:v>
                </c:pt>
                <c:pt idx="2">
                  <c:v>0.05</c:v>
                </c:pt>
                <c:pt idx="3">
                  <c:v>0.075</c:v>
                </c:pt>
                <c:pt idx="4">
                  <c:v>0.1</c:v>
                </c:pt>
                <c:pt idx="5">
                  <c:v>0.125</c:v>
                </c:pt>
                <c:pt idx="6">
                  <c:v>0.15</c:v>
                </c:pt>
                <c:pt idx="7">
                  <c:v>0.175</c:v>
                </c:pt>
                <c:pt idx="8">
                  <c:v>0.2</c:v>
                </c:pt>
                <c:pt idx="9">
                  <c:v>0.225</c:v>
                </c:pt>
                <c:pt idx="10">
                  <c:v>0.25</c:v>
                </c:pt>
                <c:pt idx="11">
                  <c:v>0.275</c:v>
                </c:pt>
                <c:pt idx="12">
                  <c:v>0.3</c:v>
                </c:pt>
                <c:pt idx="13">
                  <c:v>0.325</c:v>
                </c:pt>
                <c:pt idx="14">
                  <c:v>0.35</c:v>
                </c:pt>
                <c:pt idx="15">
                  <c:v>0.375</c:v>
                </c:pt>
                <c:pt idx="16">
                  <c:v>0.4</c:v>
                </c:pt>
                <c:pt idx="17">
                  <c:v>0.425</c:v>
                </c:pt>
                <c:pt idx="18">
                  <c:v>0.45</c:v>
                </c:pt>
                <c:pt idx="19">
                  <c:v>0.475</c:v>
                </c:pt>
                <c:pt idx="20">
                  <c:v>0.5</c:v>
                </c:pt>
                <c:pt idx="21">
                  <c:v>0.525</c:v>
                </c:pt>
                <c:pt idx="22">
                  <c:v>0.55</c:v>
                </c:pt>
                <c:pt idx="23">
                  <c:v>0.575</c:v>
                </c:pt>
                <c:pt idx="24">
                  <c:v>0.6</c:v>
                </c:pt>
                <c:pt idx="25">
                  <c:v>0.625</c:v>
                </c:pt>
                <c:pt idx="26">
                  <c:v>0.65</c:v>
                </c:pt>
                <c:pt idx="27">
                  <c:v>0.675</c:v>
                </c:pt>
                <c:pt idx="28">
                  <c:v>0.7</c:v>
                </c:pt>
                <c:pt idx="29">
                  <c:v>0.725</c:v>
                </c:pt>
                <c:pt idx="30">
                  <c:v>0.75</c:v>
                </c:pt>
                <c:pt idx="31">
                  <c:v>0.775</c:v>
                </c:pt>
                <c:pt idx="32">
                  <c:v>0.8</c:v>
                </c:pt>
                <c:pt idx="33">
                  <c:v>0.825</c:v>
                </c:pt>
                <c:pt idx="34">
                  <c:v>0.85</c:v>
                </c:pt>
                <c:pt idx="35">
                  <c:v>0.875</c:v>
                </c:pt>
                <c:pt idx="36">
                  <c:v>0.9</c:v>
                </c:pt>
                <c:pt idx="37">
                  <c:v>0.925</c:v>
                </c:pt>
                <c:pt idx="38">
                  <c:v>0.95</c:v>
                </c:pt>
                <c:pt idx="39">
                  <c:v>0.975</c:v>
                </c:pt>
                <c:pt idx="40">
                  <c:v>1</c:v>
                </c:pt>
              </c:numCache>
            </c:numRef>
          </c:xVal>
          <c:yVal>
            <c:numRef>
              <c:f>'Chart Data'!$B$2:$B$42</c:f>
              <c:numCache>
                <c:formatCode>General</c:formatCode>
                <c:ptCount val="41"/>
                <c:pt idx="0">
                  <c:v>80</c:v>
                </c:pt>
                <c:pt idx="1">
                  <c:v>85.9</c:v>
                </c:pt>
                <c:pt idx="2">
                  <c:v>67</c:v>
                </c:pt>
                <c:pt idx="3">
                  <c:v>81.2</c:v>
                </c:pt>
                <c:pt idx="4">
                  <c:v>76.1</c:v>
                </c:pt>
                <c:pt idx="5">
                  <c:v>63.6</c:v>
                </c:pt>
                <c:pt idx="6">
                  <c:v>80.3</c:v>
                </c:pt>
                <c:pt idx="7">
                  <c:v>65.5</c:v>
                </c:pt>
                <c:pt idx="8">
                  <c:v>63.5</c:v>
                </c:pt>
                <c:pt idx="9">
                  <c:v>75.9</c:v>
                </c:pt>
                <c:pt idx="10">
                  <c:v>56.3</c:v>
                </c:pt>
                <c:pt idx="11">
                  <c:v>64.9</c:v>
                </c:pt>
                <c:pt idx="12">
                  <c:v>67.9</c:v>
                </c:pt>
                <c:pt idx="13">
                  <c:v>50.2</c:v>
                </c:pt>
                <c:pt idx="14">
                  <c:v>65.7</c:v>
                </c:pt>
                <c:pt idx="15">
                  <c:v>57.7</c:v>
                </c:pt>
                <c:pt idx="16">
                  <c:v>47.8</c:v>
                </c:pt>
                <c:pt idx="17">
                  <c:v>63.9</c:v>
                </c:pt>
                <c:pt idx="18">
                  <c:v>47.2</c:v>
                </c:pt>
                <c:pt idx="19">
                  <c:v>48.2</c:v>
                </c:pt>
                <c:pt idx="20">
                  <c:v>58.5</c:v>
                </c:pt>
                <c:pt idx="21">
                  <c:v>38.7</c:v>
                </c:pt>
                <c:pt idx="22">
                  <c:v>49.7</c:v>
                </c:pt>
                <c:pt idx="23">
                  <c:v>49.8</c:v>
                </c:pt>
                <c:pt idx="24">
                  <c:v>33.6</c:v>
                </c:pt>
                <c:pt idx="25">
                  <c:v>50</c:v>
                </c:pt>
                <c:pt idx="26">
                  <c:v>39.3</c:v>
                </c:pt>
                <c:pt idx="27">
                  <c:v>32.1</c:v>
                </c:pt>
                <c:pt idx="28">
                  <c:v>47.3</c:v>
                </c:pt>
                <c:pt idx="29">
                  <c:v>29.1</c:v>
                </c:pt>
                <c:pt idx="30">
                  <c:v>33.1</c:v>
                </c:pt>
                <c:pt idx="31">
                  <c:v>40.9</c:v>
                </c:pt>
                <c:pt idx="32">
                  <c:v>21.5</c:v>
                </c:pt>
                <c:pt idx="33">
                  <c:v>34.5</c:v>
                </c:pt>
                <c:pt idx="34">
                  <c:v>31.5</c:v>
                </c:pt>
                <c:pt idx="35">
                  <c:v>17.4</c:v>
                </c:pt>
                <c:pt idx="36">
                  <c:v>34.1</c:v>
                </c:pt>
                <c:pt idx="37">
                  <c:v>20.8</c:v>
                </c:pt>
                <c:pt idx="38">
                  <c:v>16.7</c:v>
                </c:pt>
                <c:pt idx="39">
                  <c:v>30.4</c:v>
                </c:pt>
                <c:pt idx="40">
                  <c:v>11.2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00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sz="1125">
                    <a:latin typeface="Noto Sans CJK SC"/>
                    <a:ea typeface="Noto Sans CJK SC"/>
                    <a:cs typeface="Noto Sans CJK SC"/>
                  </a:rPr>
                  <a:t>物种数</a:t>
                </a:r>
                <a:endParaRPr/>
              </a:p>
            </c:rich>
          </c:tx>
          <c:layout>
            <c:manualLayout>
              <c:xMode val="edge"/>
              <c:yMode val="edge"/>
              <c:x val="-0.05"/>
              <c:y val="0.2"/>
            </c:manualLayout>
          </c:layout>
          <c:overlay val="0"/>
          <c:txPr>
            <a:bodyPr anchorCtr="1"/>
            <a:lstStyle/>
            <a:p>
              <a:pPr>
                <a:defRPr sz="1125">
                  <a:latin typeface="Noto Sans CJK SC"/>
                  <a:ea typeface="Noto Sans CJK SC"/>
                  <a:cs typeface="Noto Sans CJK SC"/>
                </a:defRPr>
              </a:pPr>
            </a:p>
          </c:txPr>
        </c:title>
        <c:numFmt formatCode="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majorUnit val="25"/>
      </c:valAx>
      <c:valAx>
        <c:axId val="48650112"/>
        <c:scaling>
          <c:orientation val="minMax"/>
          <c:max val="1"/>
          <c:min val="0"/>
        </c:scaling>
        <c:delete val="0"/>
        <c:axPos val="b"/>
        <c:numFmt formatCode="0.0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majorUnit val="0.25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charts/chart5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12"/>
          <c:y val="0.06"/>
          <c:w val="0.84"/>
          <c:h val="0.69"/>
        </c:manualLayout>
      </c:layout>
      <c:barChart>
        <c:barDir val="col"/>
        <c:grouping val="stacked"/>
        <c:varyColors val="0"/>
        <c:ser>
          <c:idx val="0"/>
          <c:order val="0"/>
          <c:tx>
            <c:v>Q1</c:v>
          </c:tx>
          <c:spPr>
            <a:noFill/>
            <a:ln>
              <a:noFill/>
            </a:ln>
          </c:spPr>
          <c:invertIfNegative val="0"/>
          <c:errBars>
            <c:errDir val="y"/>
            <c:errBarType val="both"/>
            <c:errValType val="cust"/>
            <c:noEndCap val="0"/>
            <c:plus>
              <c:numLit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Lit>
            </c:plus>
            <c:minus>
              <c:numLit>
                <c:formatCode>General</c:formatCode>
                <c:ptCount val="3"/>
                <c:pt idx="0">
                  <c:v>0.1365</c:v>
                </c:pt>
                <c:pt idx="1">
                  <c:v>0.1365</c:v>
                </c:pt>
                <c:pt idx="2">
                  <c:v>0.1365</c:v>
                </c:pt>
              </c:numLit>
            </c:minus>
            <c:spPr>
              <a:ln w="15240">
                <a:solidFill>
                  <a:srgbClr val="173D67"/>
                </a:solidFill>
              </a:ln>
            </c:spPr>
          </c:errBars>
          <c:cat>
            <c:strRef>
              <c:f>'Chart Data'!$A$2:$A$4</c:f>
              <c:strCache>
                <c:ptCount val="3"/>
                <c:pt idx="0">
                  <c:v>连续林</c:v>
                </c:pt>
                <c:pt idx="1">
                  <c:v>过渡带</c:v>
                </c:pt>
                <c:pt idx="2">
                  <c:v>破碎林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1.4245</c:v>
                </c:pt>
                <c:pt idx="1">
                  <c:v>0.9245</c:v>
                </c:pt>
                <c:pt idx="2">
                  <c:v>0.4045</c:v>
                </c:pt>
              </c:numCache>
            </c:numRef>
          </c:val>
        </c:ser>
        <c:ser>
          <c:idx val="1"/>
          <c:order val="1"/>
          <c:tx>
            <c:v>Median minus Q1</c:v>
          </c:tx>
          <c:spPr>
            <a:solidFill>
              <a:srgbClr val="718EAA"/>
            </a:solidFill>
            <a:ln w="11430">
              <a:solidFill>
                <a:srgbClr val="173D67"/>
              </a:solidFill>
            </a:ln>
          </c:spPr>
          <c:invertIfNegative val="0"/>
          <c:cat>
            <c:strRef>
              <c:f>'Chart Data'!$C$2:$C$4</c:f>
              <c:strCache>
                <c:ptCount val="3"/>
                <c:pt idx="0">
                  <c:v>连续林</c:v>
                </c:pt>
                <c:pt idx="1">
                  <c:v>过渡带</c:v>
                </c:pt>
                <c:pt idx="2">
                  <c:v>破碎林</c:v>
                </c:pt>
              </c:strCache>
            </c:strRef>
          </c:cat>
          <c:val>
            <c:numRef>
              <c:f>'Chart Data'!$D$2:$D$4</c:f>
              <c:numCache>
                <c:formatCode>General</c:formatCode>
                <c:ptCount val="3"/>
                <c:pt idx="0">
                  <c:v>0.165</c:v>
                </c:pt>
                <c:pt idx="1">
                  <c:v>0.165</c:v>
                </c:pt>
                <c:pt idx="2">
                  <c:v>0.165</c:v>
                </c:pt>
              </c:numCache>
            </c:numRef>
          </c:val>
        </c:ser>
        <c:ser>
          <c:idx val="2"/>
          <c:order val="2"/>
          <c:tx>
            <c:v>Q3 minus median</c:v>
          </c:tx>
          <c:spPr>
            <a:solidFill>
              <a:srgbClr val="718EAA"/>
            </a:solidFill>
            <a:ln w="11430">
              <a:solidFill>
                <a:srgbClr val="173D67"/>
              </a:solidFill>
            </a:ln>
          </c:spPr>
          <c:invertIfNegative val="0"/>
          <c:errBars>
            <c:errDir val="y"/>
            <c:errBarType val="both"/>
            <c:errValType val="cust"/>
            <c:noEndCap val="0"/>
            <c:plus>
              <c:numLit>
                <c:formatCode>General</c:formatCode>
                <c:ptCount val="3"/>
                <c:pt idx="0">
                  <c:v>0.1745</c:v>
                </c:pt>
                <c:pt idx="1">
                  <c:v>0.1745</c:v>
                </c:pt>
                <c:pt idx="2">
                  <c:v>0.1745</c:v>
                </c:pt>
              </c:numLit>
            </c:plus>
            <c:minus>
              <c:numLit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Lit>
            </c:minus>
            <c:spPr>
              <a:ln w="15240">
                <a:solidFill>
                  <a:srgbClr val="173D67"/>
                </a:solidFill>
              </a:ln>
            </c:spPr>
          </c:errBars>
          <c:cat>
            <c:strRef>
              <c:f>'Chart Data'!$E$2:$E$4</c:f>
              <c:strCache>
                <c:ptCount val="3"/>
                <c:pt idx="0">
                  <c:v>连续林</c:v>
                </c:pt>
                <c:pt idx="1">
                  <c:v>过渡带</c:v>
                </c:pt>
                <c:pt idx="2">
                  <c:v>破碎林</c:v>
                </c:pt>
              </c:strCache>
            </c:strRef>
          </c:cat>
          <c:val>
            <c:numRef>
              <c:f>'Chart Data'!$F$2:$F$4</c:f>
              <c:numCache>
                <c:formatCode>General</c:formatCode>
                <c:ptCount val="3"/>
                <c:pt idx="0">
                  <c:v>0.103</c:v>
                </c:pt>
                <c:pt idx="1">
                  <c:v>0.103</c:v>
                </c:pt>
                <c:pt idx="2">
                  <c:v>0.103</c:v>
                </c:pt>
              </c:numCache>
            </c:numRef>
          </c:val>
        </c:ser>
        <c:dLbls>
          <c:txPr>
            <a:bodyPr anchorCtr="1"/>
            <a:lstStyle/>
            <a:p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1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tickLblSkip val="1"/>
        <c:tickMarkSkip val="1"/>
      </c:catAx>
      <c:valAx>
        <c:axId val="48672768"/>
        <c:scaling>
          <c:orientation val="minMax"/>
          <c:max val="2.5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sz="1125">
                    <a:latin typeface="Noto Sans CJK SC"/>
                    <a:ea typeface="Noto Sans CJK SC"/>
                    <a:cs typeface="Noto Sans CJK SC"/>
                  </a:rPr>
                  <a:t>多样性指数</a:t>
                </a:r>
                <a:endParaRPr/>
              </a:p>
            </c:rich>
          </c:tx>
          <c:layout>
            <c:manualLayout>
              <c:xMode val="edge"/>
              <c:yMode val="edge"/>
              <c:x val="-0.05"/>
              <c:y val="0.2"/>
            </c:manualLayout>
          </c:layout>
          <c:overlay val="0"/>
          <c:txPr>
            <a:bodyPr anchorCtr="1"/>
            <a:lstStyle/>
            <a:p>
              <a:pPr>
                <a:defRPr sz="1125">
                  <a:latin typeface="Noto Sans CJK SC"/>
                  <a:ea typeface="Noto Sans CJK SC"/>
                  <a:cs typeface="Noto Sans CJK SC"/>
                </a:defRPr>
              </a:pPr>
            </a:p>
          </c:txPr>
        </c:title>
        <c:numFmt formatCode="0.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crossBetween val="between"/>
        <c:majorUnit val="0.5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charts/chart6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12"/>
          <c:y val="0.06"/>
          <c:w val="0.84"/>
          <c:h val="0.69"/>
        </c:manualLayout>
      </c:layout>
      <c:areaChart>
        <c:grouping val="stacked"/>
        <c:varyColors val="0"/>
        <c:ser>
          <c:idx val="0"/>
          <c:order val="0"/>
          <c:tx>
            <c:v>Lower bound</c:v>
          </c:tx>
          <c:spPr>
            <a:noFill/>
            <a:ln>
              <a:noFill/>
            </a:ln>
          </c:spPr>
          <c:cat>
            <c:strRef>
              <c:f>'Chart Data'!$A$2:$A$13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'Chart Data'!$B$2:$B$13</c:f>
              <c:numCache>
                <c:formatCode>General</c:formatCode>
                <c:ptCount val="12"/>
                <c:pt idx="0">
                  <c:v>0.61</c:v>
                </c:pt>
                <c:pt idx="1">
                  <c:v>0.71</c:v>
                </c:pt>
                <c:pt idx="2">
                  <c:v>0.9</c:v>
                </c:pt>
                <c:pt idx="3">
                  <c:v>1.09</c:v>
                </c:pt>
                <c:pt idx="4">
                  <c:v>1.28</c:v>
                </c:pt>
                <c:pt idx="5">
                  <c:v>1.13</c:v>
                </c:pt>
                <c:pt idx="6">
                  <c:v>0.91</c:v>
                </c:pt>
                <c:pt idx="7">
                  <c:v>0.73</c:v>
                </c:pt>
                <c:pt idx="8">
                  <c:v>0.64</c:v>
                </c:pt>
                <c:pt idx="9">
                  <c:v>0.53</c:v>
                </c:pt>
                <c:pt idx="10">
                  <c:v>0.47</c:v>
                </c:pt>
                <c:pt idx="11">
                  <c:v>0.42</c:v>
                </c:pt>
              </c:numCache>
            </c:numRef>
          </c:val>
        </c:ser>
        <c:ser>
          <c:idx val="1"/>
          <c:order val="1"/>
          <c:tx>
            <c:v>Band width</c:v>
          </c:tx>
          <c:spPr>
            <a:solidFill>
              <a:srgbClr val="EEF3F8"/>
            </a:solidFill>
            <a:ln>
              <a:noFill/>
            </a:ln>
          </c:spPr>
          <c:cat>
            <c:strRef>
              <c:f>'Chart Data'!$C$2:$C$13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'Chart Data'!$D$2:$D$13</c:f>
              <c:numCache>
                <c:formatCode>General</c:formatCode>
                <c:ptCount val="12"/>
                <c:pt idx="0">
                  <c:v>0.34</c:v>
                </c:pt>
                <c:pt idx="1">
                  <c:v>0.38</c:v>
                </c:pt>
                <c:pt idx="2">
                  <c:v>0.4</c:v>
                </c:pt>
                <c:pt idx="3">
                  <c:v>0.42</c:v>
                </c:pt>
                <c:pt idx="4">
                  <c:v>0.4</c:v>
                </c:pt>
                <c:pt idx="5">
                  <c:v>0.38</c:v>
                </c:pt>
                <c:pt idx="6">
                  <c:v>0.38</c:v>
                </c:pt>
                <c:pt idx="7">
                  <c:v>0.38</c:v>
                </c:pt>
                <c:pt idx="8">
                  <c:v>0.38</c:v>
                </c:pt>
                <c:pt idx="9">
                  <c:v>0.38</c:v>
                </c:pt>
                <c:pt idx="10">
                  <c:v>0.38</c:v>
                </c:pt>
                <c:pt idx="11">
                  <c:v>0.36</c:v>
                </c:pt>
              </c:numCache>
            </c:numRef>
          </c:val>
        </c:ser>
        <c:axId val="48650112"/>
        <c:axId val="48672768"/>
      </c:areaChart>
      <c:lineChart>
        <c:grouping val="standard"/>
        <c:varyColors val="0"/>
        <c:ser>
          <c:idx val="2"/>
          <c:order val="2"/>
          <c:tx>
            <c:v>情景 A</c:v>
          </c:tx>
          <c:spPr>
            <a:solidFill>
              <a:srgbClr val="173D67"/>
            </a:solidFill>
            <a:ln w="19050">
              <a:solidFill>
                <a:srgbClr val="173D67"/>
              </a:solidFill>
              <a:prstDash val="solid"/>
            </a:ln>
          </c:spPr>
          <c:marker>
            <c:symbol val="circle"/>
            <c:size val="5"/>
            <c:spPr>
              <a:solidFill>
                <a:srgbClr val="173D67"/>
              </a:solidFill>
              <a:ln w="8890">
                <a:solidFill>
                  <a:srgbClr val="173D67"/>
                </a:solidFill>
              </a:ln>
            </c:spPr>
          </c:marker>
          <c:cat>
            <c:strRef>
              <c:f>'Chart Data'!$E$2:$E$13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'Chart Data'!$F$2:$F$13</c:f>
              <c:numCache>
                <c:formatCode>General</c:formatCode>
                <c:ptCount val="12"/>
                <c:pt idx="0">
                  <c:v>0.78</c:v>
                </c:pt>
                <c:pt idx="1">
                  <c:v>0.9</c:v>
                </c:pt>
                <c:pt idx="2">
                  <c:v>1.1</c:v>
                </c:pt>
                <c:pt idx="3">
                  <c:v>1.3</c:v>
                </c:pt>
                <c:pt idx="4">
                  <c:v>1.48</c:v>
                </c:pt>
                <c:pt idx="5">
                  <c:v>1.32</c:v>
                </c:pt>
                <c:pt idx="6">
                  <c:v>1.1</c:v>
                </c:pt>
                <c:pt idx="7">
                  <c:v>0.92</c:v>
                </c:pt>
                <c:pt idx="8">
                  <c:v>0.83</c:v>
                </c:pt>
                <c:pt idx="9">
                  <c:v>0.72</c:v>
                </c:pt>
                <c:pt idx="10">
                  <c:v>0.66</c:v>
                </c:pt>
                <c:pt idx="11">
                  <c:v>0.6</c:v>
                </c:pt>
              </c:numCache>
            </c:numRef>
          </c:val>
          <c:smooth val="0"/>
        </c:ser>
        <c:ser>
          <c:idx val="3"/>
          <c:order val="3"/>
          <c:tx>
            <c:v>情景 B</c:v>
          </c:tx>
          <c:spPr>
            <a:solidFill>
              <a:srgbClr val="AF3D3D"/>
            </a:solidFill>
            <a:ln w="19050">
              <a:solidFill>
                <a:srgbClr val="AF3D3D"/>
              </a:solidFill>
              <a:prstDash val="solid"/>
            </a:ln>
          </c:spPr>
          <c:marker>
            <c:symbol val="circle"/>
            <c:size val="5"/>
            <c:spPr>
              <a:solidFill>
                <a:srgbClr val="AF3D3D"/>
              </a:solidFill>
              <a:ln w="8890">
                <a:solidFill>
                  <a:srgbClr val="AF3D3D"/>
                </a:solidFill>
              </a:ln>
            </c:spPr>
          </c:marker>
          <c:cat>
            <c:strRef>
              <c:f>'Chart Data'!$G$2:$G$13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'Chart Data'!$H$2:$H$13</c:f>
              <c:numCache>
                <c:formatCode>General</c:formatCode>
                <c:ptCount val="12"/>
                <c:pt idx="0">
                  <c:v>0.24</c:v>
                </c:pt>
                <c:pt idx="1">
                  <c:v>0.32</c:v>
                </c:pt>
                <c:pt idx="2">
                  <c:v>0.44</c:v>
                </c:pt>
                <c:pt idx="3">
                  <c:v>0.61</c:v>
                </c:pt>
                <c:pt idx="4">
                  <c:v>0.72</c:v>
                </c:pt>
                <c:pt idx="5">
                  <c:v>0.6</c:v>
                </c:pt>
                <c:pt idx="6">
                  <c:v>0.52</c:v>
                </c:pt>
                <c:pt idx="7">
                  <c:v>0.38</c:v>
                </c:pt>
                <c:pt idx="8">
                  <c:v>0.31</c:v>
                </c:pt>
                <c:pt idx="9">
                  <c:v>0.27</c:v>
                </c:pt>
                <c:pt idx="10">
                  <c:v>0.25</c:v>
                </c:pt>
                <c:pt idx="11">
                  <c:v>0.24</c:v>
                </c:pt>
              </c:numCache>
            </c:numRef>
          </c:val>
          <c:smooth val="0"/>
        </c:ser>
        <c:dLbls>
          <c:txPr>
            <a:bodyPr anchorCtr="1"/>
            <a:lstStyle/>
            <a:p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tickLblSkip val="2"/>
        <c:tickMarkSkip val="2"/>
      </c:catAx>
      <c:valAx>
        <c:axId val="48672768"/>
        <c:scaling>
          <c:orientation val="minMax"/>
          <c:max val="2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sz="1125">
                    <a:latin typeface="Noto Sans CJK SC"/>
                    <a:ea typeface="Noto Sans CJK SC"/>
                    <a:cs typeface="Noto Sans CJK SC"/>
                  </a:rPr>
                  <a:t>相对活动指数</a:t>
                </a:r>
                <a:endParaRPr/>
              </a:p>
            </c:rich>
          </c:tx>
          <c:layout>
            <c:manualLayout>
              <c:xMode val="edge"/>
              <c:yMode val="edge"/>
              <c:x val="-0.05"/>
              <c:y val="0.2"/>
            </c:manualLayout>
          </c:layout>
          <c:overlay val="0"/>
          <c:txPr>
            <a:bodyPr anchorCtr="1"/>
            <a:lstStyle/>
            <a:p>
              <a:pPr>
                <a:defRPr sz="1125">
                  <a:latin typeface="Noto Sans CJK SC"/>
                  <a:ea typeface="Noto Sans CJK SC"/>
                  <a:cs typeface="Noto Sans CJK SC"/>
                </a:defRPr>
              </a:pPr>
            </a:p>
          </c:txPr>
        </c:title>
        <c:numFmt formatCode="0.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crossBetween val="between"/>
        <c:majorUnit val="0.5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charts/chart7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27"/>
          <c:y val="0.05"/>
          <c:w val="0.69"/>
          <c:h val="0.69"/>
        </c:manualLayout>
      </c:layout>
      <c:scatterChart>
        <c:scatterStyle val="marker"/>
        <c:varyColors val="0"/>
        <c:ser>
          <c:idx val="0"/>
          <c:order val="0"/>
          <c:tx>
            <c:v>效应估计</c:v>
          </c:tx>
          <c:spPr>
            <a:noFill/>
            <a:ln>
              <a:noFill/>
            </a:ln>
          </c:spPr>
          <c:marker>
            <c:symbol val="circle"/>
            <c:size val="7"/>
            <c:spPr>
              <a:solidFill>
                <a:srgbClr val="173D67"/>
              </a:solidFill>
              <a:ln w="8890">
                <a:solidFill>
                  <a:srgbClr val="173D67"/>
                </a:solidFill>
              </a:ln>
            </c:spPr>
          </c:marker>
          <c:errBars>
            <c:errDir val="x"/>
            <c:errBarType val="both"/>
            <c:errValType val="cust"/>
            <c:noEndCap val="0"/>
            <c:plus>
              <c:numLit>
                <c:formatCode>General</c:formatCode>
                <c:ptCount val="4"/>
                <c:pt idx="0">
                  <c:v>0.23</c:v>
                </c:pt>
                <c:pt idx="1">
                  <c:v>0.17</c:v>
                </c:pt>
                <c:pt idx="2">
                  <c:v>0.22</c:v>
                </c:pt>
                <c:pt idx="3">
                  <c:v>0.2</c:v>
                </c:pt>
              </c:numLit>
            </c:plus>
            <c:minus>
              <c:numLit>
                <c:formatCode>General</c:formatCode>
                <c:ptCount val="4"/>
                <c:pt idx="0">
                  <c:v>0.23</c:v>
                </c:pt>
                <c:pt idx="1">
                  <c:v>0.17</c:v>
                </c:pt>
                <c:pt idx="2">
                  <c:v>0.21</c:v>
                </c:pt>
                <c:pt idx="3">
                  <c:v>0.18</c:v>
                </c:pt>
              </c:numLit>
            </c:minus>
            <c:spPr>
              <a:ln w="15240">
                <a:solidFill>
                  <a:srgbClr val="173D67"/>
                </a:solidFill>
              </a:ln>
            </c:spPr>
          </c:errBars>
          <c:xVal>
            <c:numRef>
              <c:f>'Chart Data'!$A$2:$A$5</c:f>
              <c:numCache>
                <c:formatCode>General</c:formatCode>
                <c:ptCount val="4"/>
                <c:pt idx="0">
                  <c:v>0.42</c:v>
                </c:pt>
                <c:pt idx="1">
                  <c:v>-0.24</c:v>
                </c:pt>
                <c:pt idx="2">
                  <c:v>0.31</c:v>
                </c:pt>
                <c:pt idx="3">
                  <c:v>-0.44</c:v>
                </c:pt>
              </c:numCache>
            </c:numRef>
          </c:xVal>
          <c:yVal>
            <c:numRef>
              <c:f>'Chart Data'!$B$2:$B$5</c:f>
              <c:numCache>
                <c:formatCode>General</c:formatCode>
                <c:ptCount val="4"/>
                <c:pt idx="0">
                  <c:v>4</c:v>
                </c:pt>
                <c:pt idx="1">
                  <c:v>3</c:v>
                </c:pt>
                <c:pt idx="2">
                  <c:v>2</c:v>
                </c:pt>
                <c:pt idx="3">
                  <c:v>1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5"/>
          <c:min val="0"/>
        </c:scaling>
        <c:delete val="0"/>
        <c:axPos val="l"/>
        <c:numFmt formatCode="&quot;&quot;" sourceLinked="0"/>
        <c:majorTickMark val="none"/>
        <c:minorTickMark val="none"/>
        <c:tickLblPos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majorUnit val="1"/>
      </c:valAx>
      <c:valAx>
        <c:axId val="48650112"/>
        <c:scaling>
          <c:orientation val="minMax"/>
          <c:max val="0.8"/>
          <c:min val="-0.8"/>
        </c:scaling>
        <c:delete val="0"/>
        <c:axPos val="b"/>
        <c:numFmt formatCode="0.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majorUnit val="0.4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notesMasters/_rels/notesMaster1.xml.rels><?xml version='1.0' encoding='utf-8'?>
<Relationships xmlns="http://schemas.openxmlformats.org/package/2006/relationships"><Relationship Type="http://schemas.openxmlformats.org/officeDocument/2006/relationships/theme" Target="/ppt/notesMasters/theme/theme3.xml" Id="R913960fe16274819" /></Relationships>
</file>

<file path=ppt/notesMasters/notesMaster1.xml><?xml version="1.0" encoding="utf-8"?>
<p:notesMaster xmlns:a="http://schemas.openxmlformats.org/drawingml/2006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/>
      </p:grpSpPr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Noto Sans CJK SC"/>
        <a:ea typeface=""/>
        <a:cs typeface=""/>
      </a:majorFont>
      <a:minorFont>
        <a:latin typeface="Noto Sans CJK S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?>
<Relationships xmlns="http://schemas.openxmlformats.org/package/2006/relationships"><Relationship Type="http://schemas.openxmlformats.org/officeDocument/2006/relationships/slide" Target="/ppt/slides/slide1.xml" Id="Rfc6e8ac78c5545a3" /><Relationship Type="http://schemas.openxmlformats.org/officeDocument/2006/relationships/notesMaster" Target="/ppt/notesMasters/notesMaster1.xml" Id="Rf0bb6a3157794807" /></Relationships>
</file>

<file path=ppt/notesSlides/_rels/notesSlide2.xml.rels><?xml version='1.0' encoding='utf-8'?>
<Relationships xmlns="http://schemas.openxmlformats.org/package/2006/relationships"><Relationship Type="http://schemas.openxmlformats.org/officeDocument/2006/relationships/slide" Target="/ppt/slides/slide2.xml" Id="R41799d7d8e3843f1" /><Relationship Type="http://schemas.openxmlformats.org/officeDocument/2006/relationships/notesMaster" Target="/ppt/notesMasters/notesMaster1.xml" Id="R5ce3b7a540304d6b" /></Relationships>
</file>

<file path=ppt/notesSlides/_rels/notesSlide3.xml.rels><?xml version='1.0' encoding='utf-8'?>
<Relationships xmlns="http://schemas.openxmlformats.org/package/2006/relationships"><Relationship Type="http://schemas.openxmlformats.org/officeDocument/2006/relationships/slide" Target="/ppt/slides/slide3.xml" Id="R114553076e04493d" /><Relationship Type="http://schemas.openxmlformats.org/officeDocument/2006/relationships/notesMaster" Target="/ppt/notesMasters/notesMaster1.xml" Id="Rca58bf0f836b4098" /></Relationships>
</file>

<file path=ppt/notesSlides/_rels/notesSlide4.xml.rels><?xml version='1.0' encoding='utf-8'?>
<Relationships xmlns="http://schemas.openxmlformats.org/package/2006/relationships"><Relationship Type="http://schemas.openxmlformats.org/officeDocument/2006/relationships/slide" Target="/ppt/slides/slide4.xml" Id="R2e71f6aa53874f33" /><Relationship Type="http://schemas.openxmlformats.org/officeDocument/2006/relationships/notesMaster" Target="/ppt/notesMasters/notesMaster1.xml" Id="Rbc334885f09040c8" /></Relationships>
</file>

<file path=ppt/notesSlides/_rels/notesSlide5.xml.rels><?xml version='1.0' encoding='utf-8'?>
<Relationships xmlns="http://schemas.openxmlformats.org/package/2006/relationships"><Relationship Type="http://schemas.openxmlformats.org/officeDocument/2006/relationships/slide" Target="/ppt/slides/slide5.xml" Id="Rd0cc5ea8d0c74a67" /><Relationship Type="http://schemas.openxmlformats.org/officeDocument/2006/relationships/notesMaster" Target="/ppt/notesMasters/notesMaster1.xml" Id="Reeaf5a3cd56d4190" /></Relationships>
</file>

<file path=ppt/notesSlides/_rels/notesSlide6.xml.rels><?xml version='1.0' encoding='utf-8'?>
<Relationships xmlns="http://schemas.openxmlformats.org/package/2006/relationships"><Relationship Type="http://schemas.openxmlformats.org/officeDocument/2006/relationships/slide" Target="/ppt/slides/slide6.xml" Id="Rc4e15e69f21a4d07" /><Relationship Type="http://schemas.openxmlformats.org/officeDocument/2006/relationships/notesMaster" Target="/ppt/notesMasters/notesMaster1.xml" Id="R146efe84a7b445ef" /></Relationships>
</file>

<file path=ppt/notesSlides/_rels/notesSlide7.xml.rels><?xml version='1.0' encoding='utf-8'?>
<Relationships xmlns="http://schemas.openxmlformats.org/package/2006/relationships"><Relationship Type="http://schemas.openxmlformats.org/officeDocument/2006/relationships/slide" Target="/ppt/slides/slide7.xml" Id="R4cf529f6e1c7487c" /><Relationship Type="http://schemas.openxmlformats.org/officeDocument/2006/relationships/notesMaster" Target="/ppt/notesMasters/notesMaster1.xml" Id="Rf4725e7255104779" /></Relationships>
</file>

<file path=ppt/notesSlides/_rels/notesSlide8.xml.rels><?xml version='1.0' encoding='utf-8'?>
<Relationships xmlns="http://schemas.openxmlformats.org/package/2006/relationships"><Relationship Type="http://schemas.openxmlformats.org/officeDocument/2006/relationships/slide" Target="/ppt/slides/slide8.xml" Id="R6e48b80e4b834772" /><Relationship Type="http://schemas.openxmlformats.org/officeDocument/2006/relationships/notesMaster" Target="/ppt/notesMasters/notesMaster1.xml" Id="R6ea7d8a4598a4ea0" 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本样板人工构造的合成数据，仅测试版式与编辑功能，不代表真实研究。</a:t>
            </a:r>
            <a:endParaRPr/>
          </a:p>
          <a:p>
            <a:r>
              <a:rPr/>
              <a:t>Layout: L5</a:t>
            </a:r>
            <a:endParaRPr/>
          </a:p>
          <a:p>
            <a:r>
              <a:rPr/>
              <a:t>Palette: P1</a:t>
            </a:r>
            <a:endParaRPr/>
          </a:p>
          <a:p>
            <a:r>
              <a:rPr/>
              <a:t>Scenario: academic</a:t>
            </a:r>
            <a:endParaRPr/>
          </a:p>
          <a:p>
            <a:r>
              <a:rPr/>
              <a:t>SYNTHETIC DEMONSTRATION DATA</a:t>
            </a:r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本样板人工构造的合成数据，仅测试版式与编辑功能，不代表真实研究。</a:t>
            </a:r>
            <a:endParaRPr/>
          </a:p>
          <a:p>
            <a:r>
              <a:rPr/>
              <a:t>Layout: L6</a:t>
            </a:r>
            <a:endParaRPr/>
          </a:p>
          <a:p>
            <a:r>
              <a:rPr/>
              <a:t>Palette: P1</a:t>
            </a:r>
            <a:endParaRPr/>
          </a:p>
          <a:p>
            <a:r>
              <a:rPr/>
              <a:t>Scenario: academic</a:t>
            </a:r>
            <a:endParaRPr/>
          </a:p>
          <a:p>
            <a:r>
              <a:rPr/>
              <a:t>SYNTHETIC DEMONSTRATION DATA</a:t>
            </a:r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本样板人工构造的合成数据，仅测试版式与编辑功能，不代表真实研究。</a:t>
            </a:r>
            <a:endParaRPr/>
          </a:p>
          <a:p>
            <a:r>
              <a:rPr/>
              <a:t>Layout: L7</a:t>
            </a:r>
            <a:endParaRPr/>
          </a:p>
          <a:p>
            <a:r>
              <a:rPr/>
              <a:t>Palette: P1</a:t>
            </a:r>
            <a:endParaRPr/>
          </a:p>
          <a:p>
            <a:r>
              <a:rPr/>
              <a:t>Scenario: academic</a:t>
            </a:r>
            <a:endParaRPr/>
          </a:p>
          <a:p>
            <a:r>
              <a:rPr/>
              <a:t>SYNTHETIC DEMONSTRATION DATA</a:t>
            </a:r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本样板人工构造的合成数据，仅测试版式与编辑功能，不代表真实研究。</a:t>
            </a:r>
            <a:endParaRPr/>
          </a:p>
          <a:p>
            <a:r>
              <a:rPr/>
              <a:t>Chart sources:</a:t>
            </a:r>
            <a:endParaRPr/>
          </a:p>
          <a:p>
            <a:r>
              <a:rPr/>
              <a:t>chart: 本样板人工构造的合成数据，仅测试版式与编辑功能，不代表真实研究。</a:t>
            </a:r>
            <a:endParaRPr/>
          </a:p>
          <a:p>
            <a:r>
              <a:rPr/>
              <a:t>Layout: L8</a:t>
            </a:r>
            <a:endParaRPr/>
          </a:p>
          <a:p>
            <a:r>
              <a:rPr/>
              <a:t>Palette: P1</a:t>
            </a:r>
            <a:endParaRPr/>
          </a:p>
          <a:p>
            <a:r>
              <a:rPr/>
              <a:t>Scenario: academic</a:t>
            </a:r>
            <a:endParaRPr/>
          </a:p>
          <a:p>
            <a:r>
              <a:rPr/>
              <a:t>SYNTHETIC DEMONSTRATION DATA</a:t>
            </a:r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本样板人工构造的合成数据，仅测试版式与编辑功能，不代表真实研究。</a:t>
            </a:r>
            <a:endParaRPr/>
          </a:p>
          <a:p>
            <a:r>
              <a:rPr/>
              <a:t>Layout: L9</a:t>
            </a:r>
            <a:endParaRPr/>
          </a:p>
          <a:p>
            <a:r>
              <a:rPr/>
              <a:t>Palette: P1</a:t>
            </a:r>
            <a:endParaRPr/>
          </a:p>
          <a:p>
            <a:r>
              <a:rPr/>
              <a:t>Scenario: academic</a:t>
            </a:r>
            <a:endParaRPr/>
          </a:p>
          <a:p>
            <a:r>
              <a:rPr/>
              <a:t>SYNTHETIC DEMONSTRATION DATA</a:t>
            </a:r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本样板人工构造的合成数据，仅测试版式与编辑功能，不代表真实研究。</a:t>
            </a:r>
            <a:endParaRPr/>
          </a:p>
          <a:p>
            <a:r>
              <a:rPr/>
              <a:t>Chart sources:</a:t>
            </a:r>
            <a:endParaRPr/>
          </a:p>
          <a:p>
            <a:r>
              <a:rPr/>
              <a:t>charts.0: 本样板人工构造的合成数据，仅测试版式与编辑功能，不代表真实研究。</a:t>
            </a:r>
            <a:endParaRPr/>
          </a:p>
          <a:p>
            <a:r>
              <a:rPr/>
              <a:t>charts.1: 本样板人工构造的合成数据，仅测试版式与编辑功能，不代表真实研究。</a:t>
            </a:r>
            <a:endParaRPr/>
          </a:p>
          <a:p>
            <a:r>
              <a:rPr/>
              <a:t>Layout: L10</a:t>
            </a:r>
            <a:endParaRPr/>
          </a:p>
          <a:p>
            <a:r>
              <a:rPr/>
              <a:t>Palette: P1</a:t>
            </a:r>
            <a:endParaRPr/>
          </a:p>
          <a:p>
            <a:r>
              <a:rPr/>
              <a:t>Scenario: academic</a:t>
            </a:r>
            <a:endParaRPr/>
          </a:p>
          <a:p>
            <a:r>
              <a:rPr/>
              <a:t>SYNTHETIC DEMONSTRATION DATA</a:t>
            </a:r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本样板人工构造的合成数据，仅测试版式与编辑功能，不代表真实研究。</a:t>
            </a:r>
            <a:endParaRPr/>
          </a:p>
          <a:p>
            <a:r>
              <a:rPr/>
              <a:t>Chart sources:</a:t>
            </a:r>
            <a:endParaRPr/>
          </a:p>
          <a:p>
            <a:r>
              <a:rPr/>
              <a:t>charts.0: 本样板人工构造的合成数据，仅测试版式与编辑功能，不代表真实研究。</a:t>
            </a:r>
            <a:endParaRPr/>
          </a:p>
          <a:p>
            <a:r>
              <a:rPr/>
              <a:t>charts.1: 本样板人工构造的合成数据，仅测试版式与编辑功能，不代表真实研究。</a:t>
            </a:r>
            <a:endParaRPr/>
          </a:p>
          <a:p>
            <a:r>
              <a:rPr/>
              <a:t>charts.2: 本样板人工构造的合成数据，仅测试版式与编辑功能，不代表真实研究。</a:t>
            </a:r>
            <a:endParaRPr/>
          </a:p>
          <a:p>
            <a:r>
              <a:rPr/>
              <a:t>charts.3: 本样板人工构造的合成数据，仅测试版式与编辑功能，不代表真实研究。</a:t>
            </a:r>
            <a:endParaRPr/>
          </a:p>
          <a:p>
            <a:r>
              <a:rPr/>
              <a:t>Layout: L11</a:t>
            </a:r>
            <a:endParaRPr/>
          </a:p>
          <a:p>
            <a:r>
              <a:rPr/>
              <a:t>Palette: P1</a:t>
            </a:r>
            <a:endParaRPr/>
          </a:p>
          <a:p>
            <a:r>
              <a:rPr/>
              <a:t>Scenario: academic</a:t>
            </a:r>
            <a:endParaRPr/>
          </a:p>
          <a:p>
            <a:r>
              <a:rPr/>
              <a:t>SYNTHETIC DEMONSTRATION DATA</a:t>
            </a:r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本样板人工构造的合成数据，仅测试版式与编辑功能，不代表真实研究。</a:t>
            </a:r>
            <a:endParaRPr/>
          </a:p>
          <a:p>
            <a:r>
              <a:rPr/>
              <a:t>Layout: L14</a:t>
            </a:r>
            <a:endParaRPr/>
          </a:p>
          <a:p>
            <a:r>
              <a:rPr/>
              <a:t>Palette: P1</a:t>
            </a:r>
            <a:endParaRPr/>
          </a:p>
          <a:p>
            <a:r>
              <a:rPr/>
              <a:t>Scenario: academic</a:t>
            </a:r>
            <a:endParaRPr/>
          </a:p>
          <a:p>
            <a:r>
              <a:rPr/>
              <a:t>SYNTHETIC DEMONSTRATION DATA</a:t>
            </a:r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baf52e31fc704bdc" /></Relationships>
</file>

<file path=ppt/slideLayouts/_rels/slideLayout2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cc99deef56624ca4" /></Relationships>
</file>

<file path=ppt/slideLayouts/_rels/slideLayout3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4e39dd14fa8a4888" /></Relationships>
</file>

<file path=ppt/slideLayouts/_rels/slideLayout4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a2019ee27f334608" /></Relationships>
</file>

<file path=ppt/slideLayouts/_rels/slideLayout5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5d4efeff5946454b" /></Relationships>
</file>

<file path=ppt/slideLayouts/_rels/slideLayout6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8f0a95e591e2447b" /></Relationships>
</file>

<file path=ppt/slideLayouts/slideLayout1.xml><?xml version="1.0" encoding="utf-8"?>
<p:sldLayout xmlns:a="http://schemas.openxmlformats.org/drawingml/2006/main" xmlns:ns2="http://schemas.microsoft.com/office/drawing/2014/main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/>
      </p:grpSpPr>
      <p:sp>
        <p:nvSpPr>
          <p:cNvPr id="3" name="Title">
            <a:extLst>
              <a:ext uri="{FF2B5EF4-FFF2-40B4-BE49-F238E27FC236}">
                <ns2:creationId id="{E21DDFB4-60E9-4420-837B-4EAFB84C7F8A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  <p:sp>
        <p:nvSpPr>
          <p:cNvPr id="2" name="Subtitle">
            <a:extLst>
              <a:ext uri="{FF2B5EF4-FFF2-40B4-BE49-F238E27FC236}">
                <ns2:creationId id="{BA6D5EBE-242C-4508-A254-68F0361F2C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</p:spTree>
  </p:cSld>
</p:sldLayout>
</file>

<file path=ppt/slideLayouts/slideLayout2.xml><?xml version="1.0" encoding="utf-8"?>
<p:sldLayout xmlns:a="http://schemas.openxmlformats.org/drawingml/2006/main" xmlns:ns2="http://schemas.microsoft.com/office/drawing/2014/main" xmlns:p="http://schemas.openxmlformats.org/presentationml/2006/main">
  <p:cSld name="Section Header">
    <p:spTree>
      <p:nvGrpSpPr>
        <p:cNvPr id="1" name=""/>
        <p:cNvGrpSpPr/>
        <p:nvPr/>
      </p:nvGrpSpPr>
      <p:grpSpPr>
        <a:xfrm/>
      </p:grpSpPr>
      <p:sp>
        <p:nvSpPr>
          <p:cNvPr id="2" name="Section title">
            <a:extLst>
              <a:ext uri="{FF2B5EF4-FFF2-40B4-BE49-F238E27FC236}">
                <ns2:creationId id="{F3991E54-819B-4ED6-9326-19572329AD9C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</p:spTree>
  </p:cSld>
</p:sldLayout>
</file>

<file path=ppt/slideLayouts/slideLayout3.xml><?xml version="1.0" encoding="utf-8"?>
<p:sldLayout xmlns:a="http://schemas.openxmlformats.org/drawingml/2006/main" xmlns:ns2="http://schemas.microsoft.com/office/drawing/2014/main" xmlns:p="http://schemas.openxmlformats.org/presentationml/2006/main">
  <p:cSld name="Title and Body">
    <p:spTree>
      <p:nvGrpSpPr>
        <p:cNvPr id="1" name=""/>
        <p:cNvGrpSpPr/>
        <p:nvPr/>
      </p:nvGrpSpPr>
      <p:grpSpPr>
        <a:xfrm/>
      </p:grpSpPr>
      <p:sp>
        <p:nvSpPr>
          <p:cNvPr id="3" name="Title">
            <a:extLst>
              <a:ext uri="{FF2B5EF4-FFF2-40B4-BE49-F238E27FC236}">
                <ns2:creationId id="{4A5A72E8-86C1-46ED-A1BC-F369108CD320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  <p:sp>
        <p:nvSpPr>
          <p:cNvPr id="2" name="Body">
            <a:extLst>
              <a:ext uri="{FF2B5EF4-FFF2-40B4-BE49-F238E27FC236}">
                <ns2:creationId id="{8031CA3D-0D23-4984-9215-673B4A1B64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</p:spTree>
  </p:cSld>
</p:sldLayout>
</file>

<file path=ppt/slideLayouts/slideLayout4.xml><?xml version="1.0" encoding="utf-8"?>
<p:sldLayout xmlns:a="http://schemas.openxmlformats.org/drawingml/2006/main" xmlns:ns2="http://schemas.microsoft.com/office/drawing/2014/main" xmlns:p="http://schemas.openxmlformats.org/presentationml/2006/main">
  <p:cSld name="Title and Two Column">
    <p:spTree>
      <p:nvGrpSpPr>
        <p:cNvPr id="1" name=""/>
        <p:cNvGrpSpPr/>
        <p:nvPr/>
      </p:nvGrpSpPr>
      <p:grpSpPr>
        <a:xfrm/>
      </p:grpSpPr>
      <p:sp>
        <p:nvSpPr>
          <p:cNvPr id="4" name="Title">
            <a:extLst>
              <a:ext uri="{FF2B5EF4-FFF2-40B4-BE49-F238E27FC236}">
                <ns2:creationId id="{922F6E40-86FA-4835-B28B-BF278BD475D9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  <p:sp>
        <p:nvSpPr>
          <p:cNvPr id="2" name="Left column">
            <a:extLst>
              <a:ext uri="{FF2B5EF4-FFF2-40B4-BE49-F238E27FC236}">
                <ns2:creationId id="{FD9AD838-E562-4A78-B4FE-FD51C23729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  <p:sp>
        <p:nvSpPr>
          <p:cNvPr id="3" name="Right column">
            <a:extLst>
              <a:ext uri="{FF2B5EF4-FFF2-40B4-BE49-F238E27FC236}">
                <ns2:creationId id="{C0491689-BA57-479D-8DBB-64C3F430271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</p:spTree>
  </p:cSld>
</p:sldLayout>
</file>

<file path=ppt/slideLayouts/slideLayout5.xml><?xml version="1.0" encoding="utf-8"?>
<p:sldLayout xmlns:a="http://schemas.openxmlformats.org/drawingml/2006/main" xmlns:ns2="http://schemas.microsoft.com/office/drawing/2014/main" xmlns:p="http://schemas.openxmlformats.org/presentationml/2006/main">
  <p:cSld name="Title and One Column">
    <p:spTree>
      <p:nvGrpSpPr>
        <p:cNvPr id="1" name=""/>
        <p:cNvGrpSpPr/>
        <p:nvPr/>
      </p:nvGrpSpPr>
      <p:grpSpPr>
        <a:xfrm/>
      </p:grpSpPr>
      <p:sp>
        <p:nvSpPr>
          <p:cNvPr id="3" name="Title">
            <a:extLst>
              <a:ext uri="{FF2B5EF4-FFF2-40B4-BE49-F238E27FC236}">
                <ns2:creationId id="{492D91ED-15BC-40F7-81FF-B7D476EC4A02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  <p:sp>
        <p:nvSpPr>
          <p:cNvPr id="2" name="Left column">
            <a:extLst>
              <a:ext uri="{FF2B5EF4-FFF2-40B4-BE49-F238E27FC236}">
                <ns2:creationId id="{F6AFA915-A911-40E5-8450-F19F3270D7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type="blank">
  <p:cSld name="Blank">
    <p:spTree>
      <p:nvGrpSpPr>
        <p:cNvPr id="1" name=""/>
        <p:cNvGrpSpPr/>
        <p:nvPr/>
      </p:nvGrpSpPr>
      <p:grpSpPr>
        <a:xfrm/>
      </p:grpSpPr>
    </p:spTree>
  </p:cSld>
</p:sldLayout>
</file>

<file path=ppt/slideMasters/_rels/slideMaster1.xml.rels><?xml version='1.0' encoding='utf-8'?>
<Relationships xmlns="http://schemas.openxmlformats.org/package/2006/relationships"><Relationship Type="http://schemas.openxmlformats.org/officeDocument/2006/relationships/theme" Target="/ppt/slideMasters/theme/theme2.xml" Id="Rcc3513c773d440ab" /><Relationship Type="http://schemas.openxmlformats.org/officeDocument/2006/relationships/slideLayout" Target="/ppt/slideLayouts/slideLayout1.xml" Id="R26173e832a724c71" /><Relationship Type="http://schemas.openxmlformats.org/officeDocument/2006/relationships/slideLayout" Target="/ppt/slideLayouts/slideLayout2.xml" Id="R960f9b439dd84bd9" /><Relationship Type="http://schemas.openxmlformats.org/officeDocument/2006/relationships/slideLayout" Target="/ppt/slideLayouts/slideLayout3.xml" Id="Rd9ec3fb0d6e8413b" /><Relationship Type="http://schemas.openxmlformats.org/officeDocument/2006/relationships/slideLayout" Target="/ppt/slideLayouts/slideLayout4.xml" Id="R124ea3bf6ddc4914" /><Relationship Type="http://schemas.openxmlformats.org/officeDocument/2006/relationships/slideLayout" Target="/ppt/slideLayouts/slideLayout5.xml" Id="Rbf3e53cbc2464fbc" /><Relationship Type="http://schemas.openxmlformats.org/officeDocument/2006/relationships/slideLayout" Target="/ppt/slideLayouts/slideLayout6.xml" Id="Rd77528f4ddf74050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26173e832a724c71"/>
    <p:sldLayoutId id="2147483650" r:id="R960f9b439dd84bd9"/>
    <p:sldLayoutId id="2147483651" r:id="Rd9ec3fb0d6e8413b"/>
    <p:sldLayoutId id="2147483652" r:id="R124ea3bf6ddc4914"/>
    <p:sldLayoutId id="2147483653" r:id="Rbf3e53cbc2464fbc"/>
    <p:sldLayoutId id="2147483654" r:id="Rd77528f4ddf74050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Noto Sans CJK SC"/>
          <a:ea typeface="Noto Sans CJK SC"/>
          <a:cs typeface="Noto Sans CJK SC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Noto Sans CJK SC"/>
          <a:ea typeface="Noto Sans CJK SC"/>
          <a:cs typeface="Noto Sans CJK SC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Noto Sans CJK SC"/>
          <a:ea typeface="Noto Sans CJK SC"/>
          <a:cs typeface="Noto Sans CJK SC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Noto Sans CJK SC"/>
          <a:ea typeface="Noto Sans CJK SC"/>
          <a:cs typeface="Noto Sans CJK SC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1pPr>
      <a:lvl2pPr marL="4572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2pPr>
      <a:lvl3pPr marL="9144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3pPr>
      <a:lvl4pPr marL="13716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4pPr>
      <a:lvl5pPr marL="18288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5pPr>
      <a:lvl6pPr marL="22860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6pPr>
      <a:lvl7pPr marL="27432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7pPr>
      <a:lvl8pPr marL="32004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8pPr>
      <a:lvl9pPr marL="36576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Noto Sans CJK SC"/>
        <a:ea typeface=""/>
        <a:cs typeface=""/>
      </a:majorFont>
      <a:minorFont>
        <a:latin typeface="Noto Sans CJK S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5532680c6b5d4552" /><Relationship Type="http://schemas.openxmlformats.org/officeDocument/2006/relationships/image" Target="/ppt/media/image2.png" Id="Rda1941b6a5cf4a48" /><Relationship Type="http://schemas.openxmlformats.org/officeDocument/2006/relationships/notesSlide" Target="/ppt/notesSlides/notesSlide1.xml" Id="R68f0df05906a4f2e" /></Relationships>
</file>

<file path=ppt/slides/_rels/slide2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e397f4e24ee24421" /><Relationship Type="http://schemas.openxmlformats.org/officeDocument/2006/relationships/notesSlide" Target="/ppt/notesSlides/notesSlide2.xml" Id="Rbb57f2fd412e4e66" /></Relationships>
</file>

<file path=ppt/slides/_rels/slide3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1c2c3da23ff74ada" /><Relationship Type="http://schemas.openxmlformats.org/officeDocument/2006/relationships/image" Target="/ppt/media/image2.png" Id="R8fcd05eff92847ce" /><Relationship Type="http://schemas.openxmlformats.org/officeDocument/2006/relationships/notesSlide" Target="/ppt/notesSlides/notesSlide3.xml" Id="Rc3ff8a46e50b4879" /></Relationships>
</file>

<file path=ppt/slides/_rels/slide4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10b1e622ca56413d" /><Relationship Type="http://schemas.openxmlformats.org/officeDocument/2006/relationships/image" Target="/ppt/media/image.png" Id="Rf024df587924409c" /><Relationship Type="http://schemas.openxmlformats.org/officeDocument/2006/relationships/chart" Target="/ppt/charts/chart1.xml" Id="Rb01c90e26ef64a2d" /><Relationship Type="http://schemas.openxmlformats.org/officeDocument/2006/relationships/notesSlide" Target="/ppt/notesSlides/notesSlide4.xml" Id="R198bc451e3ed49d4" /></Relationships>
</file>

<file path=ppt/slides/_rels/slide5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25b0de36d0154031" /><Relationship Type="http://schemas.openxmlformats.org/officeDocument/2006/relationships/image" Target="/ppt/media/image.png" Id="R5f155ced3c494a39" /><Relationship Type="http://schemas.openxmlformats.org/officeDocument/2006/relationships/image" Target="/ppt/media/image.png" Id="Ra3e27fc1ebcc433e" /><Relationship Type="http://schemas.openxmlformats.org/officeDocument/2006/relationships/image" Target="/ppt/media/image.png" Id="Rdf017364ef2348d1" /><Relationship Type="http://schemas.openxmlformats.org/officeDocument/2006/relationships/image" Target="/ppt/media/image.png" Id="R32ff49c7cc97420d" /><Relationship Type="http://schemas.openxmlformats.org/officeDocument/2006/relationships/image" Target="/ppt/media/image.png" Id="R172781c0c6724258" /><Relationship Type="http://schemas.openxmlformats.org/officeDocument/2006/relationships/image" Target="/ppt/media/image.png" Id="R7458a5ac3d3448c8" /><Relationship Type="http://schemas.openxmlformats.org/officeDocument/2006/relationships/image" Target="/ppt/media/image.png" Id="R6b80380e3d78440e" /><Relationship Type="http://schemas.openxmlformats.org/officeDocument/2006/relationships/notesSlide" Target="/ppt/notesSlides/notesSlide5.xml" Id="R4ef68450f9d14d7b" /></Relationships>
</file>

<file path=ppt/slides/_rels/slide6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7acb46eafb4d4a61" /><Relationship Type="http://schemas.openxmlformats.org/officeDocument/2006/relationships/chart" Target="/ppt/charts/chart2.xml" Id="R131fe6ba7eb5426e" /><Relationship Type="http://schemas.openxmlformats.org/officeDocument/2006/relationships/chart" Target="/ppt/charts/chart3.xml" Id="R272f144416c24f5b" /><Relationship Type="http://schemas.openxmlformats.org/officeDocument/2006/relationships/notesSlide" Target="/ppt/notesSlides/notesSlide6.xml" Id="Re932ae2421e947e6" /></Relationships>
</file>

<file path=ppt/slides/_rels/slide7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12d5e8f858424d79" /><Relationship Type="http://schemas.openxmlformats.org/officeDocument/2006/relationships/chart" Target="/ppt/charts/chart4.xml" Id="R0f90f39fb5cf47f3" /><Relationship Type="http://schemas.openxmlformats.org/officeDocument/2006/relationships/chart" Target="/ppt/charts/chart5.xml" Id="R5ffc3bee95974730" /><Relationship Type="http://schemas.openxmlformats.org/officeDocument/2006/relationships/chart" Target="/ppt/charts/chart6.xml" Id="R5911ad34a6c7462d" /><Relationship Type="http://schemas.openxmlformats.org/officeDocument/2006/relationships/chart" Target="/ppt/charts/chart7.xml" Id="Rffaaf39a0267400e" /><Relationship Type="http://schemas.openxmlformats.org/officeDocument/2006/relationships/notesSlide" Target="/ppt/notesSlides/notesSlide7.xml" Id="R0674bcd17bcf4ba2" /></Relationships>
</file>

<file path=ppt/slides/_rels/slide8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2f4776aeb1a64bed" /><Relationship Type="http://schemas.openxmlformats.org/officeDocument/2006/relationships/image" Target="/ppt/media/image2.png" Id="R3b9dd86b0bd84db3" /><Relationship Type="http://schemas.openxmlformats.org/officeDocument/2006/relationships/notesSlide" Target="/ppt/notesSlides/notesSlide8.xml" Id="R42f6f6e0deef48f7" /></Relationships>
</file>

<file path=ppt/slides/slide1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22" name="">
            <a:extLst>
              <a:ext uri="{FF2B5EF4-FFF2-40B4-BE49-F238E27FC236}">
                <ns2:creationId id="{8DA6F845-D4D6-4E02-B90C-45310657E8DA}"/>
              </a:ext>
            </a:extLst>
          </p:cNvPr>
          <p:cNvPicPr>
            <a:picLocks noChangeAspect="1"/>
          </p:cNvPicPr>
          <p:nvPr/>
        </p:nvPicPr>
        <p:blipFill>
          <a:blip r:embed="Rda1941b6a5cf4a48"/>
          <a:stretch/>
        </p:blipFill>
        <p:spPr>
          <a:xfrm>
            <a:off x="5248275" y="152400"/>
            <a:ext cx="6324600" cy="6324600"/>
          </a:xfrm>
          <a:prstGeom prst="rect">
            <a:avLst/>
          </a:prstGeom>
        </p:spPr>
      </p:pic>
      <p:sp>
        <p:nvSpPr>
          <p:cNvPr id="2" name="text-383">
            <a:extLst>
              <a:ext uri="{FF2B5EF4-FFF2-40B4-BE49-F238E27FC236}">
                <ns2:creationId id="{36886DCD-424F-48C8-AB3E-6BA024ABB001}"/>
              </a:ext>
            </a:extLst>
          </p:cNvPr>
          <p:cNvSpPr>
            <a:spLocks noGrp="1"/>
          </p:cNvSpPr>
          <p:nvPr/>
        </p:nvSpPr>
        <p:spPr>
          <a:xfrm>
            <a:off x="361950" y="723900"/>
            <a:ext cx="590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00" b="0">
                <a:solidFill>
                  <a:srgbClr val="718EAA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1500" b="0">
                <a:solidFill>
                  <a:srgbClr val="718EAA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1500" b="0">
                <a:solidFill>
                  <a:srgbClr val="718EAA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1500" b="0">
                <a:solidFill>
                  <a:srgbClr val="718EAA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1500" b="0">
                <a:solidFill>
                  <a:srgbClr val="718EAA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1500" b="0">
                <a:solidFill>
                  <a:srgbClr val="718EAA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1500" b="0">
                <a:solidFill>
                  <a:srgbClr val="718EAA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1500" b="0">
                <a:solidFill>
                  <a:srgbClr val="718EAA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1500" b="0">
                <a:solidFill>
                  <a:srgbClr val="718EAA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1500" b="0">
                <a:solidFill>
                  <a:srgbClr val="718EAA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>
            <a:pPr algn="l">
              <a:defRPr sz="1500" b="0">
                <a:solidFill>
                  <a:srgbClr val="718EA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500" b="0">
                <a:solidFill>
                  <a:srgbClr val="718EAA"/>
                </a:solidFill>
                <a:latin typeface="Noto Serif CJK SC"/>
                <a:ea typeface="Noto Serif CJK SC"/>
                <a:cs typeface="Noto Serif CJK SC"/>
              </a:rPr>
              <a:t>学术分享型  ·  RESEARCH PRESENTATION</a:t>
            </a:r>
            <a:endParaRPr/>
          </a:p>
        </p:txBody>
      </p:sp>
      <p:sp>
        <p:nvSpPr>
          <p:cNvPr id="3" name="text-384">
            <a:extLst>
              <a:ext uri="{FF2B5EF4-FFF2-40B4-BE49-F238E27FC236}">
                <ns2:creationId id="{46703192-9F02-487F-8251-98702E313A08}"/>
              </a:ext>
            </a:extLst>
          </p:cNvPr>
          <p:cNvSpPr>
            <a:spLocks noGrp="1"/>
          </p:cNvSpPr>
          <p:nvPr/>
        </p:nvSpPr>
        <p:spPr>
          <a:xfrm>
            <a:off x="361950" y="1847850"/>
            <a:ext cx="60960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43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43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43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43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43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43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43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43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43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43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>
            <a:pPr algn="l">
              <a:defRPr sz="43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43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rPr>
              <a:t>栖息地变化与</a:t>
            </a:r>
            <a:endParaRPr/>
          </a:p>
          <a:p>
            <a:pPr algn="l">
              <a:defRPr sz="43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43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rPr>
              <a:t>生物多样性响应</a:t>
            </a:r>
            <a:endParaRPr/>
          </a:p>
        </p:txBody>
      </p:sp>
      <p:sp>
        <p:nvSpPr>
          <p:cNvPr id="4" name="text-385">
            <a:extLst>
              <a:ext uri="{FF2B5EF4-FFF2-40B4-BE49-F238E27FC236}">
                <ns2:creationId id="{B1A073E2-6EA8-4C28-8C1A-9A7F2E05E1F6}"/>
              </a:ext>
            </a:extLst>
          </p:cNvPr>
          <p:cNvSpPr>
            <a:spLocks noGrp="1"/>
          </p:cNvSpPr>
          <p:nvPr/>
        </p:nvSpPr>
        <p:spPr>
          <a:xfrm>
            <a:off x="361950" y="3895725"/>
            <a:ext cx="46672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100" b="0">
                <a:solidFill>
                  <a:srgbClr val="718EAA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2100" b="0">
                <a:solidFill>
                  <a:srgbClr val="718EAA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2100" b="0">
                <a:solidFill>
                  <a:srgbClr val="718EAA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2100" b="0">
                <a:solidFill>
                  <a:srgbClr val="718EAA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2100" b="0">
                <a:solidFill>
                  <a:srgbClr val="718EAA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2100" b="0">
                <a:solidFill>
                  <a:srgbClr val="718EAA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2100" b="0">
                <a:solidFill>
                  <a:srgbClr val="718EAA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2100" b="0">
                <a:solidFill>
                  <a:srgbClr val="718EAA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2100" b="0">
                <a:solidFill>
                  <a:srgbClr val="718EAA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2100" b="0">
                <a:solidFill>
                  <a:srgbClr val="718EAA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>
            <a:pPr algn="l">
              <a:defRPr sz="2100" b="0">
                <a:solidFill>
                  <a:srgbClr val="718EA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100" b="0">
                <a:solidFill>
                  <a:srgbClr val="718EAA"/>
                </a:solidFill>
                <a:latin typeface="Noto Serif CJK SC"/>
                <a:ea typeface="Noto Serif CJK SC"/>
                <a:cs typeface="Noto Serif CJK SC"/>
              </a:rPr>
              <a:t>景观格局、群落响应与生态机制</a:t>
            </a:r>
            <a:endParaRPr/>
          </a:p>
        </p:txBody>
      </p:sp>
      <p:sp>
        <p:nvSpPr>
          <p:cNvPr id="5" name="shape-386">
            <a:extLst>
              <a:ext uri="{FF2B5EF4-FFF2-40B4-BE49-F238E27FC236}">
                <ns2:creationId id="{B6B75BB5-B835-4820-A496-EB26F7110E45}"/>
              </a:ext>
            </a:extLst>
          </p:cNvPr>
          <p:cNvSpPr>
            <a:spLocks noGrp="1"/>
          </p:cNvSpPr>
          <p:nvPr/>
        </p:nvSpPr>
        <p:spPr>
          <a:xfrm>
            <a:off x="381000" y="4524375"/>
            <a:ext cx="857250" cy="47625"/>
          </a:xfrm>
          <a:prstGeom prst="rect">
            <a:avLst/>
          </a:prstGeom>
          <a:solidFill>
            <a:srgbClr val="AF3D3D"/>
          </a:solidFill>
          <a:ln w="0">
            <a:noFill/>
            <a:prstDash val="solid"/>
          </a:ln>
        </p:spPr>
      </p:sp>
      <p:sp>
        <p:nvSpPr>
          <p:cNvPr id="6" name="icon-person-387">
            <a:extLst>
              <a:ext uri="{FF2B5EF4-FFF2-40B4-BE49-F238E27FC236}">
                <ns2:creationId id="{725CCA1C-B5EE-48CE-8DAA-13C5DD9E4FBD}"/>
              </a:ext>
            </a:extLst>
          </p:cNvPr>
          <p:cNvSpPr>
            <a:spLocks noGrp="1"/>
          </p:cNvSpPr>
          <p:nvPr/>
        </p:nvSpPr>
        <p:spPr>
          <a:xfrm>
            <a:off x="481013" y="5941695"/>
            <a:ext cx="85725" cy="85725"/>
          </a:xfrm>
          <a:prstGeom prst="ellipse">
            <a:avLst/>
          </a:prstGeom>
          <a:noFill/>
          <a:ln w="12383">
            <a:solidFill>
              <a:srgbClr val="173D67"/>
            </a:solidFill>
            <a:prstDash val="solid"/>
          </a:ln>
        </p:spPr>
      </p:sp>
      <p:sp>
        <p:nvSpPr>
          <p:cNvPr id="7" name="icon-person-388">
            <a:extLst>
              <a:ext uri="{FF2B5EF4-FFF2-40B4-BE49-F238E27FC236}">
                <ns2:creationId id="{90924B7B-7651-4EAC-B8AB-AA6F8ED80462}"/>
              </a:ext>
            </a:extLst>
          </p:cNvPr>
          <p:cNvSpPr>
            <a:spLocks noGrp="1"/>
          </p:cNvSpPr>
          <p:nvPr/>
        </p:nvSpPr>
        <p:spPr>
          <a:xfrm>
            <a:off x="429578" y="6047423"/>
            <a:ext cx="185738" cy="131445"/>
          </a:xfrm>
          <a:prstGeom prst="roundRect">
            <a:avLst>
              <a:gd name="adj" fmla="val 50000"/>
            </a:avLst>
          </a:prstGeom>
          <a:noFill/>
          <a:ln w="12383">
            <a:solidFill>
              <a:srgbClr val="173D67"/>
            </a:solidFill>
            <a:prstDash val="solid"/>
          </a:ln>
        </p:spPr>
      </p:sp>
      <p:sp>
        <p:nvSpPr>
          <p:cNvPr id="8" name="text-389">
            <a:extLst>
              <a:ext uri="{FF2B5EF4-FFF2-40B4-BE49-F238E27FC236}">
                <ns2:creationId id="{F5745B21-1BFC-4850-B419-72A1ECD3F823}"/>
              </a:ext>
            </a:extLst>
          </p:cNvPr>
          <p:cNvSpPr>
            <a:spLocks noGrp="1"/>
          </p:cNvSpPr>
          <p:nvPr/>
        </p:nvSpPr>
        <p:spPr>
          <a:xfrm>
            <a:off x="781050" y="5905500"/>
            <a:ext cx="2286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75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汇报人：待填写</a:t>
            </a:r>
            <a:endParaRPr/>
          </a:p>
        </p:txBody>
      </p:sp>
      <p:sp>
        <p:nvSpPr>
          <p:cNvPr id="9" name="icon-calendar-390">
            <a:extLst>
              <a:ext uri="{FF2B5EF4-FFF2-40B4-BE49-F238E27FC236}">
                <ns2:creationId id="{D964BD77-04AF-4054-B7DC-7BB71CBA8C69}"/>
              </a:ext>
            </a:extLst>
          </p:cNvPr>
          <p:cNvSpPr>
            <a:spLocks noGrp="1"/>
          </p:cNvSpPr>
          <p:nvPr/>
        </p:nvSpPr>
        <p:spPr>
          <a:xfrm>
            <a:off x="3228023" y="5978843"/>
            <a:ext cx="211455" cy="200025"/>
          </a:xfrm>
          <a:prstGeom prst="roundRect">
            <a:avLst>
              <a:gd name="adj" fmla="val 38095"/>
            </a:avLst>
          </a:prstGeom>
          <a:noFill/>
          <a:ln w="12383">
            <a:solidFill>
              <a:srgbClr val="173D67"/>
            </a:solidFill>
            <a:prstDash val="solid"/>
          </a:ln>
        </p:spPr>
      </p:sp>
      <p:sp>
        <p:nvSpPr>
          <p:cNvPr id="10" name="vector-391">
            <a:extLst>
              <a:ext uri="{FF2B5EF4-FFF2-40B4-BE49-F238E27FC236}">
                <ns2:creationId id="{7FF60FB8-546C-4E38-84B6-CA7520A3D8DD}"/>
              </a:ext>
            </a:extLst>
          </p:cNvPr>
          <p:cNvSpPr>
            <a:spLocks noGrp="1"/>
          </p:cNvSpPr>
          <p:nvPr/>
        </p:nvSpPr>
        <p:spPr>
          <a:xfrm>
            <a:off x="3190875" y="5924550"/>
            <a:ext cx="285750" cy="285750"/>
          </a:xfrm>
          <a:custGeom>
            <a:pathLst>
              <a:path w="952500" h="952500">
                <a:moveTo>
                  <a:pt x="123825" y="361950"/>
                </a:moveTo>
                <a:lnTo>
                  <a:pt x="828675" y="36195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11" name="vector-392">
            <a:extLst>
              <a:ext uri="{FF2B5EF4-FFF2-40B4-BE49-F238E27FC236}">
                <ns2:creationId id="{48B1F6A1-2696-441E-88C6-5C0A51B7343F}"/>
              </a:ext>
            </a:extLst>
          </p:cNvPr>
          <p:cNvSpPr>
            <a:spLocks noGrp="1"/>
          </p:cNvSpPr>
          <p:nvPr/>
        </p:nvSpPr>
        <p:spPr>
          <a:xfrm>
            <a:off x="3190875" y="5924550"/>
            <a:ext cx="285750" cy="285750"/>
          </a:xfrm>
          <a:custGeom>
            <a:pathLst>
              <a:path w="952500" h="952500">
                <a:moveTo>
                  <a:pt x="295275" y="66675"/>
                </a:moveTo>
                <a:lnTo>
                  <a:pt x="295275" y="26670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12" name="vector-393">
            <a:extLst>
              <a:ext uri="{FF2B5EF4-FFF2-40B4-BE49-F238E27FC236}">
                <ns2:creationId id="{DA78A625-385D-414A-B3FF-72F489CB41BB}"/>
              </a:ext>
            </a:extLst>
          </p:cNvPr>
          <p:cNvSpPr>
            <a:spLocks noGrp="1"/>
          </p:cNvSpPr>
          <p:nvPr/>
        </p:nvSpPr>
        <p:spPr>
          <a:xfrm>
            <a:off x="3190875" y="5924550"/>
            <a:ext cx="285750" cy="285750"/>
          </a:xfrm>
          <a:custGeom>
            <a:pathLst>
              <a:path w="952500" h="952500">
                <a:moveTo>
                  <a:pt x="647700" y="66675"/>
                </a:moveTo>
                <a:lnTo>
                  <a:pt x="647700" y="26670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13" name="icon-calendar-394">
            <a:extLst>
              <a:ext uri="{FF2B5EF4-FFF2-40B4-BE49-F238E27FC236}">
                <ns2:creationId id="{57236D38-4BDD-4781-ACBC-CECD7F78C52F}"/>
              </a:ext>
            </a:extLst>
          </p:cNvPr>
          <p:cNvSpPr>
            <a:spLocks noGrp="1"/>
          </p:cNvSpPr>
          <p:nvPr/>
        </p:nvSpPr>
        <p:spPr>
          <a:xfrm>
            <a:off x="3262313" y="6064568"/>
            <a:ext cx="25718" cy="25718"/>
          </a:xfrm>
          <a:prstGeom prst="rect">
            <a:avLst/>
          </a:prstGeom>
          <a:solidFill>
            <a:srgbClr val="173D67"/>
          </a:solidFill>
          <a:ln w="12383">
            <a:solidFill>
              <a:srgbClr val="173D67"/>
            </a:solidFill>
            <a:prstDash val="solid"/>
          </a:ln>
        </p:spPr>
      </p:sp>
      <p:sp>
        <p:nvSpPr>
          <p:cNvPr id="14" name="icon-calendar-395">
            <a:extLst>
              <a:ext uri="{FF2B5EF4-FFF2-40B4-BE49-F238E27FC236}">
                <ns2:creationId id="{59C59927-890F-4066-89D6-FBF593DC552C}"/>
              </a:ext>
            </a:extLst>
          </p:cNvPr>
          <p:cNvSpPr>
            <a:spLocks noGrp="1"/>
          </p:cNvSpPr>
          <p:nvPr/>
        </p:nvSpPr>
        <p:spPr>
          <a:xfrm>
            <a:off x="3262313" y="6124575"/>
            <a:ext cx="25718" cy="25718"/>
          </a:xfrm>
          <a:prstGeom prst="rect">
            <a:avLst/>
          </a:prstGeom>
          <a:solidFill>
            <a:srgbClr val="173D67"/>
          </a:solidFill>
          <a:ln w="12383">
            <a:solidFill>
              <a:srgbClr val="173D67"/>
            </a:solidFill>
            <a:prstDash val="solid"/>
          </a:ln>
        </p:spPr>
      </p:sp>
      <p:sp>
        <p:nvSpPr>
          <p:cNvPr id="15" name="icon-calendar-396">
            <a:extLst>
              <a:ext uri="{FF2B5EF4-FFF2-40B4-BE49-F238E27FC236}">
                <ns2:creationId id="{3519177D-DE64-46ED-BEEA-739BE507D477}"/>
              </a:ext>
            </a:extLst>
          </p:cNvPr>
          <p:cNvSpPr>
            <a:spLocks noGrp="1"/>
          </p:cNvSpPr>
          <p:nvPr/>
        </p:nvSpPr>
        <p:spPr>
          <a:xfrm>
            <a:off x="3322320" y="6064568"/>
            <a:ext cx="25718" cy="25718"/>
          </a:xfrm>
          <a:prstGeom prst="rect">
            <a:avLst/>
          </a:prstGeom>
          <a:solidFill>
            <a:srgbClr val="173D67"/>
          </a:solidFill>
          <a:ln w="12383">
            <a:solidFill>
              <a:srgbClr val="173D67"/>
            </a:solidFill>
            <a:prstDash val="solid"/>
          </a:ln>
        </p:spPr>
      </p:sp>
      <p:sp>
        <p:nvSpPr>
          <p:cNvPr id="16" name="icon-calendar-397">
            <a:extLst>
              <a:ext uri="{FF2B5EF4-FFF2-40B4-BE49-F238E27FC236}">
                <ns2:creationId id="{16E3E249-B204-4C6B-A343-DBB1CEE83925}"/>
              </a:ext>
            </a:extLst>
          </p:cNvPr>
          <p:cNvSpPr>
            <a:spLocks noGrp="1"/>
          </p:cNvSpPr>
          <p:nvPr/>
        </p:nvSpPr>
        <p:spPr>
          <a:xfrm>
            <a:off x="3322320" y="6124575"/>
            <a:ext cx="25718" cy="25718"/>
          </a:xfrm>
          <a:prstGeom prst="rect">
            <a:avLst/>
          </a:prstGeom>
          <a:solidFill>
            <a:srgbClr val="173D67"/>
          </a:solidFill>
          <a:ln w="12383">
            <a:solidFill>
              <a:srgbClr val="173D67"/>
            </a:solidFill>
            <a:prstDash val="solid"/>
          </a:ln>
        </p:spPr>
      </p:sp>
      <p:sp>
        <p:nvSpPr>
          <p:cNvPr id="17" name="icon-calendar-398">
            <a:extLst>
              <a:ext uri="{FF2B5EF4-FFF2-40B4-BE49-F238E27FC236}">
                <ns2:creationId id="{6753517F-545F-41F6-AA71-78781D3BD8A9}"/>
              </a:ext>
            </a:extLst>
          </p:cNvPr>
          <p:cNvSpPr>
            <a:spLocks noGrp="1"/>
          </p:cNvSpPr>
          <p:nvPr/>
        </p:nvSpPr>
        <p:spPr>
          <a:xfrm>
            <a:off x="3382328" y="6064568"/>
            <a:ext cx="25718" cy="25718"/>
          </a:xfrm>
          <a:prstGeom prst="rect">
            <a:avLst/>
          </a:prstGeom>
          <a:solidFill>
            <a:srgbClr val="173D67"/>
          </a:solidFill>
          <a:ln w="12383">
            <a:solidFill>
              <a:srgbClr val="173D67"/>
            </a:solidFill>
            <a:prstDash val="solid"/>
          </a:ln>
        </p:spPr>
      </p:sp>
      <p:sp>
        <p:nvSpPr>
          <p:cNvPr id="18" name="icon-calendar-399">
            <a:extLst>
              <a:ext uri="{FF2B5EF4-FFF2-40B4-BE49-F238E27FC236}">
                <ns2:creationId id="{6C8FC9C8-DFCF-48FA-B19C-DBE9347436AA}"/>
              </a:ext>
            </a:extLst>
          </p:cNvPr>
          <p:cNvSpPr>
            <a:spLocks noGrp="1"/>
          </p:cNvSpPr>
          <p:nvPr/>
        </p:nvSpPr>
        <p:spPr>
          <a:xfrm>
            <a:off x="3382328" y="6124575"/>
            <a:ext cx="25718" cy="25718"/>
          </a:xfrm>
          <a:prstGeom prst="rect">
            <a:avLst/>
          </a:prstGeom>
          <a:solidFill>
            <a:srgbClr val="173D67"/>
          </a:solidFill>
          <a:ln w="12383">
            <a:solidFill>
              <a:srgbClr val="173D67"/>
            </a:solidFill>
            <a:prstDash val="solid"/>
          </a:ln>
        </p:spPr>
      </p:sp>
      <p:sp>
        <p:nvSpPr>
          <p:cNvPr id="19" name="text-400">
            <a:extLst>
              <a:ext uri="{FF2B5EF4-FFF2-40B4-BE49-F238E27FC236}">
                <ns2:creationId id="{7E266DF8-0C16-4FE6-B551-3BCB4D30960A}"/>
              </a:ext>
            </a:extLst>
          </p:cNvPr>
          <p:cNvSpPr>
            <a:spLocks noGrp="1"/>
          </p:cNvSpPr>
          <p:nvPr/>
        </p:nvSpPr>
        <p:spPr>
          <a:xfrm>
            <a:off x="3590925" y="5905500"/>
            <a:ext cx="2476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75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日期：待填写</a:t>
            </a:r>
            <a:endParaRPr/>
          </a:p>
        </p:txBody>
      </p:sp>
      <p:sp>
        <p:nvSpPr>
          <p:cNvPr id="20" name="text-401">
            <a:extLst>
              <a:ext uri="{FF2B5EF4-FFF2-40B4-BE49-F238E27FC236}">
                <ns2:creationId id="{A5627B82-FA86-4135-A281-4C186998D0CE}"/>
              </a:ext>
            </a:extLst>
          </p:cNvPr>
          <p:cNvSpPr>
            <a:spLocks noGrp="1"/>
          </p:cNvSpPr>
          <p:nvPr/>
        </p:nvSpPr>
        <p:spPr>
          <a:xfrm>
            <a:off x="228600" y="6619875"/>
            <a:ext cx="105727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rPr>
              <a:t>科研模板 · 内容与数据均为示意</a:t>
            </a:r>
            <a:endParaRPr/>
          </a:p>
        </p:txBody>
      </p:sp>
      <p:sp>
        <p:nvSpPr>
          <p:cNvPr id="21" name="text-402">
            <a:extLst>
              <a:ext uri="{FF2B5EF4-FFF2-40B4-BE49-F238E27FC236}">
                <ns2:creationId id="{D0F33FDF-BE8C-436B-9F72-7AAB8C21D0FB}"/>
              </a:ext>
            </a:extLst>
          </p:cNvPr>
          <p:cNvSpPr>
            <a:spLocks noGrp="1"/>
          </p:cNvSpPr>
          <p:nvPr/>
        </p:nvSpPr>
        <p:spPr>
          <a:xfrm>
            <a:off x="11525250" y="6591300"/>
            <a:ext cx="4381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rPr>
              <a:t>01</a:t>
            </a:r>
            <a:endParaRPr/>
          </a:p>
        </p:txBody>
      </p:sp>
    </p:spTree>
    <p:extLst>
      <p:ext uri="{BB962C8B-B14F-4D97-AF65-F5344CB8AC3E}">
        <ns4:creationId val="997978090"/>
      </p:ext>
    </p:extLst>
  </p:cSld>
</p:sld>
</file>

<file path=ppt/slides/slide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81" name="shape-403">
            <a:extLst>
              <a:ext uri="{FF2B5EF4-FFF2-40B4-BE49-F238E27FC236}">
                <ns2:creationId id="{ACE9B249-1691-4296-AD80-038DF8468A7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400300" cy="6562725"/>
          </a:xfrm>
          <a:prstGeom prst="rect">
            <a:avLst/>
          </a:prstGeom>
          <a:solidFill>
            <a:srgbClr val="173D67"/>
          </a:solidFill>
          <a:ln w="0">
            <a:noFill/>
            <a:prstDash val="solid"/>
          </a:ln>
        </p:spPr>
      </p:sp>
      <p:sp>
        <p:nvSpPr>
          <p:cNvPr id="2" name="text-404">
            <a:extLst>
              <a:ext uri="{FF2B5EF4-FFF2-40B4-BE49-F238E27FC236}">
                <ns2:creationId id="{648965C4-B61B-4D50-8C48-35AF0CD3A0E3}"/>
              </a:ext>
            </a:extLst>
          </p:cNvPr>
          <p:cNvSpPr>
            <a:spLocks noGrp="1"/>
          </p:cNvSpPr>
          <p:nvPr/>
        </p:nvSpPr>
        <p:spPr>
          <a:xfrm>
            <a:off x="285750" y="762000"/>
            <a:ext cx="18097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4875" b="1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defPPr>
            <a:lvl1pPr algn="ctr">
              <a:defRPr sz="4875" b="1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lvl1pPr>
            <a:lvl2pPr algn="ctr">
              <a:defRPr sz="4875" b="1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lvl2pPr>
            <a:lvl3pPr algn="ctr">
              <a:defRPr sz="4875" b="1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lvl3pPr>
            <a:lvl4pPr algn="ctr">
              <a:defRPr sz="4875" b="1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lvl4pPr>
            <a:lvl5pPr algn="ctr">
              <a:defRPr sz="4875" b="1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lvl5pPr>
            <a:lvl6pPr algn="ctr">
              <a:defRPr sz="4875" b="1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lvl6pPr>
            <a:lvl7pPr algn="ctr">
              <a:defRPr sz="4875" b="1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lvl7pPr>
            <a:lvl8pPr algn="ctr">
              <a:defRPr sz="4875" b="1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lvl8pPr>
            <a:lvl9pPr algn="ctr">
              <a:defRPr sz="4875" b="1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>
            <a:pPr algn="ctr">
              <a:defRPr sz="4875" b="1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4875" b="1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rPr>
              <a:t>目录</a:t>
            </a:r>
          </a:p>
        </p:txBody>
      </p:sp>
      <p:sp>
        <p:nvSpPr>
          <p:cNvPr id="3" name="text-405">
            <a:extLst>
              <a:ext uri="{FF2B5EF4-FFF2-40B4-BE49-F238E27FC236}">
                <ns2:creationId id="{DCB769A3-30E0-440D-AF51-8BD60E51B529}"/>
              </a:ext>
            </a:extLst>
          </p:cNvPr>
          <p:cNvSpPr>
            <a:spLocks noGrp="1"/>
          </p:cNvSpPr>
          <p:nvPr/>
        </p:nvSpPr>
        <p:spPr>
          <a:xfrm>
            <a:off x="381000" y="1685925"/>
            <a:ext cx="16573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725" b="0">
                <a:solidFill>
                  <a:srgbClr val="EEF3F8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725" b="0">
                <a:solidFill>
                  <a:srgbClr val="EEF3F8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725" b="0">
                <a:solidFill>
                  <a:srgbClr val="EEF3F8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725" b="0">
                <a:solidFill>
                  <a:srgbClr val="EEF3F8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725" b="0">
                <a:solidFill>
                  <a:srgbClr val="EEF3F8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725" b="0">
                <a:solidFill>
                  <a:srgbClr val="EEF3F8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725" b="0">
                <a:solidFill>
                  <a:srgbClr val="EEF3F8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725" b="0">
                <a:solidFill>
                  <a:srgbClr val="EEF3F8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725" b="0">
                <a:solidFill>
                  <a:srgbClr val="EEF3F8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725" b="0">
                <a:solidFill>
                  <a:srgbClr val="EEF3F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725" b="0">
                <a:solidFill>
                  <a:srgbClr val="EEF3F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EEF3F8"/>
                </a:solidFill>
                <a:latin typeface="Noto Sans CJK SC"/>
                <a:ea typeface="Noto Sans CJK SC"/>
                <a:cs typeface="Noto Sans CJK SC"/>
              </a:rPr>
              <a:t>CONTENTS</a:t>
            </a:r>
          </a:p>
        </p:txBody>
      </p:sp>
      <p:sp>
        <p:nvSpPr>
          <p:cNvPr id="4" name="text-406">
            <a:extLst>
              <a:ext uri="{FF2B5EF4-FFF2-40B4-BE49-F238E27FC236}">
                <ns2:creationId id="{26C6A3FD-F962-4B40-A3C3-5D22B2AC2063}"/>
              </a:ext>
            </a:extLst>
          </p:cNvPr>
          <p:cNvSpPr>
            <a:spLocks noGrp="1"/>
          </p:cNvSpPr>
          <p:nvPr/>
        </p:nvSpPr>
        <p:spPr>
          <a:xfrm>
            <a:off x="342900" y="2533650"/>
            <a:ext cx="1866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01  研究背景</a:t>
            </a:r>
            <a:endParaRPr/>
          </a:p>
        </p:txBody>
      </p:sp>
      <p:sp>
        <p:nvSpPr>
          <p:cNvPr id="5" name="text-407">
            <a:extLst>
              <a:ext uri="{FF2B5EF4-FFF2-40B4-BE49-F238E27FC236}">
                <ns2:creationId id="{9EEC8B94-8E22-4FB7-A28C-AA5F2CFB0157}"/>
              </a:ext>
            </a:extLst>
          </p:cNvPr>
          <p:cNvSpPr>
            <a:spLocks noGrp="1"/>
          </p:cNvSpPr>
          <p:nvPr/>
        </p:nvSpPr>
        <p:spPr>
          <a:xfrm>
            <a:off x="342900" y="2971800"/>
            <a:ext cx="1866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02  机制与假设</a:t>
            </a:r>
            <a:endParaRPr/>
          </a:p>
        </p:txBody>
      </p:sp>
      <p:sp>
        <p:nvSpPr>
          <p:cNvPr id="6" name="text-408">
            <a:extLst>
              <a:ext uri="{FF2B5EF4-FFF2-40B4-BE49-F238E27FC236}">
                <ns2:creationId id="{FF9A0459-E9E5-4072-A60C-EBF418C16203}"/>
              </a:ext>
            </a:extLst>
          </p:cNvPr>
          <p:cNvSpPr>
            <a:spLocks noGrp="1"/>
          </p:cNvSpPr>
          <p:nvPr/>
        </p:nvSpPr>
        <p:spPr>
          <a:xfrm>
            <a:off x="342900" y="3409950"/>
            <a:ext cx="1866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03  数据与证据</a:t>
            </a:r>
            <a:endParaRPr/>
          </a:p>
        </p:txBody>
      </p:sp>
      <p:sp>
        <p:nvSpPr>
          <p:cNvPr id="7" name="text-409">
            <a:extLst>
              <a:ext uri="{FF2B5EF4-FFF2-40B4-BE49-F238E27FC236}">
                <ns2:creationId id="{A08C066F-135A-4CC9-8EAF-C1C7110A0CCE}"/>
              </a:ext>
            </a:extLst>
          </p:cNvPr>
          <p:cNvSpPr>
            <a:spLocks noGrp="1"/>
          </p:cNvSpPr>
          <p:nvPr/>
        </p:nvSpPr>
        <p:spPr>
          <a:xfrm>
            <a:off x="342900" y="3848100"/>
            <a:ext cx="1866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04  结论与展望</a:t>
            </a:r>
            <a:endParaRPr/>
          </a:p>
        </p:txBody>
      </p:sp>
      <p:sp>
        <p:nvSpPr>
          <p:cNvPr id="8" name="text-410">
            <a:extLst>
              <a:ext uri="{FF2B5EF4-FFF2-40B4-BE49-F238E27FC236}">
                <ns2:creationId id="{F354DA90-1B3B-4505-9C1B-F0DBE55207E5}"/>
              </a:ext>
            </a:extLst>
          </p:cNvPr>
          <p:cNvSpPr>
            <a:spLocks noGrp="1"/>
          </p:cNvSpPr>
          <p:nvPr/>
        </p:nvSpPr>
        <p:spPr>
          <a:xfrm>
            <a:off x="2686050" y="228600"/>
            <a:ext cx="904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70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270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270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270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270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270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270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270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270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270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>
            <a:pPr algn="l">
              <a:defRPr sz="270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70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rPr>
              <a:t>汇报结构｜从问题到证据</a:t>
            </a:r>
            <a:endParaRPr/>
          </a:p>
        </p:txBody>
      </p:sp>
      <p:sp>
        <p:nvSpPr>
          <p:cNvPr id="9" name="shape-411">
            <a:extLst>
              <a:ext uri="{FF2B5EF4-FFF2-40B4-BE49-F238E27FC236}">
                <ns2:creationId id="{6A7D122F-F04B-4DF3-B8B3-5BE3609DA541}"/>
              </a:ext>
            </a:extLst>
          </p:cNvPr>
          <p:cNvSpPr>
            <a:spLocks noGrp="1"/>
          </p:cNvSpPr>
          <p:nvPr/>
        </p:nvSpPr>
        <p:spPr>
          <a:xfrm>
            <a:off x="2686050" y="933450"/>
            <a:ext cx="9048750" cy="1219200"/>
          </a:xfrm>
          <a:prstGeom prst="rect">
            <a:avLst/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10" name="shape-412">
            <a:extLst>
              <a:ext uri="{FF2B5EF4-FFF2-40B4-BE49-F238E27FC236}">
                <ns2:creationId id="{3B99CC03-5083-48B6-AAB7-4C6701BF3A9B}"/>
              </a:ext>
            </a:extLst>
          </p:cNvPr>
          <p:cNvSpPr>
            <a:spLocks noGrp="1"/>
          </p:cNvSpPr>
          <p:nvPr/>
        </p:nvSpPr>
        <p:spPr>
          <a:xfrm>
            <a:off x="2838450" y="1095375"/>
            <a:ext cx="419100" cy="419100"/>
          </a:xfrm>
          <a:prstGeom prst="ellipse">
            <a:avLst/>
          </a:prstGeom>
          <a:solidFill>
            <a:srgbClr val="173D67"/>
          </a:solidFill>
          <a:ln w="0">
            <a:noFill/>
            <a:prstDash val="solid"/>
          </a:ln>
        </p:spPr>
      </p:sp>
      <p:sp>
        <p:nvSpPr>
          <p:cNvPr id="11" name="text-413">
            <a:extLst>
              <a:ext uri="{FF2B5EF4-FFF2-40B4-BE49-F238E27FC236}">
                <ns2:creationId id="{F3740706-5F44-4CDE-B689-00E34E8A9969}"/>
              </a:ext>
            </a:extLst>
          </p:cNvPr>
          <p:cNvSpPr>
            <a:spLocks noGrp="1"/>
          </p:cNvSpPr>
          <p:nvPr/>
        </p:nvSpPr>
        <p:spPr>
          <a:xfrm>
            <a:off x="2838450" y="1095375"/>
            <a:ext cx="419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12" name="icon-search-414">
            <a:extLst>
              <a:ext uri="{FF2B5EF4-FFF2-40B4-BE49-F238E27FC236}">
                <ns2:creationId id="{E9B27E86-BC2D-4B86-998F-8E7F367E4E0A}"/>
              </a:ext>
            </a:extLst>
          </p:cNvPr>
          <p:cNvSpPr>
            <a:spLocks noGrp="1"/>
          </p:cNvSpPr>
          <p:nvPr/>
        </p:nvSpPr>
        <p:spPr>
          <a:xfrm>
            <a:off x="3549015" y="1291590"/>
            <a:ext cx="364617" cy="364617"/>
          </a:xfrm>
          <a:prstGeom prst="ellipse">
            <a:avLst/>
          </a:prstGeom>
          <a:noFill/>
          <a:ln w="19645">
            <a:solidFill>
              <a:srgbClr val="173D67"/>
            </a:solidFill>
            <a:prstDash val="solid"/>
          </a:ln>
        </p:spPr>
      </p:sp>
      <p:sp>
        <p:nvSpPr>
          <p:cNvPr id="13" name="vector-415">
            <a:extLst>
              <a:ext uri="{FF2B5EF4-FFF2-40B4-BE49-F238E27FC236}">
                <ns2:creationId id="{1361D651-C4D6-4136-97A5-0A735DDD08A1}"/>
              </a:ext>
            </a:extLst>
          </p:cNvPr>
          <p:cNvSpPr>
            <a:spLocks noGrp="1"/>
          </p:cNvSpPr>
          <p:nvPr/>
        </p:nvSpPr>
        <p:spPr>
          <a:xfrm>
            <a:off x="3486150" y="1228725"/>
            <a:ext cx="628650" cy="628650"/>
          </a:xfrm>
          <a:custGeom>
            <a:pathLst>
              <a:path w="952500" h="952500">
                <a:moveTo>
                  <a:pt x="571500" y="571500"/>
                </a:moveTo>
                <a:lnTo>
                  <a:pt x="866775" y="866775"/>
                </a:lnTo>
              </a:path>
            </a:pathLst>
          </a:custGeom>
          <a:noFill/>
          <a:ln w="20955">
            <a:solidFill>
              <a:srgbClr val="173D67"/>
            </a:solidFill>
            <a:prstDash val="solid"/>
          </a:ln>
        </p:spPr>
      </p:sp>
      <p:sp>
        <p:nvSpPr>
          <p:cNvPr id="14" name="text-416">
            <a:extLst>
              <a:ext uri="{FF2B5EF4-FFF2-40B4-BE49-F238E27FC236}">
                <ns2:creationId id="{920AB588-1C02-4200-85A8-C07FE2CC7799}"/>
              </a:ext>
            </a:extLst>
          </p:cNvPr>
          <p:cNvSpPr>
            <a:spLocks noGrp="1"/>
          </p:cNvSpPr>
          <p:nvPr/>
        </p:nvSpPr>
        <p:spPr>
          <a:xfrm>
            <a:off x="4400550" y="1047750"/>
            <a:ext cx="33813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>
            <a: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rPr>
              <a:t>研究背景</a:t>
            </a:r>
            <a:endParaRPr/>
          </a:p>
        </p:txBody>
      </p:sp>
      <p:sp>
        <p:nvSpPr>
          <p:cNvPr id="15" name="text-417">
            <a:extLst>
              <a:ext uri="{FF2B5EF4-FFF2-40B4-BE49-F238E27FC236}">
                <ns2:creationId id="{37A112C4-BB72-4D31-9EA4-833D51F8309F}"/>
              </a:ext>
            </a:extLst>
          </p:cNvPr>
          <p:cNvSpPr>
            <a:spLocks noGrp="1"/>
          </p:cNvSpPr>
          <p:nvPr/>
        </p:nvSpPr>
        <p:spPr>
          <a:xfrm>
            <a:off x="4400550" y="1457325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rPr>
              <a:t>界定问题与研究对象</a:t>
            </a:r>
            <a:endParaRPr/>
          </a:p>
        </p:txBody>
      </p:sp>
      <p:sp>
        <p:nvSpPr>
          <p:cNvPr id="16" name="text-418">
            <a:extLst>
              <a:ext uri="{FF2B5EF4-FFF2-40B4-BE49-F238E27FC236}">
                <ns2:creationId id="{43C8BFB3-1567-4A96-A352-5B64BE17C2B0}"/>
              </a:ext>
            </a:extLst>
          </p:cNvPr>
          <p:cNvSpPr>
            <a:spLocks noGrp="1"/>
          </p:cNvSpPr>
          <p:nvPr/>
        </p:nvSpPr>
        <p:spPr>
          <a:xfrm>
            <a:off x="4400550" y="1771650"/>
            <a:ext cx="485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明确研究对象、范围与现实问题</a:t>
            </a:r>
            <a:endParaRPr/>
          </a:p>
        </p:txBody>
      </p:sp>
      <p:sp>
        <p:nvSpPr>
          <p:cNvPr id="17" name="vector-419">
            <a:extLst>
              <a:ext uri="{FF2B5EF4-FFF2-40B4-BE49-F238E27FC236}">
                <ns2:creationId id="{862E0016-E467-4736-B03B-B65450CE6CEC}"/>
              </a:ext>
            </a:extLst>
          </p:cNvPr>
          <p:cNvSpPr>
            <a:spLocks noGrp="1"/>
          </p:cNvSpPr>
          <p:nvPr/>
        </p:nvSpPr>
        <p:spPr>
          <a:xfrm>
            <a:off x="10287000" y="1190625"/>
            <a:ext cx="714375" cy="714375"/>
          </a:xfrm>
          <a:custGeom>
            <a:pathLst>
              <a:path w="952500" h="952500">
                <a:moveTo>
                  <a:pt x="66675" y="190500"/>
                </a:moveTo>
                <a:lnTo>
                  <a:pt x="314325" y="95250"/>
                </a:lnTo>
                <a:lnTo>
                  <a:pt x="628650" y="190500"/>
                </a:lnTo>
                <a:lnTo>
                  <a:pt x="885825" y="95250"/>
                </a:lnTo>
                <a:lnTo>
                  <a:pt x="885825" y="762000"/>
                </a:lnTo>
                <a:lnTo>
                  <a:pt x="628650" y="857250"/>
                </a:lnTo>
                <a:lnTo>
                  <a:pt x="314325" y="762000"/>
                </a:lnTo>
                <a:lnTo>
                  <a:pt x="66675" y="857250"/>
                </a:lnTo>
                <a:close/>
              </a:path>
            </a:pathLst>
          </a:custGeom>
          <a:solidFill>
            <a:srgbClr val="EEF3F8"/>
          </a:solidFill>
          <a:ln w="19050">
            <a:solidFill>
              <a:srgbClr val="173D67"/>
            </a:solidFill>
            <a:prstDash val="solid"/>
          </a:ln>
        </p:spPr>
      </p:sp>
      <p:sp>
        <p:nvSpPr>
          <p:cNvPr id="18" name="vector-420">
            <a:extLst>
              <a:ext uri="{FF2B5EF4-FFF2-40B4-BE49-F238E27FC236}">
                <ns2:creationId id="{93506795-C9AE-403F-AC66-CA601CD6DCC0}"/>
              </a:ext>
            </a:extLst>
          </p:cNvPr>
          <p:cNvSpPr>
            <a:spLocks noGrp="1"/>
          </p:cNvSpPr>
          <p:nvPr/>
        </p:nvSpPr>
        <p:spPr>
          <a:xfrm>
            <a:off x="10287000" y="1190625"/>
            <a:ext cx="714375" cy="714375"/>
          </a:xfrm>
          <a:custGeom>
            <a:pathLst>
              <a:path w="952500" h="952500">
                <a:moveTo>
                  <a:pt x="314325" y="95250"/>
                </a:moveTo>
                <a:lnTo>
                  <a:pt x="314325" y="762000"/>
                </a:lnTo>
              </a:path>
            </a:pathLst>
          </a:custGeom>
          <a:noFill/>
          <a:ln w="23813">
            <a:solidFill>
              <a:srgbClr val="173D67"/>
            </a:solidFill>
            <a:prstDash val="solid"/>
          </a:ln>
        </p:spPr>
      </p:sp>
      <p:sp>
        <p:nvSpPr>
          <p:cNvPr id="19" name="vector-421">
            <a:extLst>
              <a:ext uri="{FF2B5EF4-FFF2-40B4-BE49-F238E27FC236}">
                <ns2:creationId id="{2E28A752-C39E-4029-86F5-C6D2689405EB}"/>
              </a:ext>
            </a:extLst>
          </p:cNvPr>
          <p:cNvSpPr>
            <a:spLocks noGrp="1"/>
          </p:cNvSpPr>
          <p:nvPr/>
        </p:nvSpPr>
        <p:spPr>
          <a:xfrm>
            <a:off x="10287000" y="1190625"/>
            <a:ext cx="714375" cy="714375"/>
          </a:xfrm>
          <a:custGeom>
            <a:pathLst>
              <a:path w="952500" h="952500">
                <a:moveTo>
                  <a:pt x="628650" y="190500"/>
                </a:moveTo>
                <a:lnTo>
                  <a:pt x="628650" y="857250"/>
                </a:lnTo>
              </a:path>
            </a:pathLst>
          </a:custGeom>
          <a:noFill/>
          <a:ln w="23813">
            <a:solidFill>
              <a:srgbClr val="173D67"/>
            </a:solidFill>
            <a:prstDash val="solid"/>
          </a:ln>
        </p:spPr>
      </p:sp>
      <p:sp>
        <p:nvSpPr>
          <p:cNvPr id="20" name="icon-map-422">
            <a:extLst>
              <a:ext uri="{FF2B5EF4-FFF2-40B4-BE49-F238E27FC236}">
                <ns2:creationId id="{414B342A-2C0C-46C9-BC49-E7EAC63A25DC}"/>
              </a:ext>
            </a:extLst>
          </p:cNvPr>
          <p:cNvSpPr>
            <a:spLocks noGrp="1"/>
          </p:cNvSpPr>
          <p:nvPr/>
        </p:nvSpPr>
        <p:spPr>
          <a:xfrm>
            <a:off x="10572750" y="1362075"/>
            <a:ext cx="157163" cy="157163"/>
          </a:xfrm>
          <a:prstGeom prst="ellipse">
            <a:avLst/>
          </a:prstGeom>
          <a:solidFill>
            <a:srgbClr val="173D67"/>
          </a:solidFill>
          <a:ln w="22324">
            <a:solidFill>
              <a:srgbClr val="173D67"/>
            </a:solidFill>
            <a:prstDash val="solid"/>
          </a:ln>
        </p:spPr>
      </p:sp>
      <p:sp>
        <p:nvSpPr>
          <p:cNvPr id="21" name="shape-423">
            <a:extLst>
              <a:ext uri="{FF2B5EF4-FFF2-40B4-BE49-F238E27FC236}">
                <ns2:creationId id="{00E7B267-83EB-499C-AFA4-E304D5CA683A}"/>
              </a:ext>
            </a:extLst>
          </p:cNvPr>
          <p:cNvSpPr>
            <a:spLocks noGrp="1"/>
          </p:cNvSpPr>
          <p:nvPr/>
        </p:nvSpPr>
        <p:spPr>
          <a:xfrm>
            <a:off x="2686050" y="2257425"/>
            <a:ext cx="9048750" cy="1219200"/>
          </a:xfrm>
          <a:prstGeom prst="rect">
            <a:avLst/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22" name="shape-424">
            <a:extLst>
              <a:ext uri="{FF2B5EF4-FFF2-40B4-BE49-F238E27FC236}">
                <ns2:creationId id="{F06B1AD7-9408-4E2C-AABD-82E347F7C600}"/>
              </a:ext>
            </a:extLst>
          </p:cNvPr>
          <p:cNvSpPr>
            <a:spLocks noGrp="1"/>
          </p:cNvSpPr>
          <p:nvPr/>
        </p:nvSpPr>
        <p:spPr>
          <a:xfrm>
            <a:off x="2838450" y="2419350"/>
            <a:ext cx="419100" cy="419100"/>
          </a:xfrm>
          <a:prstGeom prst="ellipse">
            <a:avLst/>
          </a:prstGeom>
          <a:solidFill>
            <a:srgbClr val="173D67"/>
          </a:solidFill>
          <a:ln w="0">
            <a:noFill/>
            <a:prstDash val="solid"/>
          </a:ln>
        </p:spPr>
      </p:sp>
      <p:sp>
        <p:nvSpPr>
          <p:cNvPr id="23" name="text-425">
            <a:extLst>
              <a:ext uri="{FF2B5EF4-FFF2-40B4-BE49-F238E27FC236}">
                <ns2:creationId id="{E54967D7-C92F-4F8E-A5CB-94C3FD349030}"/>
              </a:ext>
            </a:extLst>
          </p:cNvPr>
          <p:cNvSpPr>
            <a:spLocks noGrp="1"/>
          </p:cNvSpPr>
          <p:nvPr/>
        </p:nvSpPr>
        <p:spPr>
          <a:xfrm>
            <a:off x="2838450" y="2419350"/>
            <a:ext cx="419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24" name="vector-426">
            <a:extLst>
              <a:ext uri="{FF2B5EF4-FFF2-40B4-BE49-F238E27FC236}">
                <ns2:creationId id="{F2CE6128-A074-4583-BB41-57903D6ADB7A}"/>
              </a:ext>
            </a:extLst>
          </p:cNvPr>
          <p:cNvSpPr>
            <a:spLocks noGrp="1"/>
          </p:cNvSpPr>
          <p:nvPr/>
        </p:nvSpPr>
        <p:spPr>
          <a:xfrm>
            <a:off x="3486150" y="2552700"/>
            <a:ext cx="628650" cy="628650"/>
          </a:xfrm>
          <a:custGeom>
            <a:pathLst>
              <a:path w="952500" h="952500">
                <a:moveTo>
                  <a:pt x="123825" y="352425"/>
                </a:moveTo>
                <a:lnTo>
                  <a:pt x="428625" y="114300"/>
                </a:lnTo>
              </a:path>
            </a:pathLst>
          </a:custGeom>
          <a:noFill/>
          <a:ln w="20955">
            <a:solidFill>
              <a:srgbClr val="173D67"/>
            </a:solidFill>
            <a:prstDash val="solid"/>
          </a:ln>
        </p:spPr>
      </p:sp>
      <p:sp>
        <p:nvSpPr>
          <p:cNvPr id="25" name="vector-427">
            <a:extLst>
              <a:ext uri="{FF2B5EF4-FFF2-40B4-BE49-F238E27FC236}">
                <ns2:creationId id="{F685102A-423E-4D8B-85CC-497207913A84}"/>
              </a:ext>
            </a:extLst>
          </p:cNvPr>
          <p:cNvSpPr>
            <a:spLocks noGrp="1"/>
          </p:cNvSpPr>
          <p:nvPr/>
        </p:nvSpPr>
        <p:spPr>
          <a:xfrm>
            <a:off x="3486150" y="2552700"/>
            <a:ext cx="628650" cy="628650"/>
          </a:xfrm>
          <a:custGeom>
            <a:pathLst>
              <a:path w="952500" h="952500">
                <a:moveTo>
                  <a:pt x="428625" y="114300"/>
                </a:moveTo>
                <a:lnTo>
                  <a:pt x="800100" y="285750"/>
                </a:lnTo>
              </a:path>
            </a:pathLst>
          </a:custGeom>
          <a:noFill/>
          <a:ln w="20955">
            <a:solidFill>
              <a:srgbClr val="173D67"/>
            </a:solidFill>
            <a:prstDash val="solid"/>
          </a:ln>
        </p:spPr>
      </p:sp>
      <p:sp>
        <p:nvSpPr>
          <p:cNvPr id="26" name="vector-428">
            <a:extLst>
              <a:ext uri="{FF2B5EF4-FFF2-40B4-BE49-F238E27FC236}">
                <ns2:creationId id="{F1768F92-B007-4547-A707-B5D7E9583921}"/>
              </a:ext>
            </a:extLst>
          </p:cNvPr>
          <p:cNvSpPr>
            <a:spLocks noGrp="1"/>
          </p:cNvSpPr>
          <p:nvPr/>
        </p:nvSpPr>
        <p:spPr>
          <a:xfrm>
            <a:off x="3486150" y="2552700"/>
            <a:ext cx="628650" cy="628650"/>
          </a:xfrm>
          <a:custGeom>
            <a:pathLst>
              <a:path w="952500" h="952500">
                <a:moveTo>
                  <a:pt x="800100" y="285750"/>
                </a:moveTo>
                <a:lnTo>
                  <a:pt x="657225" y="790575"/>
                </a:lnTo>
              </a:path>
            </a:pathLst>
          </a:custGeom>
          <a:noFill/>
          <a:ln w="20955">
            <a:solidFill>
              <a:srgbClr val="173D67"/>
            </a:solidFill>
            <a:prstDash val="solid"/>
          </a:ln>
        </p:spPr>
      </p:sp>
      <p:sp>
        <p:nvSpPr>
          <p:cNvPr id="27" name="vector-429">
            <a:extLst>
              <a:ext uri="{FF2B5EF4-FFF2-40B4-BE49-F238E27FC236}">
                <ns2:creationId id="{D4B54F1C-CC6C-4B42-9807-BC5E59850B32}"/>
              </a:ext>
            </a:extLst>
          </p:cNvPr>
          <p:cNvSpPr>
            <a:spLocks noGrp="1"/>
          </p:cNvSpPr>
          <p:nvPr/>
        </p:nvSpPr>
        <p:spPr>
          <a:xfrm>
            <a:off x="3486150" y="2552700"/>
            <a:ext cx="628650" cy="628650"/>
          </a:xfrm>
          <a:custGeom>
            <a:pathLst>
              <a:path w="952500" h="952500">
                <a:moveTo>
                  <a:pt x="657225" y="790575"/>
                </a:moveTo>
                <a:lnTo>
                  <a:pt x="228600" y="781050"/>
                </a:lnTo>
              </a:path>
            </a:pathLst>
          </a:custGeom>
          <a:noFill/>
          <a:ln w="20955">
            <a:solidFill>
              <a:srgbClr val="173D67"/>
            </a:solidFill>
            <a:prstDash val="solid"/>
          </a:ln>
        </p:spPr>
      </p:sp>
      <p:sp>
        <p:nvSpPr>
          <p:cNvPr id="28" name="vector-430">
            <a:extLst>
              <a:ext uri="{FF2B5EF4-FFF2-40B4-BE49-F238E27FC236}">
                <ns2:creationId id="{B3B9406C-1241-41C6-AF73-6421B82D121D}"/>
              </a:ext>
            </a:extLst>
          </p:cNvPr>
          <p:cNvSpPr>
            <a:spLocks noGrp="1"/>
          </p:cNvSpPr>
          <p:nvPr/>
        </p:nvSpPr>
        <p:spPr>
          <a:xfrm>
            <a:off x="3486150" y="2552700"/>
            <a:ext cx="628650" cy="628650"/>
          </a:xfrm>
          <a:custGeom>
            <a:pathLst>
              <a:path w="952500" h="952500">
                <a:moveTo>
                  <a:pt x="228600" y="781050"/>
                </a:moveTo>
                <a:lnTo>
                  <a:pt x="123825" y="352425"/>
                </a:lnTo>
              </a:path>
            </a:pathLst>
          </a:custGeom>
          <a:noFill/>
          <a:ln w="20955">
            <a:solidFill>
              <a:srgbClr val="173D67"/>
            </a:solidFill>
            <a:prstDash val="solid"/>
          </a:ln>
        </p:spPr>
      </p:sp>
      <p:sp>
        <p:nvSpPr>
          <p:cNvPr id="29" name="vector-431">
            <a:extLst>
              <a:ext uri="{FF2B5EF4-FFF2-40B4-BE49-F238E27FC236}">
                <ns2:creationId id="{4F0A9F1A-59CF-4673-BE30-C2CE7643C09B}"/>
              </a:ext>
            </a:extLst>
          </p:cNvPr>
          <p:cNvSpPr>
            <a:spLocks noGrp="1"/>
          </p:cNvSpPr>
          <p:nvPr/>
        </p:nvSpPr>
        <p:spPr>
          <a:xfrm>
            <a:off x="3486150" y="2552700"/>
            <a:ext cx="628650" cy="628650"/>
          </a:xfrm>
          <a:custGeom>
            <a:pathLst>
              <a:path w="952500" h="952500">
                <a:moveTo>
                  <a:pt x="123825" y="352425"/>
                </a:moveTo>
                <a:lnTo>
                  <a:pt x="657225" y="790575"/>
                </a:lnTo>
              </a:path>
            </a:pathLst>
          </a:custGeom>
          <a:noFill/>
          <a:ln w="20955">
            <a:solidFill>
              <a:srgbClr val="173D67"/>
            </a:solidFill>
            <a:prstDash val="solid"/>
          </a:ln>
        </p:spPr>
      </p:sp>
      <p:sp>
        <p:nvSpPr>
          <p:cNvPr id="30" name="vector-432">
            <a:extLst>
              <a:ext uri="{FF2B5EF4-FFF2-40B4-BE49-F238E27FC236}">
                <ns2:creationId id="{2423CD03-E5E9-407C-9990-524D9D2118C8}"/>
              </a:ext>
            </a:extLst>
          </p:cNvPr>
          <p:cNvSpPr>
            <a:spLocks noGrp="1"/>
          </p:cNvSpPr>
          <p:nvPr/>
        </p:nvSpPr>
        <p:spPr>
          <a:xfrm>
            <a:off x="3486150" y="2552700"/>
            <a:ext cx="628650" cy="628650"/>
          </a:xfrm>
          <a:custGeom>
            <a:pathLst>
              <a:path w="952500" h="952500">
                <a:moveTo>
                  <a:pt x="428625" y="114300"/>
                </a:moveTo>
                <a:lnTo>
                  <a:pt x="657225" y="790575"/>
                </a:lnTo>
              </a:path>
            </a:pathLst>
          </a:custGeom>
          <a:noFill/>
          <a:ln w="20955">
            <a:solidFill>
              <a:srgbClr val="173D67"/>
            </a:solidFill>
            <a:prstDash val="solid"/>
          </a:ln>
        </p:spPr>
      </p:sp>
      <p:sp>
        <p:nvSpPr>
          <p:cNvPr id="31" name="icon-network-433">
            <a:extLst>
              <a:ext uri="{FF2B5EF4-FFF2-40B4-BE49-F238E27FC236}">
                <ns2:creationId id="{7A8D7D8B-8E5B-4E33-B693-B46E718006F0}"/>
              </a:ext>
            </a:extLst>
          </p:cNvPr>
          <p:cNvSpPr>
            <a:spLocks noGrp="1"/>
          </p:cNvSpPr>
          <p:nvPr/>
        </p:nvSpPr>
        <p:spPr>
          <a:xfrm>
            <a:off x="3523869" y="2741295"/>
            <a:ext cx="88011" cy="88011"/>
          </a:xfrm>
          <a:prstGeom prst="ellipse">
            <a:avLst/>
          </a:prstGeom>
          <a:solidFill>
            <a:srgbClr val="FFFFFF"/>
          </a:solidFill>
          <a:ln w="19645">
            <a:solidFill>
              <a:srgbClr val="173D67"/>
            </a:solidFill>
            <a:prstDash val="solid"/>
          </a:ln>
        </p:spPr>
      </p:sp>
      <p:sp>
        <p:nvSpPr>
          <p:cNvPr id="32" name="icon-network-434">
            <a:extLst>
              <a:ext uri="{FF2B5EF4-FFF2-40B4-BE49-F238E27FC236}">
                <ns2:creationId id="{F77E57B0-B475-4A26-B3DD-46932E49A58C}"/>
              </a:ext>
            </a:extLst>
          </p:cNvPr>
          <p:cNvSpPr>
            <a:spLocks noGrp="1"/>
          </p:cNvSpPr>
          <p:nvPr/>
        </p:nvSpPr>
        <p:spPr>
          <a:xfrm>
            <a:off x="3725037" y="2584133"/>
            <a:ext cx="88011" cy="88011"/>
          </a:xfrm>
          <a:prstGeom prst="ellipse">
            <a:avLst/>
          </a:prstGeom>
          <a:solidFill>
            <a:srgbClr val="FFFFFF"/>
          </a:solidFill>
          <a:ln w="19645">
            <a:solidFill>
              <a:srgbClr val="173D67"/>
            </a:solidFill>
            <a:prstDash val="solid"/>
          </a:ln>
        </p:spPr>
      </p:sp>
      <p:sp>
        <p:nvSpPr>
          <p:cNvPr id="33" name="icon-network-435">
            <a:extLst>
              <a:ext uri="{FF2B5EF4-FFF2-40B4-BE49-F238E27FC236}">
                <ns2:creationId id="{BADF870F-A5C9-4CDC-AF9B-30390E932D22}"/>
              </a:ext>
            </a:extLst>
          </p:cNvPr>
          <p:cNvSpPr>
            <a:spLocks noGrp="1"/>
          </p:cNvSpPr>
          <p:nvPr/>
        </p:nvSpPr>
        <p:spPr>
          <a:xfrm>
            <a:off x="3970211" y="2697290"/>
            <a:ext cx="88011" cy="88011"/>
          </a:xfrm>
          <a:prstGeom prst="ellipse">
            <a:avLst/>
          </a:prstGeom>
          <a:solidFill>
            <a:srgbClr val="FFFFFF"/>
          </a:solidFill>
          <a:ln w="19645">
            <a:solidFill>
              <a:srgbClr val="173D67"/>
            </a:solidFill>
            <a:prstDash val="solid"/>
          </a:ln>
        </p:spPr>
      </p:sp>
      <p:sp>
        <p:nvSpPr>
          <p:cNvPr id="34" name="icon-network-436">
            <a:extLst>
              <a:ext uri="{FF2B5EF4-FFF2-40B4-BE49-F238E27FC236}">
                <ns2:creationId id="{248985D9-942D-4ABA-B4A3-C56E6CA46B4A}"/>
              </a:ext>
            </a:extLst>
          </p:cNvPr>
          <p:cNvSpPr>
            <a:spLocks noGrp="1"/>
          </p:cNvSpPr>
          <p:nvPr/>
        </p:nvSpPr>
        <p:spPr>
          <a:xfrm>
            <a:off x="3875913" y="3030474"/>
            <a:ext cx="88011" cy="88011"/>
          </a:xfrm>
          <a:prstGeom prst="ellipse">
            <a:avLst/>
          </a:prstGeom>
          <a:solidFill>
            <a:srgbClr val="FFFFFF"/>
          </a:solidFill>
          <a:ln w="19645">
            <a:solidFill>
              <a:srgbClr val="173D67"/>
            </a:solidFill>
            <a:prstDash val="solid"/>
          </a:ln>
        </p:spPr>
      </p:sp>
      <p:sp>
        <p:nvSpPr>
          <p:cNvPr id="35" name="icon-network-437">
            <a:extLst>
              <a:ext uri="{FF2B5EF4-FFF2-40B4-BE49-F238E27FC236}">
                <ns2:creationId id="{F9ED4141-57D4-460F-9A4D-37102D45B34D}"/>
              </a:ext>
            </a:extLst>
          </p:cNvPr>
          <p:cNvSpPr>
            <a:spLocks noGrp="1"/>
          </p:cNvSpPr>
          <p:nvPr/>
        </p:nvSpPr>
        <p:spPr>
          <a:xfrm>
            <a:off x="3593021" y="3024188"/>
            <a:ext cx="88011" cy="88011"/>
          </a:xfrm>
          <a:prstGeom prst="ellipse">
            <a:avLst/>
          </a:prstGeom>
          <a:solidFill>
            <a:srgbClr val="FFFFFF"/>
          </a:solidFill>
          <a:ln w="19645">
            <a:solidFill>
              <a:srgbClr val="173D67"/>
            </a:solidFill>
            <a:prstDash val="solid"/>
          </a:ln>
        </p:spPr>
      </p:sp>
      <p:sp>
        <p:nvSpPr>
          <p:cNvPr id="36" name="text-438">
            <a:extLst>
              <a:ext uri="{FF2B5EF4-FFF2-40B4-BE49-F238E27FC236}">
                <ns2:creationId id="{9F344B69-4CC5-41C1-9A6C-F47328A21309}"/>
              </a:ext>
            </a:extLst>
          </p:cNvPr>
          <p:cNvSpPr>
            <a:spLocks noGrp="1"/>
          </p:cNvSpPr>
          <p:nvPr/>
        </p:nvSpPr>
        <p:spPr>
          <a:xfrm>
            <a:off x="4400550" y="2371725"/>
            <a:ext cx="33813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>
            <a: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rPr>
              <a:t>机制与假设</a:t>
            </a:r>
            <a:endParaRPr/>
          </a:p>
        </p:txBody>
      </p:sp>
      <p:sp>
        <p:nvSpPr>
          <p:cNvPr id="37" name="text-439">
            <a:extLst>
              <a:ext uri="{FF2B5EF4-FFF2-40B4-BE49-F238E27FC236}">
                <ns2:creationId id="{56EF0471-1E92-467B-AA07-D65CBBDFB6B2}"/>
              </a:ext>
            </a:extLst>
          </p:cNvPr>
          <p:cNvSpPr>
            <a:spLocks noGrp="1"/>
          </p:cNvSpPr>
          <p:nvPr/>
        </p:nvSpPr>
        <p:spPr>
          <a:xfrm>
            <a:off x="4400550" y="2781300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rPr>
              <a:t>把解释转化为可检验预测</a:t>
            </a:r>
            <a:endParaRPr/>
          </a:p>
        </p:txBody>
      </p:sp>
      <p:sp>
        <p:nvSpPr>
          <p:cNvPr id="38" name="text-440">
            <a:extLst>
              <a:ext uri="{FF2B5EF4-FFF2-40B4-BE49-F238E27FC236}">
                <ns2:creationId id="{F931766D-6703-4A9A-BF6E-873C787689F3}"/>
              </a:ext>
            </a:extLst>
          </p:cNvPr>
          <p:cNvSpPr>
            <a:spLocks noGrp="1"/>
          </p:cNvSpPr>
          <p:nvPr/>
        </p:nvSpPr>
        <p:spPr>
          <a:xfrm>
            <a:off x="4400550" y="3095625"/>
            <a:ext cx="485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提出竞争解释及可比较的预测</a:t>
            </a:r>
            <a:endParaRPr/>
          </a:p>
        </p:txBody>
      </p:sp>
      <p:sp>
        <p:nvSpPr>
          <p:cNvPr id="39" name="vector-441">
            <a:extLst>
              <a:ext uri="{FF2B5EF4-FFF2-40B4-BE49-F238E27FC236}">
                <ns2:creationId id="{E23E83BC-F8F8-45D8-9E37-1EF2D674F81E}"/>
              </a:ext>
            </a:extLst>
          </p:cNvPr>
          <p:cNvSpPr>
            <a:spLocks noGrp="1"/>
          </p:cNvSpPr>
          <p:nvPr/>
        </p:nvSpPr>
        <p:spPr>
          <a:xfrm>
            <a:off x="10287000" y="2514600"/>
            <a:ext cx="714375" cy="714375"/>
          </a:xfrm>
          <a:custGeom>
            <a:pathLst>
              <a:path w="952500" h="952500">
                <a:moveTo>
                  <a:pt x="123825" y="352425"/>
                </a:moveTo>
                <a:lnTo>
                  <a:pt x="428625" y="114300"/>
                </a:lnTo>
              </a:path>
            </a:pathLst>
          </a:custGeom>
          <a:noFill/>
          <a:ln w="23813">
            <a:solidFill>
              <a:srgbClr val="173D67"/>
            </a:solidFill>
            <a:prstDash val="solid"/>
          </a:ln>
        </p:spPr>
      </p:sp>
      <p:sp>
        <p:nvSpPr>
          <p:cNvPr id="40" name="vector-442">
            <a:extLst>
              <a:ext uri="{FF2B5EF4-FFF2-40B4-BE49-F238E27FC236}">
                <ns2:creationId id="{F205B77D-A136-4935-8261-712C9705F63E}"/>
              </a:ext>
            </a:extLst>
          </p:cNvPr>
          <p:cNvSpPr>
            <a:spLocks noGrp="1"/>
          </p:cNvSpPr>
          <p:nvPr/>
        </p:nvSpPr>
        <p:spPr>
          <a:xfrm>
            <a:off x="10287000" y="2514600"/>
            <a:ext cx="714375" cy="714375"/>
          </a:xfrm>
          <a:custGeom>
            <a:pathLst>
              <a:path w="952500" h="952500">
                <a:moveTo>
                  <a:pt x="428625" y="114300"/>
                </a:moveTo>
                <a:lnTo>
                  <a:pt x="800100" y="285750"/>
                </a:lnTo>
              </a:path>
            </a:pathLst>
          </a:custGeom>
          <a:noFill/>
          <a:ln w="23813">
            <a:solidFill>
              <a:srgbClr val="173D67"/>
            </a:solidFill>
            <a:prstDash val="solid"/>
          </a:ln>
        </p:spPr>
      </p:sp>
      <p:sp>
        <p:nvSpPr>
          <p:cNvPr id="41" name="vector-443">
            <a:extLst>
              <a:ext uri="{FF2B5EF4-FFF2-40B4-BE49-F238E27FC236}">
                <ns2:creationId id="{C3A7CEF4-CA71-4C70-8DC6-91203D9802FF}"/>
              </a:ext>
            </a:extLst>
          </p:cNvPr>
          <p:cNvSpPr>
            <a:spLocks noGrp="1"/>
          </p:cNvSpPr>
          <p:nvPr/>
        </p:nvSpPr>
        <p:spPr>
          <a:xfrm>
            <a:off x="10287000" y="2514600"/>
            <a:ext cx="714375" cy="714375"/>
          </a:xfrm>
          <a:custGeom>
            <a:pathLst>
              <a:path w="952500" h="952500">
                <a:moveTo>
                  <a:pt x="800100" y="285750"/>
                </a:moveTo>
                <a:lnTo>
                  <a:pt x="657225" y="790575"/>
                </a:lnTo>
              </a:path>
            </a:pathLst>
          </a:custGeom>
          <a:noFill/>
          <a:ln w="23813">
            <a:solidFill>
              <a:srgbClr val="173D67"/>
            </a:solidFill>
            <a:prstDash val="solid"/>
          </a:ln>
        </p:spPr>
      </p:sp>
      <p:sp>
        <p:nvSpPr>
          <p:cNvPr id="42" name="vector-444">
            <a:extLst>
              <a:ext uri="{FF2B5EF4-FFF2-40B4-BE49-F238E27FC236}">
                <ns2:creationId id="{9859D7A4-2BA9-48B2-9932-BCA63C09196D}"/>
              </a:ext>
            </a:extLst>
          </p:cNvPr>
          <p:cNvSpPr>
            <a:spLocks noGrp="1"/>
          </p:cNvSpPr>
          <p:nvPr/>
        </p:nvSpPr>
        <p:spPr>
          <a:xfrm>
            <a:off x="10287000" y="2514600"/>
            <a:ext cx="714375" cy="714375"/>
          </a:xfrm>
          <a:custGeom>
            <a:pathLst>
              <a:path w="952500" h="952500">
                <a:moveTo>
                  <a:pt x="657225" y="790575"/>
                </a:moveTo>
                <a:lnTo>
                  <a:pt x="228600" y="781050"/>
                </a:lnTo>
              </a:path>
            </a:pathLst>
          </a:custGeom>
          <a:noFill/>
          <a:ln w="23813">
            <a:solidFill>
              <a:srgbClr val="173D67"/>
            </a:solidFill>
            <a:prstDash val="solid"/>
          </a:ln>
        </p:spPr>
      </p:sp>
      <p:sp>
        <p:nvSpPr>
          <p:cNvPr id="43" name="vector-445">
            <a:extLst>
              <a:ext uri="{FF2B5EF4-FFF2-40B4-BE49-F238E27FC236}">
                <ns2:creationId id="{40505FE0-D1E7-4110-9572-D3D2DB6EDAF6}"/>
              </a:ext>
            </a:extLst>
          </p:cNvPr>
          <p:cNvSpPr>
            <a:spLocks noGrp="1"/>
          </p:cNvSpPr>
          <p:nvPr/>
        </p:nvSpPr>
        <p:spPr>
          <a:xfrm>
            <a:off x="10287000" y="2514600"/>
            <a:ext cx="714375" cy="714375"/>
          </a:xfrm>
          <a:custGeom>
            <a:pathLst>
              <a:path w="952500" h="952500">
                <a:moveTo>
                  <a:pt x="228600" y="781050"/>
                </a:moveTo>
                <a:lnTo>
                  <a:pt x="123825" y="352425"/>
                </a:lnTo>
              </a:path>
            </a:pathLst>
          </a:custGeom>
          <a:noFill/>
          <a:ln w="23813">
            <a:solidFill>
              <a:srgbClr val="173D67"/>
            </a:solidFill>
            <a:prstDash val="solid"/>
          </a:ln>
        </p:spPr>
      </p:sp>
      <p:sp>
        <p:nvSpPr>
          <p:cNvPr id="44" name="vector-446">
            <a:extLst>
              <a:ext uri="{FF2B5EF4-FFF2-40B4-BE49-F238E27FC236}">
                <ns2:creationId id="{0F5435CA-28C2-47FA-8E88-33F2787A87CE}"/>
              </a:ext>
            </a:extLst>
          </p:cNvPr>
          <p:cNvSpPr>
            <a:spLocks noGrp="1"/>
          </p:cNvSpPr>
          <p:nvPr/>
        </p:nvSpPr>
        <p:spPr>
          <a:xfrm>
            <a:off x="10287000" y="2514600"/>
            <a:ext cx="714375" cy="714375"/>
          </a:xfrm>
          <a:custGeom>
            <a:pathLst>
              <a:path w="952500" h="952500">
                <a:moveTo>
                  <a:pt x="123825" y="352425"/>
                </a:moveTo>
                <a:lnTo>
                  <a:pt x="657225" y="790575"/>
                </a:lnTo>
              </a:path>
            </a:pathLst>
          </a:custGeom>
          <a:noFill/>
          <a:ln w="23813">
            <a:solidFill>
              <a:srgbClr val="173D67"/>
            </a:solidFill>
            <a:prstDash val="solid"/>
          </a:ln>
        </p:spPr>
      </p:sp>
      <p:sp>
        <p:nvSpPr>
          <p:cNvPr id="45" name="vector-447">
            <a:extLst>
              <a:ext uri="{FF2B5EF4-FFF2-40B4-BE49-F238E27FC236}">
                <ns2:creationId id="{60656717-BB19-481B-AAC4-3B4986D18545}"/>
              </a:ext>
            </a:extLst>
          </p:cNvPr>
          <p:cNvSpPr>
            <a:spLocks noGrp="1"/>
          </p:cNvSpPr>
          <p:nvPr/>
        </p:nvSpPr>
        <p:spPr>
          <a:xfrm>
            <a:off x="10287000" y="2514600"/>
            <a:ext cx="714375" cy="714375"/>
          </a:xfrm>
          <a:custGeom>
            <a:pathLst>
              <a:path w="952500" h="952500">
                <a:moveTo>
                  <a:pt x="428625" y="114300"/>
                </a:moveTo>
                <a:lnTo>
                  <a:pt x="657225" y="790575"/>
                </a:lnTo>
              </a:path>
            </a:pathLst>
          </a:custGeom>
          <a:noFill/>
          <a:ln w="23813">
            <a:solidFill>
              <a:srgbClr val="173D67"/>
            </a:solidFill>
            <a:prstDash val="solid"/>
          </a:ln>
        </p:spPr>
      </p:sp>
      <p:sp>
        <p:nvSpPr>
          <p:cNvPr id="46" name="icon-network-448">
            <a:extLst>
              <a:ext uri="{FF2B5EF4-FFF2-40B4-BE49-F238E27FC236}">
                <ns2:creationId id="{A4A0CCF1-61B2-496A-8D55-38539C4B1FE2}"/>
              </a:ext>
            </a:extLst>
          </p:cNvPr>
          <p:cNvSpPr>
            <a:spLocks noGrp="1"/>
          </p:cNvSpPr>
          <p:nvPr/>
        </p:nvSpPr>
        <p:spPr>
          <a:xfrm>
            <a:off x="10329863" y="2728913"/>
            <a:ext cx="100013" cy="100013"/>
          </a:xfrm>
          <a:prstGeom prst="ellipse">
            <a:avLst/>
          </a:prstGeom>
          <a:solidFill>
            <a:srgbClr val="FFFFFF"/>
          </a:solidFill>
          <a:ln w="22324">
            <a:solidFill>
              <a:srgbClr val="173D67"/>
            </a:solidFill>
            <a:prstDash val="solid"/>
          </a:ln>
        </p:spPr>
      </p:sp>
      <p:sp>
        <p:nvSpPr>
          <p:cNvPr id="47" name="icon-network-449">
            <a:extLst>
              <a:ext uri="{FF2B5EF4-FFF2-40B4-BE49-F238E27FC236}">
                <ns2:creationId id="{034FC972-A223-4F35-AEFB-5E037623C4D6}"/>
              </a:ext>
            </a:extLst>
          </p:cNvPr>
          <p:cNvSpPr>
            <a:spLocks noGrp="1"/>
          </p:cNvSpPr>
          <p:nvPr/>
        </p:nvSpPr>
        <p:spPr>
          <a:xfrm>
            <a:off x="10558463" y="2550319"/>
            <a:ext cx="100013" cy="100013"/>
          </a:xfrm>
          <a:prstGeom prst="ellipse">
            <a:avLst/>
          </a:prstGeom>
          <a:solidFill>
            <a:srgbClr val="FFFFFF"/>
          </a:solidFill>
          <a:ln w="22324">
            <a:solidFill>
              <a:srgbClr val="173D67"/>
            </a:solidFill>
            <a:prstDash val="solid"/>
          </a:ln>
        </p:spPr>
      </p:sp>
      <p:sp>
        <p:nvSpPr>
          <p:cNvPr id="48" name="icon-network-450">
            <a:extLst>
              <a:ext uri="{FF2B5EF4-FFF2-40B4-BE49-F238E27FC236}">
                <ns2:creationId id="{3C031498-0353-4F9A-B503-B6C3DF0F6F26}"/>
              </a:ext>
            </a:extLst>
          </p:cNvPr>
          <p:cNvSpPr>
            <a:spLocks noGrp="1"/>
          </p:cNvSpPr>
          <p:nvPr/>
        </p:nvSpPr>
        <p:spPr>
          <a:xfrm>
            <a:off x="10837069" y="2678906"/>
            <a:ext cx="100013" cy="100013"/>
          </a:xfrm>
          <a:prstGeom prst="ellipse">
            <a:avLst/>
          </a:prstGeom>
          <a:solidFill>
            <a:srgbClr val="FFFFFF"/>
          </a:solidFill>
          <a:ln w="22324">
            <a:solidFill>
              <a:srgbClr val="173D67"/>
            </a:solidFill>
            <a:prstDash val="solid"/>
          </a:ln>
        </p:spPr>
      </p:sp>
      <p:sp>
        <p:nvSpPr>
          <p:cNvPr id="49" name="icon-network-451">
            <a:extLst>
              <a:ext uri="{FF2B5EF4-FFF2-40B4-BE49-F238E27FC236}">
                <ns2:creationId id="{DB0E4AE5-BE99-494D-A467-B5D3CE7F310F}"/>
              </a:ext>
            </a:extLst>
          </p:cNvPr>
          <p:cNvSpPr>
            <a:spLocks noGrp="1"/>
          </p:cNvSpPr>
          <p:nvPr/>
        </p:nvSpPr>
        <p:spPr>
          <a:xfrm>
            <a:off x="10729913" y="3057525"/>
            <a:ext cx="100013" cy="100013"/>
          </a:xfrm>
          <a:prstGeom prst="ellipse">
            <a:avLst/>
          </a:prstGeom>
          <a:solidFill>
            <a:srgbClr val="FFFFFF"/>
          </a:solidFill>
          <a:ln w="22324">
            <a:solidFill>
              <a:srgbClr val="173D67"/>
            </a:solidFill>
            <a:prstDash val="solid"/>
          </a:ln>
        </p:spPr>
      </p:sp>
      <p:sp>
        <p:nvSpPr>
          <p:cNvPr id="50" name="icon-network-452">
            <a:extLst>
              <a:ext uri="{FF2B5EF4-FFF2-40B4-BE49-F238E27FC236}">
                <ns2:creationId id="{39FA5BE8-BCDE-4ADB-9F8F-A9636D75F61F}"/>
              </a:ext>
            </a:extLst>
          </p:cNvPr>
          <p:cNvSpPr>
            <a:spLocks noGrp="1"/>
          </p:cNvSpPr>
          <p:nvPr/>
        </p:nvSpPr>
        <p:spPr>
          <a:xfrm>
            <a:off x="10408444" y="3050381"/>
            <a:ext cx="100013" cy="100013"/>
          </a:xfrm>
          <a:prstGeom prst="ellipse">
            <a:avLst/>
          </a:prstGeom>
          <a:solidFill>
            <a:srgbClr val="FFFFFF"/>
          </a:solidFill>
          <a:ln w="22324">
            <a:solidFill>
              <a:srgbClr val="173D67"/>
            </a:solidFill>
            <a:prstDash val="solid"/>
          </a:ln>
        </p:spPr>
      </p:sp>
      <p:sp>
        <p:nvSpPr>
          <p:cNvPr id="51" name="shape-453">
            <a:extLst>
              <a:ext uri="{FF2B5EF4-FFF2-40B4-BE49-F238E27FC236}">
                <ns2:creationId id="{D2BB80DB-7A8F-429E-8C63-885B95359456}"/>
              </a:ext>
            </a:extLst>
          </p:cNvPr>
          <p:cNvSpPr>
            <a:spLocks noGrp="1"/>
          </p:cNvSpPr>
          <p:nvPr/>
        </p:nvSpPr>
        <p:spPr>
          <a:xfrm>
            <a:off x="2686050" y="3581400"/>
            <a:ext cx="9048750" cy="1219200"/>
          </a:xfrm>
          <a:prstGeom prst="rect">
            <a:avLst/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52" name="shape-454">
            <a:extLst>
              <a:ext uri="{FF2B5EF4-FFF2-40B4-BE49-F238E27FC236}">
                <ns2:creationId id="{A9797403-7DC7-4057-A104-4E2381CF0DCB}"/>
              </a:ext>
            </a:extLst>
          </p:cNvPr>
          <p:cNvSpPr>
            <a:spLocks noGrp="1"/>
          </p:cNvSpPr>
          <p:nvPr/>
        </p:nvSpPr>
        <p:spPr>
          <a:xfrm>
            <a:off x="2838450" y="3743325"/>
            <a:ext cx="419100" cy="419100"/>
          </a:xfrm>
          <a:prstGeom prst="ellipse">
            <a:avLst/>
          </a:prstGeom>
          <a:solidFill>
            <a:srgbClr val="173D67"/>
          </a:solidFill>
          <a:ln w="0">
            <a:noFill/>
            <a:prstDash val="solid"/>
          </a:ln>
        </p:spPr>
      </p:sp>
      <p:sp>
        <p:nvSpPr>
          <p:cNvPr id="53" name="text-455">
            <a:extLst>
              <a:ext uri="{FF2B5EF4-FFF2-40B4-BE49-F238E27FC236}">
                <ns2:creationId id="{B2CC4147-1235-4CA3-928F-E8D813847EFA}"/>
              </a:ext>
            </a:extLst>
          </p:cNvPr>
          <p:cNvSpPr>
            <a:spLocks noGrp="1"/>
          </p:cNvSpPr>
          <p:nvPr/>
        </p:nvSpPr>
        <p:spPr>
          <a:xfrm>
            <a:off x="2838450" y="3743325"/>
            <a:ext cx="419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54" name="vector-456">
            <a:extLst>
              <a:ext uri="{FF2B5EF4-FFF2-40B4-BE49-F238E27FC236}">
                <ns2:creationId id="{5E8C059C-C0E9-4F29-B2D2-F3F5DC9F0F0A}"/>
              </a:ext>
            </a:extLst>
          </p:cNvPr>
          <p:cNvSpPr>
            <a:spLocks noGrp="1"/>
          </p:cNvSpPr>
          <p:nvPr/>
        </p:nvSpPr>
        <p:spPr>
          <a:xfrm>
            <a:off x="3486150" y="3876675"/>
            <a:ext cx="628650" cy="628650"/>
          </a:xfrm>
          <a:custGeom>
            <a:pathLst>
              <a:path w="952500" h="952500">
                <a:moveTo>
                  <a:pt x="114300" y="76200"/>
                </a:moveTo>
                <a:lnTo>
                  <a:pt x="114300" y="828675"/>
                </a:lnTo>
              </a:path>
            </a:pathLst>
          </a:custGeom>
          <a:noFill/>
          <a:ln w="20955">
            <a:solidFill>
              <a:srgbClr val="173D67"/>
            </a:solidFill>
            <a:prstDash val="solid"/>
          </a:ln>
        </p:spPr>
      </p:sp>
      <p:sp>
        <p:nvSpPr>
          <p:cNvPr id="55" name="vector-457">
            <a:extLst>
              <a:ext uri="{FF2B5EF4-FFF2-40B4-BE49-F238E27FC236}">
                <ns2:creationId id="{01724596-FECB-411C-A1FA-80EDE5F48AAF}"/>
              </a:ext>
            </a:extLst>
          </p:cNvPr>
          <p:cNvSpPr>
            <a:spLocks noGrp="1"/>
          </p:cNvSpPr>
          <p:nvPr/>
        </p:nvSpPr>
        <p:spPr>
          <a:xfrm>
            <a:off x="3486150" y="3876675"/>
            <a:ext cx="628650" cy="628650"/>
          </a:xfrm>
          <a:custGeom>
            <a:pathLst>
              <a:path w="952500" h="952500">
                <a:moveTo>
                  <a:pt x="114300" y="828675"/>
                </a:moveTo>
                <a:lnTo>
                  <a:pt x="885825" y="828675"/>
                </a:lnTo>
              </a:path>
            </a:pathLst>
          </a:custGeom>
          <a:noFill/>
          <a:ln w="20955">
            <a:solidFill>
              <a:srgbClr val="173D67"/>
            </a:solidFill>
            <a:prstDash val="solid"/>
          </a:ln>
        </p:spPr>
      </p:sp>
      <p:sp>
        <p:nvSpPr>
          <p:cNvPr id="56" name="icon-chart-458">
            <a:extLst>
              <a:ext uri="{FF2B5EF4-FFF2-40B4-BE49-F238E27FC236}">
                <ns2:creationId id="{68B2B6B0-79C7-446D-912A-15E217C1E79F}"/>
              </a:ext>
            </a:extLst>
          </p:cNvPr>
          <p:cNvSpPr>
            <a:spLocks noGrp="1"/>
          </p:cNvSpPr>
          <p:nvPr/>
        </p:nvSpPr>
        <p:spPr>
          <a:xfrm>
            <a:off x="3643313" y="4216146"/>
            <a:ext cx="81725" cy="207455"/>
          </a:xfrm>
          <a:prstGeom prst="rect">
            <a:avLst/>
          </a:prstGeom>
          <a:solidFill>
            <a:srgbClr val="173D67"/>
          </a:solidFill>
          <a:ln w="19645">
            <a:solidFill>
              <a:srgbClr val="173D67"/>
            </a:solidFill>
            <a:prstDash val="solid"/>
          </a:ln>
        </p:spPr>
      </p:sp>
      <p:sp>
        <p:nvSpPr>
          <p:cNvPr id="57" name="icon-chart-459">
            <a:extLst>
              <a:ext uri="{FF2B5EF4-FFF2-40B4-BE49-F238E27FC236}">
                <ns2:creationId id="{B9A58386-4793-4C6D-A662-A362F3ECCD6C}"/>
              </a:ext>
            </a:extLst>
          </p:cNvPr>
          <p:cNvSpPr>
            <a:spLocks noGrp="1"/>
          </p:cNvSpPr>
          <p:nvPr/>
        </p:nvSpPr>
        <p:spPr>
          <a:xfrm>
            <a:off x="3781616" y="4102989"/>
            <a:ext cx="81725" cy="320611"/>
          </a:xfrm>
          <a:prstGeom prst="rect">
            <a:avLst/>
          </a:prstGeom>
          <a:solidFill>
            <a:srgbClr val="5D7795"/>
          </a:solidFill>
          <a:ln w="19645">
            <a:solidFill>
              <a:srgbClr val="173D67"/>
            </a:solidFill>
            <a:prstDash val="solid"/>
          </a:ln>
        </p:spPr>
      </p:sp>
      <p:sp>
        <p:nvSpPr>
          <p:cNvPr id="58" name="icon-chart-460">
            <a:extLst>
              <a:ext uri="{FF2B5EF4-FFF2-40B4-BE49-F238E27FC236}">
                <ns2:creationId id="{03547E8A-AAB5-4FC4-AFEE-C00FB0349216}"/>
              </a:ext>
            </a:extLst>
          </p:cNvPr>
          <p:cNvSpPr>
            <a:spLocks noGrp="1"/>
          </p:cNvSpPr>
          <p:nvPr/>
        </p:nvSpPr>
        <p:spPr>
          <a:xfrm>
            <a:off x="3919919" y="3977259"/>
            <a:ext cx="81725" cy="446342"/>
          </a:xfrm>
          <a:prstGeom prst="rect">
            <a:avLst/>
          </a:prstGeom>
          <a:solidFill>
            <a:srgbClr val="173D67"/>
          </a:solidFill>
          <a:ln w="19645">
            <a:solidFill>
              <a:srgbClr val="173D67"/>
            </a:solidFill>
            <a:prstDash val="solid"/>
          </a:ln>
        </p:spPr>
      </p:sp>
      <p:sp>
        <p:nvSpPr>
          <p:cNvPr id="59" name="text-461">
            <a:extLst>
              <a:ext uri="{FF2B5EF4-FFF2-40B4-BE49-F238E27FC236}">
                <ns2:creationId id="{3668047B-A584-4766-95BC-944944A161DA}"/>
              </a:ext>
            </a:extLst>
          </p:cNvPr>
          <p:cNvSpPr>
            <a:spLocks noGrp="1"/>
          </p:cNvSpPr>
          <p:nvPr/>
        </p:nvSpPr>
        <p:spPr>
          <a:xfrm>
            <a:off x="4400550" y="3695700"/>
            <a:ext cx="33813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>
            <a: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rPr>
              <a:t>数据与证据</a:t>
            </a:r>
            <a:endParaRPr/>
          </a:p>
        </p:txBody>
      </p:sp>
      <p:sp>
        <p:nvSpPr>
          <p:cNvPr id="60" name="text-462">
            <a:extLst>
              <a:ext uri="{FF2B5EF4-FFF2-40B4-BE49-F238E27FC236}">
                <ns2:creationId id="{68785B6B-4127-4554-B806-D0005C356789}"/>
              </a:ext>
            </a:extLst>
          </p:cNvPr>
          <p:cNvSpPr>
            <a:spLocks noGrp="1"/>
          </p:cNvSpPr>
          <p:nvPr/>
        </p:nvSpPr>
        <p:spPr>
          <a:xfrm>
            <a:off x="4400550" y="4105275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rPr>
              <a:t>联合观测、比较与模型分析</a:t>
            </a:r>
            <a:endParaRPr/>
          </a:p>
        </p:txBody>
      </p:sp>
      <p:sp>
        <p:nvSpPr>
          <p:cNvPr id="61" name="text-463">
            <a:extLst>
              <a:ext uri="{FF2B5EF4-FFF2-40B4-BE49-F238E27FC236}">
                <ns2:creationId id="{C7F758AF-2B16-4F07-BD3A-798E0916648F}"/>
              </a:ext>
            </a:extLst>
          </p:cNvPr>
          <p:cNvSpPr>
            <a:spLocks noGrp="1"/>
          </p:cNvSpPr>
          <p:nvPr/>
        </p:nvSpPr>
        <p:spPr>
          <a:xfrm>
            <a:off x="4400550" y="4419600"/>
            <a:ext cx="485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组织结果，并检验稳健性与不确定性</a:t>
            </a:r>
            <a:endParaRPr/>
          </a:p>
        </p:txBody>
      </p:sp>
      <p:sp>
        <p:nvSpPr>
          <p:cNvPr id="62" name="vector-464">
            <a:extLst>
              <a:ext uri="{FF2B5EF4-FFF2-40B4-BE49-F238E27FC236}">
                <ns2:creationId id="{100ACADE-E1EA-42BE-83D3-DDC3E2D52664}"/>
              </a:ext>
            </a:extLst>
          </p:cNvPr>
          <p:cNvSpPr>
            <a:spLocks noGrp="1"/>
          </p:cNvSpPr>
          <p:nvPr/>
        </p:nvSpPr>
        <p:spPr>
          <a:xfrm>
            <a:off x="10287000" y="3838575"/>
            <a:ext cx="714375" cy="714375"/>
          </a:xfrm>
          <a:custGeom>
            <a:pathLst>
              <a:path w="952500" h="952500">
                <a:moveTo>
                  <a:pt x="114300" y="76200"/>
                </a:moveTo>
                <a:lnTo>
                  <a:pt x="114300" y="828675"/>
                </a:lnTo>
              </a:path>
            </a:pathLst>
          </a:custGeom>
          <a:noFill/>
          <a:ln w="23813">
            <a:solidFill>
              <a:srgbClr val="173D67"/>
            </a:solidFill>
            <a:prstDash val="solid"/>
          </a:ln>
        </p:spPr>
      </p:sp>
      <p:sp>
        <p:nvSpPr>
          <p:cNvPr id="63" name="vector-465">
            <a:extLst>
              <a:ext uri="{FF2B5EF4-FFF2-40B4-BE49-F238E27FC236}">
                <ns2:creationId id="{7741118D-8CEC-480E-A1D3-BE0A1EAF70F6}"/>
              </a:ext>
            </a:extLst>
          </p:cNvPr>
          <p:cNvSpPr>
            <a:spLocks noGrp="1"/>
          </p:cNvSpPr>
          <p:nvPr/>
        </p:nvSpPr>
        <p:spPr>
          <a:xfrm>
            <a:off x="10287000" y="3838575"/>
            <a:ext cx="714375" cy="714375"/>
          </a:xfrm>
          <a:custGeom>
            <a:pathLst>
              <a:path w="952500" h="952500">
                <a:moveTo>
                  <a:pt x="114300" y="828675"/>
                </a:moveTo>
                <a:lnTo>
                  <a:pt x="885825" y="828675"/>
                </a:lnTo>
              </a:path>
            </a:pathLst>
          </a:custGeom>
          <a:noFill/>
          <a:ln w="23813">
            <a:solidFill>
              <a:srgbClr val="173D67"/>
            </a:solidFill>
            <a:prstDash val="solid"/>
          </a:ln>
        </p:spPr>
      </p:sp>
      <p:sp>
        <p:nvSpPr>
          <p:cNvPr id="64" name="icon-chart-466">
            <a:extLst>
              <a:ext uri="{FF2B5EF4-FFF2-40B4-BE49-F238E27FC236}">
                <ns2:creationId id="{15E33CF9-7F9A-4CF6-B5CB-F394FED53C9B}"/>
              </a:ext>
            </a:extLst>
          </p:cNvPr>
          <p:cNvSpPr>
            <a:spLocks noGrp="1"/>
          </p:cNvSpPr>
          <p:nvPr/>
        </p:nvSpPr>
        <p:spPr>
          <a:xfrm>
            <a:off x="10465594" y="4224338"/>
            <a:ext cx="92869" cy="235744"/>
          </a:xfrm>
          <a:prstGeom prst="rect">
            <a:avLst/>
          </a:prstGeom>
          <a:solidFill>
            <a:srgbClr val="173D67"/>
          </a:solidFill>
          <a:ln w="22324">
            <a:solidFill>
              <a:srgbClr val="173D67"/>
            </a:solidFill>
            <a:prstDash val="solid"/>
          </a:ln>
        </p:spPr>
      </p:sp>
      <p:sp>
        <p:nvSpPr>
          <p:cNvPr id="65" name="icon-chart-467">
            <a:extLst>
              <a:ext uri="{FF2B5EF4-FFF2-40B4-BE49-F238E27FC236}">
                <ns2:creationId id="{79EA0860-7559-4F37-A617-495D86041E64}"/>
              </a:ext>
            </a:extLst>
          </p:cNvPr>
          <p:cNvSpPr>
            <a:spLocks noGrp="1"/>
          </p:cNvSpPr>
          <p:nvPr/>
        </p:nvSpPr>
        <p:spPr>
          <a:xfrm>
            <a:off x="10622756" y="4095750"/>
            <a:ext cx="92869" cy="364331"/>
          </a:xfrm>
          <a:prstGeom prst="rect">
            <a:avLst/>
          </a:prstGeom>
          <a:solidFill>
            <a:srgbClr val="5D7795"/>
          </a:solidFill>
          <a:ln w="22324">
            <a:solidFill>
              <a:srgbClr val="173D67"/>
            </a:solidFill>
            <a:prstDash val="solid"/>
          </a:ln>
        </p:spPr>
      </p:sp>
      <p:sp>
        <p:nvSpPr>
          <p:cNvPr id="66" name="icon-chart-468">
            <a:extLst>
              <a:ext uri="{FF2B5EF4-FFF2-40B4-BE49-F238E27FC236}">
                <ns2:creationId id="{E558A2C5-2DEB-4B34-B66E-4031B153060F}"/>
              </a:ext>
            </a:extLst>
          </p:cNvPr>
          <p:cNvSpPr>
            <a:spLocks noGrp="1"/>
          </p:cNvSpPr>
          <p:nvPr/>
        </p:nvSpPr>
        <p:spPr>
          <a:xfrm>
            <a:off x="10779919" y="3952875"/>
            <a:ext cx="92869" cy="507206"/>
          </a:xfrm>
          <a:prstGeom prst="rect">
            <a:avLst/>
          </a:prstGeom>
          <a:solidFill>
            <a:srgbClr val="173D67"/>
          </a:solidFill>
          <a:ln w="22324">
            <a:solidFill>
              <a:srgbClr val="173D67"/>
            </a:solidFill>
            <a:prstDash val="solid"/>
          </a:ln>
        </p:spPr>
      </p:sp>
      <p:sp>
        <p:nvSpPr>
          <p:cNvPr id="67" name="shape-469">
            <a:extLst>
              <a:ext uri="{FF2B5EF4-FFF2-40B4-BE49-F238E27FC236}">
                <ns2:creationId id="{D180688E-DB8B-4119-AA2B-3AAE3BE190F2}"/>
              </a:ext>
            </a:extLst>
          </p:cNvPr>
          <p:cNvSpPr>
            <a:spLocks noGrp="1"/>
          </p:cNvSpPr>
          <p:nvPr/>
        </p:nvSpPr>
        <p:spPr>
          <a:xfrm>
            <a:off x="2686050" y="4905375"/>
            <a:ext cx="9048750" cy="1219200"/>
          </a:xfrm>
          <a:prstGeom prst="rect">
            <a:avLst/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68" name="shape-470">
            <a:extLst>
              <a:ext uri="{FF2B5EF4-FFF2-40B4-BE49-F238E27FC236}">
                <ns2:creationId id="{C7DBE787-56B1-4FBB-B227-FD243277D05F}"/>
              </a:ext>
            </a:extLst>
          </p:cNvPr>
          <p:cNvSpPr>
            <a:spLocks noGrp="1"/>
          </p:cNvSpPr>
          <p:nvPr/>
        </p:nvSpPr>
        <p:spPr>
          <a:xfrm>
            <a:off x="2838450" y="5067300"/>
            <a:ext cx="419100" cy="419100"/>
          </a:xfrm>
          <a:prstGeom prst="ellipse">
            <a:avLst/>
          </a:prstGeom>
          <a:solidFill>
            <a:srgbClr val="173D67"/>
          </a:solidFill>
          <a:ln w="0">
            <a:noFill/>
            <a:prstDash val="solid"/>
          </a:ln>
        </p:spPr>
      </p:sp>
      <p:sp>
        <p:nvSpPr>
          <p:cNvPr id="69" name="text-471">
            <a:extLst>
              <a:ext uri="{FF2B5EF4-FFF2-40B4-BE49-F238E27FC236}">
                <ns2:creationId id="{1C2AD94F-7A9A-48C3-A545-23DE9EE4807A}"/>
              </a:ext>
            </a:extLst>
          </p:cNvPr>
          <p:cNvSpPr>
            <a:spLocks noGrp="1"/>
          </p:cNvSpPr>
          <p:nvPr/>
        </p:nvSpPr>
        <p:spPr>
          <a:xfrm>
            <a:off x="2838450" y="5067300"/>
            <a:ext cx="419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04</a:t>
            </a:r>
          </a:p>
        </p:txBody>
      </p:sp>
      <p:sp>
        <p:nvSpPr>
          <p:cNvPr id="70" name="icon-compass-472">
            <a:extLst>
              <a:ext uri="{FF2B5EF4-FFF2-40B4-BE49-F238E27FC236}">
                <ns2:creationId id="{ABCFF073-B47D-48C3-A11A-6204CCD314B2}"/>
              </a:ext>
            </a:extLst>
          </p:cNvPr>
          <p:cNvSpPr>
            <a:spLocks noGrp="1"/>
          </p:cNvSpPr>
          <p:nvPr/>
        </p:nvSpPr>
        <p:spPr>
          <a:xfrm>
            <a:off x="3523869" y="5238369"/>
            <a:ext cx="553212" cy="553212"/>
          </a:xfrm>
          <a:prstGeom prst="ellipse">
            <a:avLst/>
          </a:prstGeom>
          <a:noFill/>
          <a:ln w="19645">
            <a:solidFill>
              <a:srgbClr val="173D67"/>
            </a:solidFill>
            <a:prstDash val="solid"/>
          </a:ln>
        </p:spPr>
      </p:sp>
      <p:sp>
        <p:nvSpPr>
          <p:cNvPr id="71" name="vector-473">
            <a:extLst>
              <a:ext uri="{FF2B5EF4-FFF2-40B4-BE49-F238E27FC236}">
                <ns2:creationId id="{DCC11D7A-4DF3-42C2-80E1-B8100EC134DC}"/>
              </a:ext>
            </a:extLst>
          </p:cNvPr>
          <p:cNvSpPr>
            <a:spLocks noGrp="1"/>
          </p:cNvSpPr>
          <p:nvPr/>
        </p:nvSpPr>
        <p:spPr>
          <a:xfrm>
            <a:off x="3486150" y="5200650"/>
            <a:ext cx="628650" cy="628650"/>
          </a:xfrm>
          <a:custGeom>
            <a:pathLst>
              <a:path w="952500" h="952500">
                <a:moveTo>
                  <a:pt x="476250" y="142875"/>
                </a:moveTo>
                <a:lnTo>
                  <a:pt x="600075" y="581025"/>
                </a:lnTo>
                <a:lnTo>
                  <a:pt x="352425" y="581025"/>
                </a:lnTo>
                <a:close/>
              </a:path>
            </a:pathLst>
          </a:custGeom>
          <a:solidFill>
            <a:srgbClr val="173D67"/>
          </a:solidFill>
          <a:ln w="14288">
            <a:noFill/>
            <a:prstDash val="solid"/>
          </a:ln>
        </p:spPr>
      </p:sp>
      <p:sp>
        <p:nvSpPr>
          <p:cNvPr id="72" name="vector-474">
            <a:extLst>
              <a:ext uri="{FF2B5EF4-FFF2-40B4-BE49-F238E27FC236}">
                <ns2:creationId id="{9BE98EA5-54C2-46D1-930A-F858266E4C0F}"/>
              </a:ext>
            </a:extLst>
          </p:cNvPr>
          <p:cNvSpPr>
            <a:spLocks noGrp="1"/>
          </p:cNvSpPr>
          <p:nvPr/>
        </p:nvSpPr>
        <p:spPr>
          <a:xfrm>
            <a:off x="3486150" y="5200650"/>
            <a:ext cx="628650" cy="628650"/>
          </a:xfrm>
          <a:custGeom>
            <a:pathLst>
              <a:path w="952500" h="952500">
                <a:moveTo>
                  <a:pt x="476250" y="809625"/>
                </a:moveTo>
                <a:lnTo>
                  <a:pt x="352425" y="581025"/>
                </a:lnTo>
                <a:lnTo>
                  <a:pt x="600075" y="581025"/>
                </a:lnTo>
                <a:close/>
              </a:path>
            </a:pathLst>
          </a:custGeom>
          <a:solidFill>
            <a:srgbClr val="AF3D3D"/>
          </a:solidFill>
          <a:ln w="14288">
            <a:noFill/>
            <a:prstDash val="solid"/>
          </a:ln>
        </p:spPr>
      </p:sp>
      <p:sp>
        <p:nvSpPr>
          <p:cNvPr id="73" name="text-475">
            <a:extLst>
              <a:ext uri="{FF2B5EF4-FFF2-40B4-BE49-F238E27FC236}">
                <ns2:creationId id="{3C1628D3-7E46-43CB-87B4-2E6B2A1D379F}"/>
              </a:ext>
            </a:extLst>
          </p:cNvPr>
          <p:cNvSpPr>
            <a:spLocks noGrp="1"/>
          </p:cNvSpPr>
          <p:nvPr/>
        </p:nvSpPr>
        <p:spPr>
          <a:xfrm>
            <a:off x="4400550" y="5019675"/>
            <a:ext cx="33813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>
            <a:pPr algn="l">
              <a:def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2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rPr>
              <a:t>结论与展望</a:t>
            </a:r>
            <a:endParaRPr/>
          </a:p>
        </p:txBody>
      </p:sp>
      <p:sp>
        <p:nvSpPr>
          <p:cNvPr id="74" name="text-476">
            <a:extLst>
              <a:ext uri="{FF2B5EF4-FFF2-40B4-BE49-F238E27FC236}">
                <ns2:creationId id="{0B7724AE-2FA2-4643-9CA0-540A4CC39DF6}"/>
              </a:ext>
            </a:extLst>
          </p:cNvPr>
          <p:cNvSpPr>
            <a:spLocks noGrp="1"/>
          </p:cNvSpPr>
          <p:nvPr/>
        </p:nvSpPr>
        <p:spPr>
          <a:xfrm>
            <a:off x="4400550" y="5429250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rPr>
              <a:t>明确支持范围与下一步检验</a:t>
            </a:r>
            <a:endParaRPr/>
          </a:p>
        </p:txBody>
      </p:sp>
      <p:sp>
        <p:nvSpPr>
          <p:cNvPr id="75" name="text-477">
            <a:extLst>
              <a:ext uri="{FF2B5EF4-FFF2-40B4-BE49-F238E27FC236}">
                <ns2:creationId id="{2A036C58-11E5-4256-AEC9-C94FE6D416C3}"/>
              </a:ext>
            </a:extLst>
          </p:cNvPr>
          <p:cNvSpPr>
            <a:spLocks noGrp="1"/>
          </p:cNvSpPr>
          <p:nvPr/>
        </p:nvSpPr>
        <p:spPr>
          <a:xfrm>
            <a:off x="4400550" y="5743575"/>
            <a:ext cx="485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区分已有支持、未决问题与后续工作</a:t>
            </a:r>
            <a:endParaRPr/>
          </a:p>
        </p:txBody>
      </p:sp>
      <p:sp>
        <p:nvSpPr>
          <p:cNvPr id="76" name="icon-compass-478">
            <a:extLst>
              <a:ext uri="{FF2B5EF4-FFF2-40B4-BE49-F238E27FC236}">
                <ns2:creationId id="{A13E8D49-1322-45F2-8FEF-35F295B301C0}"/>
              </a:ext>
            </a:extLst>
          </p:cNvPr>
          <p:cNvSpPr>
            <a:spLocks noGrp="1"/>
          </p:cNvSpPr>
          <p:nvPr/>
        </p:nvSpPr>
        <p:spPr>
          <a:xfrm>
            <a:off x="10329863" y="5205413"/>
            <a:ext cx="628650" cy="628650"/>
          </a:xfrm>
          <a:prstGeom prst="ellipse">
            <a:avLst/>
          </a:prstGeom>
          <a:noFill/>
          <a:ln w="22324">
            <a:solidFill>
              <a:srgbClr val="173D67"/>
            </a:solidFill>
            <a:prstDash val="solid"/>
          </a:ln>
        </p:spPr>
      </p:sp>
      <p:sp>
        <p:nvSpPr>
          <p:cNvPr id="77" name="vector-479">
            <a:extLst>
              <a:ext uri="{FF2B5EF4-FFF2-40B4-BE49-F238E27FC236}">
                <ns2:creationId id="{01C49990-83C1-4E81-8CD6-AFDF31C70DC5}"/>
              </a:ext>
            </a:extLst>
          </p:cNvPr>
          <p:cNvSpPr>
            <a:spLocks noGrp="1"/>
          </p:cNvSpPr>
          <p:nvPr/>
        </p:nvSpPr>
        <p:spPr>
          <a:xfrm>
            <a:off x="10287000" y="5162550"/>
            <a:ext cx="714375" cy="714375"/>
          </a:xfrm>
          <a:custGeom>
            <a:pathLst>
              <a:path w="952500" h="952500">
                <a:moveTo>
                  <a:pt x="476250" y="142875"/>
                </a:moveTo>
                <a:lnTo>
                  <a:pt x="600075" y="581025"/>
                </a:lnTo>
                <a:lnTo>
                  <a:pt x="352425" y="581025"/>
                </a:lnTo>
                <a:close/>
              </a:path>
            </a:pathLst>
          </a:custGeom>
          <a:solidFill>
            <a:srgbClr val="173D67"/>
          </a:solidFill>
          <a:ln w="14288">
            <a:noFill/>
            <a:prstDash val="solid"/>
          </a:ln>
        </p:spPr>
      </p:sp>
      <p:sp>
        <p:nvSpPr>
          <p:cNvPr id="78" name="vector-480">
            <a:extLst>
              <a:ext uri="{FF2B5EF4-FFF2-40B4-BE49-F238E27FC236}">
                <ns2:creationId id="{827163A0-1025-48D0-8262-9E83EE72094E}"/>
              </a:ext>
            </a:extLst>
          </p:cNvPr>
          <p:cNvSpPr>
            <a:spLocks noGrp="1"/>
          </p:cNvSpPr>
          <p:nvPr/>
        </p:nvSpPr>
        <p:spPr>
          <a:xfrm>
            <a:off x="10287000" y="5162550"/>
            <a:ext cx="714375" cy="714375"/>
          </a:xfrm>
          <a:custGeom>
            <a:pathLst>
              <a:path w="952500" h="952500">
                <a:moveTo>
                  <a:pt x="476250" y="809625"/>
                </a:moveTo>
                <a:lnTo>
                  <a:pt x="352425" y="581025"/>
                </a:lnTo>
                <a:lnTo>
                  <a:pt x="600075" y="581025"/>
                </a:lnTo>
                <a:close/>
              </a:path>
            </a:pathLst>
          </a:custGeom>
          <a:solidFill>
            <a:srgbClr val="AF3D3D"/>
          </a:solidFill>
          <a:ln w="14288">
            <a:noFill/>
            <a:prstDash val="solid"/>
          </a:ln>
        </p:spPr>
      </p:sp>
      <p:sp>
        <p:nvSpPr>
          <p:cNvPr id="79" name="text-481">
            <a:extLst>
              <a:ext uri="{FF2B5EF4-FFF2-40B4-BE49-F238E27FC236}">
                <ns2:creationId id="{C93298BA-72FE-4ADD-B1CD-50AC4A765F9C}"/>
              </a:ext>
            </a:extLst>
          </p:cNvPr>
          <p:cNvSpPr>
            <a:spLocks noGrp="1"/>
          </p:cNvSpPr>
          <p:nvPr/>
        </p:nvSpPr>
        <p:spPr>
          <a:xfrm>
            <a:off x="228600" y="6619875"/>
            <a:ext cx="105727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rPr>
              <a:t>科研模板 · 内容与数据均为示意</a:t>
            </a:r>
            <a:endParaRPr/>
          </a:p>
        </p:txBody>
      </p:sp>
      <p:sp>
        <p:nvSpPr>
          <p:cNvPr id="80" name="text-482">
            <a:extLst>
              <a:ext uri="{FF2B5EF4-FFF2-40B4-BE49-F238E27FC236}">
                <ns2:creationId id="{A42496F1-27CB-4BC3-A467-ECDC1352A297}"/>
              </a:ext>
            </a:extLst>
          </p:cNvPr>
          <p:cNvSpPr>
            <a:spLocks noGrp="1"/>
          </p:cNvSpPr>
          <p:nvPr/>
        </p:nvSpPr>
        <p:spPr>
          <a:xfrm>
            <a:off x="11525250" y="6591300"/>
            <a:ext cx="4381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rPr>
              <a:t>02</a:t>
            </a:r>
            <a:endParaRPr/>
          </a:p>
        </p:txBody>
      </p:sp>
    </p:spTree>
    <p:extLst>
      <p:ext uri="{BB962C8B-B14F-4D97-AF65-F5344CB8AC3E}">
        <ns3:creationId val="1277812684"/>
      </p:ext>
    </p:extLst>
  </p:cSld>
</p:sld>
</file>

<file path=ppt/slides/slide3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45" name="">
            <a:extLst>
              <a:ext uri="{FF2B5EF4-FFF2-40B4-BE49-F238E27FC236}">
                <ns2:creationId id="{EDB2641F-009B-4118-86AD-09BEE73715A9}"/>
              </a:ext>
            </a:extLst>
          </p:cNvPr>
          <p:cNvPicPr>
            <a:picLocks noChangeAspect="1"/>
          </p:cNvPicPr>
          <p:nvPr/>
        </p:nvPicPr>
        <p:blipFill>
          <a:blip r:embed="R8fcd05eff92847ce"/>
          <a:stretch/>
        </p:blipFill>
        <p:spPr>
          <a:xfrm>
            <a:off x="5857875" y="762000"/>
            <a:ext cx="5238750" cy="5238750"/>
          </a:xfrm>
          <a:prstGeom prst="rect">
            <a:avLst/>
          </a:prstGeom>
        </p:spPr>
      </p:pic>
      <p:sp>
        <p:nvSpPr>
          <p:cNvPr id="2" name="text-483">
            <a:extLst>
              <a:ext uri="{FF2B5EF4-FFF2-40B4-BE49-F238E27FC236}">
                <ns2:creationId id="{FE71ACDF-DBA4-41D4-B9CC-290C2CB2EF46}"/>
              </a:ext>
            </a:extLst>
          </p:cNvPr>
          <p:cNvSpPr>
            <a:spLocks noGrp="1"/>
          </p:cNvSpPr>
          <p:nvPr/>
        </p:nvSpPr>
        <p:spPr>
          <a:xfrm>
            <a:off x="342900" y="571500"/>
            <a:ext cx="2619375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960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960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960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960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960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960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960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960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960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960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>
            <a:pPr algn="l">
              <a:defRPr sz="960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960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rPr>
              <a:t>03</a:t>
            </a:r>
            <a:endParaRPr/>
          </a:p>
        </p:txBody>
      </p:sp>
      <p:sp>
        <p:nvSpPr>
          <p:cNvPr id="3" name="shape-484">
            <a:extLst>
              <a:ext uri="{FF2B5EF4-FFF2-40B4-BE49-F238E27FC236}">
                <ns2:creationId id="{8DBCC840-EB5A-454A-968C-6B46ECC14607}"/>
              </a:ext>
            </a:extLst>
          </p:cNvPr>
          <p:cNvSpPr>
            <a:spLocks noGrp="1"/>
          </p:cNvSpPr>
          <p:nvPr/>
        </p:nvSpPr>
        <p:spPr>
          <a:xfrm>
            <a:off x="2171700" y="904875"/>
            <a:ext cx="47625" cy="819150"/>
          </a:xfrm>
          <a:prstGeom prst="rect">
            <a:avLst/>
          </a:prstGeom>
          <a:solidFill>
            <a:srgbClr val="AF3D3D"/>
          </a:solidFill>
          <a:ln w="0">
            <a:noFill/>
            <a:prstDash val="solid"/>
          </a:ln>
        </p:spPr>
      </p:sp>
      <p:sp>
        <p:nvSpPr>
          <p:cNvPr id="4" name="text-485">
            <a:extLst>
              <a:ext uri="{FF2B5EF4-FFF2-40B4-BE49-F238E27FC236}">
                <ns2:creationId id="{74047E7F-3136-4925-87BA-9ABB9F415E03}"/>
              </a:ext>
            </a:extLst>
          </p:cNvPr>
          <p:cNvSpPr>
            <a:spLocks noGrp="1"/>
          </p:cNvSpPr>
          <p:nvPr/>
        </p:nvSpPr>
        <p:spPr>
          <a:xfrm>
            <a:off x="361950" y="2247900"/>
            <a:ext cx="6000750" cy="1581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43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43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43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43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43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43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43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43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43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43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>
            <a:pPr algn="l">
              <a:defRPr sz="43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43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rPr>
              <a:t>数据与证据</a:t>
            </a:r>
            <a:endParaRPr/>
          </a:p>
          <a:p>
            <a:pPr algn="l">
              <a:defRPr sz="43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4350" b="1">
                <a:solidFill>
                  <a:srgbClr val="173D67"/>
                </a:solidFill>
                <a:latin typeface="Noto Serif CJK SC"/>
                <a:ea typeface="Noto Serif CJK SC"/>
                <a:cs typeface="Noto Serif CJK SC"/>
              </a:rPr>
              <a:t>从观测到解释</a:t>
            </a:r>
            <a:endParaRPr/>
          </a:p>
        </p:txBody>
      </p:sp>
      <p:sp>
        <p:nvSpPr>
          <p:cNvPr id="5" name="text-486">
            <a:extLst>
              <a:ext uri="{FF2B5EF4-FFF2-40B4-BE49-F238E27FC236}">
                <ns2:creationId id="{0CB93EA6-DAD6-4A07-BA2B-C1B361013F10}"/>
              </a:ext>
            </a:extLst>
          </p:cNvPr>
          <p:cNvSpPr>
            <a:spLocks noGrp="1"/>
          </p:cNvSpPr>
          <p:nvPr/>
        </p:nvSpPr>
        <p:spPr>
          <a:xfrm>
            <a:off x="381000" y="4381500"/>
            <a:ext cx="47625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0">
                <a:solidFill>
                  <a:srgbClr val="17232D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1800" b="0">
                <a:solidFill>
                  <a:srgbClr val="17232D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1800" b="0">
                <a:solidFill>
                  <a:srgbClr val="17232D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1800" b="0">
                <a:solidFill>
                  <a:srgbClr val="17232D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1800" b="0">
                <a:solidFill>
                  <a:srgbClr val="17232D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1800" b="0">
                <a:solidFill>
                  <a:srgbClr val="17232D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1800" b="0">
                <a:solidFill>
                  <a:srgbClr val="17232D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1800" b="0">
                <a:solidFill>
                  <a:srgbClr val="17232D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1800" b="0">
                <a:solidFill>
                  <a:srgbClr val="17232D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1800" b="0">
                <a:solidFill>
                  <a:srgbClr val="17232D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>
            <a:pPr algn="l">
              <a:defRPr sz="1800" b="0">
                <a:solidFill>
                  <a:srgbClr val="17232D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800" b="0">
                <a:solidFill>
                  <a:srgbClr val="17232D"/>
                </a:solidFill>
                <a:latin typeface="Noto Serif CJK SC"/>
                <a:ea typeface="Noto Serif CJK SC"/>
                <a:cs typeface="Noto Serif CJK SC"/>
              </a:rPr>
              <a:t>结合空间格局、群落指标与模型结果，</a:t>
            </a:r>
            <a:endParaRPr/>
          </a:p>
          <a:p>
            <a:pPr algn="l">
              <a:defRPr sz="1800" b="0">
                <a:solidFill>
                  <a:srgbClr val="17232D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800" b="0">
                <a:solidFill>
                  <a:srgbClr val="17232D"/>
                </a:solidFill>
                <a:latin typeface="Noto Serif CJK SC"/>
                <a:ea typeface="Noto Serif CJK SC"/>
                <a:cs typeface="Noto Serif CJK SC"/>
              </a:rPr>
              <a:t>逐步检验生态机制。</a:t>
            </a:r>
            <a:endParaRPr/>
          </a:p>
        </p:txBody>
      </p:sp>
      <p:sp>
        <p:nvSpPr>
          <p:cNvPr id="6" name="line-487">
            <a:extLst>
              <a:ext uri="{FF2B5EF4-FFF2-40B4-BE49-F238E27FC236}">
                <ns2:creationId id="{BAC6F1EB-3958-468C-9786-5F411AA322A5}"/>
              </a:ext>
            </a:extLst>
          </p:cNvPr>
          <p:cNvSpPr>
            <a:spLocks noGrp="1"/>
          </p:cNvSpPr>
          <p:nvPr/>
        </p:nvSpPr>
        <p:spPr>
          <a:xfrm>
            <a:off x="228600" y="6029325"/>
            <a:ext cx="11734800" cy="95"/>
          </a:xfrm>
          <a:prstGeom prst="line">
            <a:avLst/>
          </a:prstGeom>
          <a:noFill/>
          <a:ln w="14288">
            <a:solidFill>
              <a:srgbClr val="D8DEE5"/>
            </a:solidFill>
            <a:prstDash val="solid"/>
          </a:ln>
        </p:spPr>
      </p:sp>
      <p:sp>
        <p:nvSpPr>
          <p:cNvPr id="7" name="icon-clipboard-488">
            <a:extLst>
              <a:ext uri="{FF2B5EF4-FFF2-40B4-BE49-F238E27FC236}">
                <ns2:creationId id="{50BB6FA1-F786-4A0C-B7F5-E7581A318AC9}"/>
              </a:ext>
            </a:extLst>
          </p:cNvPr>
          <p:cNvSpPr>
            <a:spLocks noGrp="1"/>
          </p:cNvSpPr>
          <p:nvPr/>
        </p:nvSpPr>
        <p:spPr>
          <a:xfrm>
            <a:off x="409956" y="6213729"/>
            <a:ext cx="173355" cy="208026"/>
          </a:xfrm>
          <a:prstGeom prst="roundRect">
            <a:avLst>
              <a:gd name="adj" fmla="val 43956"/>
            </a:avLst>
          </a:prstGeom>
          <a:noFill/>
          <a:ln w="12383">
            <a:solidFill>
              <a:srgbClr val="718EAA"/>
            </a:solidFill>
            <a:prstDash val="solid"/>
          </a:ln>
        </p:spPr>
      </p:sp>
      <p:sp>
        <p:nvSpPr>
          <p:cNvPr id="8" name="icon-clipboard-489">
            <a:extLst>
              <a:ext uri="{FF2B5EF4-FFF2-40B4-BE49-F238E27FC236}">
                <ns2:creationId id="{5BDEC722-97E0-4061-8E14-E63C22643C0F}"/>
              </a:ext>
            </a:extLst>
          </p:cNvPr>
          <p:cNvSpPr>
            <a:spLocks noGrp="1"/>
          </p:cNvSpPr>
          <p:nvPr/>
        </p:nvSpPr>
        <p:spPr>
          <a:xfrm>
            <a:off x="455295" y="6195060"/>
            <a:ext cx="80010" cy="4000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383">
            <a:solidFill>
              <a:srgbClr val="718EAA"/>
            </a:solidFill>
            <a:prstDash val="solid"/>
          </a:ln>
        </p:spPr>
      </p:sp>
      <p:sp>
        <p:nvSpPr>
          <p:cNvPr id="9" name="vector-490">
            <a:extLst>
              <a:ext uri="{FF2B5EF4-FFF2-40B4-BE49-F238E27FC236}">
                <ns2:creationId id="{CF66DC96-F21B-45A3-8FB8-BC842AAF47DF}"/>
              </a:ext>
            </a:extLst>
          </p:cNvPr>
          <p:cNvSpPr>
            <a:spLocks noGrp="1"/>
          </p:cNvSpPr>
          <p:nvPr/>
        </p:nvSpPr>
        <p:spPr>
          <a:xfrm>
            <a:off x="361950" y="6181725"/>
            <a:ext cx="266700" cy="266700"/>
          </a:xfrm>
          <a:custGeom>
            <a:pathLst>
              <a:path w="952500" h="952500">
                <a:moveTo>
                  <a:pt x="266700" y="342900"/>
                </a:moveTo>
                <a:lnTo>
                  <a:pt x="342900" y="400050"/>
                </a:lnTo>
              </a:path>
            </a:pathLst>
          </a:custGeom>
          <a:noFill/>
          <a:ln w="13335">
            <a:solidFill>
              <a:srgbClr val="718EAA"/>
            </a:solidFill>
            <a:prstDash val="solid"/>
          </a:ln>
        </p:spPr>
      </p:sp>
      <p:sp>
        <p:nvSpPr>
          <p:cNvPr id="10" name="vector-491">
            <a:extLst>
              <a:ext uri="{FF2B5EF4-FFF2-40B4-BE49-F238E27FC236}">
                <ns2:creationId id="{ECBEF463-AF9B-4050-9F87-F25A9FB42876}"/>
              </a:ext>
            </a:extLst>
          </p:cNvPr>
          <p:cNvSpPr>
            <a:spLocks noGrp="1"/>
          </p:cNvSpPr>
          <p:nvPr/>
        </p:nvSpPr>
        <p:spPr>
          <a:xfrm>
            <a:off x="361950" y="6181725"/>
            <a:ext cx="266700" cy="266700"/>
          </a:xfrm>
          <a:custGeom>
            <a:pathLst>
              <a:path w="952500" h="952500">
                <a:moveTo>
                  <a:pt x="342900" y="400050"/>
                </a:moveTo>
                <a:lnTo>
                  <a:pt x="428625" y="276225"/>
                </a:lnTo>
              </a:path>
            </a:pathLst>
          </a:custGeom>
          <a:noFill/>
          <a:ln w="13335">
            <a:solidFill>
              <a:srgbClr val="718EAA"/>
            </a:solidFill>
            <a:prstDash val="solid"/>
          </a:ln>
        </p:spPr>
      </p:sp>
      <p:sp>
        <p:nvSpPr>
          <p:cNvPr id="11" name="vector-492">
            <a:extLst>
              <a:ext uri="{FF2B5EF4-FFF2-40B4-BE49-F238E27FC236}">
                <ns2:creationId id="{CF5E521B-E052-4140-9EB2-ABE8CDD429B8}"/>
              </a:ext>
            </a:extLst>
          </p:cNvPr>
          <p:cNvSpPr>
            <a:spLocks noGrp="1"/>
          </p:cNvSpPr>
          <p:nvPr/>
        </p:nvSpPr>
        <p:spPr>
          <a:xfrm>
            <a:off x="361950" y="6181725"/>
            <a:ext cx="266700" cy="266700"/>
          </a:xfrm>
          <a:custGeom>
            <a:pathLst>
              <a:path w="952500" h="952500">
                <a:moveTo>
                  <a:pt x="495300" y="352425"/>
                </a:moveTo>
                <a:lnTo>
                  <a:pt x="695325" y="352425"/>
                </a:lnTo>
              </a:path>
            </a:pathLst>
          </a:custGeom>
          <a:noFill/>
          <a:ln w="13335">
            <a:solidFill>
              <a:srgbClr val="718EAA"/>
            </a:solidFill>
            <a:prstDash val="solid"/>
          </a:ln>
        </p:spPr>
      </p:sp>
      <p:sp>
        <p:nvSpPr>
          <p:cNvPr id="12" name="vector-493">
            <a:extLst>
              <a:ext uri="{FF2B5EF4-FFF2-40B4-BE49-F238E27FC236}">
                <ns2:creationId id="{19EF9886-DB8F-470A-8867-DABCF5FC4450}"/>
              </a:ext>
            </a:extLst>
          </p:cNvPr>
          <p:cNvSpPr>
            <a:spLocks noGrp="1"/>
          </p:cNvSpPr>
          <p:nvPr/>
        </p:nvSpPr>
        <p:spPr>
          <a:xfrm>
            <a:off x="361950" y="6181725"/>
            <a:ext cx="266700" cy="266700"/>
          </a:xfrm>
          <a:custGeom>
            <a:pathLst>
              <a:path w="952500" h="952500">
                <a:moveTo>
                  <a:pt x="266700" y="523875"/>
                </a:moveTo>
                <a:lnTo>
                  <a:pt x="342900" y="581025"/>
                </a:lnTo>
              </a:path>
            </a:pathLst>
          </a:custGeom>
          <a:noFill/>
          <a:ln w="13335">
            <a:solidFill>
              <a:srgbClr val="718EAA"/>
            </a:solidFill>
            <a:prstDash val="solid"/>
          </a:ln>
        </p:spPr>
      </p:sp>
      <p:sp>
        <p:nvSpPr>
          <p:cNvPr id="13" name="vector-494">
            <a:extLst>
              <a:ext uri="{FF2B5EF4-FFF2-40B4-BE49-F238E27FC236}">
                <ns2:creationId id="{84C55DE8-2B3A-4C5A-B01D-782EA7D9F5B6}"/>
              </a:ext>
            </a:extLst>
          </p:cNvPr>
          <p:cNvSpPr>
            <a:spLocks noGrp="1"/>
          </p:cNvSpPr>
          <p:nvPr/>
        </p:nvSpPr>
        <p:spPr>
          <a:xfrm>
            <a:off x="361950" y="6181725"/>
            <a:ext cx="266700" cy="266700"/>
          </a:xfrm>
          <a:custGeom>
            <a:pathLst>
              <a:path w="952500" h="952500">
                <a:moveTo>
                  <a:pt x="342900" y="581025"/>
                </a:moveTo>
                <a:lnTo>
                  <a:pt x="428625" y="457200"/>
                </a:lnTo>
              </a:path>
            </a:pathLst>
          </a:custGeom>
          <a:noFill/>
          <a:ln w="13335">
            <a:solidFill>
              <a:srgbClr val="718EAA"/>
            </a:solidFill>
            <a:prstDash val="solid"/>
          </a:ln>
        </p:spPr>
      </p:sp>
      <p:sp>
        <p:nvSpPr>
          <p:cNvPr id="14" name="vector-495">
            <a:extLst>
              <a:ext uri="{FF2B5EF4-FFF2-40B4-BE49-F238E27FC236}">
                <ns2:creationId id="{C0DD50BC-17BA-4ACB-A748-12E672439B80}"/>
              </a:ext>
            </a:extLst>
          </p:cNvPr>
          <p:cNvSpPr>
            <a:spLocks noGrp="1"/>
          </p:cNvSpPr>
          <p:nvPr/>
        </p:nvSpPr>
        <p:spPr>
          <a:xfrm>
            <a:off x="361950" y="6181725"/>
            <a:ext cx="266700" cy="266700"/>
          </a:xfrm>
          <a:custGeom>
            <a:pathLst>
              <a:path w="952500" h="952500">
                <a:moveTo>
                  <a:pt x="495300" y="533400"/>
                </a:moveTo>
                <a:lnTo>
                  <a:pt x="695325" y="533400"/>
                </a:lnTo>
              </a:path>
            </a:pathLst>
          </a:custGeom>
          <a:noFill/>
          <a:ln w="13335">
            <a:solidFill>
              <a:srgbClr val="718EAA"/>
            </a:solidFill>
            <a:prstDash val="solid"/>
          </a:ln>
        </p:spPr>
      </p:sp>
      <p:sp>
        <p:nvSpPr>
          <p:cNvPr id="15" name="vector-496">
            <a:extLst>
              <a:ext uri="{FF2B5EF4-FFF2-40B4-BE49-F238E27FC236}">
                <ns2:creationId id="{A490858A-646F-407B-9098-2BB7D0C2667E}"/>
              </a:ext>
            </a:extLst>
          </p:cNvPr>
          <p:cNvSpPr>
            <a:spLocks noGrp="1"/>
          </p:cNvSpPr>
          <p:nvPr/>
        </p:nvSpPr>
        <p:spPr>
          <a:xfrm>
            <a:off x="361950" y="6181725"/>
            <a:ext cx="266700" cy="266700"/>
          </a:xfrm>
          <a:custGeom>
            <a:pathLst>
              <a:path w="952500" h="952500">
                <a:moveTo>
                  <a:pt x="266700" y="704850"/>
                </a:moveTo>
                <a:lnTo>
                  <a:pt x="342900" y="762000"/>
                </a:lnTo>
              </a:path>
            </a:pathLst>
          </a:custGeom>
          <a:noFill/>
          <a:ln w="13335">
            <a:solidFill>
              <a:srgbClr val="718EAA"/>
            </a:solidFill>
            <a:prstDash val="solid"/>
          </a:ln>
        </p:spPr>
      </p:sp>
      <p:sp>
        <p:nvSpPr>
          <p:cNvPr id="16" name="vector-497">
            <a:extLst>
              <a:ext uri="{FF2B5EF4-FFF2-40B4-BE49-F238E27FC236}">
                <ns2:creationId id="{C4B89282-8828-4F9C-ACB7-4A1A4853286F}"/>
              </a:ext>
            </a:extLst>
          </p:cNvPr>
          <p:cNvSpPr>
            <a:spLocks noGrp="1"/>
          </p:cNvSpPr>
          <p:nvPr/>
        </p:nvSpPr>
        <p:spPr>
          <a:xfrm>
            <a:off x="361950" y="6181725"/>
            <a:ext cx="266700" cy="266700"/>
          </a:xfrm>
          <a:custGeom>
            <a:pathLst>
              <a:path w="952500" h="952500">
                <a:moveTo>
                  <a:pt x="342900" y="762000"/>
                </a:moveTo>
                <a:lnTo>
                  <a:pt x="428625" y="638175"/>
                </a:lnTo>
              </a:path>
            </a:pathLst>
          </a:custGeom>
          <a:noFill/>
          <a:ln w="13335">
            <a:solidFill>
              <a:srgbClr val="718EAA"/>
            </a:solidFill>
            <a:prstDash val="solid"/>
          </a:ln>
        </p:spPr>
      </p:sp>
      <p:sp>
        <p:nvSpPr>
          <p:cNvPr id="17" name="vector-498">
            <a:extLst>
              <a:ext uri="{FF2B5EF4-FFF2-40B4-BE49-F238E27FC236}">
                <ns2:creationId id="{A4241197-CE9F-46F3-9137-F5C785774B77}"/>
              </a:ext>
            </a:extLst>
          </p:cNvPr>
          <p:cNvSpPr>
            <a:spLocks noGrp="1"/>
          </p:cNvSpPr>
          <p:nvPr/>
        </p:nvSpPr>
        <p:spPr>
          <a:xfrm>
            <a:off x="361950" y="6181725"/>
            <a:ext cx="266700" cy="266700"/>
          </a:xfrm>
          <a:custGeom>
            <a:pathLst>
              <a:path w="952500" h="952500">
                <a:moveTo>
                  <a:pt x="495300" y="714375"/>
                </a:moveTo>
                <a:lnTo>
                  <a:pt x="695325" y="714375"/>
                </a:lnTo>
              </a:path>
            </a:pathLst>
          </a:custGeom>
          <a:noFill/>
          <a:ln w="13335">
            <a:solidFill>
              <a:srgbClr val="718EAA"/>
            </a:solidFill>
            <a:prstDash val="solid"/>
          </a:ln>
        </p:spPr>
      </p:sp>
      <p:sp>
        <p:nvSpPr>
          <p:cNvPr id="18" name="text-499">
            <a:extLst>
              <a:ext uri="{FF2B5EF4-FFF2-40B4-BE49-F238E27FC236}">
                <ns2:creationId id="{061CCF53-30C1-4007-8445-9063E2A8B568}"/>
              </a:ext>
            </a:extLst>
          </p:cNvPr>
          <p:cNvSpPr>
            <a:spLocks noGrp="1"/>
          </p:cNvSpPr>
          <p:nvPr/>
        </p:nvSpPr>
        <p:spPr>
          <a:xfrm>
            <a:off x="742950" y="6153150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rPr>
              <a:t>研究背景</a:t>
            </a:r>
            <a:endParaRPr/>
          </a:p>
        </p:txBody>
      </p:sp>
      <p:sp>
        <p:nvSpPr>
          <p:cNvPr id="19" name="vector-500">
            <a:extLst>
              <a:ext uri="{FF2B5EF4-FFF2-40B4-BE49-F238E27FC236}">
                <ns2:creationId id="{7E1514FD-3177-4E8F-B245-ACFFA8A003CF}"/>
              </a:ext>
            </a:extLst>
          </p:cNvPr>
          <p:cNvSpPr>
            <a:spLocks noGrp="1"/>
          </p:cNvSpPr>
          <p:nvPr/>
        </p:nvSpPr>
        <p:spPr>
          <a:xfrm>
            <a:off x="3314700" y="6181725"/>
            <a:ext cx="266700" cy="266700"/>
          </a:xfrm>
          <a:custGeom>
            <a:pathLst>
              <a:path w="952500" h="952500">
                <a:moveTo>
                  <a:pt x="123825" y="352425"/>
                </a:moveTo>
                <a:lnTo>
                  <a:pt x="428625" y="114300"/>
                </a:lnTo>
              </a:path>
            </a:pathLst>
          </a:custGeom>
          <a:noFill/>
          <a:ln w="13335">
            <a:solidFill>
              <a:srgbClr val="718EAA"/>
            </a:solidFill>
            <a:prstDash val="solid"/>
          </a:ln>
        </p:spPr>
      </p:sp>
      <p:sp>
        <p:nvSpPr>
          <p:cNvPr id="20" name="vector-501">
            <a:extLst>
              <a:ext uri="{FF2B5EF4-FFF2-40B4-BE49-F238E27FC236}">
                <ns2:creationId id="{2C038C1D-FADE-45CE-9D6E-BCA38BC40BBF}"/>
              </a:ext>
            </a:extLst>
          </p:cNvPr>
          <p:cNvSpPr>
            <a:spLocks noGrp="1"/>
          </p:cNvSpPr>
          <p:nvPr/>
        </p:nvSpPr>
        <p:spPr>
          <a:xfrm>
            <a:off x="3314700" y="6181725"/>
            <a:ext cx="266700" cy="266700"/>
          </a:xfrm>
          <a:custGeom>
            <a:pathLst>
              <a:path w="952500" h="952500">
                <a:moveTo>
                  <a:pt x="428625" y="114300"/>
                </a:moveTo>
                <a:lnTo>
                  <a:pt x="800100" y="285750"/>
                </a:lnTo>
              </a:path>
            </a:pathLst>
          </a:custGeom>
          <a:noFill/>
          <a:ln w="13335">
            <a:solidFill>
              <a:srgbClr val="718EAA"/>
            </a:solidFill>
            <a:prstDash val="solid"/>
          </a:ln>
        </p:spPr>
      </p:sp>
      <p:sp>
        <p:nvSpPr>
          <p:cNvPr id="21" name="vector-502">
            <a:extLst>
              <a:ext uri="{FF2B5EF4-FFF2-40B4-BE49-F238E27FC236}">
                <ns2:creationId id="{526B1210-5246-4E16-AF03-7715143537ED}"/>
              </a:ext>
            </a:extLst>
          </p:cNvPr>
          <p:cNvSpPr>
            <a:spLocks noGrp="1"/>
          </p:cNvSpPr>
          <p:nvPr/>
        </p:nvSpPr>
        <p:spPr>
          <a:xfrm>
            <a:off x="3314700" y="6181725"/>
            <a:ext cx="266700" cy="266700"/>
          </a:xfrm>
          <a:custGeom>
            <a:pathLst>
              <a:path w="952500" h="952500">
                <a:moveTo>
                  <a:pt x="800100" y="285750"/>
                </a:moveTo>
                <a:lnTo>
                  <a:pt x="657225" y="790575"/>
                </a:lnTo>
              </a:path>
            </a:pathLst>
          </a:custGeom>
          <a:noFill/>
          <a:ln w="13335">
            <a:solidFill>
              <a:srgbClr val="718EAA"/>
            </a:solidFill>
            <a:prstDash val="solid"/>
          </a:ln>
        </p:spPr>
      </p:sp>
      <p:sp>
        <p:nvSpPr>
          <p:cNvPr id="22" name="vector-503">
            <a:extLst>
              <a:ext uri="{FF2B5EF4-FFF2-40B4-BE49-F238E27FC236}">
                <ns2:creationId id="{A75864C7-D5C3-4F56-A380-130D199FF840}"/>
              </a:ext>
            </a:extLst>
          </p:cNvPr>
          <p:cNvSpPr>
            <a:spLocks noGrp="1"/>
          </p:cNvSpPr>
          <p:nvPr/>
        </p:nvSpPr>
        <p:spPr>
          <a:xfrm>
            <a:off x="3314700" y="6181725"/>
            <a:ext cx="266700" cy="266700"/>
          </a:xfrm>
          <a:custGeom>
            <a:pathLst>
              <a:path w="952500" h="952500">
                <a:moveTo>
                  <a:pt x="657225" y="790575"/>
                </a:moveTo>
                <a:lnTo>
                  <a:pt x="228600" y="781050"/>
                </a:lnTo>
              </a:path>
            </a:pathLst>
          </a:custGeom>
          <a:noFill/>
          <a:ln w="13335">
            <a:solidFill>
              <a:srgbClr val="718EAA"/>
            </a:solidFill>
            <a:prstDash val="solid"/>
          </a:ln>
        </p:spPr>
      </p:sp>
      <p:sp>
        <p:nvSpPr>
          <p:cNvPr id="23" name="vector-504">
            <a:extLst>
              <a:ext uri="{FF2B5EF4-FFF2-40B4-BE49-F238E27FC236}">
                <ns2:creationId id="{4ED20D95-822C-4A70-8A73-5408821AC6A0}"/>
              </a:ext>
            </a:extLst>
          </p:cNvPr>
          <p:cNvSpPr>
            <a:spLocks noGrp="1"/>
          </p:cNvSpPr>
          <p:nvPr/>
        </p:nvSpPr>
        <p:spPr>
          <a:xfrm>
            <a:off x="3314700" y="6181725"/>
            <a:ext cx="266700" cy="266700"/>
          </a:xfrm>
          <a:custGeom>
            <a:pathLst>
              <a:path w="952500" h="952500">
                <a:moveTo>
                  <a:pt x="228600" y="781050"/>
                </a:moveTo>
                <a:lnTo>
                  <a:pt x="123825" y="352425"/>
                </a:lnTo>
              </a:path>
            </a:pathLst>
          </a:custGeom>
          <a:noFill/>
          <a:ln w="13335">
            <a:solidFill>
              <a:srgbClr val="718EAA"/>
            </a:solidFill>
            <a:prstDash val="solid"/>
          </a:ln>
        </p:spPr>
      </p:sp>
      <p:sp>
        <p:nvSpPr>
          <p:cNvPr id="24" name="vector-505">
            <a:extLst>
              <a:ext uri="{FF2B5EF4-FFF2-40B4-BE49-F238E27FC236}">
                <ns2:creationId id="{D8EE6DCC-0750-4580-BB0D-73A7C7D2B743}"/>
              </a:ext>
            </a:extLst>
          </p:cNvPr>
          <p:cNvSpPr>
            <a:spLocks noGrp="1"/>
          </p:cNvSpPr>
          <p:nvPr/>
        </p:nvSpPr>
        <p:spPr>
          <a:xfrm>
            <a:off x="3314700" y="6181725"/>
            <a:ext cx="266700" cy="266700"/>
          </a:xfrm>
          <a:custGeom>
            <a:pathLst>
              <a:path w="952500" h="952500">
                <a:moveTo>
                  <a:pt x="123825" y="352425"/>
                </a:moveTo>
                <a:lnTo>
                  <a:pt x="657225" y="790575"/>
                </a:lnTo>
              </a:path>
            </a:pathLst>
          </a:custGeom>
          <a:noFill/>
          <a:ln w="13335">
            <a:solidFill>
              <a:srgbClr val="718EAA"/>
            </a:solidFill>
            <a:prstDash val="solid"/>
          </a:ln>
        </p:spPr>
      </p:sp>
      <p:sp>
        <p:nvSpPr>
          <p:cNvPr id="25" name="vector-506">
            <a:extLst>
              <a:ext uri="{FF2B5EF4-FFF2-40B4-BE49-F238E27FC236}">
                <ns2:creationId id="{EB578EB8-D7D7-4E0F-B128-602FAD74669C}"/>
              </a:ext>
            </a:extLst>
          </p:cNvPr>
          <p:cNvSpPr>
            <a:spLocks noGrp="1"/>
          </p:cNvSpPr>
          <p:nvPr/>
        </p:nvSpPr>
        <p:spPr>
          <a:xfrm>
            <a:off x="3314700" y="6181725"/>
            <a:ext cx="266700" cy="266700"/>
          </a:xfrm>
          <a:custGeom>
            <a:pathLst>
              <a:path w="952500" h="952500">
                <a:moveTo>
                  <a:pt x="428625" y="114300"/>
                </a:moveTo>
                <a:lnTo>
                  <a:pt x="657225" y="790575"/>
                </a:lnTo>
              </a:path>
            </a:pathLst>
          </a:custGeom>
          <a:noFill/>
          <a:ln w="13335">
            <a:solidFill>
              <a:srgbClr val="718EAA"/>
            </a:solidFill>
            <a:prstDash val="solid"/>
          </a:ln>
        </p:spPr>
      </p:sp>
      <p:sp>
        <p:nvSpPr>
          <p:cNvPr id="26" name="icon-network-507">
            <a:extLst>
              <a:ext uri="{FF2B5EF4-FFF2-40B4-BE49-F238E27FC236}">
                <ns2:creationId id="{79163C92-DC68-4B34-99D4-D4AE215B9992}"/>
              </a:ext>
            </a:extLst>
          </p:cNvPr>
          <p:cNvSpPr>
            <a:spLocks noGrp="1"/>
          </p:cNvSpPr>
          <p:nvPr/>
        </p:nvSpPr>
        <p:spPr>
          <a:xfrm>
            <a:off x="3330702" y="6261735"/>
            <a:ext cx="37338" cy="37338"/>
          </a:xfrm>
          <a:prstGeom prst="ellipse">
            <a:avLst/>
          </a:prstGeom>
          <a:solidFill>
            <a:srgbClr val="FFFFFF"/>
          </a:solidFill>
          <a:ln w="12383">
            <a:solidFill>
              <a:srgbClr val="718EAA"/>
            </a:solidFill>
            <a:prstDash val="solid"/>
          </a:ln>
        </p:spPr>
      </p:sp>
      <p:sp>
        <p:nvSpPr>
          <p:cNvPr id="27" name="icon-network-508">
            <a:extLst>
              <a:ext uri="{FF2B5EF4-FFF2-40B4-BE49-F238E27FC236}">
                <ns2:creationId id="{8B2523AC-D5FE-4B5E-B57E-8F5632D7F4CD}"/>
              </a:ext>
            </a:extLst>
          </p:cNvPr>
          <p:cNvSpPr>
            <a:spLocks noGrp="1"/>
          </p:cNvSpPr>
          <p:nvPr/>
        </p:nvSpPr>
        <p:spPr>
          <a:xfrm>
            <a:off x="3416046" y="6195060"/>
            <a:ext cx="37338" cy="37338"/>
          </a:xfrm>
          <a:prstGeom prst="ellipse">
            <a:avLst/>
          </a:prstGeom>
          <a:solidFill>
            <a:srgbClr val="FFFFFF"/>
          </a:solidFill>
          <a:ln w="12383">
            <a:solidFill>
              <a:srgbClr val="718EAA"/>
            </a:solidFill>
            <a:prstDash val="solid"/>
          </a:ln>
        </p:spPr>
      </p:sp>
      <p:sp>
        <p:nvSpPr>
          <p:cNvPr id="28" name="icon-network-509">
            <a:extLst>
              <a:ext uri="{FF2B5EF4-FFF2-40B4-BE49-F238E27FC236}">
                <ns2:creationId id="{79E98D91-9D8B-422D-B5E5-EBA4C18EBF2A}"/>
              </a:ext>
            </a:extLst>
          </p:cNvPr>
          <p:cNvSpPr>
            <a:spLocks noGrp="1"/>
          </p:cNvSpPr>
          <p:nvPr/>
        </p:nvSpPr>
        <p:spPr>
          <a:xfrm>
            <a:off x="3520059" y="6243066"/>
            <a:ext cx="37338" cy="37338"/>
          </a:xfrm>
          <a:prstGeom prst="ellipse">
            <a:avLst/>
          </a:prstGeom>
          <a:solidFill>
            <a:srgbClr val="FFFFFF"/>
          </a:solidFill>
          <a:ln w="12383">
            <a:solidFill>
              <a:srgbClr val="718EAA"/>
            </a:solidFill>
            <a:prstDash val="solid"/>
          </a:ln>
        </p:spPr>
      </p:sp>
      <p:sp>
        <p:nvSpPr>
          <p:cNvPr id="29" name="icon-network-510">
            <a:extLst>
              <a:ext uri="{FF2B5EF4-FFF2-40B4-BE49-F238E27FC236}">
                <ns2:creationId id="{8652485D-05C0-4280-8345-231E738C221A}"/>
              </a:ext>
            </a:extLst>
          </p:cNvPr>
          <p:cNvSpPr>
            <a:spLocks noGrp="1"/>
          </p:cNvSpPr>
          <p:nvPr/>
        </p:nvSpPr>
        <p:spPr>
          <a:xfrm>
            <a:off x="3480054" y="6384417"/>
            <a:ext cx="37338" cy="37338"/>
          </a:xfrm>
          <a:prstGeom prst="ellipse">
            <a:avLst/>
          </a:prstGeom>
          <a:solidFill>
            <a:srgbClr val="FFFFFF"/>
          </a:solidFill>
          <a:ln w="12383">
            <a:solidFill>
              <a:srgbClr val="718EAA"/>
            </a:solidFill>
            <a:prstDash val="solid"/>
          </a:ln>
        </p:spPr>
      </p:sp>
      <p:sp>
        <p:nvSpPr>
          <p:cNvPr id="30" name="icon-network-511">
            <a:extLst>
              <a:ext uri="{FF2B5EF4-FFF2-40B4-BE49-F238E27FC236}">
                <ns2:creationId id="{F9E7E0B9-AF25-4843-9D32-ABDDE5C2EEBB}"/>
              </a:ext>
            </a:extLst>
          </p:cNvPr>
          <p:cNvSpPr>
            <a:spLocks noGrp="1"/>
          </p:cNvSpPr>
          <p:nvPr/>
        </p:nvSpPr>
        <p:spPr>
          <a:xfrm>
            <a:off x="3360039" y="6381750"/>
            <a:ext cx="37338" cy="37338"/>
          </a:xfrm>
          <a:prstGeom prst="ellipse">
            <a:avLst/>
          </a:prstGeom>
          <a:solidFill>
            <a:srgbClr val="FFFFFF"/>
          </a:solidFill>
          <a:ln w="12383">
            <a:solidFill>
              <a:srgbClr val="718EAA"/>
            </a:solidFill>
            <a:prstDash val="solid"/>
          </a:ln>
        </p:spPr>
      </p:sp>
      <p:sp>
        <p:nvSpPr>
          <p:cNvPr id="31" name="text-512">
            <a:extLst>
              <a:ext uri="{FF2B5EF4-FFF2-40B4-BE49-F238E27FC236}">
                <ns2:creationId id="{31291BDD-6345-4A8C-88D7-8EE83C3F7BA5}"/>
              </a:ext>
            </a:extLst>
          </p:cNvPr>
          <p:cNvSpPr>
            <a:spLocks noGrp="1"/>
          </p:cNvSpPr>
          <p:nvPr/>
        </p:nvSpPr>
        <p:spPr>
          <a:xfrm>
            <a:off x="3695700" y="6153150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rPr>
              <a:t>机制与假设</a:t>
            </a:r>
            <a:endParaRPr/>
          </a:p>
        </p:txBody>
      </p:sp>
      <p:sp>
        <p:nvSpPr>
          <p:cNvPr id="32" name="vector-513">
            <a:extLst>
              <a:ext uri="{FF2B5EF4-FFF2-40B4-BE49-F238E27FC236}">
                <ns2:creationId id="{B1714860-1237-4B50-BC55-F84C50B27C58}"/>
              </a:ext>
            </a:extLst>
          </p:cNvPr>
          <p:cNvSpPr>
            <a:spLocks noGrp="1"/>
          </p:cNvSpPr>
          <p:nvPr/>
        </p:nvSpPr>
        <p:spPr>
          <a:xfrm>
            <a:off x="6267450" y="6181725"/>
            <a:ext cx="266700" cy="266700"/>
          </a:xfrm>
          <a:custGeom>
            <a:pathLst>
              <a:path w="952500" h="952500">
                <a:moveTo>
                  <a:pt x="114300" y="76200"/>
                </a:moveTo>
                <a:lnTo>
                  <a:pt x="114300" y="828675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33" name="vector-514">
            <a:extLst>
              <a:ext uri="{FF2B5EF4-FFF2-40B4-BE49-F238E27FC236}">
                <ns2:creationId id="{980E19DA-057E-4EE8-86EC-61E8A28D4E27}"/>
              </a:ext>
            </a:extLst>
          </p:cNvPr>
          <p:cNvSpPr>
            <a:spLocks noGrp="1"/>
          </p:cNvSpPr>
          <p:nvPr/>
        </p:nvSpPr>
        <p:spPr>
          <a:xfrm>
            <a:off x="6267450" y="6181725"/>
            <a:ext cx="266700" cy="266700"/>
          </a:xfrm>
          <a:custGeom>
            <a:pathLst>
              <a:path w="952500" h="952500">
                <a:moveTo>
                  <a:pt x="114300" y="828675"/>
                </a:moveTo>
                <a:lnTo>
                  <a:pt x="885825" y="828675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34" name="icon-chart-515">
            <a:extLst>
              <a:ext uri="{FF2B5EF4-FFF2-40B4-BE49-F238E27FC236}">
                <ns2:creationId id="{52659713-4A58-4A4E-BFED-7AAD6824290A}"/>
              </a:ext>
            </a:extLst>
          </p:cNvPr>
          <p:cNvSpPr>
            <a:spLocks noGrp="1"/>
          </p:cNvSpPr>
          <p:nvPr/>
        </p:nvSpPr>
        <p:spPr>
          <a:xfrm>
            <a:off x="6334125" y="6325743"/>
            <a:ext cx="34671" cy="88011"/>
          </a:xfrm>
          <a:prstGeom prst="rect">
            <a:avLst/>
          </a:prstGeom>
          <a:solidFill>
            <a:srgbClr val="173D67"/>
          </a:solidFill>
          <a:ln w="12383">
            <a:solidFill>
              <a:srgbClr val="173D67"/>
            </a:solidFill>
            <a:prstDash val="solid"/>
          </a:ln>
        </p:spPr>
      </p:sp>
      <p:sp>
        <p:nvSpPr>
          <p:cNvPr id="35" name="icon-chart-516">
            <a:extLst>
              <a:ext uri="{FF2B5EF4-FFF2-40B4-BE49-F238E27FC236}">
                <ns2:creationId id="{D2D2FC49-9A51-42F9-A393-D1B52A3CD5BA}"/>
              </a:ext>
            </a:extLst>
          </p:cNvPr>
          <p:cNvSpPr>
            <a:spLocks noGrp="1"/>
          </p:cNvSpPr>
          <p:nvPr/>
        </p:nvSpPr>
        <p:spPr>
          <a:xfrm>
            <a:off x="6392799" y="6277737"/>
            <a:ext cx="34671" cy="136017"/>
          </a:xfrm>
          <a:prstGeom prst="rect">
            <a:avLst/>
          </a:prstGeom>
          <a:solidFill>
            <a:srgbClr val="5D7795"/>
          </a:solidFill>
          <a:ln w="12383">
            <a:solidFill>
              <a:srgbClr val="173D67"/>
            </a:solidFill>
            <a:prstDash val="solid"/>
          </a:ln>
        </p:spPr>
      </p:sp>
      <p:sp>
        <p:nvSpPr>
          <p:cNvPr id="36" name="icon-chart-517">
            <a:extLst>
              <a:ext uri="{FF2B5EF4-FFF2-40B4-BE49-F238E27FC236}">
                <ns2:creationId id="{C861A4C2-770A-424E-8363-78CB1839E210}"/>
              </a:ext>
            </a:extLst>
          </p:cNvPr>
          <p:cNvSpPr>
            <a:spLocks noGrp="1"/>
          </p:cNvSpPr>
          <p:nvPr/>
        </p:nvSpPr>
        <p:spPr>
          <a:xfrm>
            <a:off x="6451473" y="6224397"/>
            <a:ext cx="34671" cy="189357"/>
          </a:xfrm>
          <a:prstGeom prst="rect">
            <a:avLst/>
          </a:prstGeom>
          <a:solidFill>
            <a:srgbClr val="173D67"/>
          </a:solidFill>
          <a:ln w="12383">
            <a:solidFill>
              <a:srgbClr val="173D67"/>
            </a:solidFill>
            <a:prstDash val="solid"/>
          </a:ln>
        </p:spPr>
      </p:sp>
      <p:sp>
        <p:nvSpPr>
          <p:cNvPr id="37" name="text-518">
            <a:extLst>
              <a:ext uri="{FF2B5EF4-FFF2-40B4-BE49-F238E27FC236}">
                <ns2:creationId id="{14F671F4-CF60-42E1-BA98-6417E0D706EF}"/>
              </a:ext>
            </a:extLst>
          </p:cNvPr>
          <p:cNvSpPr>
            <a:spLocks noGrp="1"/>
          </p:cNvSpPr>
          <p:nvPr/>
        </p:nvSpPr>
        <p:spPr>
          <a:xfrm>
            <a:off x="6648450" y="6153150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数据与证据</a:t>
            </a:r>
            <a:endParaRPr/>
          </a:p>
        </p:txBody>
      </p:sp>
      <p:sp>
        <p:nvSpPr>
          <p:cNvPr id="38" name="shape-519">
            <a:extLst>
              <a:ext uri="{FF2B5EF4-FFF2-40B4-BE49-F238E27FC236}">
                <ns2:creationId id="{6E875B6B-1B40-4DE5-8694-DDF5E5C3888C}"/>
              </a:ext>
            </a:extLst>
          </p:cNvPr>
          <p:cNvSpPr>
            <a:spLocks noGrp="1"/>
          </p:cNvSpPr>
          <p:nvPr/>
        </p:nvSpPr>
        <p:spPr>
          <a:xfrm>
            <a:off x="6648450" y="6505575"/>
            <a:ext cx="1952625" cy="28575"/>
          </a:xfrm>
          <a:prstGeom prst="rect">
            <a:avLst/>
          </a:prstGeom>
          <a:solidFill>
            <a:srgbClr val="AF3D3D"/>
          </a:solidFill>
          <a:ln w="0">
            <a:noFill/>
            <a:prstDash val="solid"/>
          </a:ln>
        </p:spPr>
      </p:sp>
      <p:sp>
        <p:nvSpPr>
          <p:cNvPr id="39" name="icon-compass-520">
            <a:extLst>
              <a:ext uri="{FF2B5EF4-FFF2-40B4-BE49-F238E27FC236}">
                <ns2:creationId id="{CD8ECF2F-59A6-4414-A769-11B133490CA7}"/>
              </a:ext>
            </a:extLst>
          </p:cNvPr>
          <p:cNvSpPr>
            <a:spLocks noGrp="1"/>
          </p:cNvSpPr>
          <p:nvPr/>
        </p:nvSpPr>
        <p:spPr>
          <a:xfrm>
            <a:off x="9236202" y="6197727"/>
            <a:ext cx="234696" cy="234696"/>
          </a:xfrm>
          <a:prstGeom prst="ellipse">
            <a:avLst/>
          </a:prstGeom>
          <a:noFill/>
          <a:ln w="12383">
            <a:solidFill>
              <a:srgbClr val="718EAA"/>
            </a:solidFill>
            <a:prstDash val="solid"/>
          </a:ln>
        </p:spPr>
      </p:sp>
      <p:sp>
        <p:nvSpPr>
          <p:cNvPr id="40" name="vector-521">
            <a:extLst>
              <a:ext uri="{FF2B5EF4-FFF2-40B4-BE49-F238E27FC236}">
                <ns2:creationId id="{535FD3CC-DE13-4795-97B0-D8D777602EC1}"/>
              </a:ext>
            </a:extLst>
          </p:cNvPr>
          <p:cNvSpPr>
            <a:spLocks noGrp="1"/>
          </p:cNvSpPr>
          <p:nvPr/>
        </p:nvSpPr>
        <p:spPr>
          <a:xfrm>
            <a:off x="9220200" y="6181725"/>
            <a:ext cx="266700" cy="266700"/>
          </a:xfrm>
          <a:custGeom>
            <a:pathLst>
              <a:path w="952500" h="952500">
                <a:moveTo>
                  <a:pt x="476250" y="142875"/>
                </a:moveTo>
                <a:lnTo>
                  <a:pt x="600075" y="581025"/>
                </a:lnTo>
                <a:lnTo>
                  <a:pt x="352425" y="581025"/>
                </a:lnTo>
                <a:close/>
              </a:path>
            </a:pathLst>
          </a:custGeom>
          <a:solidFill>
            <a:srgbClr val="718EAA"/>
          </a:solidFill>
          <a:ln w="14288">
            <a:noFill/>
            <a:prstDash val="solid"/>
          </a:ln>
        </p:spPr>
      </p:sp>
      <p:sp>
        <p:nvSpPr>
          <p:cNvPr id="41" name="vector-522">
            <a:extLst>
              <a:ext uri="{FF2B5EF4-FFF2-40B4-BE49-F238E27FC236}">
                <ns2:creationId id="{660A7EB3-E99F-4203-8D25-D35C48B4F3BB}"/>
              </a:ext>
            </a:extLst>
          </p:cNvPr>
          <p:cNvSpPr>
            <a:spLocks noGrp="1"/>
          </p:cNvSpPr>
          <p:nvPr/>
        </p:nvSpPr>
        <p:spPr>
          <a:xfrm>
            <a:off x="9220200" y="6181725"/>
            <a:ext cx="266700" cy="266700"/>
          </a:xfrm>
          <a:custGeom>
            <a:pathLst>
              <a:path w="952500" h="952500">
                <a:moveTo>
                  <a:pt x="476250" y="809625"/>
                </a:moveTo>
                <a:lnTo>
                  <a:pt x="352425" y="581025"/>
                </a:lnTo>
                <a:lnTo>
                  <a:pt x="600075" y="581025"/>
                </a:lnTo>
                <a:close/>
              </a:path>
            </a:pathLst>
          </a:custGeom>
          <a:solidFill>
            <a:srgbClr val="AF3D3D"/>
          </a:solidFill>
          <a:ln w="14288">
            <a:noFill/>
            <a:prstDash val="solid"/>
          </a:ln>
        </p:spPr>
      </p:sp>
      <p:sp>
        <p:nvSpPr>
          <p:cNvPr id="42" name="text-523">
            <a:extLst>
              <a:ext uri="{FF2B5EF4-FFF2-40B4-BE49-F238E27FC236}">
                <ns2:creationId id="{9257DEBB-2570-4C93-9346-E353284DCE5C}"/>
              </a:ext>
            </a:extLst>
          </p:cNvPr>
          <p:cNvSpPr>
            <a:spLocks noGrp="1"/>
          </p:cNvSpPr>
          <p:nvPr/>
        </p:nvSpPr>
        <p:spPr>
          <a:xfrm>
            <a:off x="9601200" y="6153150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rPr>
              <a:t>结论与展望</a:t>
            </a:r>
            <a:endParaRPr/>
          </a:p>
        </p:txBody>
      </p:sp>
      <p:sp>
        <p:nvSpPr>
          <p:cNvPr id="43" name="text-524">
            <a:extLst>
              <a:ext uri="{FF2B5EF4-FFF2-40B4-BE49-F238E27FC236}">
                <ns2:creationId id="{989F21F9-CA61-4F5D-AC5C-CC983086B202}"/>
              </a:ext>
            </a:extLst>
          </p:cNvPr>
          <p:cNvSpPr>
            <a:spLocks noGrp="1"/>
          </p:cNvSpPr>
          <p:nvPr/>
        </p:nvSpPr>
        <p:spPr>
          <a:xfrm>
            <a:off x="228600" y="6619875"/>
            <a:ext cx="105727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rPr>
              <a:t>科研模板 · 内容与数据均为示意</a:t>
            </a:r>
            <a:endParaRPr/>
          </a:p>
        </p:txBody>
      </p:sp>
      <p:sp>
        <p:nvSpPr>
          <p:cNvPr id="44" name="text-525">
            <a:extLst>
              <a:ext uri="{FF2B5EF4-FFF2-40B4-BE49-F238E27FC236}">
                <ns2:creationId id="{96F19EAC-3338-433A-85E6-69A7BFC0354C}"/>
              </a:ext>
            </a:extLst>
          </p:cNvPr>
          <p:cNvSpPr>
            <a:spLocks noGrp="1"/>
          </p:cNvSpPr>
          <p:nvPr/>
        </p:nvSpPr>
        <p:spPr>
          <a:xfrm>
            <a:off x="11525250" y="6591300"/>
            <a:ext cx="4381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rPr>
              <a:t>03</a:t>
            </a:r>
            <a:endParaRPr/>
          </a:p>
        </p:txBody>
      </p:sp>
    </p:spTree>
    <p:extLst>
      <p:ext uri="{BB962C8B-B14F-4D97-AF65-F5344CB8AC3E}">
        <ns4:creationId val="205765366"/>
      </p:ext>
    </p:extLst>
  </p:cSld>
</p:sld>
</file>

<file path=ppt/slides/slide4.xml><?xml version="1.0" encoding="utf-8"?>
<p:sld xmlns:a="http://schemas.openxmlformats.org/drawingml/2006/main" xmlns:c="http://schemas.openxmlformats.org/drawingml/2006/chart" xmlns:ns2="http://schemas.microsoft.com/office/drawing/2014/main" xmlns:ns5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54" name="text-526">
            <a:extLst>
              <a:ext uri="{FF2B5EF4-FFF2-40B4-BE49-F238E27FC236}">
                <ns2:creationId id="{99DFEB74-A564-4E1D-8BA3-F81B4C3EE334}"/>
              </a:ext>
            </a:extLst>
          </p:cNvPr>
          <p:cNvSpPr>
            <a:spLocks noGrp="1"/>
          </p:cNvSpPr>
          <p:nvPr/>
        </p:nvSpPr>
        <p:spPr>
          <a:xfrm>
            <a:off x="228600" y="152400"/>
            <a:ext cx="117348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技术体系｜多源生态数据如何形成证据</a:t>
            </a:r>
            <a:endParaRPr/>
          </a:p>
        </p:txBody>
      </p:sp>
      <p:sp>
        <p:nvSpPr>
          <p:cNvPr id="2" name="line-527">
            <a:extLst>
              <a:ext uri="{FF2B5EF4-FFF2-40B4-BE49-F238E27FC236}">
                <ns2:creationId id="{E5B657CB-E28F-4C48-9DE6-383B50640ACE}"/>
              </a:ext>
            </a:extLst>
          </p:cNvPr>
          <p:cNvSpPr>
            <a:spLocks noGrp="1"/>
          </p:cNvSpPr>
          <p:nvPr/>
        </p:nvSpPr>
        <p:spPr>
          <a:xfrm>
            <a:off x="228600" y="695325"/>
            <a:ext cx="11734800" cy="95"/>
          </a:xfrm>
          <a:prstGeom prst="line">
            <a:avLst/>
          </a:prstGeom>
          <a:noFill/>
          <a:ln w="16193">
            <a:solidFill>
              <a:srgbClr val="173D67"/>
            </a:solidFill>
            <a:prstDash val="solid"/>
          </a:ln>
        </p:spPr>
      </p:sp>
      <p:sp>
        <p:nvSpPr>
          <p:cNvPr id="3" name="panel-528">
            <a:extLst>
              <a:ext uri="{FF2B5EF4-FFF2-40B4-BE49-F238E27FC236}">
                <ns2:creationId id="{78DDBEC4-1351-4232-89D4-9259FD033B32}"/>
              </a:ext>
            </a:extLst>
          </p:cNvPr>
          <p:cNvSpPr>
            <a:spLocks noGrp="1"/>
          </p:cNvSpPr>
          <p:nvPr/>
        </p:nvSpPr>
        <p:spPr>
          <a:xfrm>
            <a:off x="228600" y="876300"/>
            <a:ext cx="2743200" cy="5210175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9525">
            <a:solidFill>
              <a:srgbClr val="D8DEE5"/>
            </a:solidFill>
            <a:prstDash val="solid"/>
          </a:ln>
        </p:spPr>
      </p:sp>
      <p:sp>
        <p:nvSpPr>
          <p:cNvPr id="4" name="shape-529">
            <a:extLst>
              <a:ext uri="{FF2B5EF4-FFF2-40B4-BE49-F238E27FC236}">
                <ns2:creationId id="{1927AEAB-B31D-4CAA-99A2-04130CEF063A}"/>
              </a:ext>
            </a:extLst>
          </p:cNvPr>
          <p:cNvSpPr>
            <a:spLocks noGrp="1"/>
          </p:cNvSpPr>
          <p:nvPr/>
        </p:nvSpPr>
        <p:spPr>
          <a:xfrm>
            <a:off x="238125" y="885825"/>
            <a:ext cx="2724150" cy="400050"/>
          </a:xfrm>
          <a:prstGeom prst="roundRect">
            <a:avLst>
              <a:gd name="adj" fmla="val 19048"/>
            </a:avLst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5" name="icon-camera-530">
            <a:extLst>
              <a:ext uri="{FF2B5EF4-FFF2-40B4-BE49-F238E27FC236}">
                <ns2:creationId id="{245AF056-EB00-4E41-B4D7-3944F68077F6}"/>
              </a:ext>
            </a:extLst>
          </p:cNvPr>
          <p:cNvSpPr>
            <a:spLocks noGrp="1"/>
          </p:cNvSpPr>
          <p:nvPr/>
        </p:nvSpPr>
        <p:spPr>
          <a:xfrm>
            <a:off x="360902" y="1011650"/>
            <a:ext cx="221171" cy="156877"/>
          </a:xfrm>
          <a:prstGeom prst="roundRect">
            <a:avLst>
              <a:gd name="adj" fmla="val 48573"/>
            </a:avLst>
          </a:prstGeom>
          <a:noFill/>
          <a:ln w="12383">
            <a:solidFill>
              <a:srgbClr val="173D67"/>
            </a:solidFill>
            <a:prstDash val="solid"/>
          </a:ln>
        </p:spPr>
      </p:sp>
      <p:sp>
        <p:nvSpPr>
          <p:cNvPr id="6" name="icon-camera-531">
            <a:extLst>
              <a:ext uri="{FF2B5EF4-FFF2-40B4-BE49-F238E27FC236}">
                <ns2:creationId id="{AF5FDA90-1053-4EDB-A274-68B13126E7AA}"/>
              </a:ext>
            </a:extLst>
          </p:cNvPr>
          <p:cNvSpPr>
            <a:spLocks noGrp="1"/>
          </p:cNvSpPr>
          <p:nvPr/>
        </p:nvSpPr>
        <p:spPr>
          <a:xfrm>
            <a:off x="427768" y="978218"/>
            <a:ext cx="84868" cy="43720"/>
          </a:xfrm>
          <a:prstGeom prst="roundRect">
            <a:avLst>
              <a:gd name="adj" fmla="val 50000"/>
            </a:avLst>
          </a:prstGeom>
          <a:noFill/>
          <a:ln w="12383">
            <a:solidFill>
              <a:srgbClr val="173D67"/>
            </a:solidFill>
            <a:prstDash val="solid"/>
          </a:ln>
        </p:spPr>
      </p:sp>
      <p:sp>
        <p:nvSpPr>
          <p:cNvPr id="7" name="icon-camera-532">
            <a:extLst>
              <a:ext uri="{FF2B5EF4-FFF2-40B4-BE49-F238E27FC236}">
                <ns2:creationId id="{B41B0BB3-C328-4985-A1C1-675503F4D2C3}"/>
              </a:ext>
            </a:extLst>
          </p:cNvPr>
          <p:cNvSpPr>
            <a:spLocks noGrp="1"/>
          </p:cNvSpPr>
          <p:nvPr/>
        </p:nvSpPr>
        <p:spPr>
          <a:xfrm>
            <a:off x="425196" y="1045083"/>
            <a:ext cx="92583" cy="92583"/>
          </a:xfrm>
          <a:prstGeom prst="ellipse">
            <a:avLst/>
          </a:prstGeom>
          <a:noFill/>
          <a:ln w="12383">
            <a:solidFill>
              <a:srgbClr val="173D67"/>
            </a:solidFill>
            <a:prstDash val="solid"/>
          </a:ln>
        </p:spPr>
      </p:sp>
      <p:sp>
        <p:nvSpPr>
          <p:cNvPr id="8" name="icon-camera-533">
            <a:extLst>
              <a:ext uri="{FF2B5EF4-FFF2-40B4-BE49-F238E27FC236}">
                <ns2:creationId id="{815D5199-655E-4060-B29B-290396DA699D}"/>
              </a:ext>
            </a:extLst>
          </p:cNvPr>
          <p:cNvSpPr>
            <a:spLocks noGrp="1"/>
          </p:cNvSpPr>
          <p:nvPr/>
        </p:nvSpPr>
        <p:spPr>
          <a:xfrm>
            <a:off x="533210" y="1032224"/>
            <a:ext cx="20574" cy="20574"/>
          </a:xfrm>
          <a:prstGeom prst="ellipse">
            <a:avLst/>
          </a:prstGeom>
          <a:solidFill>
            <a:srgbClr val="173D67"/>
          </a:solidFill>
          <a:ln w="12383">
            <a:solidFill>
              <a:srgbClr val="173D67"/>
            </a:solidFill>
            <a:prstDash val="solid"/>
          </a:ln>
        </p:spPr>
      </p:sp>
      <p:sp>
        <p:nvSpPr>
          <p:cNvPr id="9" name="text-534">
            <a:extLst>
              <a:ext uri="{FF2B5EF4-FFF2-40B4-BE49-F238E27FC236}">
                <ns2:creationId id="{7115DC89-8BC1-49DD-81FF-A1F843F94118}"/>
              </a:ext>
            </a:extLst>
          </p:cNvPr>
          <p:cNvSpPr>
            <a:spLocks noGrp="1"/>
          </p:cNvSpPr>
          <p:nvPr/>
        </p:nvSpPr>
        <p:spPr>
          <a:xfrm>
            <a:off x="685800" y="942975"/>
            <a:ext cx="2171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观测基础</a:t>
            </a:r>
            <a:endParaRPr/>
          </a:p>
        </p:txBody>
      </p:sp>
      <p:sp>
        <p:nvSpPr>
          <p:cNvPr id="10" name="panel-535">
            <a:extLst>
              <a:ext uri="{FF2B5EF4-FFF2-40B4-BE49-F238E27FC236}">
                <ns2:creationId id="{56ADBDF6-CB63-4C3D-9F81-6C2850C752BC}"/>
              </a:ext>
            </a:extLst>
          </p:cNvPr>
          <p:cNvSpPr>
            <a:spLocks noGrp="1"/>
          </p:cNvSpPr>
          <p:nvPr/>
        </p:nvSpPr>
        <p:spPr>
          <a:xfrm>
            <a:off x="3143250" y="876300"/>
            <a:ext cx="5238750" cy="5210175"/>
          </a:xfrm>
          <a:prstGeom prst="roundRect">
            <a:avLst>
              <a:gd name="adj" fmla="val 1463"/>
            </a:avLst>
          </a:prstGeom>
          <a:solidFill>
            <a:srgbClr val="FFFFFF"/>
          </a:solidFill>
          <a:ln w="9525">
            <a:solidFill>
              <a:srgbClr val="D8DEE5"/>
            </a:solidFill>
            <a:prstDash val="solid"/>
          </a:ln>
        </p:spPr>
      </p:sp>
      <p:sp>
        <p:nvSpPr>
          <p:cNvPr id="11" name="shape-536">
            <a:extLst>
              <a:ext uri="{FF2B5EF4-FFF2-40B4-BE49-F238E27FC236}">
                <ns2:creationId id="{4FACB0EE-A9BD-4647-8671-D294D75C6EDA}"/>
              </a:ext>
            </a:extLst>
          </p:cNvPr>
          <p:cNvSpPr>
            <a:spLocks noGrp="1"/>
          </p:cNvSpPr>
          <p:nvPr/>
        </p:nvSpPr>
        <p:spPr>
          <a:xfrm>
            <a:off x="3152775" y="885825"/>
            <a:ext cx="5219700" cy="400050"/>
          </a:xfrm>
          <a:prstGeom prst="roundRect">
            <a:avLst>
              <a:gd name="adj" fmla="val 19048"/>
            </a:avLst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12" name="vector-537">
            <a:extLst>
              <a:ext uri="{FF2B5EF4-FFF2-40B4-BE49-F238E27FC236}">
                <ns2:creationId id="{80F955F9-CFD5-4E7A-BC41-6DE95AFC4A77}"/>
              </a:ext>
            </a:extLst>
          </p:cNvPr>
          <p:cNvSpPr>
            <a:spLocks noGrp="1"/>
          </p:cNvSpPr>
          <p:nvPr/>
        </p:nvSpPr>
        <p:spPr>
          <a:xfrm>
            <a:off x="3257550" y="1045083"/>
            <a:ext cx="257175" cy="128588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solidFill>
            <a:srgbClr val="B9C5D1"/>
          </a:solidFill>
          <a:ln w="11430">
            <a:solidFill>
              <a:srgbClr val="173D67"/>
            </a:solidFill>
            <a:prstDash val="solid"/>
          </a:ln>
        </p:spPr>
      </p:sp>
      <p:sp>
        <p:nvSpPr>
          <p:cNvPr id="13" name="vector-538">
            <a:extLst>
              <a:ext uri="{FF2B5EF4-FFF2-40B4-BE49-F238E27FC236}">
                <ns2:creationId id="{1D25E8F9-1860-4ABA-9889-FB5326CB440A}"/>
              </a:ext>
            </a:extLst>
          </p:cNvPr>
          <p:cNvSpPr>
            <a:spLocks noGrp="1"/>
          </p:cNvSpPr>
          <p:nvPr/>
        </p:nvSpPr>
        <p:spPr>
          <a:xfrm>
            <a:off x="3257550" y="998792"/>
            <a:ext cx="257175" cy="128588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solidFill>
            <a:srgbClr val="97A8BB"/>
          </a:solidFill>
          <a:ln w="11430">
            <a:solidFill>
              <a:srgbClr val="173D67"/>
            </a:solidFill>
            <a:prstDash val="solid"/>
          </a:ln>
        </p:spPr>
      </p:sp>
      <p:sp>
        <p:nvSpPr>
          <p:cNvPr id="14" name="vector-539">
            <a:extLst>
              <a:ext uri="{FF2B5EF4-FFF2-40B4-BE49-F238E27FC236}">
                <ns2:creationId id="{B2044ADB-EC92-4831-9549-CB4AC6563860}"/>
              </a:ext>
            </a:extLst>
          </p:cNvPr>
          <p:cNvSpPr>
            <a:spLocks noGrp="1"/>
          </p:cNvSpPr>
          <p:nvPr/>
        </p:nvSpPr>
        <p:spPr>
          <a:xfrm>
            <a:off x="3257550" y="952500"/>
            <a:ext cx="257175" cy="128588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solidFill>
            <a:srgbClr val="748BA4"/>
          </a:solidFill>
          <a:ln w="11430">
            <a:solidFill>
              <a:srgbClr val="173D67"/>
            </a:solidFill>
            <a:prstDash val="solid"/>
          </a:ln>
        </p:spPr>
      </p:sp>
      <p:sp>
        <p:nvSpPr>
          <p:cNvPr id="15" name="text-540">
            <a:extLst>
              <a:ext uri="{FF2B5EF4-FFF2-40B4-BE49-F238E27FC236}">
                <ns2:creationId id="{99569474-C5CC-4E9A-8E1D-944EEF17A315}"/>
              </a:ext>
            </a:extLst>
          </p:cNvPr>
          <p:cNvSpPr>
            <a:spLocks noGrp="1"/>
          </p:cNvSpPr>
          <p:nvPr/>
        </p:nvSpPr>
        <p:spPr>
          <a:xfrm>
            <a:off x="3600450" y="942975"/>
            <a:ext cx="4667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分析架构</a:t>
            </a:r>
            <a:endParaRPr/>
          </a:p>
        </p:txBody>
      </p:sp>
      <p:sp>
        <p:nvSpPr>
          <p:cNvPr id="16" name="panel-541">
            <a:extLst>
              <a:ext uri="{FF2B5EF4-FFF2-40B4-BE49-F238E27FC236}">
                <ns2:creationId id="{D5425D94-76C4-41D7-9010-FE21694D7555}"/>
              </a:ext>
            </a:extLst>
          </p:cNvPr>
          <p:cNvSpPr>
            <a:spLocks noGrp="1"/>
          </p:cNvSpPr>
          <p:nvPr/>
        </p:nvSpPr>
        <p:spPr>
          <a:xfrm>
            <a:off x="8553450" y="876300"/>
            <a:ext cx="3409950" cy="5210175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9525">
            <a:solidFill>
              <a:srgbClr val="D8DEE5"/>
            </a:solidFill>
            <a:prstDash val="solid"/>
          </a:ln>
        </p:spPr>
      </p:sp>
      <p:sp>
        <p:nvSpPr>
          <p:cNvPr id="17" name="shape-542">
            <a:extLst>
              <a:ext uri="{FF2B5EF4-FFF2-40B4-BE49-F238E27FC236}">
                <ns2:creationId id="{0B8DDA60-636E-485F-A1A3-FF90BE08D090}"/>
              </a:ext>
            </a:extLst>
          </p:cNvPr>
          <p:cNvSpPr>
            <a:spLocks noGrp="1"/>
          </p:cNvSpPr>
          <p:nvPr/>
        </p:nvSpPr>
        <p:spPr>
          <a:xfrm>
            <a:off x="8562975" y="885825"/>
            <a:ext cx="3390900" cy="400050"/>
          </a:xfrm>
          <a:prstGeom prst="roundRect">
            <a:avLst>
              <a:gd name="adj" fmla="val 19048"/>
            </a:avLst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18" name="icon-check-543">
            <a:extLst>
              <a:ext uri="{FF2B5EF4-FFF2-40B4-BE49-F238E27FC236}">
                <ns2:creationId id="{C9DA72BB-805F-4E93-830A-8A652B3DA5D3}"/>
              </a:ext>
            </a:extLst>
          </p:cNvPr>
          <p:cNvSpPr>
            <a:spLocks noGrp="1"/>
          </p:cNvSpPr>
          <p:nvPr/>
        </p:nvSpPr>
        <p:spPr>
          <a:xfrm>
            <a:off x="8693468" y="978218"/>
            <a:ext cx="205740" cy="205740"/>
          </a:xfrm>
          <a:prstGeom prst="ellipse">
            <a:avLst/>
          </a:prstGeom>
          <a:noFill/>
          <a:ln w="12383">
            <a:solidFill>
              <a:srgbClr val="173D67"/>
            </a:solidFill>
            <a:prstDash val="solid"/>
          </a:ln>
        </p:spPr>
      </p:sp>
      <p:sp>
        <p:nvSpPr>
          <p:cNvPr id="19" name="vector-544">
            <a:extLst>
              <a:ext uri="{FF2B5EF4-FFF2-40B4-BE49-F238E27FC236}">
                <ns2:creationId id="{A56E3A04-7116-4364-A7FF-8461CB4F5AB2}"/>
              </a:ext>
            </a:extLst>
          </p:cNvPr>
          <p:cNvSpPr>
            <a:spLocks noGrp="1"/>
          </p:cNvSpPr>
          <p:nvPr/>
        </p:nvSpPr>
        <p:spPr>
          <a:xfrm>
            <a:off x="8667750" y="952500"/>
            <a:ext cx="257175" cy="257175"/>
          </a:xfrm>
          <a:custGeom>
            <a:pathLst>
              <a:path w="952500" h="952500">
                <a:moveTo>
                  <a:pt x="266700" y="476250"/>
                </a:moveTo>
                <a:lnTo>
                  <a:pt x="428625" y="62865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20" name="vector-545">
            <a:extLst>
              <a:ext uri="{FF2B5EF4-FFF2-40B4-BE49-F238E27FC236}">
                <ns2:creationId id="{8DE79069-6AF5-48A6-B32A-AC5FA1480B76}"/>
              </a:ext>
            </a:extLst>
          </p:cNvPr>
          <p:cNvSpPr>
            <a:spLocks noGrp="1"/>
          </p:cNvSpPr>
          <p:nvPr/>
        </p:nvSpPr>
        <p:spPr>
          <a:xfrm>
            <a:off x="8667750" y="952500"/>
            <a:ext cx="257175" cy="257175"/>
          </a:xfrm>
          <a:custGeom>
            <a:pathLst>
              <a:path w="952500" h="952500">
                <a:moveTo>
                  <a:pt x="428625" y="628650"/>
                </a:moveTo>
                <a:lnTo>
                  <a:pt x="714375" y="30480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21" name="text-546">
            <a:extLst>
              <a:ext uri="{FF2B5EF4-FFF2-40B4-BE49-F238E27FC236}">
                <ns2:creationId id="{2C7F0703-CC2F-43AA-AF55-67CF1A7BF56E}"/>
              </a:ext>
            </a:extLst>
          </p:cNvPr>
          <p:cNvSpPr>
            <a:spLocks noGrp="1"/>
          </p:cNvSpPr>
          <p:nvPr/>
        </p:nvSpPr>
        <p:spPr>
          <a:xfrm>
            <a:off x="9010650" y="942975"/>
            <a:ext cx="2838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证据核查</a:t>
            </a:r>
            <a:endParaRPr/>
          </a:p>
        </p:txBody>
      </p:sp>
      <p:sp>
        <p:nvSpPr>
          <p:cNvPr id="22" name="vector-547">
            <a:extLst>
              <a:ext uri="{FF2B5EF4-FFF2-40B4-BE49-F238E27FC236}">
                <ns2:creationId id="{027B0820-14BF-4CF1-844D-9C6467DF9711}"/>
              </a:ext>
            </a:extLst>
          </p:cNvPr>
          <p:cNvSpPr>
            <a:spLocks noGrp="1"/>
          </p:cNvSpPr>
          <p:nvPr/>
        </p:nvSpPr>
        <p:spPr>
          <a:xfrm>
            <a:off x="381000" y="1555242"/>
            <a:ext cx="457200" cy="228600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solidFill>
            <a:srgbClr val="B9C5D1"/>
          </a:solidFill>
          <a:ln w="11430">
            <a:solidFill>
              <a:srgbClr val="173D67"/>
            </a:solidFill>
            <a:prstDash val="solid"/>
          </a:ln>
        </p:spPr>
      </p:sp>
      <p:sp>
        <p:nvSpPr>
          <p:cNvPr id="23" name="vector-548">
            <a:extLst>
              <a:ext uri="{FF2B5EF4-FFF2-40B4-BE49-F238E27FC236}">
                <ns2:creationId id="{442FFC2F-3175-4DA8-8AFB-4A1228B42247}"/>
              </a:ext>
            </a:extLst>
          </p:cNvPr>
          <p:cNvSpPr>
            <a:spLocks noGrp="1"/>
          </p:cNvSpPr>
          <p:nvPr/>
        </p:nvSpPr>
        <p:spPr>
          <a:xfrm>
            <a:off x="381000" y="1472946"/>
            <a:ext cx="457200" cy="228600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solidFill>
            <a:srgbClr val="97A8BB"/>
          </a:solidFill>
          <a:ln w="11430">
            <a:solidFill>
              <a:srgbClr val="173D67"/>
            </a:solidFill>
            <a:prstDash val="solid"/>
          </a:ln>
        </p:spPr>
      </p:sp>
      <p:sp>
        <p:nvSpPr>
          <p:cNvPr id="24" name="vector-549">
            <a:extLst>
              <a:ext uri="{FF2B5EF4-FFF2-40B4-BE49-F238E27FC236}">
                <ns2:creationId id="{884C612C-52E7-4191-84DC-2470785EEEF1}"/>
              </a:ext>
            </a:extLst>
          </p:cNvPr>
          <p:cNvSpPr>
            <a:spLocks noGrp="1"/>
          </p:cNvSpPr>
          <p:nvPr/>
        </p:nvSpPr>
        <p:spPr>
          <a:xfrm>
            <a:off x="381000" y="1390650"/>
            <a:ext cx="457200" cy="228600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solidFill>
            <a:srgbClr val="748BA4"/>
          </a:solidFill>
          <a:ln w="11430">
            <a:solidFill>
              <a:srgbClr val="173D67"/>
            </a:solidFill>
            <a:prstDash val="solid"/>
          </a:ln>
        </p:spPr>
      </p:sp>
      <p:sp>
        <p:nvSpPr>
          <p:cNvPr id="25" name="text-550">
            <a:extLst>
              <a:ext uri="{FF2B5EF4-FFF2-40B4-BE49-F238E27FC236}">
                <ns2:creationId id="{CE9A2810-D451-44E4-9929-4AF2003E3F86}"/>
              </a:ext>
            </a:extLst>
          </p:cNvPr>
          <p:cNvSpPr>
            <a:spLocks noGrp="1"/>
          </p:cNvSpPr>
          <p:nvPr/>
        </p:nvSpPr>
        <p:spPr>
          <a:xfrm>
            <a:off x="981075" y="139065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遥感影像</a:t>
            </a:r>
            <a:endParaRPr/>
          </a:p>
        </p:txBody>
      </p:sp>
      <p:sp>
        <p:nvSpPr>
          <p:cNvPr id="26" name="text-551">
            <a:extLst>
              <a:ext uri="{FF2B5EF4-FFF2-40B4-BE49-F238E27FC236}">
                <ns2:creationId id="{84D6335B-1622-488B-B973-E32E87CDDDFB}"/>
              </a:ext>
            </a:extLst>
          </p:cNvPr>
          <p:cNvSpPr>
            <a:spLocks noGrp="1"/>
          </p:cNvSpPr>
          <p:nvPr/>
        </p:nvSpPr>
        <p:spPr>
          <a:xfrm>
            <a:off x="981075" y="1752600"/>
            <a:ext cx="18288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土地覆盖与空间格局</a:t>
            </a:r>
            <a:endParaRPr/>
          </a:p>
        </p:txBody>
      </p:sp>
      <p:sp>
        <p:nvSpPr>
          <p:cNvPr id="27" name="vector-552">
            <a:extLst>
              <a:ext uri="{FF2B5EF4-FFF2-40B4-BE49-F238E27FC236}">
                <ns2:creationId id="{DC5214D9-CA06-452A-9423-ED2ACBCF49A9}"/>
              </a:ext>
            </a:extLst>
          </p:cNvPr>
          <p:cNvSpPr>
            <a:spLocks noGrp="1"/>
          </p:cNvSpPr>
          <p:nvPr/>
        </p:nvSpPr>
        <p:spPr>
          <a:xfrm>
            <a:off x="476250" y="2303145"/>
            <a:ext cx="762000" cy="381000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solidFill>
            <a:srgbClr val="B9C5D1"/>
          </a:solidFill>
          <a:ln w="11430">
            <a:solidFill>
              <a:srgbClr val="173D67"/>
            </a:solidFill>
            <a:prstDash val="solid"/>
          </a:ln>
        </p:spPr>
      </p:sp>
      <p:sp>
        <p:nvSpPr>
          <p:cNvPr id="28" name="vector-553">
            <a:extLst>
              <a:ext uri="{FF2B5EF4-FFF2-40B4-BE49-F238E27FC236}">
                <ns2:creationId id="{BC261804-4A83-452E-8DFD-079524B70533}"/>
              </a:ext>
            </a:extLst>
          </p:cNvPr>
          <p:cNvSpPr>
            <a:spLocks noGrp="1"/>
          </p:cNvSpPr>
          <p:nvPr/>
        </p:nvSpPr>
        <p:spPr>
          <a:xfrm>
            <a:off x="476250" y="2165985"/>
            <a:ext cx="762000" cy="381000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solidFill>
            <a:srgbClr val="97A8BB"/>
          </a:solidFill>
          <a:ln w="11430">
            <a:solidFill>
              <a:srgbClr val="173D67"/>
            </a:solidFill>
            <a:prstDash val="solid"/>
          </a:ln>
        </p:spPr>
      </p:sp>
      <p:sp>
        <p:nvSpPr>
          <p:cNvPr id="29" name="vector-554">
            <a:extLst>
              <a:ext uri="{FF2B5EF4-FFF2-40B4-BE49-F238E27FC236}">
                <ns2:creationId id="{3750B0B0-5110-4966-A4F9-49A454D3ED9E}"/>
              </a:ext>
            </a:extLst>
          </p:cNvPr>
          <p:cNvSpPr>
            <a:spLocks noGrp="1"/>
          </p:cNvSpPr>
          <p:nvPr/>
        </p:nvSpPr>
        <p:spPr>
          <a:xfrm>
            <a:off x="476250" y="2028825"/>
            <a:ext cx="762000" cy="381000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solidFill>
            <a:srgbClr val="748BA4"/>
          </a:solidFill>
          <a:ln w="11430">
            <a:solidFill>
              <a:srgbClr val="173D67"/>
            </a:solidFill>
            <a:prstDash val="solid"/>
          </a:ln>
        </p:spPr>
      </p:sp>
      <p:sp>
        <p:nvSpPr>
          <p:cNvPr id="30" name="vector-555">
            <a:extLst>
              <a:ext uri="{FF2B5EF4-FFF2-40B4-BE49-F238E27FC236}">
                <ns2:creationId id="{F75DC68C-847B-4884-8D57-7A2EEF660747}"/>
              </a:ext>
            </a:extLst>
          </p:cNvPr>
          <p:cNvSpPr>
            <a:spLocks noGrp="1"/>
          </p:cNvSpPr>
          <p:nvPr/>
        </p:nvSpPr>
        <p:spPr>
          <a:xfrm>
            <a:off x="381000" y="2895600"/>
            <a:ext cx="457200" cy="457200"/>
          </a:xfrm>
          <a:custGeom>
            <a:pathLst>
              <a:path w="952500" h="952500">
                <a:moveTo>
                  <a:pt x="476250" y="323850"/>
                </a:moveTo>
                <a:lnTo>
                  <a:pt x="476250" y="895350"/>
                </a:lnTo>
              </a:path>
            </a:pathLst>
          </a:custGeom>
          <a:noFill/>
          <a:ln w="15240">
            <a:solidFill>
              <a:srgbClr val="173D67"/>
            </a:solidFill>
            <a:prstDash val="solid"/>
          </a:ln>
        </p:spPr>
      </p:sp>
      <p:sp>
        <p:nvSpPr>
          <p:cNvPr id="31" name="icon-leaf-556">
            <a:extLst>
              <a:ext uri="{FF2B5EF4-FFF2-40B4-BE49-F238E27FC236}">
                <ns2:creationId id="{F7166803-B11E-4A95-AB55-9E07B4830FA4}"/>
              </a:ext>
            </a:extLst>
          </p:cNvPr>
          <p:cNvSpPr>
            <a:spLocks noGrp="1"/>
          </p:cNvSpPr>
          <p:nvPr/>
        </p:nvSpPr>
        <p:spPr>
          <a:xfrm>
            <a:off x="486156" y="2932176"/>
            <a:ext cx="123444" cy="205740"/>
          </a:xfrm>
          <a:prstGeom prst="ellipse">
            <a:avLst/>
          </a:prstGeom>
          <a:solidFill>
            <a:srgbClr val="68819C"/>
          </a:solidFill>
          <a:ln w="14288">
            <a:solidFill>
              <a:srgbClr val="173D67"/>
            </a:solidFill>
            <a:prstDash val="solid"/>
          </a:ln>
        </p:spPr>
      </p:sp>
      <p:sp>
        <p:nvSpPr>
          <p:cNvPr id="32" name="icon-leaf-557">
            <a:extLst>
              <a:ext uri="{FF2B5EF4-FFF2-40B4-BE49-F238E27FC236}">
                <ns2:creationId id="{47411549-DF18-40D1-A3C6-1B88E962B824}"/>
              </a:ext>
            </a:extLst>
          </p:cNvPr>
          <p:cNvSpPr>
            <a:spLocks noGrp="1"/>
          </p:cNvSpPr>
          <p:nvPr/>
        </p:nvSpPr>
        <p:spPr>
          <a:xfrm>
            <a:off x="614172" y="3032760"/>
            <a:ext cx="137160" cy="205740"/>
          </a:xfrm>
          <a:prstGeom prst="ellipse">
            <a:avLst/>
          </a:prstGeom>
          <a:solidFill>
            <a:srgbClr val="9EAEBF"/>
          </a:solidFill>
          <a:ln w="14288">
            <a:solidFill>
              <a:srgbClr val="173D67"/>
            </a:solidFill>
            <a:prstDash val="solid"/>
          </a:ln>
        </p:spPr>
      </p:sp>
      <p:sp>
        <p:nvSpPr>
          <p:cNvPr id="33" name="vector-558">
            <a:extLst>
              <a:ext uri="{FF2B5EF4-FFF2-40B4-BE49-F238E27FC236}">
                <ns2:creationId id="{CED29FCE-0B6E-41C8-ACF4-DAF6CB3C85BB}"/>
              </a:ext>
            </a:extLst>
          </p:cNvPr>
          <p:cNvSpPr>
            <a:spLocks noGrp="1"/>
          </p:cNvSpPr>
          <p:nvPr/>
        </p:nvSpPr>
        <p:spPr>
          <a:xfrm>
            <a:off x="381000" y="2895600"/>
            <a:ext cx="457200" cy="457200"/>
          </a:xfrm>
          <a:custGeom>
            <a:pathLst>
              <a:path w="952500" h="952500">
                <a:moveTo>
                  <a:pt x="285750" y="285750"/>
                </a:moveTo>
                <a:lnTo>
                  <a:pt x="476250" y="628650"/>
                </a:lnTo>
              </a:path>
            </a:pathLst>
          </a:custGeom>
          <a:noFill/>
          <a:ln w="15240">
            <a:solidFill>
              <a:srgbClr val="173D67"/>
            </a:solidFill>
            <a:prstDash val="solid"/>
          </a:ln>
        </p:spPr>
      </p:sp>
      <p:sp>
        <p:nvSpPr>
          <p:cNvPr id="34" name="vector-559">
            <a:extLst>
              <a:ext uri="{FF2B5EF4-FFF2-40B4-BE49-F238E27FC236}">
                <ns2:creationId id="{87FBFAED-CCC4-4A92-9E05-F710BE46A6D5}"/>
              </a:ext>
            </a:extLst>
          </p:cNvPr>
          <p:cNvSpPr>
            <a:spLocks noGrp="1"/>
          </p:cNvSpPr>
          <p:nvPr/>
        </p:nvSpPr>
        <p:spPr>
          <a:xfrm>
            <a:off x="381000" y="2895600"/>
            <a:ext cx="457200" cy="457200"/>
          </a:xfrm>
          <a:custGeom>
            <a:pathLst>
              <a:path w="952500" h="952500">
                <a:moveTo>
                  <a:pt x="619125" y="457200"/>
                </a:moveTo>
                <a:lnTo>
                  <a:pt x="476250" y="762000"/>
                </a:lnTo>
              </a:path>
            </a:pathLst>
          </a:custGeom>
          <a:noFill/>
          <a:ln w="15240">
            <a:solidFill>
              <a:srgbClr val="173D67"/>
            </a:solidFill>
            <a:prstDash val="solid"/>
          </a:ln>
        </p:spPr>
      </p:sp>
      <p:sp>
        <p:nvSpPr>
          <p:cNvPr id="35" name="text-560">
            <a:extLst>
              <a:ext uri="{FF2B5EF4-FFF2-40B4-BE49-F238E27FC236}">
                <ns2:creationId id="{E37540E1-6DE5-4DC7-8658-39CC55E291F2}"/>
              </a:ext>
            </a:extLst>
          </p:cNvPr>
          <p:cNvSpPr>
            <a:spLocks noGrp="1"/>
          </p:cNvSpPr>
          <p:nvPr/>
        </p:nvSpPr>
        <p:spPr>
          <a:xfrm>
            <a:off x="981075" y="289560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样地调查</a:t>
            </a:r>
            <a:endParaRPr/>
          </a:p>
        </p:txBody>
      </p:sp>
      <p:sp>
        <p:nvSpPr>
          <p:cNvPr id="36" name="text-561">
            <a:extLst>
              <a:ext uri="{FF2B5EF4-FFF2-40B4-BE49-F238E27FC236}">
                <ns2:creationId id="{473A9901-E755-4BAD-A944-5009CF456201}"/>
              </a:ext>
            </a:extLst>
          </p:cNvPr>
          <p:cNvSpPr>
            <a:spLocks noGrp="1"/>
          </p:cNvSpPr>
          <p:nvPr/>
        </p:nvSpPr>
        <p:spPr>
          <a:xfrm>
            <a:off x="981075" y="3257550"/>
            <a:ext cx="18288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群落记录与植被结构</a:t>
            </a:r>
            <a:endParaRPr/>
          </a:p>
        </p:txBody>
      </p:sp>
      <p:pic>
        <p:nvPicPr>
          <p:cNvPr id="37" name="">
            <a:extLst>
              <a:ext uri="{FF2B5EF4-FFF2-40B4-BE49-F238E27FC236}">
                <ns2:creationId id="{D94FE48F-4FC5-4A80-BFE6-DCC44BE73AE9}"/>
              </a:ext>
            </a:extLst>
          </p:cNvPr>
          <p:cNvPicPr>
            <a:picLocks noChangeAspect="1"/>
          </p:cNvPicPr>
          <p:nvPr/>
        </p:nvPicPr>
        <p:blipFill>
          <a:blip r:embed="Rf024df587924409c"/>
          <a:stretch/>
        </p:blipFill>
        <p:spPr>
          <a:xfrm>
            <a:off x="495300" y="3543300"/>
            <a:ext cx="1143000" cy="762000"/>
          </a:xfrm>
          <a:prstGeom prst="rect">
            <a:avLst/>
          </a:prstGeom>
        </p:spPr>
      </p:pic>
      <p:sp>
        <p:nvSpPr>
          <p:cNvPr id="38" name="icon-camera-562">
            <a:extLst>
              <a:ext uri="{FF2B5EF4-FFF2-40B4-BE49-F238E27FC236}">
                <ns2:creationId id="{03883105-3CE8-4F1C-B0B6-C3D963A7F8BE}"/>
              </a:ext>
            </a:extLst>
          </p:cNvPr>
          <p:cNvSpPr>
            <a:spLocks noGrp="1"/>
          </p:cNvSpPr>
          <p:nvPr/>
        </p:nvSpPr>
        <p:spPr>
          <a:xfrm>
            <a:off x="413004" y="4505706"/>
            <a:ext cx="393192" cy="278892"/>
          </a:xfrm>
          <a:prstGeom prst="roundRect">
            <a:avLst>
              <a:gd name="adj" fmla="val 27322"/>
            </a:avLst>
          </a:prstGeom>
          <a:noFill/>
          <a:ln w="14288">
            <a:solidFill>
              <a:srgbClr val="173D67"/>
            </a:solidFill>
            <a:prstDash val="solid"/>
          </a:ln>
        </p:spPr>
      </p:sp>
      <p:sp>
        <p:nvSpPr>
          <p:cNvPr id="39" name="icon-camera-563">
            <a:extLst>
              <a:ext uri="{FF2B5EF4-FFF2-40B4-BE49-F238E27FC236}">
                <ns2:creationId id="{009EC0FB-57C7-4E83-8084-BC543B5E4A89}"/>
              </a:ext>
            </a:extLst>
          </p:cNvPr>
          <p:cNvSpPr>
            <a:spLocks noGrp="1"/>
          </p:cNvSpPr>
          <p:nvPr/>
        </p:nvSpPr>
        <p:spPr>
          <a:xfrm>
            <a:off x="531876" y="4446270"/>
            <a:ext cx="150876" cy="77724"/>
          </a:xfrm>
          <a:prstGeom prst="roundRect">
            <a:avLst>
              <a:gd name="adj" fmla="val 50000"/>
            </a:avLst>
          </a:prstGeom>
          <a:noFill/>
          <a:ln w="14288">
            <a:solidFill>
              <a:srgbClr val="173D67"/>
            </a:solidFill>
            <a:prstDash val="solid"/>
          </a:ln>
        </p:spPr>
      </p:sp>
      <p:sp>
        <p:nvSpPr>
          <p:cNvPr id="40" name="icon-camera-564">
            <a:extLst>
              <a:ext uri="{FF2B5EF4-FFF2-40B4-BE49-F238E27FC236}">
                <ns2:creationId id="{DD9C9CC2-D610-4C69-BCA7-70B32C8223F8}"/>
              </a:ext>
            </a:extLst>
          </p:cNvPr>
          <p:cNvSpPr>
            <a:spLocks noGrp="1"/>
          </p:cNvSpPr>
          <p:nvPr/>
        </p:nvSpPr>
        <p:spPr>
          <a:xfrm>
            <a:off x="527304" y="4565142"/>
            <a:ext cx="164592" cy="164592"/>
          </a:xfrm>
          <a:prstGeom prst="ellipse">
            <a:avLst/>
          </a:prstGeom>
          <a:noFill/>
          <a:ln w="14288">
            <a:solidFill>
              <a:srgbClr val="173D67"/>
            </a:solidFill>
            <a:prstDash val="solid"/>
          </a:ln>
        </p:spPr>
      </p:sp>
      <p:sp>
        <p:nvSpPr>
          <p:cNvPr id="41" name="icon-camera-565">
            <a:extLst>
              <a:ext uri="{FF2B5EF4-FFF2-40B4-BE49-F238E27FC236}">
                <ns2:creationId id="{0CCC0165-B5DC-4CE9-B6EA-7E8C522CED5C}"/>
              </a:ext>
            </a:extLst>
          </p:cNvPr>
          <p:cNvSpPr>
            <a:spLocks noGrp="1"/>
          </p:cNvSpPr>
          <p:nvPr/>
        </p:nvSpPr>
        <p:spPr>
          <a:xfrm>
            <a:off x="719328" y="4542282"/>
            <a:ext cx="36576" cy="36576"/>
          </a:xfrm>
          <a:prstGeom prst="ellipse">
            <a:avLst/>
          </a:prstGeom>
          <a:solidFill>
            <a:srgbClr val="173D67"/>
          </a:solidFill>
          <a:ln w="14288">
            <a:solidFill>
              <a:srgbClr val="173D67"/>
            </a:solidFill>
            <a:prstDash val="solid"/>
          </a:ln>
        </p:spPr>
      </p:sp>
      <p:sp>
        <p:nvSpPr>
          <p:cNvPr id="42" name="text-566">
            <a:extLst>
              <a:ext uri="{FF2B5EF4-FFF2-40B4-BE49-F238E27FC236}">
                <ns2:creationId id="{24DCDAD6-B63B-4A49-B3D6-A45558FA1348}"/>
              </a:ext>
            </a:extLst>
          </p:cNvPr>
          <p:cNvSpPr>
            <a:spLocks noGrp="1"/>
          </p:cNvSpPr>
          <p:nvPr/>
        </p:nvSpPr>
        <p:spPr>
          <a:xfrm>
            <a:off x="981075" y="440055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相机监测</a:t>
            </a:r>
            <a:endParaRPr/>
          </a:p>
        </p:txBody>
      </p:sp>
      <p:sp>
        <p:nvSpPr>
          <p:cNvPr id="43" name="text-567">
            <a:extLst>
              <a:ext uri="{FF2B5EF4-FFF2-40B4-BE49-F238E27FC236}">
                <ns2:creationId id="{5E04CB0A-3D46-4705-834C-F5E9A02C5E67}"/>
              </a:ext>
            </a:extLst>
          </p:cNvPr>
          <p:cNvSpPr>
            <a:spLocks noGrp="1"/>
          </p:cNvSpPr>
          <p:nvPr/>
        </p:nvSpPr>
        <p:spPr>
          <a:xfrm>
            <a:off x="981075" y="4762500"/>
            <a:ext cx="18288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物种检出与活动记录</a:t>
            </a:r>
            <a:endParaRPr/>
          </a:p>
        </p:txBody>
      </p:sp>
      <p:sp>
        <p:nvSpPr>
          <p:cNvPr id="44" name="icon-camera-568">
            <a:extLst>
              <a:ext uri="{FF2B5EF4-FFF2-40B4-BE49-F238E27FC236}">
                <ns2:creationId id="{E15CA5A0-CB9D-4BFE-8369-8E353CE04183}"/>
              </a:ext>
            </a:extLst>
          </p:cNvPr>
          <p:cNvSpPr>
            <a:spLocks noGrp="1"/>
          </p:cNvSpPr>
          <p:nvPr/>
        </p:nvSpPr>
        <p:spPr>
          <a:xfrm>
            <a:off x="601980" y="5284470"/>
            <a:ext cx="491490" cy="348615"/>
          </a:xfrm>
          <a:prstGeom prst="roundRect">
            <a:avLst>
              <a:gd name="adj" fmla="val 21858"/>
            </a:avLst>
          </a:prstGeom>
          <a:noFill/>
          <a:ln w="17859">
            <a:solidFill>
              <a:srgbClr val="173D67"/>
            </a:solidFill>
            <a:prstDash val="solid"/>
          </a:ln>
        </p:spPr>
      </p:sp>
      <p:sp>
        <p:nvSpPr>
          <p:cNvPr id="45" name="icon-camera-569">
            <a:extLst>
              <a:ext uri="{FF2B5EF4-FFF2-40B4-BE49-F238E27FC236}">
                <ns2:creationId id="{EAC85BCB-66B4-467C-88AA-4DC84081CD65}"/>
              </a:ext>
            </a:extLst>
          </p:cNvPr>
          <p:cNvSpPr>
            <a:spLocks noGrp="1"/>
          </p:cNvSpPr>
          <p:nvPr/>
        </p:nvSpPr>
        <p:spPr>
          <a:xfrm>
            <a:off x="750570" y="5210175"/>
            <a:ext cx="188595" cy="97155"/>
          </a:xfrm>
          <a:prstGeom prst="roundRect">
            <a:avLst>
              <a:gd name="adj" fmla="val 50000"/>
            </a:avLst>
          </a:prstGeom>
          <a:noFill/>
          <a:ln w="17859">
            <a:solidFill>
              <a:srgbClr val="173D67"/>
            </a:solidFill>
            <a:prstDash val="solid"/>
          </a:ln>
        </p:spPr>
      </p:sp>
      <p:sp>
        <p:nvSpPr>
          <p:cNvPr id="46" name="icon-camera-570">
            <a:extLst>
              <a:ext uri="{FF2B5EF4-FFF2-40B4-BE49-F238E27FC236}">
                <ns2:creationId id="{23E9592A-4E54-4D4D-B4F6-B257A529C911}"/>
              </a:ext>
            </a:extLst>
          </p:cNvPr>
          <p:cNvSpPr>
            <a:spLocks noGrp="1"/>
          </p:cNvSpPr>
          <p:nvPr/>
        </p:nvSpPr>
        <p:spPr>
          <a:xfrm>
            <a:off x="744855" y="5358765"/>
            <a:ext cx="205740" cy="205740"/>
          </a:xfrm>
          <a:prstGeom prst="ellipse">
            <a:avLst/>
          </a:prstGeom>
          <a:noFill/>
          <a:ln w="17859">
            <a:solidFill>
              <a:srgbClr val="173D67"/>
            </a:solidFill>
            <a:prstDash val="solid"/>
          </a:ln>
        </p:spPr>
      </p:sp>
      <p:sp>
        <p:nvSpPr>
          <p:cNvPr id="47" name="icon-camera-571">
            <a:extLst>
              <a:ext uri="{FF2B5EF4-FFF2-40B4-BE49-F238E27FC236}">
                <ns2:creationId id="{C8B64B6D-656D-47E0-B08B-10D78FC35A6C}"/>
              </a:ext>
            </a:extLst>
          </p:cNvPr>
          <p:cNvSpPr>
            <a:spLocks noGrp="1"/>
          </p:cNvSpPr>
          <p:nvPr/>
        </p:nvSpPr>
        <p:spPr>
          <a:xfrm>
            <a:off x="984885" y="5330190"/>
            <a:ext cx="45720" cy="45720"/>
          </a:xfrm>
          <a:prstGeom prst="ellipse">
            <a:avLst/>
          </a:prstGeom>
          <a:solidFill>
            <a:srgbClr val="173D67"/>
          </a:solidFill>
          <a:ln w="17859">
            <a:solidFill>
              <a:srgbClr val="173D67"/>
            </a:solidFill>
            <a:prstDash val="solid"/>
          </a:ln>
        </p:spPr>
      </p:sp>
      <p:sp>
        <p:nvSpPr>
          <p:cNvPr id="48" name="shape-572">
            <a:extLst>
              <a:ext uri="{FF2B5EF4-FFF2-40B4-BE49-F238E27FC236}">
                <ns2:creationId id="{6AD6AB8E-0B7D-43B2-BCA3-7DF5D683B3A8}"/>
              </a:ext>
            </a:extLst>
          </p:cNvPr>
          <p:cNvSpPr>
            <a:spLocks noGrp="1"/>
          </p:cNvSpPr>
          <p:nvPr/>
        </p:nvSpPr>
        <p:spPr>
          <a:xfrm>
            <a:off x="3276600" y="1400175"/>
            <a:ext cx="1562100" cy="1104900"/>
          </a:xfrm>
          <a:prstGeom prst="roundRect">
            <a:avLst>
              <a:gd name="adj" fmla="val 6897"/>
            </a:avLst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49" name="vector-573">
            <a:extLst>
              <a:ext uri="{FF2B5EF4-FFF2-40B4-BE49-F238E27FC236}">
                <ns2:creationId id="{580069C0-F0F5-4ED8-9A9A-74036D9A2027}"/>
              </a:ext>
            </a:extLst>
          </p:cNvPr>
          <p:cNvSpPr>
            <a:spLocks noGrp="1"/>
          </p:cNvSpPr>
          <p:nvPr/>
        </p:nvSpPr>
        <p:spPr>
          <a:xfrm>
            <a:off x="3400425" y="1682877"/>
            <a:ext cx="361950" cy="180975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solidFill>
            <a:srgbClr val="B9C5D1"/>
          </a:solidFill>
          <a:ln w="11430">
            <a:solidFill>
              <a:srgbClr val="173D67"/>
            </a:solidFill>
            <a:prstDash val="solid"/>
          </a:ln>
        </p:spPr>
      </p:sp>
      <p:sp>
        <p:nvSpPr>
          <p:cNvPr id="50" name="vector-574">
            <a:extLst>
              <a:ext uri="{FF2B5EF4-FFF2-40B4-BE49-F238E27FC236}">
                <ns2:creationId id="{488AB210-6D26-4044-AF10-0A97989B1C85}"/>
              </a:ext>
            </a:extLst>
          </p:cNvPr>
          <p:cNvSpPr>
            <a:spLocks noGrp="1"/>
          </p:cNvSpPr>
          <p:nvPr/>
        </p:nvSpPr>
        <p:spPr>
          <a:xfrm>
            <a:off x="3400425" y="1617726"/>
            <a:ext cx="361950" cy="180975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solidFill>
            <a:srgbClr val="97A8BB"/>
          </a:solidFill>
          <a:ln w="11430">
            <a:solidFill>
              <a:srgbClr val="173D67"/>
            </a:solidFill>
            <a:prstDash val="solid"/>
          </a:ln>
        </p:spPr>
      </p:sp>
      <p:sp>
        <p:nvSpPr>
          <p:cNvPr id="51" name="vector-575">
            <a:extLst>
              <a:ext uri="{FF2B5EF4-FFF2-40B4-BE49-F238E27FC236}">
                <ns2:creationId id="{532EC72D-12B9-496F-83E6-9F6A981AD9D2}"/>
              </a:ext>
            </a:extLst>
          </p:cNvPr>
          <p:cNvSpPr>
            <a:spLocks noGrp="1"/>
          </p:cNvSpPr>
          <p:nvPr/>
        </p:nvSpPr>
        <p:spPr>
          <a:xfrm>
            <a:off x="3400425" y="1552575"/>
            <a:ext cx="361950" cy="180975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solidFill>
            <a:srgbClr val="748BA4"/>
          </a:solidFill>
          <a:ln w="11430">
            <a:solidFill>
              <a:srgbClr val="173D67"/>
            </a:solidFill>
            <a:prstDash val="solid"/>
          </a:ln>
        </p:spPr>
      </p:sp>
      <p:sp>
        <p:nvSpPr>
          <p:cNvPr id="52" name="text-576">
            <a:extLst>
              <a:ext uri="{FF2B5EF4-FFF2-40B4-BE49-F238E27FC236}">
                <ns2:creationId id="{42EF814F-AB8A-4F0E-922E-6DB417704286}"/>
              </a:ext>
            </a:extLst>
          </p:cNvPr>
          <p:cNvSpPr>
            <a:spLocks noGrp="1"/>
          </p:cNvSpPr>
          <p:nvPr/>
        </p:nvSpPr>
        <p:spPr>
          <a:xfrm>
            <a:off x="3838575" y="1543050"/>
            <a:ext cx="9620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景观格局</a:t>
            </a:r>
            <a:endParaRPr/>
          </a:p>
        </p:txBody>
      </p:sp>
      <p:sp>
        <p:nvSpPr>
          <p:cNvPr id="53" name="text-577">
            <a:extLst>
              <a:ext uri="{FF2B5EF4-FFF2-40B4-BE49-F238E27FC236}">
                <ns2:creationId id="{A7B770B5-5DE2-44D6-BC77-7A303E541842}"/>
              </a:ext>
            </a:extLst>
          </p:cNvPr>
          <p:cNvSpPr>
            <a:spLocks noGrp="1"/>
          </p:cNvSpPr>
          <p:nvPr/>
        </p:nvSpPr>
        <p:spPr>
          <a:xfrm>
            <a:off x="3390900" y="2038350"/>
            <a:ext cx="13716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2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斑块特征与连通性</a:t>
            </a:r>
            <a:endParaRPr/>
          </a:p>
        </p:txBody>
      </p:sp>
      <p:sp>
        <p:nvSpPr>
          <p:cNvPr id="54" name="shape-578">
            <a:extLst>
              <a:ext uri="{FF2B5EF4-FFF2-40B4-BE49-F238E27FC236}">
                <ns2:creationId id="{DEE8B1F3-5A95-451F-AF4F-D70789A99316}"/>
              </a:ext>
            </a:extLst>
          </p:cNvPr>
          <p:cNvSpPr>
            <a:spLocks noGrp="1"/>
          </p:cNvSpPr>
          <p:nvPr/>
        </p:nvSpPr>
        <p:spPr>
          <a:xfrm>
            <a:off x="4953000" y="1400175"/>
            <a:ext cx="1562100" cy="1104900"/>
          </a:xfrm>
          <a:prstGeom prst="roundRect">
            <a:avLst>
              <a:gd name="adj" fmla="val 6897"/>
            </a:avLst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55" name="vector-579">
            <a:extLst>
              <a:ext uri="{FF2B5EF4-FFF2-40B4-BE49-F238E27FC236}">
                <ns2:creationId id="{29BF771E-F766-4AF9-91BA-0269B8BE71AE}"/>
              </a:ext>
            </a:extLst>
          </p:cNvPr>
          <p:cNvSpPr>
            <a:spLocks noGrp="1"/>
          </p:cNvSpPr>
          <p:nvPr/>
        </p:nvSpPr>
        <p:spPr>
          <a:xfrm>
            <a:off x="5076825" y="1552575"/>
            <a:ext cx="361950" cy="361950"/>
          </a:xfrm>
          <a:custGeom>
            <a:pathLst>
              <a:path w="952500" h="952500">
                <a:moveTo>
                  <a:pt x="66675" y="190500"/>
                </a:moveTo>
                <a:lnTo>
                  <a:pt x="314325" y="95250"/>
                </a:lnTo>
                <a:lnTo>
                  <a:pt x="628650" y="190500"/>
                </a:lnTo>
                <a:lnTo>
                  <a:pt x="885825" y="95250"/>
                </a:lnTo>
                <a:lnTo>
                  <a:pt x="885825" y="762000"/>
                </a:lnTo>
                <a:lnTo>
                  <a:pt x="628650" y="857250"/>
                </a:lnTo>
                <a:lnTo>
                  <a:pt x="314325" y="762000"/>
                </a:lnTo>
                <a:lnTo>
                  <a:pt x="66675" y="857250"/>
                </a:lnTo>
                <a:close/>
              </a:path>
            </a:pathLst>
          </a:custGeom>
          <a:solidFill>
            <a:srgbClr val="EEF3F8"/>
          </a:solidFill>
          <a:ln w="19050">
            <a:solidFill>
              <a:srgbClr val="173D67"/>
            </a:solidFill>
            <a:prstDash val="solid"/>
          </a:ln>
        </p:spPr>
      </p:sp>
      <p:sp>
        <p:nvSpPr>
          <p:cNvPr id="56" name="vector-580">
            <a:extLst>
              <a:ext uri="{FF2B5EF4-FFF2-40B4-BE49-F238E27FC236}">
                <ns2:creationId id="{F82B2C3B-1D66-4AEC-9A02-7CB40A8521B6}"/>
              </a:ext>
            </a:extLst>
          </p:cNvPr>
          <p:cNvSpPr>
            <a:spLocks noGrp="1"/>
          </p:cNvSpPr>
          <p:nvPr/>
        </p:nvSpPr>
        <p:spPr>
          <a:xfrm>
            <a:off x="5076825" y="1552575"/>
            <a:ext cx="361950" cy="361950"/>
          </a:xfrm>
          <a:custGeom>
            <a:pathLst>
              <a:path w="952500" h="952500">
                <a:moveTo>
                  <a:pt x="314325" y="95250"/>
                </a:moveTo>
                <a:lnTo>
                  <a:pt x="314325" y="76200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57" name="vector-581">
            <a:extLst>
              <a:ext uri="{FF2B5EF4-FFF2-40B4-BE49-F238E27FC236}">
                <ns2:creationId id="{BEF731AF-CABE-4C35-9DB2-33CD10AFB2E8}"/>
              </a:ext>
            </a:extLst>
          </p:cNvPr>
          <p:cNvSpPr>
            <a:spLocks noGrp="1"/>
          </p:cNvSpPr>
          <p:nvPr/>
        </p:nvSpPr>
        <p:spPr>
          <a:xfrm>
            <a:off x="5076825" y="1552575"/>
            <a:ext cx="361950" cy="361950"/>
          </a:xfrm>
          <a:custGeom>
            <a:pathLst>
              <a:path w="952500" h="952500">
                <a:moveTo>
                  <a:pt x="628650" y="190500"/>
                </a:moveTo>
                <a:lnTo>
                  <a:pt x="628650" y="85725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58" name="icon-map-582">
            <a:extLst>
              <a:ext uri="{FF2B5EF4-FFF2-40B4-BE49-F238E27FC236}">
                <ns2:creationId id="{818C5A2B-8C5D-4FC6-9877-2DEF49926991}"/>
              </a:ext>
            </a:extLst>
          </p:cNvPr>
          <p:cNvSpPr>
            <a:spLocks noGrp="1"/>
          </p:cNvSpPr>
          <p:nvPr/>
        </p:nvSpPr>
        <p:spPr>
          <a:xfrm>
            <a:off x="5221605" y="1639443"/>
            <a:ext cx="79629" cy="79629"/>
          </a:xfrm>
          <a:prstGeom prst="ellipse">
            <a:avLst/>
          </a:prstGeom>
          <a:solidFill>
            <a:srgbClr val="173D67"/>
          </a:solidFill>
          <a:ln w="12383">
            <a:solidFill>
              <a:srgbClr val="173D67"/>
            </a:solidFill>
            <a:prstDash val="solid"/>
          </a:ln>
        </p:spPr>
      </p:sp>
      <p:sp>
        <p:nvSpPr>
          <p:cNvPr id="59" name="text-583">
            <a:extLst>
              <a:ext uri="{FF2B5EF4-FFF2-40B4-BE49-F238E27FC236}">
                <ns2:creationId id="{29CDA372-ECD8-4969-AFBD-B711756FA879}"/>
              </a:ext>
            </a:extLst>
          </p:cNvPr>
          <p:cNvSpPr>
            <a:spLocks noGrp="1"/>
          </p:cNvSpPr>
          <p:nvPr/>
        </p:nvSpPr>
        <p:spPr>
          <a:xfrm>
            <a:off x="5514975" y="1543050"/>
            <a:ext cx="9620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环境变量</a:t>
            </a:r>
            <a:endParaRPr/>
          </a:p>
        </p:txBody>
      </p:sp>
      <p:sp>
        <p:nvSpPr>
          <p:cNvPr id="60" name="text-584">
            <a:extLst>
              <a:ext uri="{FF2B5EF4-FFF2-40B4-BE49-F238E27FC236}">
                <ns2:creationId id="{C891F1D2-FBD4-4DE7-A41C-7140BDAC9794}"/>
              </a:ext>
            </a:extLst>
          </p:cNvPr>
          <p:cNvSpPr>
            <a:spLocks noGrp="1"/>
          </p:cNvSpPr>
          <p:nvPr/>
        </p:nvSpPr>
        <p:spPr>
          <a:xfrm>
            <a:off x="5067300" y="2038350"/>
            <a:ext cx="13716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2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气候、地形与干扰</a:t>
            </a:r>
            <a:endParaRPr/>
          </a:p>
        </p:txBody>
      </p:sp>
      <p:sp>
        <p:nvSpPr>
          <p:cNvPr id="61" name="shape-585">
            <a:extLst>
              <a:ext uri="{FF2B5EF4-FFF2-40B4-BE49-F238E27FC236}">
                <ns2:creationId id="{590EF44D-4F8C-45DC-9402-DAA06BB0D9C1}"/>
              </a:ext>
            </a:extLst>
          </p:cNvPr>
          <p:cNvSpPr>
            <a:spLocks noGrp="1"/>
          </p:cNvSpPr>
          <p:nvPr/>
        </p:nvSpPr>
        <p:spPr>
          <a:xfrm>
            <a:off x="6629400" y="1400175"/>
            <a:ext cx="1562100" cy="1104900"/>
          </a:xfrm>
          <a:prstGeom prst="roundRect">
            <a:avLst>
              <a:gd name="adj" fmla="val 6897"/>
            </a:avLst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62" name="vector-586">
            <a:extLst>
              <a:ext uri="{FF2B5EF4-FFF2-40B4-BE49-F238E27FC236}">
                <ns2:creationId id="{39BB6DB8-482B-497D-B8CA-DA918823701D}"/>
              </a:ext>
            </a:extLst>
          </p:cNvPr>
          <p:cNvSpPr>
            <a:spLocks noGrp="1"/>
          </p:cNvSpPr>
          <p:nvPr/>
        </p:nvSpPr>
        <p:spPr>
          <a:xfrm>
            <a:off x="6753225" y="1552575"/>
            <a:ext cx="361950" cy="361950"/>
          </a:xfrm>
          <a:custGeom>
            <a:pathLst>
              <a:path w="952500" h="952500">
                <a:moveTo>
                  <a:pt x="476250" y="323850"/>
                </a:moveTo>
                <a:lnTo>
                  <a:pt x="476250" y="89535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63" name="icon-leaf-587">
            <a:extLst>
              <a:ext uri="{FF2B5EF4-FFF2-40B4-BE49-F238E27FC236}">
                <ns2:creationId id="{A6259AA4-944D-4B1E-A899-4AAA981DF32F}"/>
              </a:ext>
            </a:extLst>
          </p:cNvPr>
          <p:cNvSpPr>
            <a:spLocks noGrp="1"/>
          </p:cNvSpPr>
          <p:nvPr/>
        </p:nvSpPr>
        <p:spPr>
          <a:xfrm>
            <a:off x="6836474" y="1581531"/>
            <a:ext cx="97727" cy="162878"/>
          </a:xfrm>
          <a:prstGeom prst="ellipse">
            <a:avLst/>
          </a:prstGeom>
          <a:solidFill>
            <a:srgbClr val="68819C"/>
          </a:solidFill>
          <a:ln w="12383">
            <a:solidFill>
              <a:srgbClr val="173D67"/>
            </a:solidFill>
            <a:prstDash val="solid"/>
          </a:ln>
        </p:spPr>
      </p:sp>
      <p:sp>
        <p:nvSpPr>
          <p:cNvPr id="64" name="icon-leaf-588">
            <a:extLst>
              <a:ext uri="{FF2B5EF4-FFF2-40B4-BE49-F238E27FC236}">
                <ns2:creationId id="{D419CD8D-F393-41CB-9F4C-2AC2AFA29684}"/>
              </a:ext>
            </a:extLst>
          </p:cNvPr>
          <p:cNvSpPr>
            <a:spLocks noGrp="1"/>
          </p:cNvSpPr>
          <p:nvPr/>
        </p:nvSpPr>
        <p:spPr>
          <a:xfrm>
            <a:off x="6937820" y="1661160"/>
            <a:ext cx="108585" cy="162878"/>
          </a:xfrm>
          <a:prstGeom prst="ellipse">
            <a:avLst/>
          </a:prstGeom>
          <a:solidFill>
            <a:srgbClr val="9EAEBF"/>
          </a:solidFill>
          <a:ln w="12383">
            <a:solidFill>
              <a:srgbClr val="173D67"/>
            </a:solidFill>
            <a:prstDash val="solid"/>
          </a:ln>
        </p:spPr>
      </p:sp>
      <p:sp>
        <p:nvSpPr>
          <p:cNvPr id="65" name="vector-589">
            <a:extLst>
              <a:ext uri="{FF2B5EF4-FFF2-40B4-BE49-F238E27FC236}">
                <ns2:creationId id="{074A1175-BA74-44C5-AB5B-3D1D90A0E61F}"/>
              </a:ext>
            </a:extLst>
          </p:cNvPr>
          <p:cNvSpPr>
            <a:spLocks noGrp="1"/>
          </p:cNvSpPr>
          <p:nvPr/>
        </p:nvSpPr>
        <p:spPr>
          <a:xfrm>
            <a:off x="6753225" y="1552575"/>
            <a:ext cx="361950" cy="361950"/>
          </a:xfrm>
          <a:custGeom>
            <a:pathLst>
              <a:path w="952500" h="952500">
                <a:moveTo>
                  <a:pt x="285750" y="285750"/>
                </a:moveTo>
                <a:lnTo>
                  <a:pt x="476250" y="62865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66" name="vector-590">
            <a:extLst>
              <a:ext uri="{FF2B5EF4-FFF2-40B4-BE49-F238E27FC236}">
                <ns2:creationId id="{C2A9A4AB-7AFE-4A3B-A7B2-D20BFDC43AAF}"/>
              </a:ext>
            </a:extLst>
          </p:cNvPr>
          <p:cNvSpPr>
            <a:spLocks noGrp="1"/>
          </p:cNvSpPr>
          <p:nvPr/>
        </p:nvSpPr>
        <p:spPr>
          <a:xfrm>
            <a:off x="6753225" y="1552575"/>
            <a:ext cx="361950" cy="361950"/>
          </a:xfrm>
          <a:custGeom>
            <a:pathLst>
              <a:path w="952500" h="952500">
                <a:moveTo>
                  <a:pt x="619125" y="457200"/>
                </a:moveTo>
                <a:lnTo>
                  <a:pt x="476250" y="76200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67" name="text-591">
            <a:extLst>
              <a:ext uri="{FF2B5EF4-FFF2-40B4-BE49-F238E27FC236}">
                <ns2:creationId id="{87F6A024-5806-45D4-A1E7-C60EF5C2E61B}"/>
              </a:ext>
            </a:extLst>
          </p:cNvPr>
          <p:cNvSpPr>
            <a:spLocks noGrp="1"/>
          </p:cNvSpPr>
          <p:nvPr/>
        </p:nvSpPr>
        <p:spPr>
          <a:xfrm>
            <a:off x="7191375" y="1543050"/>
            <a:ext cx="9620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群落数据</a:t>
            </a:r>
            <a:endParaRPr/>
          </a:p>
        </p:txBody>
      </p:sp>
      <p:sp>
        <p:nvSpPr>
          <p:cNvPr id="68" name="text-592">
            <a:extLst>
              <a:ext uri="{FF2B5EF4-FFF2-40B4-BE49-F238E27FC236}">
                <ns2:creationId id="{627E777B-11F6-4D99-B293-404EF5F5BDAD}"/>
              </a:ext>
            </a:extLst>
          </p:cNvPr>
          <p:cNvSpPr>
            <a:spLocks noGrp="1"/>
          </p:cNvSpPr>
          <p:nvPr/>
        </p:nvSpPr>
        <p:spPr>
          <a:xfrm>
            <a:off x="6743700" y="2038350"/>
            <a:ext cx="13716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2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物种组成与多度</a:t>
            </a:r>
            <a:endParaRPr/>
          </a:p>
        </p:txBody>
      </p:sp>
      <p:sp>
        <p:nvSpPr>
          <p:cNvPr id="69" name="node-593">
            <a:extLst>
              <a:ext uri="{FF2B5EF4-FFF2-40B4-BE49-F238E27FC236}">
                <ns2:creationId id="{55C88FF9-82EA-4D39-8A16-5CFBB277B542}"/>
              </a:ext>
            </a:extLst>
          </p:cNvPr>
          <p:cNvSpPr>
            <a:spLocks noGrp="1"/>
          </p:cNvSpPr>
          <p:nvPr/>
        </p:nvSpPr>
        <p:spPr>
          <a:xfrm>
            <a:off x="3276600" y="2828925"/>
            <a:ext cx="1562100" cy="714375"/>
          </a:xfrm>
          <a:prstGeom prst="roundRect">
            <a:avLst>
              <a:gd name="adj" fmla="val 10667"/>
            </a:avLst>
          </a:prstGeom>
          <a:solidFill>
            <a:srgbClr val="EEF3F8"/>
          </a:solidFill>
          <a:ln w="9525">
            <a:solidFill>
              <a:srgbClr val="718EAA"/>
            </a:solidFill>
            <a:prstDash val="solid"/>
          </a:ln>
        </p:spPr>
      </p:sp>
      <p:sp>
        <p:nvSpPr>
          <p:cNvPr id="70" name="icon-database-594">
            <a:extLst>
              <a:ext uri="{FF2B5EF4-FFF2-40B4-BE49-F238E27FC236}">
                <ns2:creationId id="{173DB326-4FE2-4791-9BF8-00E436CBBD5E}"/>
              </a:ext>
            </a:extLst>
          </p:cNvPr>
          <p:cNvSpPr>
            <a:spLocks noGrp="1"/>
          </p:cNvSpPr>
          <p:nvPr/>
        </p:nvSpPr>
        <p:spPr>
          <a:xfrm>
            <a:off x="3436620" y="2997518"/>
            <a:ext cx="194310" cy="180023"/>
          </a:xfrm>
          <a:prstGeom prst="can">
            <a:avLst/>
          </a:prstGeom>
          <a:noFill/>
          <a:ln w="12383">
            <a:solidFill>
              <a:srgbClr val="173D67"/>
            </a:solidFill>
            <a:prstDash val="solid"/>
          </a:ln>
        </p:spPr>
      </p:sp>
      <p:sp>
        <p:nvSpPr>
          <p:cNvPr id="71" name="vector-595">
            <a:extLst>
              <a:ext uri="{FF2B5EF4-FFF2-40B4-BE49-F238E27FC236}">
                <ns2:creationId id="{814CBF5C-99C9-4FA3-BB18-B0A97F54CE4D}"/>
              </a:ext>
            </a:extLst>
          </p:cNvPr>
          <p:cNvSpPr>
            <a:spLocks noGrp="1"/>
          </p:cNvSpPr>
          <p:nvPr/>
        </p:nvSpPr>
        <p:spPr>
          <a:xfrm>
            <a:off x="3390900" y="2943225"/>
            <a:ext cx="285750" cy="285750"/>
          </a:xfrm>
          <a:custGeom>
            <a:pathLst>
              <a:path w="952500" h="952500">
                <a:moveTo>
                  <a:pt x="161925" y="428625"/>
                </a:moveTo>
                <a:lnTo>
                  <a:pt x="790575" y="428625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72" name="vector-596">
            <a:extLst>
              <a:ext uri="{FF2B5EF4-FFF2-40B4-BE49-F238E27FC236}">
                <ns2:creationId id="{8D4103E5-A8E1-48A6-8CAA-B64A0291C9BF}"/>
              </a:ext>
            </a:extLst>
          </p:cNvPr>
          <p:cNvSpPr>
            <a:spLocks noGrp="1"/>
          </p:cNvSpPr>
          <p:nvPr/>
        </p:nvSpPr>
        <p:spPr>
          <a:xfrm>
            <a:off x="3390900" y="2943225"/>
            <a:ext cx="285750" cy="285750"/>
          </a:xfrm>
          <a:custGeom>
            <a:pathLst>
              <a:path w="952500" h="952500">
                <a:moveTo>
                  <a:pt x="161925" y="600075"/>
                </a:moveTo>
                <a:lnTo>
                  <a:pt x="790575" y="600075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73" name="text-597">
            <a:extLst>
              <a:ext uri="{FF2B5EF4-FFF2-40B4-BE49-F238E27FC236}">
                <ns2:creationId id="{A7359CC4-E917-4C1E-A7A1-D6E26FFC998F}"/>
              </a:ext>
            </a:extLst>
          </p:cNvPr>
          <p:cNvSpPr>
            <a:spLocks noGrp="1"/>
          </p:cNvSpPr>
          <p:nvPr/>
        </p:nvSpPr>
        <p:spPr>
          <a:xfrm>
            <a:off x="3752850" y="2905125"/>
            <a:ext cx="990600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尺度统一</a:t>
            </a:r>
            <a:endParaRPr/>
          </a:p>
        </p:txBody>
      </p:sp>
      <p:sp>
        <p:nvSpPr>
          <p:cNvPr id="74" name="node-598">
            <a:extLst>
              <a:ext uri="{FF2B5EF4-FFF2-40B4-BE49-F238E27FC236}">
                <ns2:creationId id="{2A0E2C1D-E9C5-44FB-9299-51A9CBA587DD}"/>
              </a:ext>
            </a:extLst>
          </p:cNvPr>
          <p:cNvSpPr>
            <a:spLocks noGrp="1"/>
          </p:cNvSpPr>
          <p:nvPr/>
        </p:nvSpPr>
        <p:spPr>
          <a:xfrm>
            <a:off x="4953000" y="2828925"/>
            <a:ext cx="1562100" cy="714375"/>
          </a:xfrm>
          <a:prstGeom prst="roundRect">
            <a:avLst>
              <a:gd name="adj" fmla="val 10667"/>
            </a:avLst>
          </a:prstGeom>
          <a:solidFill>
            <a:srgbClr val="EEF3F8"/>
          </a:solidFill>
          <a:ln w="9525">
            <a:solidFill>
              <a:srgbClr val="718EAA"/>
            </a:solidFill>
            <a:prstDash val="solid"/>
          </a:ln>
        </p:spPr>
      </p:sp>
      <p:sp>
        <p:nvSpPr>
          <p:cNvPr id="75" name="icon-clipboard-599">
            <a:extLst>
              <a:ext uri="{FF2B5EF4-FFF2-40B4-BE49-F238E27FC236}">
                <ns2:creationId id="{A0FC453F-4D8B-4EA0-9BB4-F74232F81839}"/>
              </a:ext>
            </a:extLst>
          </p:cNvPr>
          <p:cNvSpPr>
            <a:spLocks noGrp="1"/>
          </p:cNvSpPr>
          <p:nvPr/>
        </p:nvSpPr>
        <p:spPr>
          <a:xfrm>
            <a:off x="5118735" y="2977515"/>
            <a:ext cx="185738" cy="222885"/>
          </a:xfrm>
          <a:prstGeom prst="roundRect">
            <a:avLst>
              <a:gd name="adj" fmla="val 41026"/>
            </a:avLst>
          </a:prstGeom>
          <a:noFill/>
          <a:ln w="12383">
            <a:solidFill>
              <a:srgbClr val="173D67"/>
            </a:solidFill>
            <a:prstDash val="solid"/>
          </a:ln>
        </p:spPr>
      </p:sp>
      <p:sp>
        <p:nvSpPr>
          <p:cNvPr id="76" name="icon-clipboard-600">
            <a:extLst>
              <a:ext uri="{FF2B5EF4-FFF2-40B4-BE49-F238E27FC236}">
                <ns2:creationId id="{791FD318-1167-4DD9-8C08-F2E3A297CE0C}"/>
              </a:ext>
            </a:extLst>
          </p:cNvPr>
          <p:cNvSpPr>
            <a:spLocks noGrp="1"/>
          </p:cNvSpPr>
          <p:nvPr/>
        </p:nvSpPr>
        <p:spPr>
          <a:xfrm>
            <a:off x="5167313" y="2957513"/>
            <a:ext cx="85725" cy="4286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383">
            <a:solidFill>
              <a:srgbClr val="173D67"/>
            </a:solidFill>
            <a:prstDash val="solid"/>
          </a:ln>
        </p:spPr>
      </p:sp>
      <p:sp>
        <p:nvSpPr>
          <p:cNvPr id="77" name="vector-601">
            <a:extLst>
              <a:ext uri="{FF2B5EF4-FFF2-40B4-BE49-F238E27FC236}">
                <ns2:creationId id="{5048D618-F769-4058-ACE1-79F6CD2A092B}"/>
              </a:ext>
            </a:extLst>
          </p:cNvPr>
          <p:cNvSpPr>
            <a:spLocks noGrp="1"/>
          </p:cNvSpPr>
          <p:nvPr/>
        </p:nvSpPr>
        <p:spPr>
          <a:xfrm>
            <a:off x="5067300" y="2943225"/>
            <a:ext cx="285750" cy="285750"/>
          </a:xfrm>
          <a:custGeom>
            <a:pathLst>
              <a:path w="952500" h="952500">
                <a:moveTo>
                  <a:pt x="266700" y="342900"/>
                </a:moveTo>
                <a:lnTo>
                  <a:pt x="342900" y="40005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78" name="vector-602">
            <a:extLst>
              <a:ext uri="{FF2B5EF4-FFF2-40B4-BE49-F238E27FC236}">
                <ns2:creationId id="{80DF0865-2C13-4B92-8CBD-835683C09B36}"/>
              </a:ext>
            </a:extLst>
          </p:cNvPr>
          <p:cNvSpPr>
            <a:spLocks noGrp="1"/>
          </p:cNvSpPr>
          <p:nvPr/>
        </p:nvSpPr>
        <p:spPr>
          <a:xfrm>
            <a:off x="5067300" y="2943225"/>
            <a:ext cx="285750" cy="285750"/>
          </a:xfrm>
          <a:custGeom>
            <a:pathLst>
              <a:path w="952500" h="952500">
                <a:moveTo>
                  <a:pt x="342900" y="400050"/>
                </a:moveTo>
                <a:lnTo>
                  <a:pt x="428625" y="276225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79" name="vector-603">
            <a:extLst>
              <a:ext uri="{FF2B5EF4-FFF2-40B4-BE49-F238E27FC236}">
                <ns2:creationId id="{C3D46E04-F5F4-492F-848B-9AB52FF4AC1F}"/>
              </a:ext>
            </a:extLst>
          </p:cNvPr>
          <p:cNvSpPr>
            <a:spLocks noGrp="1"/>
          </p:cNvSpPr>
          <p:nvPr/>
        </p:nvSpPr>
        <p:spPr>
          <a:xfrm>
            <a:off x="5067300" y="2943225"/>
            <a:ext cx="285750" cy="285750"/>
          </a:xfrm>
          <a:custGeom>
            <a:pathLst>
              <a:path w="952500" h="952500">
                <a:moveTo>
                  <a:pt x="495300" y="352425"/>
                </a:moveTo>
                <a:lnTo>
                  <a:pt x="695325" y="352425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80" name="vector-604">
            <a:extLst>
              <a:ext uri="{FF2B5EF4-FFF2-40B4-BE49-F238E27FC236}">
                <ns2:creationId id="{7E7E0498-873A-41D0-9431-5F1C26D52C4A}"/>
              </a:ext>
            </a:extLst>
          </p:cNvPr>
          <p:cNvSpPr>
            <a:spLocks noGrp="1"/>
          </p:cNvSpPr>
          <p:nvPr/>
        </p:nvSpPr>
        <p:spPr>
          <a:xfrm>
            <a:off x="5067300" y="2943225"/>
            <a:ext cx="285750" cy="285750"/>
          </a:xfrm>
          <a:custGeom>
            <a:pathLst>
              <a:path w="952500" h="952500">
                <a:moveTo>
                  <a:pt x="266700" y="523875"/>
                </a:moveTo>
                <a:lnTo>
                  <a:pt x="342900" y="581025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81" name="vector-605">
            <a:extLst>
              <a:ext uri="{FF2B5EF4-FFF2-40B4-BE49-F238E27FC236}">
                <ns2:creationId id="{76F05BA0-018B-43B0-A594-B853E8472878}"/>
              </a:ext>
            </a:extLst>
          </p:cNvPr>
          <p:cNvSpPr>
            <a:spLocks noGrp="1"/>
          </p:cNvSpPr>
          <p:nvPr/>
        </p:nvSpPr>
        <p:spPr>
          <a:xfrm>
            <a:off x="5067300" y="2943225"/>
            <a:ext cx="285750" cy="285750"/>
          </a:xfrm>
          <a:custGeom>
            <a:pathLst>
              <a:path w="952500" h="952500">
                <a:moveTo>
                  <a:pt x="342900" y="581025"/>
                </a:moveTo>
                <a:lnTo>
                  <a:pt x="428625" y="45720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82" name="vector-606">
            <a:extLst>
              <a:ext uri="{FF2B5EF4-FFF2-40B4-BE49-F238E27FC236}">
                <ns2:creationId id="{9BF0ED34-770A-4EA2-9602-7E29A08A0C7F}"/>
              </a:ext>
            </a:extLst>
          </p:cNvPr>
          <p:cNvSpPr>
            <a:spLocks noGrp="1"/>
          </p:cNvSpPr>
          <p:nvPr/>
        </p:nvSpPr>
        <p:spPr>
          <a:xfrm>
            <a:off x="5067300" y="2943225"/>
            <a:ext cx="285750" cy="285750"/>
          </a:xfrm>
          <a:custGeom>
            <a:pathLst>
              <a:path w="952500" h="952500">
                <a:moveTo>
                  <a:pt x="495300" y="533400"/>
                </a:moveTo>
                <a:lnTo>
                  <a:pt x="695325" y="53340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83" name="vector-607">
            <a:extLst>
              <a:ext uri="{FF2B5EF4-FFF2-40B4-BE49-F238E27FC236}">
                <ns2:creationId id="{181F1AB4-5087-4922-87FB-3AF03D1E4252}"/>
              </a:ext>
            </a:extLst>
          </p:cNvPr>
          <p:cNvSpPr>
            <a:spLocks noGrp="1"/>
          </p:cNvSpPr>
          <p:nvPr/>
        </p:nvSpPr>
        <p:spPr>
          <a:xfrm>
            <a:off x="5067300" y="2943225"/>
            <a:ext cx="285750" cy="285750"/>
          </a:xfrm>
          <a:custGeom>
            <a:pathLst>
              <a:path w="952500" h="952500">
                <a:moveTo>
                  <a:pt x="266700" y="704850"/>
                </a:moveTo>
                <a:lnTo>
                  <a:pt x="342900" y="76200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84" name="vector-608">
            <a:extLst>
              <a:ext uri="{FF2B5EF4-FFF2-40B4-BE49-F238E27FC236}">
                <ns2:creationId id="{1687479F-2169-462F-9EE9-86133E75BB45}"/>
              </a:ext>
            </a:extLst>
          </p:cNvPr>
          <p:cNvSpPr>
            <a:spLocks noGrp="1"/>
          </p:cNvSpPr>
          <p:nvPr/>
        </p:nvSpPr>
        <p:spPr>
          <a:xfrm>
            <a:off x="5067300" y="2943225"/>
            <a:ext cx="285750" cy="285750"/>
          </a:xfrm>
          <a:custGeom>
            <a:pathLst>
              <a:path w="952500" h="952500">
                <a:moveTo>
                  <a:pt x="342900" y="762000"/>
                </a:moveTo>
                <a:lnTo>
                  <a:pt x="428625" y="638175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85" name="vector-609">
            <a:extLst>
              <a:ext uri="{FF2B5EF4-FFF2-40B4-BE49-F238E27FC236}">
                <ns2:creationId id="{3E5B70AA-2BF1-415E-A21B-8B6B9C21361D}"/>
              </a:ext>
            </a:extLst>
          </p:cNvPr>
          <p:cNvSpPr>
            <a:spLocks noGrp="1"/>
          </p:cNvSpPr>
          <p:nvPr/>
        </p:nvSpPr>
        <p:spPr>
          <a:xfrm>
            <a:off x="5067300" y="2943225"/>
            <a:ext cx="285750" cy="285750"/>
          </a:xfrm>
          <a:custGeom>
            <a:pathLst>
              <a:path w="952500" h="952500">
                <a:moveTo>
                  <a:pt x="495300" y="714375"/>
                </a:moveTo>
                <a:lnTo>
                  <a:pt x="695325" y="714375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86" name="text-610">
            <a:extLst>
              <a:ext uri="{FF2B5EF4-FFF2-40B4-BE49-F238E27FC236}">
                <ns2:creationId id="{CC2DF574-6D34-4CAB-B354-D2D0A10E82C5}"/>
              </a:ext>
            </a:extLst>
          </p:cNvPr>
          <p:cNvSpPr>
            <a:spLocks noGrp="1"/>
          </p:cNvSpPr>
          <p:nvPr/>
        </p:nvSpPr>
        <p:spPr>
          <a:xfrm>
            <a:off x="5429250" y="2905125"/>
            <a:ext cx="990600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质量检查</a:t>
            </a:r>
            <a:endParaRPr/>
          </a:p>
        </p:txBody>
      </p:sp>
      <p:sp>
        <p:nvSpPr>
          <p:cNvPr id="87" name="node-611">
            <a:extLst>
              <a:ext uri="{FF2B5EF4-FFF2-40B4-BE49-F238E27FC236}">
                <ns2:creationId id="{25472043-0A76-49AC-8F65-3785BCAA5FF2}"/>
              </a:ext>
            </a:extLst>
          </p:cNvPr>
          <p:cNvSpPr>
            <a:spLocks noGrp="1"/>
          </p:cNvSpPr>
          <p:nvPr/>
        </p:nvSpPr>
        <p:spPr>
          <a:xfrm>
            <a:off x="6629400" y="2828925"/>
            <a:ext cx="1562100" cy="714375"/>
          </a:xfrm>
          <a:prstGeom prst="roundRect">
            <a:avLst>
              <a:gd name="adj" fmla="val 10667"/>
            </a:avLst>
          </a:prstGeom>
          <a:solidFill>
            <a:srgbClr val="EEF3F8"/>
          </a:solidFill>
          <a:ln w="9525">
            <a:solidFill>
              <a:srgbClr val="718EAA"/>
            </a:solidFill>
            <a:prstDash val="solid"/>
          </a:ln>
        </p:spPr>
      </p:sp>
      <p:sp>
        <p:nvSpPr>
          <p:cNvPr id="88" name="vector-612">
            <a:extLst>
              <a:ext uri="{FF2B5EF4-FFF2-40B4-BE49-F238E27FC236}">
                <ns2:creationId id="{3FA39A8F-4FB3-4CD5-B728-3A15F8A08643}"/>
              </a:ext>
            </a:extLst>
          </p:cNvPr>
          <p:cNvSpPr>
            <a:spLocks noGrp="1"/>
          </p:cNvSpPr>
          <p:nvPr/>
        </p:nvSpPr>
        <p:spPr>
          <a:xfrm>
            <a:off x="6743700" y="2943225"/>
            <a:ext cx="285750" cy="285750"/>
          </a:xfrm>
          <a:custGeom>
            <a:pathLst>
              <a:path w="952500" h="952500">
                <a:moveTo>
                  <a:pt x="123825" y="352425"/>
                </a:moveTo>
                <a:lnTo>
                  <a:pt x="428625" y="11430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89" name="vector-613">
            <a:extLst>
              <a:ext uri="{FF2B5EF4-FFF2-40B4-BE49-F238E27FC236}">
                <ns2:creationId id="{0D3728E5-0AB8-4883-A0A6-EDA117EB24C0}"/>
              </a:ext>
            </a:extLst>
          </p:cNvPr>
          <p:cNvSpPr>
            <a:spLocks noGrp="1"/>
          </p:cNvSpPr>
          <p:nvPr/>
        </p:nvSpPr>
        <p:spPr>
          <a:xfrm>
            <a:off x="6743700" y="2943225"/>
            <a:ext cx="285750" cy="285750"/>
          </a:xfrm>
          <a:custGeom>
            <a:pathLst>
              <a:path w="952500" h="952500">
                <a:moveTo>
                  <a:pt x="428625" y="114300"/>
                </a:moveTo>
                <a:lnTo>
                  <a:pt x="800100" y="28575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90" name="vector-614">
            <a:extLst>
              <a:ext uri="{FF2B5EF4-FFF2-40B4-BE49-F238E27FC236}">
                <ns2:creationId id="{0FDAB259-0A9C-4FC4-8F00-F64A2AC20B44}"/>
              </a:ext>
            </a:extLst>
          </p:cNvPr>
          <p:cNvSpPr>
            <a:spLocks noGrp="1"/>
          </p:cNvSpPr>
          <p:nvPr/>
        </p:nvSpPr>
        <p:spPr>
          <a:xfrm>
            <a:off x="6743700" y="2943225"/>
            <a:ext cx="285750" cy="285750"/>
          </a:xfrm>
          <a:custGeom>
            <a:pathLst>
              <a:path w="952500" h="952500">
                <a:moveTo>
                  <a:pt x="800100" y="285750"/>
                </a:moveTo>
                <a:lnTo>
                  <a:pt x="657225" y="790575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91" name="vector-615">
            <a:extLst>
              <a:ext uri="{FF2B5EF4-FFF2-40B4-BE49-F238E27FC236}">
                <ns2:creationId id="{BFD365CF-0C92-4C98-B792-C824C1861DA0}"/>
              </a:ext>
            </a:extLst>
          </p:cNvPr>
          <p:cNvSpPr>
            <a:spLocks noGrp="1"/>
          </p:cNvSpPr>
          <p:nvPr/>
        </p:nvSpPr>
        <p:spPr>
          <a:xfrm>
            <a:off x="6743700" y="2943225"/>
            <a:ext cx="285750" cy="285750"/>
          </a:xfrm>
          <a:custGeom>
            <a:pathLst>
              <a:path w="952500" h="952500">
                <a:moveTo>
                  <a:pt x="657225" y="790575"/>
                </a:moveTo>
                <a:lnTo>
                  <a:pt x="228600" y="78105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92" name="vector-616">
            <a:extLst>
              <a:ext uri="{FF2B5EF4-FFF2-40B4-BE49-F238E27FC236}">
                <ns2:creationId id="{8717E7A3-D896-42D6-B961-1AC5E3B9A343}"/>
              </a:ext>
            </a:extLst>
          </p:cNvPr>
          <p:cNvSpPr>
            <a:spLocks noGrp="1"/>
          </p:cNvSpPr>
          <p:nvPr/>
        </p:nvSpPr>
        <p:spPr>
          <a:xfrm>
            <a:off x="6743700" y="2943225"/>
            <a:ext cx="285750" cy="285750"/>
          </a:xfrm>
          <a:custGeom>
            <a:pathLst>
              <a:path w="952500" h="952500">
                <a:moveTo>
                  <a:pt x="228600" y="781050"/>
                </a:moveTo>
                <a:lnTo>
                  <a:pt x="123825" y="352425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93" name="vector-617">
            <a:extLst>
              <a:ext uri="{FF2B5EF4-FFF2-40B4-BE49-F238E27FC236}">
                <ns2:creationId id="{80F098BC-75EC-4CFE-ADDA-1C2982417D7A}"/>
              </a:ext>
            </a:extLst>
          </p:cNvPr>
          <p:cNvSpPr>
            <a:spLocks noGrp="1"/>
          </p:cNvSpPr>
          <p:nvPr/>
        </p:nvSpPr>
        <p:spPr>
          <a:xfrm>
            <a:off x="6743700" y="2943225"/>
            <a:ext cx="285750" cy="285750"/>
          </a:xfrm>
          <a:custGeom>
            <a:pathLst>
              <a:path w="952500" h="952500">
                <a:moveTo>
                  <a:pt x="123825" y="352425"/>
                </a:moveTo>
                <a:lnTo>
                  <a:pt x="657225" y="790575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94" name="vector-618">
            <a:extLst>
              <a:ext uri="{FF2B5EF4-FFF2-40B4-BE49-F238E27FC236}">
                <ns2:creationId id="{7DB5397D-2496-4E2E-916B-7C810504FB19}"/>
              </a:ext>
            </a:extLst>
          </p:cNvPr>
          <p:cNvSpPr>
            <a:spLocks noGrp="1"/>
          </p:cNvSpPr>
          <p:nvPr/>
        </p:nvSpPr>
        <p:spPr>
          <a:xfrm>
            <a:off x="6743700" y="2943225"/>
            <a:ext cx="285750" cy="285750"/>
          </a:xfrm>
          <a:custGeom>
            <a:pathLst>
              <a:path w="952500" h="952500">
                <a:moveTo>
                  <a:pt x="428625" y="114300"/>
                </a:moveTo>
                <a:lnTo>
                  <a:pt x="657225" y="790575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95" name="icon-network-619">
            <a:extLst>
              <a:ext uri="{FF2B5EF4-FFF2-40B4-BE49-F238E27FC236}">
                <ns2:creationId id="{16BE003F-E415-4FA6-8E52-FC466E94246C}"/>
              </a:ext>
            </a:extLst>
          </p:cNvPr>
          <p:cNvSpPr>
            <a:spLocks noGrp="1"/>
          </p:cNvSpPr>
          <p:nvPr/>
        </p:nvSpPr>
        <p:spPr>
          <a:xfrm>
            <a:off x="6760845" y="3028950"/>
            <a:ext cx="40005" cy="40005"/>
          </a:xfrm>
          <a:prstGeom prst="ellipse">
            <a:avLst/>
          </a:prstGeom>
          <a:solidFill>
            <a:srgbClr val="FFFFFF"/>
          </a:solidFill>
          <a:ln w="12383">
            <a:solidFill>
              <a:srgbClr val="173D67"/>
            </a:solidFill>
            <a:prstDash val="solid"/>
          </a:ln>
        </p:spPr>
      </p:sp>
      <p:sp>
        <p:nvSpPr>
          <p:cNvPr id="96" name="icon-network-620">
            <a:extLst>
              <a:ext uri="{FF2B5EF4-FFF2-40B4-BE49-F238E27FC236}">
                <ns2:creationId id="{9661D4C1-BF96-4C5F-A583-3A15EC03ADC9}"/>
              </a:ext>
            </a:extLst>
          </p:cNvPr>
          <p:cNvSpPr>
            <a:spLocks noGrp="1"/>
          </p:cNvSpPr>
          <p:nvPr/>
        </p:nvSpPr>
        <p:spPr>
          <a:xfrm>
            <a:off x="6852285" y="2957513"/>
            <a:ext cx="40005" cy="40005"/>
          </a:xfrm>
          <a:prstGeom prst="ellipse">
            <a:avLst/>
          </a:prstGeom>
          <a:solidFill>
            <a:srgbClr val="FFFFFF"/>
          </a:solidFill>
          <a:ln w="12383">
            <a:solidFill>
              <a:srgbClr val="173D67"/>
            </a:solidFill>
            <a:prstDash val="solid"/>
          </a:ln>
        </p:spPr>
      </p:sp>
      <p:sp>
        <p:nvSpPr>
          <p:cNvPr id="97" name="icon-network-621">
            <a:extLst>
              <a:ext uri="{FF2B5EF4-FFF2-40B4-BE49-F238E27FC236}">
                <ns2:creationId id="{FF61DF28-008D-4BB9-AC06-FCAE263F2C62}"/>
              </a:ext>
            </a:extLst>
          </p:cNvPr>
          <p:cNvSpPr>
            <a:spLocks noGrp="1"/>
          </p:cNvSpPr>
          <p:nvPr/>
        </p:nvSpPr>
        <p:spPr>
          <a:xfrm>
            <a:off x="6963728" y="3008948"/>
            <a:ext cx="40005" cy="40005"/>
          </a:xfrm>
          <a:prstGeom prst="ellipse">
            <a:avLst/>
          </a:prstGeom>
          <a:solidFill>
            <a:srgbClr val="FFFFFF"/>
          </a:solidFill>
          <a:ln w="12383">
            <a:solidFill>
              <a:srgbClr val="173D67"/>
            </a:solidFill>
            <a:prstDash val="solid"/>
          </a:ln>
        </p:spPr>
      </p:sp>
      <p:sp>
        <p:nvSpPr>
          <p:cNvPr id="98" name="icon-network-622">
            <a:extLst>
              <a:ext uri="{FF2B5EF4-FFF2-40B4-BE49-F238E27FC236}">
                <ns2:creationId id="{8653BD32-2D6B-4F1E-AD4F-228C21037D9F}"/>
              </a:ext>
            </a:extLst>
          </p:cNvPr>
          <p:cNvSpPr>
            <a:spLocks noGrp="1"/>
          </p:cNvSpPr>
          <p:nvPr/>
        </p:nvSpPr>
        <p:spPr>
          <a:xfrm>
            <a:off x="6920865" y="3160395"/>
            <a:ext cx="40005" cy="40005"/>
          </a:xfrm>
          <a:prstGeom prst="ellipse">
            <a:avLst/>
          </a:prstGeom>
          <a:solidFill>
            <a:srgbClr val="FFFFFF"/>
          </a:solidFill>
          <a:ln w="12383">
            <a:solidFill>
              <a:srgbClr val="173D67"/>
            </a:solidFill>
            <a:prstDash val="solid"/>
          </a:ln>
        </p:spPr>
      </p:sp>
      <p:sp>
        <p:nvSpPr>
          <p:cNvPr id="99" name="icon-network-623">
            <a:extLst>
              <a:ext uri="{FF2B5EF4-FFF2-40B4-BE49-F238E27FC236}">
                <ns2:creationId id="{2B7120D8-F13C-4CE8-849B-7C2F69A1737C}"/>
              </a:ext>
            </a:extLst>
          </p:cNvPr>
          <p:cNvSpPr>
            <a:spLocks noGrp="1"/>
          </p:cNvSpPr>
          <p:nvPr/>
        </p:nvSpPr>
        <p:spPr>
          <a:xfrm>
            <a:off x="6792278" y="3157538"/>
            <a:ext cx="40005" cy="40005"/>
          </a:xfrm>
          <a:prstGeom prst="ellipse">
            <a:avLst/>
          </a:prstGeom>
          <a:solidFill>
            <a:srgbClr val="FFFFFF"/>
          </a:solidFill>
          <a:ln w="12383">
            <a:solidFill>
              <a:srgbClr val="173D67"/>
            </a:solidFill>
            <a:prstDash val="solid"/>
          </a:ln>
        </p:spPr>
      </p:sp>
      <p:sp>
        <p:nvSpPr>
          <p:cNvPr id="100" name="text-624">
            <a:extLst>
              <a:ext uri="{FF2B5EF4-FFF2-40B4-BE49-F238E27FC236}">
                <ns2:creationId id="{55BAB358-CB33-4D7E-A483-94C2D43E0C96}"/>
              </a:ext>
            </a:extLst>
          </p:cNvPr>
          <p:cNvSpPr>
            <a:spLocks noGrp="1"/>
          </p:cNvSpPr>
          <p:nvPr/>
        </p:nvSpPr>
        <p:spPr>
          <a:xfrm>
            <a:off x="7105650" y="2905125"/>
            <a:ext cx="990600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特征构建</a:t>
            </a:r>
            <a:endParaRPr/>
          </a:p>
        </p:txBody>
      </p:sp>
      <p:cxnSp>
        <p:nvCxnSpPr>
          <p:cNvPr id="101" name="">
            <a:extLst>
              <a:ext uri="{FF2B5EF4-FFF2-40B4-BE49-F238E27FC236}">
                <ns2:creationId id="{745E3870-1C02-4A96-98BA-270C7FFE8845}"/>
              </a:ext>
            </a:extLst>
          </p:cNvPr>
          <p:cNvCxnSpPr>
            <a:stCxn id="69" idx="3"/>
            <a:endCxn id="74" idx="1"/>
          </p:cNvCxnSpPr>
          <p:nvPr/>
        </p:nvCxnSpPr>
        <p:spPr>
          <a:xfrm>
            <a:off x="4838700" y="3186113"/>
            <a:ext cx="114300" cy="0"/>
          </a:xfrm>
          <a:prstGeom prst="straightConnector1">
            <a:avLst/>
          </a:prstGeom>
          <a:ln w="19050">
            <a:solidFill>
              <a:srgbClr val="173D67"/>
            </a:solidFill>
            <a:prstDash val="solid"/>
            <a:tailEnd type="triangle" w="med" len="med"/>
          </a:ln>
        </p:spPr>
      </p:cxnSp>
      <p:cxnSp>
        <p:nvCxnSpPr>
          <p:cNvPr id="102" name="">
            <a:extLst>
              <a:ext uri="{FF2B5EF4-FFF2-40B4-BE49-F238E27FC236}">
                <ns2:creationId id="{61196C3E-7464-42B9-AAAA-B778EC750606}"/>
              </a:ext>
            </a:extLst>
          </p:cNvPr>
          <p:cNvCxnSpPr>
            <a:stCxn id="74" idx="3"/>
            <a:endCxn id="87" idx="1"/>
          </p:cNvCxnSpPr>
          <p:nvPr/>
        </p:nvCxnSpPr>
        <p:spPr>
          <a:xfrm>
            <a:off x="6515100" y="3186113"/>
            <a:ext cx="114300" cy="0"/>
          </a:xfrm>
          <a:prstGeom prst="straightConnector1">
            <a:avLst/>
          </a:prstGeom>
          <a:ln w="19050">
            <a:solidFill>
              <a:srgbClr val="173D67"/>
            </a:solidFill>
            <a:prstDash val="solid"/>
            <a:tailEnd type="triangle" w="med" len="med"/>
          </a:ln>
        </p:spPr>
      </p:cxnSp>
      <p:cxnSp>
        <p:nvCxnSpPr>
          <p:cNvPr id="103" name="">
            <a:extLst>
              <a:ext uri="{FF2B5EF4-FFF2-40B4-BE49-F238E27FC236}">
                <ns2:creationId id="{038C51C5-6556-4CA9-99D4-5DA775229489}"/>
              </a:ext>
            </a:extLst>
          </p:cNvPr>
          <p:cNvCxnSpPr>
            <a:stCxn id="48" idx="2"/>
            <a:endCxn id="69" idx="0"/>
          </p:cNvCxnSpPr>
          <p:nvPr/>
        </p:nvCxnSpPr>
        <p:spPr>
          <a:xfrm>
            <a:off x="4057650" y="2505075"/>
            <a:ext cx="0" cy="323850"/>
          </a:xfrm>
          <a:prstGeom prst="straightConnector1">
            <a:avLst/>
          </a:prstGeom>
          <a:ln w="19050">
            <a:solidFill>
              <a:srgbClr val="718EAA"/>
            </a:solidFill>
            <a:prstDash val="solid"/>
            <a:tailEnd type="triangle" w="med" len="med"/>
          </a:ln>
        </p:spPr>
      </p:cxnSp>
      <p:cxnSp>
        <p:nvCxnSpPr>
          <p:cNvPr id="104" name="">
            <a:extLst>
              <a:ext uri="{FF2B5EF4-FFF2-40B4-BE49-F238E27FC236}">
                <ns2:creationId id="{4DD15BA3-CD75-4D66-AE54-57312134BC1F}"/>
              </a:ext>
            </a:extLst>
          </p:cNvPr>
          <p:cNvCxnSpPr>
            <a:stCxn id="54" idx="2"/>
            <a:endCxn id="74" idx="0"/>
          </p:cNvCxnSpPr>
          <p:nvPr/>
        </p:nvCxnSpPr>
        <p:spPr>
          <a:xfrm>
            <a:off x="5734050" y="2505075"/>
            <a:ext cx="0" cy="323850"/>
          </a:xfrm>
          <a:prstGeom prst="straightConnector1">
            <a:avLst/>
          </a:prstGeom>
          <a:ln w="19050">
            <a:solidFill>
              <a:srgbClr val="718EAA"/>
            </a:solidFill>
            <a:prstDash val="solid"/>
            <a:tailEnd type="triangle" w="med" len="med"/>
          </a:ln>
        </p:spPr>
      </p:cxnSp>
      <p:cxnSp>
        <p:nvCxnSpPr>
          <p:cNvPr id="105" name="">
            <a:extLst>
              <a:ext uri="{FF2B5EF4-FFF2-40B4-BE49-F238E27FC236}">
                <ns2:creationId id="{991E939E-9EA2-4566-9436-B83C54E25C22}"/>
              </a:ext>
            </a:extLst>
          </p:cNvPr>
          <p:cNvCxnSpPr>
            <a:stCxn id="61" idx="2"/>
            <a:endCxn id="87" idx="0"/>
          </p:cNvCxnSpPr>
          <p:nvPr/>
        </p:nvCxnSpPr>
        <p:spPr>
          <a:xfrm>
            <a:off x="7410450" y="2505075"/>
            <a:ext cx="0" cy="323850"/>
          </a:xfrm>
          <a:prstGeom prst="straightConnector1">
            <a:avLst/>
          </a:prstGeom>
          <a:ln w="19050">
            <a:solidFill>
              <a:srgbClr val="718EAA"/>
            </a:solidFill>
            <a:prstDash val="solid"/>
            <a:tailEnd type="triangle" w="med" len="med"/>
          </a:ln>
        </p:spPr>
      </p:cxnSp>
      <p:sp>
        <p:nvSpPr>
          <p:cNvPr id="106" name="node-625">
            <a:extLst>
              <a:ext uri="{FF2B5EF4-FFF2-40B4-BE49-F238E27FC236}">
                <ns2:creationId id="{6EF21D18-D552-4EA3-A6D6-2E49C16A203A}"/>
              </a:ext>
            </a:extLst>
          </p:cNvPr>
          <p:cNvSpPr>
            <a:spLocks noGrp="1"/>
          </p:cNvSpPr>
          <p:nvPr/>
        </p:nvSpPr>
        <p:spPr>
          <a:xfrm>
            <a:off x="3276600" y="3990975"/>
            <a:ext cx="2400300" cy="885825"/>
          </a:xfrm>
          <a:prstGeom prst="roundRect">
            <a:avLst>
              <a:gd name="adj" fmla="val 8602"/>
            </a:avLst>
          </a:prstGeom>
          <a:solidFill>
            <a:srgbClr val="EEF3F8"/>
          </a:solidFill>
          <a:ln w="9525">
            <a:solidFill>
              <a:srgbClr val="718EAA"/>
            </a:solidFill>
            <a:prstDash val="solid"/>
          </a:ln>
        </p:spPr>
      </p:sp>
      <p:sp>
        <p:nvSpPr>
          <p:cNvPr id="107" name="icon-grid-626">
            <a:extLst>
              <a:ext uri="{FF2B5EF4-FFF2-40B4-BE49-F238E27FC236}">
                <ns2:creationId id="{EE9D4ED0-D09C-4A75-83DF-5F86225D8C82}"/>
              </a:ext>
            </a:extLst>
          </p:cNvPr>
          <p:cNvSpPr>
            <a:spLocks noGrp="1"/>
          </p:cNvSpPr>
          <p:nvPr/>
        </p:nvSpPr>
        <p:spPr>
          <a:xfrm>
            <a:off x="3436620" y="4131945"/>
            <a:ext cx="280035" cy="280035"/>
          </a:xfrm>
          <a:prstGeom prst="rect">
            <a:avLst/>
          </a:prstGeom>
          <a:noFill/>
          <a:ln w="12383">
            <a:solidFill>
              <a:srgbClr val="173D67"/>
            </a:solidFill>
            <a:prstDash val="solid"/>
          </a:ln>
        </p:spPr>
      </p:sp>
      <p:sp>
        <p:nvSpPr>
          <p:cNvPr id="108" name="vector-627">
            <a:extLst>
              <a:ext uri="{FF2B5EF4-FFF2-40B4-BE49-F238E27FC236}">
                <ns2:creationId id="{D402C095-DAA3-4841-BDC7-457593A4EC7B}"/>
              </a:ext>
            </a:extLst>
          </p:cNvPr>
          <p:cNvSpPr>
            <a:spLocks noGrp="1"/>
          </p:cNvSpPr>
          <p:nvPr/>
        </p:nvSpPr>
        <p:spPr>
          <a:xfrm>
            <a:off x="3409950" y="4105275"/>
            <a:ext cx="333375" cy="333375"/>
          </a:xfrm>
          <a:custGeom>
            <a:pathLst>
              <a:path w="952500" h="952500">
                <a:moveTo>
                  <a:pt x="276225" y="76200"/>
                </a:moveTo>
                <a:lnTo>
                  <a:pt x="276225" y="87630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109" name="vector-628">
            <a:extLst>
              <a:ext uri="{FF2B5EF4-FFF2-40B4-BE49-F238E27FC236}">
                <ns2:creationId id="{7C3AEFD8-5222-48B6-BAEB-ECFA14C7E76A}"/>
              </a:ext>
            </a:extLst>
          </p:cNvPr>
          <p:cNvSpPr>
            <a:spLocks noGrp="1"/>
          </p:cNvSpPr>
          <p:nvPr/>
        </p:nvSpPr>
        <p:spPr>
          <a:xfrm>
            <a:off x="3409950" y="4105275"/>
            <a:ext cx="333375" cy="333375"/>
          </a:xfrm>
          <a:custGeom>
            <a:pathLst>
              <a:path w="952500" h="952500">
                <a:moveTo>
                  <a:pt x="76200" y="276225"/>
                </a:moveTo>
                <a:lnTo>
                  <a:pt x="876300" y="276225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110" name="vector-629">
            <a:extLst>
              <a:ext uri="{FF2B5EF4-FFF2-40B4-BE49-F238E27FC236}">
                <ns2:creationId id="{C13F4154-5EAB-43D4-8083-6C571CB5CBA0}"/>
              </a:ext>
            </a:extLst>
          </p:cNvPr>
          <p:cNvSpPr>
            <a:spLocks noGrp="1"/>
          </p:cNvSpPr>
          <p:nvPr/>
        </p:nvSpPr>
        <p:spPr>
          <a:xfrm>
            <a:off x="3409950" y="4105275"/>
            <a:ext cx="333375" cy="333375"/>
          </a:xfrm>
          <a:custGeom>
            <a:pathLst>
              <a:path w="952500" h="952500">
                <a:moveTo>
                  <a:pt x="476250" y="76200"/>
                </a:moveTo>
                <a:lnTo>
                  <a:pt x="476250" y="87630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111" name="vector-630">
            <a:extLst>
              <a:ext uri="{FF2B5EF4-FFF2-40B4-BE49-F238E27FC236}">
                <ns2:creationId id="{1C01EF4F-B3DA-4C81-B7AA-39F430798EBF}"/>
              </a:ext>
            </a:extLst>
          </p:cNvPr>
          <p:cNvSpPr>
            <a:spLocks noGrp="1"/>
          </p:cNvSpPr>
          <p:nvPr/>
        </p:nvSpPr>
        <p:spPr>
          <a:xfrm>
            <a:off x="3409950" y="4105275"/>
            <a:ext cx="333375" cy="333375"/>
          </a:xfrm>
          <a:custGeom>
            <a:pathLst>
              <a:path w="952500" h="952500">
                <a:moveTo>
                  <a:pt x="76200" y="476250"/>
                </a:moveTo>
                <a:lnTo>
                  <a:pt x="876300" y="47625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112" name="vector-631">
            <a:extLst>
              <a:ext uri="{FF2B5EF4-FFF2-40B4-BE49-F238E27FC236}">
                <ns2:creationId id="{7B0CAA82-EC26-4456-BD70-AFC906CDD731}"/>
              </a:ext>
            </a:extLst>
          </p:cNvPr>
          <p:cNvSpPr>
            <a:spLocks noGrp="1"/>
          </p:cNvSpPr>
          <p:nvPr/>
        </p:nvSpPr>
        <p:spPr>
          <a:xfrm>
            <a:off x="3409950" y="4105275"/>
            <a:ext cx="333375" cy="333375"/>
          </a:xfrm>
          <a:custGeom>
            <a:pathLst>
              <a:path w="952500" h="952500">
                <a:moveTo>
                  <a:pt x="676275" y="76200"/>
                </a:moveTo>
                <a:lnTo>
                  <a:pt x="676275" y="87630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113" name="vector-632">
            <a:extLst>
              <a:ext uri="{FF2B5EF4-FFF2-40B4-BE49-F238E27FC236}">
                <ns2:creationId id="{19B82398-5964-4909-ABE0-545A10922BDF}"/>
              </a:ext>
            </a:extLst>
          </p:cNvPr>
          <p:cNvSpPr>
            <a:spLocks noGrp="1"/>
          </p:cNvSpPr>
          <p:nvPr/>
        </p:nvSpPr>
        <p:spPr>
          <a:xfrm>
            <a:off x="3409950" y="4105275"/>
            <a:ext cx="333375" cy="333375"/>
          </a:xfrm>
          <a:custGeom>
            <a:pathLst>
              <a:path w="952500" h="952500">
                <a:moveTo>
                  <a:pt x="76200" y="676275"/>
                </a:moveTo>
                <a:lnTo>
                  <a:pt x="876300" y="676275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114" name="text-633">
            <a:extLst>
              <a:ext uri="{FF2B5EF4-FFF2-40B4-BE49-F238E27FC236}">
                <ns2:creationId id="{D46716D4-A555-4B24-96CD-D828E4D21AAA}"/>
              </a:ext>
            </a:extLst>
          </p:cNvPr>
          <p:cNvSpPr>
            <a:spLocks noGrp="1"/>
          </p:cNvSpPr>
          <p:nvPr/>
        </p:nvSpPr>
        <p:spPr>
          <a:xfrm>
            <a:off x="3857625" y="4105275"/>
            <a:ext cx="16954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格局分析</a:t>
            </a:r>
            <a:endParaRPr/>
          </a:p>
        </p:txBody>
      </p:sp>
      <p:sp>
        <p:nvSpPr>
          <p:cNvPr id="115" name="text-634">
            <a:extLst>
              <a:ext uri="{FF2B5EF4-FFF2-40B4-BE49-F238E27FC236}">
                <ns2:creationId id="{2C866A2F-E0A4-4536-9C5C-218D70936BD1}"/>
              </a:ext>
            </a:extLst>
          </p:cNvPr>
          <p:cNvSpPr>
            <a:spLocks noGrp="1"/>
          </p:cNvSpPr>
          <p:nvPr/>
        </p:nvSpPr>
        <p:spPr>
          <a:xfrm>
            <a:off x="3409950" y="4533900"/>
            <a:ext cx="2143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识别空间结构与梯度</a:t>
            </a:r>
            <a:endParaRPr/>
          </a:p>
        </p:txBody>
      </p:sp>
      <p:sp>
        <p:nvSpPr>
          <p:cNvPr id="116" name="node-635">
            <a:extLst>
              <a:ext uri="{FF2B5EF4-FFF2-40B4-BE49-F238E27FC236}">
                <ns2:creationId id="{2F4EF974-6688-45CB-AA22-72D38D007364}"/>
              </a:ext>
            </a:extLst>
          </p:cNvPr>
          <p:cNvSpPr>
            <a:spLocks noGrp="1"/>
          </p:cNvSpPr>
          <p:nvPr/>
        </p:nvSpPr>
        <p:spPr>
          <a:xfrm>
            <a:off x="5800725" y="3990975"/>
            <a:ext cx="2400300" cy="885825"/>
          </a:xfrm>
          <a:prstGeom prst="roundRect">
            <a:avLst>
              <a:gd name="adj" fmla="val 8602"/>
            </a:avLst>
          </a:prstGeom>
          <a:solidFill>
            <a:srgbClr val="EEF3F8"/>
          </a:solidFill>
          <a:ln w="9525">
            <a:solidFill>
              <a:srgbClr val="718EAA"/>
            </a:solidFill>
            <a:prstDash val="solid"/>
          </a:ln>
        </p:spPr>
      </p:sp>
      <p:sp>
        <p:nvSpPr>
          <p:cNvPr id="117" name="vector-636">
            <a:extLst>
              <a:ext uri="{FF2B5EF4-FFF2-40B4-BE49-F238E27FC236}">
                <ns2:creationId id="{7F4B6986-31C8-49CC-9E28-6F303DDC4411}"/>
              </a:ext>
            </a:extLst>
          </p:cNvPr>
          <p:cNvSpPr>
            <a:spLocks noGrp="1"/>
          </p:cNvSpPr>
          <p:nvPr/>
        </p:nvSpPr>
        <p:spPr>
          <a:xfrm>
            <a:off x="5934075" y="4105275"/>
            <a:ext cx="333375" cy="333375"/>
          </a:xfrm>
          <a:custGeom>
            <a:pathLst>
              <a:path w="952500" h="952500">
                <a:moveTo>
                  <a:pt x="114300" y="76200"/>
                </a:moveTo>
                <a:lnTo>
                  <a:pt x="114300" y="828675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118" name="vector-637">
            <a:extLst>
              <a:ext uri="{FF2B5EF4-FFF2-40B4-BE49-F238E27FC236}">
                <ns2:creationId id="{E84991D4-43C0-45E8-B187-F0ADAA5E196E}"/>
              </a:ext>
            </a:extLst>
          </p:cNvPr>
          <p:cNvSpPr>
            <a:spLocks noGrp="1"/>
          </p:cNvSpPr>
          <p:nvPr/>
        </p:nvSpPr>
        <p:spPr>
          <a:xfrm>
            <a:off x="5934075" y="4105275"/>
            <a:ext cx="333375" cy="333375"/>
          </a:xfrm>
          <a:custGeom>
            <a:pathLst>
              <a:path w="952500" h="952500">
                <a:moveTo>
                  <a:pt x="114300" y="828675"/>
                </a:moveTo>
                <a:lnTo>
                  <a:pt x="885825" y="828675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119" name="icon-chart-638">
            <a:extLst>
              <a:ext uri="{FF2B5EF4-FFF2-40B4-BE49-F238E27FC236}">
                <ns2:creationId id="{F33A5696-B163-4263-9C93-4DDBB0585A86}"/>
              </a:ext>
            </a:extLst>
          </p:cNvPr>
          <p:cNvSpPr>
            <a:spLocks noGrp="1"/>
          </p:cNvSpPr>
          <p:nvPr/>
        </p:nvSpPr>
        <p:spPr>
          <a:xfrm>
            <a:off x="6017419" y="4285298"/>
            <a:ext cx="43339" cy="110014"/>
          </a:xfrm>
          <a:prstGeom prst="rect">
            <a:avLst/>
          </a:prstGeom>
          <a:solidFill>
            <a:srgbClr val="173D67"/>
          </a:solidFill>
          <a:ln w="12383">
            <a:solidFill>
              <a:srgbClr val="173D67"/>
            </a:solidFill>
            <a:prstDash val="solid"/>
          </a:ln>
        </p:spPr>
      </p:sp>
      <p:sp>
        <p:nvSpPr>
          <p:cNvPr id="120" name="icon-chart-639">
            <a:extLst>
              <a:ext uri="{FF2B5EF4-FFF2-40B4-BE49-F238E27FC236}">
                <ns2:creationId id="{11157F1B-A7F1-45F6-B593-E9124BAF9C9F}"/>
              </a:ext>
            </a:extLst>
          </p:cNvPr>
          <p:cNvSpPr>
            <a:spLocks noGrp="1"/>
          </p:cNvSpPr>
          <p:nvPr/>
        </p:nvSpPr>
        <p:spPr>
          <a:xfrm>
            <a:off x="6090761" y="4225290"/>
            <a:ext cx="43339" cy="170021"/>
          </a:xfrm>
          <a:prstGeom prst="rect">
            <a:avLst/>
          </a:prstGeom>
          <a:solidFill>
            <a:srgbClr val="5D7795"/>
          </a:solidFill>
          <a:ln w="12383">
            <a:solidFill>
              <a:srgbClr val="173D67"/>
            </a:solidFill>
            <a:prstDash val="solid"/>
          </a:ln>
        </p:spPr>
      </p:sp>
      <p:sp>
        <p:nvSpPr>
          <p:cNvPr id="121" name="icon-chart-640">
            <a:extLst>
              <a:ext uri="{FF2B5EF4-FFF2-40B4-BE49-F238E27FC236}">
                <ns2:creationId id="{D859CF2B-2427-4F2B-8E24-25BDAAF5DB25}"/>
              </a:ext>
            </a:extLst>
          </p:cNvPr>
          <p:cNvSpPr>
            <a:spLocks noGrp="1"/>
          </p:cNvSpPr>
          <p:nvPr/>
        </p:nvSpPr>
        <p:spPr>
          <a:xfrm>
            <a:off x="6164104" y="4158615"/>
            <a:ext cx="43339" cy="236696"/>
          </a:xfrm>
          <a:prstGeom prst="rect">
            <a:avLst/>
          </a:prstGeom>
          <a:solidFill>
            <a:srgbClr val="173D67"/>
          </a:solidFill>
          <a:ln w="12383">
            <a:solidFill>
              <a:srgbClr val="173D67"/>
            </a:solidFill>
            <a:prstDash val="solid"/>
          </a:ln>
        </p:spPr>
      </p:sp>
      <p:sp>
        <p:nvSpPr>
          <p:cNvPr id="122" name="text-641">
            <a:extLst>
              <a:ext uri="{FF2B5EF4-FFF2-40B4-BE49-F238E27FC236}">
                <ns2:creationId id="{A09C5BDB-54D5-4123-A467-5E24F760EFE4}"/>
              </a:ext>
            </a:extLst>
          </p:cNvPr>
          <p:cNvSpPr>
            <a:spLocks noGrp="1"/>
          </p:cNvSpPr>
          <p:nvPr/>
        </p:nvSpPr>
        <p:spPr>
          <a:xfrm>
            <a:off x="6381750" y="4105275"/>
            <a:ext cx="16954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响应模型</a:t>
            </a:r>
            <a:endParaRPr/>
          </a:p>
        </p:txBody>
      </p:sp>
      <p:sp>
        <p:nvSpPr>
          <p:cNvPr id="123" name="text-642">
            <a:extLst>
              <a:ext uri="{FF2B5EF4-FFF2-40B4-BE49-F238E27FC236}">
                <ns2:creationId id="{9FF2DD64-BAFF-4E49-8643-2340797FC23C}"/>
              </a:ext>
            </a:extLst>
          </p:cNvPr>
          <p:cNvSpPr>
            <a:spLocks noGrp="1"/>
          </p:cNvSpPr>
          <p:nvPr/>
        </p:nvSpPr>
        <p:spPr>
          <a:xfrm>
            <a:off x="5934075" y="4533900"/>
            <a:ext cx="2143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比较效应方向与不确定性</a:t>
            </a:r>
            <a:endParaRPr/>
          </a:p>
        </p:txBody>
      </p:sp>
      <p:cxnSp>
        <p:nvCxnSpPr>
          <p:cNvPr id="124" name="">
            <a:extLst>
              <a:ext uri="{FF2B5EF4-FFF2-40B4-BE49-F238E27FC236}">
                <ns2:creationId id="{9BDA0920-9762-4558-B8DF-6021CD51F36D}"/>
              </a:ext>
            </a:extLst>
          </p:cNvPr>
          <p:cNvCxnSpPr>
            <a:stCxn id="74" idx="2"/>
            <a:endCxn id="106" idx="0"/>
          </p:cNvCxnSpPr>
          <p:nvPr/>
        </p:nvCxnSpPr>
        <p:spPr>
          <a:xfrm flipH="1">
            <a:off x="4476750" y="3543300"/>
            <a:ext cx="1257300" cy="447675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173D67"/>
            </a:solidFill>
            <a:prstDash val="solid"/>
            <a:tailEnd type="triangle" w="med" len="med"/>
          </a:ln>
        </p:spPr>
      </p:cxnSp>
      <p:cxnSp>
        <p:nvCxnSpPr>
          <p:cNvPr id="125" name="">
            <a:extLst>
              <a:ext uri="{FF2B5EF4-FFF2-40B4-BE49-F238E27FC236}">
                <ns2:creationId id="{FBB5D068-A827-4964-A564-42FC02CD1BE2}"/>
              </a:ext>
            </a:extLst>
          </p:cNvPr>
          <p:cNvCxnSpPr>
            <a:stCxn id="74" idx="2"/>
            <a:endCxn id="116" idx="0"/>
          </p:cNvCxnSpPr>
          <p:nvPr/>
        </p:nvCxnSpPr>
        <p:spPr>
          <a:xfrm>
            <a:off x="5734050" y="3543300"/>
            <a:ext cx="1266825" cy="447675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173D67"/>
            </a:solidFill>
            <a:prstDash val="solid"/>
            <a:tailEnd type="triangle" w="med" len="med"/>
          </a:ln>
        </p:spPr>
      </p:cxnSp>
      <p:sp>
        <p:nvSpPr>
          <p:cNvPr id="126" name="node-643">
            <a:extLst>
              <a:ext uri="{FF2B5EF4-FFF2-40B4-BE49-F238E27FC236}">
                <ns2:creationId id="{375EC324-EAFC-49B4-8EE8-82C24883DA2D}"/>
              </a:ext>
            </a:extLst>
          </p:cNvPr>
          <p:cNvSpPr>
            <a:spLocks noGrp="1"/>
          </p:cNvSpPr>
          <p:nvPr/>
        </p:nvSpPr>
        <p:spPr>
          <a:xfrm>
            <a:off x="4124325" y="5505450"/>
            <a:ext cx="3286125" cy="428625"/>
          </a:xfrm>
          <a:prstGeom prst="roundRect">
            <a:avLst>
              <a:gd name="adj" fmla="val 17778"/>
            </a:avLst>
          </a:prstGeom>
          <a:solidFill>
            <a:srgbClr val="EEF3F8"/>
          </a:solidFill>
          <a:ln w="9525">
            <a:solidFill>
              <a:srgbClr val="718EAA"/>
            </a:solidFill>
            <a:prstDash val="solid"/>
          </a:ln>
        </p:spPr>
      </p:sp>
      <p:sp>
        <p:nvSpPr>
          <p:cNvPr id="127" name="text-644">
            <a:extLst>
              <a:ext uri="{FF2B5EF4-FFF2-40B4-BE49-F238E27FC236}">
                <ns2:creationId id="{6CD7756A-CC6B-4B7E-83E7-A3B2467D751E}"/>
              </a:ext>
            </a:extLst>
          </p:cNvPr>
          <p:cNvSpPr>
            <a:spLocks noGrp="1"/>
          </p:cNvSpPr>
          <p:nvPr/>
        </p:nvSpPr>
        <p:spPr>
          <a:xfrm>
            <a:off x="4219575" y="5581650"/>
            <a:ext cx="309562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机制比较</a:t>
            </a:r>
            <a:endParaRPr/>
          </a:p>
        </p:txBody>
      </p:sp>
      <p:cxnSp>
        <p:nvCxnSpPr>
          <p:cNvPr id="128" name="">
            <a:extLst>
              <a:ext uri="{FF2B5EF4-FFF2-40B4-BE49-F238E27FC236}">
                <ns2:creationId id="{EE8F1370-C2C3-48E4-9EEC-EA3C5F6A749C}"/>
              </a:ext>
            </a:extLst>
          </p:cNvPr>
          <p:cNvCxnSpPr>
            <a:stCxn id="106" idx="2"/>
            <a:endCxn id="126" idx="0"/>
          </p:cNvCxnSpPr>
          <p:nvPr/>
        </p:nvCxnSpPr>
        <p:spPr>
          <a:xfrm>
            <a:off x="4476750" y="4876800"/>
            <a:ext cx="1290638" cy="62865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173D67"/>
            </a:solidFill>
            <a:prstDash val="solid"/>
            <a:tailEnd type="triangle" w="med" len="med"/>
          </a:ln>
        </p:spPr>
      </p:cxnSp>
      <p:cxnSp>
        <p:nvCxnSpPr>
          <p:cNvPr id="129" name="">
            <a:extLst>
              <a:ext uri="{FF2B5EF4-FFF2-40B4-BE49-F238E27FC236}">
                <ns2:creationId id="{174A42BA-D47F-4C47-A798-112C5D2B174F}"/>
              </a:ext>
            </a:extLst>
          </p:cNvPr>
          <p:cNvCxnSpPr>
            <a:stCxn id="116" idx="2"/>
            <a:endCxn id="126" idx="0"/>
          </p:cNvCxnSpPr>
          <p:nvPr/>
        </p:nvCxnSpPr>
        <p:spPr>
          <a:xfrm flipH="1">
            <a:off x="5767388" y="4876800"/>
            <a:ext cx="1233488" cy="62865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173D67"/>
            </a:solidFill>
            <a:prstDash val="solid"/>
            <a:tailEnd type="triangle" w="med" len="med"/>
          </a:ln>
        </p:spPr>
      </p:cxnSp>
      <p:sp>
        <p:nvSpPr>
          <p:cNvPr id="130" name="text-645">
            <a:extLst>
              <a:ext uri="{FF2B5EF4-FFF2-40B4-BE49-F238E27FC236}">
                <ns2:creationId id="{161E34AB-2322-4C7B-A21B-5432F76F4C8E}"/>
              </a:ext>
            </a:extLst>
          </p:cNvPr>
          <p:cNvSpPr>
            <a:spLocks noGrp="1"/>
          </p:cNvSpPr>
          <p:nvPr/>
        </p:nvSpPr>
        <p:spPr>
          <a:xfrm>
            <a:off x="8705850" y="1400175"/>
            <a:ext cx="304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效应与不确定性</a:t>
            </a:r>
            <a:endParaRPr/>
          </a:p>
        </p:txBody>
      </p:sp>
      <p:graphicFrame>
        <p:nvGraphicFramePr>
          <p:cNvPr id="131" name="Chart">
            <a:extLst>
              <a:ext uri="{FF2B5EF4-FFF2-40B4-BE49-F238E27FC236}">
                <ns2:creationId id="{6F56A08E-521C-403C-8B9F-CA029BAE16FF}"/>
              </a:ext>
            </a:extLst>
          </p:cNvPr>
          <p:cNvGraphicFramePr/>
          <p:nvPr/>
        </p:nvGraphicFramePr>
        <p:xfrm>
          <a:off x="8639175" y="1752600"/>
          <a:ext cx="3219450" cy="2295525"/>
        </p:xfrm>
        <a:graphic>
          <a:graphicData uri="http://schemas.openxmlformats.org/drawingml/2006/chart">
            <c:chart r:id="Rb01c90e26ef64a2d"/>
          </a:graphicData>
        </a:graphic>
      </p:graphicFrame>
      <p:sp>
        <p:nvSpPr>
          <p:cNvPr id="132" name="text-646">
            <a:extLst>
              <a:ext uri="{FF2B5EF4-FFF2-40B4-BE49-F238E27FC236}">
                <ns2:creationId id="{4F0A6ABF-687A-4B96-BA21-C8F449C34289}"/>
              </a:ext>
            </a:extLst>
          </p:cNvPr>
          <p:cNvSpPr>
            <a:spLocks noGrp="1"/>
          </p:cNvSpPr>
          <p:nvPr/>
        </p:nvSpPr>
        <p:spPr>
          <a:xfrm>
            <a:off x="8639175" y="2088909"/>
            <a:ext cx="804863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生境面积</a:t>
            </a:r>
            <a:endParaRPr/>
          </a:p>
        </p:txBody>
      </p:sp>
      <p:sp>
        <p:nvSpPr>
          <p:cNvPr id="133" name="text-647">
            <a:extLst>
              <a:ext uri="{FF2B5EF4-FFF2-40B4-BE49-F238E27FC236}">
                <ns2:creationId id="{A9FD7FB5-BCEF-4B4F-BD2F-EFADD59AEF2E}"/>
              </a:ext>
            </a:extLst>
          </p:cNvPr>
          <p:cNvSpPr>
            <a:spLocks noGrp="1"/>
          </p:cNvSpPr>
          <p:nvPr/>
        </p:nvSpPr>
        <p:spPr>
          <a:xfrm>
            <a:off x="8639175" y="2405691"/>
            <a:ext cx="804863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隔离程度</a:t>
            </a:r>
            <a:endParaRPr/>
          </a:p>
        </p:txBody>
      </p:sp>
      <p:sp>
        <p:nvSpPr>
          <p:cNvPr id="134" name="text-648">
            <a:extLst>
              <a:ext uri="{FF2B5EF4-FFF2-40B4-BE49-F238E27FC236}">
                <ns2:creationId id="{C7EFB0F2-F63B-4688-A1FD-72DDE1B10537}"/>
              </a:ext>
            </a:extLst>
          </p:cNvPr>
          <p:cNvSpPr>
            <a:spLocks noGrp="1"/>
          </p:cNvSpPr>
          <p:nvPr/>
        </p:nvSpPr>
        <p:spPr>
          <a:xfrm>
            <a:off x="8639175" y="2722474"/>
            <a:ext cx="804863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植被覆盖</a:t>
            </a:r>
            <a:endParaRPr/>
          </a:p>
        </p:txBody>
      </p:sp>
      <p:sp>
        <p:nvSpPr>
          <p:cNvPr id="135" name="text-649">
            <a:extLst>
              <a:ext uri="{FF2B5EF4-FFF2-40B4-BE49-F238E27FC236}">
                <ns2:creationId id="{F4A8FA9C-B5A5-4F75-9176-3B19DE03ECE0}"/>
              </a:ext>
            </a:extLst>
          </p:cNvPr>
          <p:cNvSpPr>
            <a:spLocks noGrp="1"/>
          </p:cNvSpPr>
          <p:nvPr/>
        </p:nvSpPr>
        <p:spPr>
          <a:xfrm>
            <a:off x="8639175" y="3039256"/>
            <a:ext cx="804863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人为干扰</a:t>
            </a:r>
            <a:endParaRPr/>
          </a:p>
        </p:txBody>
      </p:sp>
      <p:sp>
        <p:nvSpPr>
          <p:cNvPr id="136" name="text-650">
            <a:extLst>
              <a:ext uri="{FF2B5EF4-FFF2-40B4-BE49-F238E27FC236}">
                <ns2:creationId id="{87F88F4D-5D56-46C5-893B-33BF7D8003BA}"/>
              </a:ext>
            </a:extLst>
          </p:cNvPr>
          <p:cNvSpPr>
            <a:spLocks noGrp="1"/>
          </p:cNvSpPr>
          <p:nvPr/>
        </p:nvSpPr>
        <p:spPr>
          <a:xfrm>
            <a:off x="9669399" y="3857625"/>
            <a:ext cx="16097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标准化效应值</a:t>
            </a:r>
            <a:endParaRPr/>
          </a:p>
        </p:txBody>
      </p:sp>
      <p:sp>
        <p:nvSpPr>
          <p:cNvPr id="137" name="text-651">
            <a:extLst>
              <a:ext uri="{FF2B5EF4-FFF2-40B4-BE49-F238E27FC236}">
                <ns2:creationId id="{097BF0D9-A4CE-4971-A594-F633AB7FEDA6}"/>
              </a:ext>
            </a:extLst>
          </p:cNvPr>
          <p:cNvSpPr>
            <a:spLocks noGrp="1"/>
          </p:cNvSpPr>
          <p:nvPr/>
        </p:nvSpPr>
        <p:spPr>
          <a:xfrm>
            <a:off x="8705850" y="4162425"/>
            <a:ext cx="304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证据核查</a:t>
            </a:r>
            <a:endParaRPr/>
          </a:p>
        </p:txBody>
      </p:sp>
      <p:sp>
        <p:nvSpPr>
          <p:cNvPr id="138" name="icon-check-652">
            <a:extLst>
              <a:ext uri="{FF2B5EF4-FFF2-40B4-BE49-F238E27FC236}">
                <ns2:creationId id="{DB511005-783A-4590-84ED-48DC31A6B5A0}"/>
              </a:ext>
            </a:extLst>
          </p:cNvPr>
          <p:cNvSpPr>
            <a:spLocks noGrp="1"/>
          </p:cNvSpPr>
          <p:nvPr/>
        </p:nvSpPr>
        <p:spPr>
          <a:xfrm>
            <a:off x="8748713" y="4605338"/>
            <a:ext cx="190500" cy="190500"/>
          </a:xfrm>
          <a:prstGeom prst="ellipse">
            <a:avLst/>
          </a:prstGeom>
          <a:noFill/>
          <a:ln w="12383">
            <a:solidFill>
              <a:srgbClr val="173D67"/>
            </a:solidFill>
            <a:prstDash val="solid"/>
          </a:ln>
        </p:spPr>
      </p:sp>
      <p:sp>
        <p:nvSpPr>
          <p:cNvPr id="139" name="vector-653">
            <a:extLst>
              <a:ext uri="{FF2B5EF4-FFF2-40B4-BE49-F238E27FC236}">
                <ns2:creationId id="{B7C0770D-EB12-4C22-910F-7EA83BE96391}"/>
              </a:ext>
            </a:extLst>
          </p:cNvPr>
          <p:cNvSpPr>
            <a:spLocks noGrp="1"/>
          </p:cNvSpPr>
          <p:nvPr/>
        </p:nvSpPr>
        <p:spPr>
          <a:xfrm>
            <a:off x="8724900" y="4581525"/>
            <a:ext cx="238125" cy="238125"/>
          </a:xfrm>
          <a:custGeom>
            <a:pathLst>
              <a:path w="952500" h="952500">
                <a:moveTo>
                  <a:pt x="266700" y="476250"/>
                </a:moveTo>
                <a:lnTo>
                  <a:pt x="428625" y="62865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140" name="vector-654">
            <a:extLst>
              <a:ext uri="{FF2B5EF4-FFF2-40B4-BE49-F238E27FC236}">
                <ns2:creationId id="{A95DE63F-278C-4124-9403-AF4DEAAA7847}"/>
              </a:ext>
            </a:extLst>
          </p:cNvPr>
          <p:cNvSpPr>
            <a:spLocks noGrp="1"/>
          </p:cNvSpPr>
          <p:nvPr/>
        </p:nvSpPr>
        <p:spPr>
          <a:xfrm>
            <a:off x="8724900" y="4581525"/>
            <a:ext cx="238125" cy="238125"/>
          </a:xfrm>
          <a:custGeom>
            <a:pathLst>
              <a:path w="952500" h="952500">
                <a:moveTo>
                  <a:pt x="428625" y="628650"/>
                </a:moveTo>
                <a:lnTo>
                  <a:pt x="714375" y="30480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141" name="text-655">
            <a:extLst>
              <a:ext uri="{FF2B5EF4-FFF2-40B4-BE49-F238E27FC236}">
                <ns2:creationId id="{79BED791-FDA7-43A4-AEA6-548CAC26DB81}"/>
              </a:ext>
            </a:extLst>
          </p:cNvPr>
          <p:cNvSpPr>
            <a:spLocks noGrp="1"/>
          </p:cNvSpPr>
          <p:nvPr/>
        </p:nvSpPr>
        <p:spPr>
          <a:xfrm>
            <a:off x="9067800" y="4552950"/>
            <a:ext cx="27051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核对来源与尺度一致性</a:t>
            </a:r>
            <a:endParaRPr/>
          </a:p>
        </p:txBody>
      </p:sp>
      <p:sp>
        <p:nvSpPr>
          <p:cNvPr id="142" name="icon-check-656">
            <a:extLst>
              <a:ext uri="{FF2B5EF4-FFF2-40B4-BE49-F238E27FC236}">
                <ns2:creationId id="{AF8FE4D7-B3B8-46DE-8572-4BB7FFBF4AA7}"/>
              </a:ext>
            </a:extLst>
          </p:cNvPr>
          <p:cNvSpPr>
            <a:spLocks noGrp="1"/>
          </p:cNvSpPr>
          <p:nvPr/>
        </p:nvSpPr>
        <p:spPr>
          <a:xfrm>
            <a:off x="8748713" y="5053013"/>
            <a:ext cx="190500" cy="190500"/>
          </a:xfrm>
          <a:prstGeom prst="ellipse">
            <a:avLst/>
          </a:prstGeom>
          <a:noFill/>
          <a:ln w="12383">
            <a:solidFill>
              <a:srgbClr val="173D67"/>
            </a:solidFill>
            <a:prstDash val="solid"/>
          </a:ln>
        </p:spPr>
      </p:sp>
      <p:sp>
        <p:nvSpPr>
          <p:cNvPr id="143" name="vector-657">
            <a:extLst>
              <a:ext uri="{FF2B5EF4-FFF2-40B4-BE49-F238E27FC236}">
                <ns2:creationId id="{EE2231E1-24CB-44ED-9352-C5FD69470791}"/>
              </a:ext>
            </a:extLst>
          </p:cNvPr>
          <p:cNvSpPr>
            <a:spLocks noGrp="1"/>
          </p:cNvSpPr>
          <p:nvPr/>
        </p:nvSpPr>
        <p:spPr>
          <a:xfrm>
            <a:off x="8724900" y="5029200"/>
            <a:ext cx="238125" cy="238125"/>
          </a:xfrm>
          <a:custGeom>
            <a:pathLst>
              <a:path w="952500" h="952500">
                <a:moveTo>
                  <a:pt x="266700" y="476250"/>
                </a:moveTo>
                <a:lnTo>
                  <a:pt x="428625" y="62865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144" name="vector-658">
            <a:extLst>
              <a:ext uri="{FF2B5EF4-FFF2-40B4-BE49-F238E27FC236}">
                <ns2:creationId id="{CB436D63-7E05-4975-9349-79C1926164EA}"/>
              </a:ext>
            </a:extLst>
          </p:cNvPr>
          <p:cNvSpPr>
            <a:spLocks noGrp="1"/>
          </p:cNvSpPr>
          <p:nvPr/>
        </p:nvSpPr>
        <p:spPr>
          <a:xfrm>
            <a:off x="8724900" y="5029200"/>
            <a:ext cx="238125" cy="238125"/>
          </a:xfrm>
          <a:custGeom>
            <a:pathLst>
              <a:path w="952500" h="952500">
                <a:moveTo>
                  <a:pt x="428625" y="628650"/>
                </a:moveTo>
                <a:lnTo>
                  <a:pt x="714375" y="30480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145" name="text-659">
            <a:extLst>
              <a:ext uri="{FF2B5EF4-FFF2-40B4-BE49-F238E27FC236}">
                <ns2:creationId id="{4C0DCC66-C1FE-4D33-B603-85D43D0E3EFA}"/>
              </a:ext>
            </a:extLst>
          </p:cNvPr>
          <p:cNvSpPr>
            <a:spLocks noGrp="1"/>
          </p:cNvSpPr>
          <p:nvPr/>
        </p:nvSpPr>
        <p:spPr>
          <a:xfrm>
            <a:off x="9067800" y="5000625"/>
            <a:ext cx="27051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比较替代模型和参数设定</a:t>
            </a:r>
            <a:endParaRPr/>
          </a:p>
        </p:txBody>
      </p:sp>
      <p:sp>
        <p:nvSpPr>
          <p:cNvPr id="146" name="icon-check-660">
            <a:extLst>
              <a:ext uri="{FF2B5EF4-FFF2-40B4-BE49-F238E27FC236}">
                <ns2:creationId id="{56727CCB-2D44-4F31-BE92-34B8F2B95629}"/>
              </a:ext>
            </a:extLst>
          </p:cNvPr>
          <p:cNvSpPr>
            <a:spLocks noGrp="1"/>
          </p:cNvSpPr>
          <p:nvPr/>
        </p:nvSpPr>
        <p:spPr>
          <a:xfrm>
            <a:off x="8748713" y="5500688"/>
            <a:ext cx="190500" cy="190500"/>
          </a:xfrm>
          <a:prstGeom prst="ellipse">
            <a:avLst/>
          </a:prstGeom>
          <a:noFill/>
          <a:ln w="12383">
            <a:solidFill>
              <a:srgbClr val="173D67"/>
            </a:solidFill>
            <a:prstDash val="solid"/>
          </a:ln>
        </p:spPr>
      </p:sp>
      <p:sp>
        <p:nvSpPr>
          <p:cNvPr id="147" name="vector-661">
            <a:extLst>
              <a:ext uri="{FF2B5EF4-FFF2-40B4-BE49-F238E27FC236}">
                <ns2:creationId id="{40E10BCF-77B1-4956-9040-494120056319}"/>
              </a:ext>
            </a:extLst>
          </p:cNvPr>
          <p:cNvSpPr>
            <a:spLocks noGrp="1"/>
          </p:cNvSpPr>
          <p:nvPr/>
        </p:nvSpPr>
        <p:spPr>
          <a:xfrm>
            <a:off x="8724900" y="5476875"/>
            <a:ext cx="238125" cy="238125"/>
          </a:xfrm>
          <a:custGeom>
            <a:pathLst>
              <a:path w="952500" h="952500">
                <a:moveTo>
                  <a:pt x="266700" y="476250"/>
                </a:moveTo>
                <a:lnTo>
                  <a:pt x="428625" y="62865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148" name="vector-662">
            <a:extLst>
              <a:ext uri="{FF2B5EF4-FFF2-40B4-BE49-F238E27FC236}">
                <ns2:creationId id="{9A626557-C956-4AE6-9432-11C5B08E9349}"/>
              </a:ext>
            </a:extLst>
          </p:cNvPr>
          <p:cNvSpPr>
            <a:spLocks noGrp="1"/>
          </p:cNvSpPr>
          <p:nvPr/>
        </p:nvSpPr>
        <p:spPr>
          <a:xfrm>
            <a:off x="8724900" y="5476875"/>
            <a:ext cx="238125" cy="238125"/>
          </a:xfrm>
          <a:custGeom>
            <a:pathLst>
              <a:path w="952500" h="952500">
                <a:moveTo>
                  <a:pt x="428625" y="628650"/>
                </a:moveTo>
                <a:lnTo>
                  <a:pt x="714375" y="30480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149" name="text-663">
            <a:extLst>
              <a:ext uri="{FF2B5EF4-FFF2-40B4-BE49-F238E27FC236}">
                <ns2:creationId id="{E50FB9F9-DC10-475E-BE6D-E0B89F4A2157}"/>
              </a:ext>
            </a:extLst>
          </p:cNvPr>
          <p:cNvSpPr>
            <a:spLocks noGrp="1"/>
          </p:cNvSpPr>
          <p:nvPr/>
        </p:nvSpPr>
        <p:spPr>
          <a:xfrm>
            <a:off x="9067800" y="5448300"/>
            <a:ext cx="27051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明确适用区域与外推边界</a:t>
            </a:r>
            <a:endParaRPr/>
          </a:p>
        </p:txBody>
      </p:sp>
      <p:sp>
        <p:nvSpPr>
          <p:cNvPr id="150" name="shape-664">
            <a:extLst>
              <a:ext uri="{FF2B5EF4-FFF2-40B4-BE49-F238E27FC236}">
                <ns2:creationId id="{DCA815E7-5F75-45A4-9123-EA0DBB440F9D}"/>
              </a:ext>
            </a:extLst>
          </p:cNvPr>
          <p:cNvSpPr>
            <a:spLocks noGrp="1"/>
          </p:cNvSpPr>
          <p:nvPr/>
        </p:nvSpPr>
        <p:spPr>
          <a:xfrm>
            <a:off x="228600" y="6219825"/>
            <a:ext cx="11734800" cy="323850"/>
          </a:xfrm>
          <a:prstGeom prst="roundRect">
            <a:avLst>
              <a:gd name="adj" fmla="val 23529"/>
            </a:avLst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151" name="text-665">
            <a:extLst>
              <a:ext uri="{FF2B5EF4-FFF2-40B4-BE49-F238E27FC236}">
                <ns2:creationId id="{5FD86928-A117-4D7E-A5C5-5C5FCF068E04}"/>
              </a:ext>
            </a:extLst>
          </p:cNvPr>
          <p:cNvSpPr>
            <a:spLocks noGrp="1"/>
          </p:cNvSpPr>
          <p:nvPr/>
        </p:nvSpPr>
        <p:spPr>
          <a:xfrm>
            <a:off x="361950" y="6257925"/>
            <a:ext cx="11468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技术路线的核心：每一步处理都能追溯到研究问题</a:t>
            </a:r>
            <a:endParaRPr/>
          </a:p>
        </p:txBody>
      </p:sp>
      <p:sp>
        <p:nvSpPr>
          <p:cNvPr id="152" name="text-666">
            <a:extLst>
              <a:ext uri="{FF2B5EF4-FFF2-40B4-BE49-F238E27FC236}">
                <ns2:creationId id="{A67DC5B8-5E0F-476A-B646-5FA09F515C1F}"/>
              </a:ext>
            </a:extLst>
          </p:cNvPr>
          <p:cNvSpPr>
            <a:spLocks noGrp="1"/>
          </p:cNvSpPr>
          <p:nvPr/>
        </p:nvSpPr>
        <p:spPr>
          <a:xfrm>
            <a:off x="228600" y="6619875"/>
            <a:ext cx="105727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rPr>
              <a:t>科研模板 · 内容与数据均为示意</a:t>
            </a:r>
            <a:endParaRPr/>
          </a:p>
        </p:txBody>
      </p:sp>
      <p:sp>
        <p:nvSpPr>
          <p:cNvPr id="153" name="text-667">
            <a:extLst>
              <a:ext uri="{FF2B5EF4-FFF2-40B4-BE49-F238E27FC236}">
                <ns2:creationId id="{A35C5E10-5FC7-4840-AEDF-4FD9251CE6E3}"/>
              </a:ext>
            </a:extLst>
          </p:cNvPr>
          <p:cNvSpPr>
            <a:spLocks noGrp="1"/>
          </p:cNvSpPr>
          <p:nvPr/>
        </p:nvSpPr>
        <p:spPr>
          <a:xfrm>
            <a:off x="11525250" y="6591300"/>
            <a:ext cx="4381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rPr>
              <a:t>04</a:t>
            </a:r>
            <a:endParaRPr/>
          </a:p>
        </p:txBody>
      </p:sp>
    </p:spTree>
    <p:extLst>
      <p:ext uri="{BB962C8B-B14F-4D97-AF65-F5344CB8AC3E}">
        <ns5:creationId val="912345835"/>
      </p:ext>
    </p:extLst>
  </p:cSld>
</p:sld>
</file>

<file path=ppt/slides/slide5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31" name="text-668">
            <a:extLst>
              <a:ext uri="{FF2B5EF4-FFF2-40B4-BE49-F238E27FC236}">
                <ns2:creationId id="{6F93912D-739A-462A-ACF8-066C2D8DBB5C}"/>
              </a:ext>
            </a:extLst>
          </p:cNvPr>
          <p:cNvSpPr>
            <a:spLocks noGrp="1"/>
          </p:cNvSpPr>
          <p:nvPr/>
        </p:nvSpPr>
        <p:spPr>
          <a:xfrm>
            <a:off x="228600" y="152400"/>
            <a:ext cx="117348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竞争解释｜生境面积还是空间隔离？</a:t>
            </a:r>
            <a:endParaRPr/>
          </a:p>
        </p:txBody>
      </p:sp>
      <p:sp>
        <p:nvSpPr>
          <p:cNvPr id="2" name="line-669">
            <a:extLst>
              <a:ext uri="{FF2B5EF4-FFF2-40B4-BE49-F238E27FC236}">
                <ns2:creationId id="{3BB5AD08-8DAA-4000-AA3E-43C8AE5FAF2F}"/>
              </a:ext>
            </a:extLst>
          </p:cNvPr>
          <p:cNvSpPr>
            <a:spLocks noGrp="1"/>
          </p:cNvSpPr>
          <p:nvPr/>
        </p:nvSpPr>
        <p:spPr>
          <a:xfrm>
            <a:off x="228600" y="695325"/>
            <a:ext cx="11734800" cy="95"/>
          </a:xfrm>
          <a:prstGeom prst="line">
            <a:avLst/>
          </a:prstGeom>
          <a:noFill/>
          <a:ln w="16193">
            <a:solidFill>
              <a:srgbClr val="173D67"/>
            </a:solidFill>
            <a:prstDash val="solid"/>
          </a:ln>
        </p:spPr>
      </p:sp>
      <p:sp>
        <p:nvSpPr>
          <p:cNvPr id="3" name="panel-670">
            <a:extLst>
              <a:ext uri="{FF2B5EF4-FFF2-40B4-BE49-F238E27FC236}">
                <ns2:creationId id="{AA886134-F6EC-4850-ACB9-39ABFF6BBC90}"/>
              </a:ext>
            </a:extLst>
          </p:cNvPr>
          <p:cNvSpPr>
            <a:spLocks noGrp="1"/>
          </p:cNvSpPr>
          <p:nvPr/>
        </p:nvSpPr>
        <p:spPr>
          <a:xfrm>
            <a:off x="228600" y="885825"/>
            <a:ext cx="5791200" cy="3800475"/>
          </a:xfrm>
          <a:prstGeom prst="roundRect">
            <a:avLst>
              <a:gd name="adj" fmla="val 2005"/>
            </a:avLst>
          </a:prstGeom>
          <a:solidFill>
            <a:srgbClr val="FFFFFF"/>
          </a:solidFill>
          <a:ln w="9525">
            <a:solidFill>
              <a:srgbClr val="D8DEE5"/>
            </a:solidFill>
            <a:prstDash val="solid"/>
          </a:ln>
        </p:spPr>
      </p:sp>
      <p:sp>
        <p:nvSpPr>
          <p:cNvPr id="4" name="shape-671">
            <a:extLst>
              <a:ext uri="{FF2B5EF4-FFF2-40B4-BE49-F238E27FC236}">
                <ns2:creationId id="{BD8F2A86-4D03-48C8-97BA-6B3451E3337C}"/>
              </a:ext>
            </a:extLst>
          </p:cNvPr>
          <p:cNvSpPr>
            <a:spLocks noGrp="1"/>
          </p:cNvSpPr>
          <p:nvPr/>
        </p:nvSpPr>
        <p:spPr>
          <a:xfrm>
            <a:off x="238125" y="895350"/>
            <a:ext cx="5772150" cy="400050"/>
          </a:xfrm>
          <a:prstGeom prst="roundRect">
            <a:avLst>
              <a:gd name="adj" fmla="val 19048"/>
            </a:avLst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5" name="text-672">
            <a:extLst>
              <a:ext uri="{FF2B5EF4-FFF2-40B4-BE49-F238E27FC236}">
                <ns2:creationId id="{B91519D1-8011-49D4-BCB5-1FC764D05B23}"/>
              </a:ext>
            </a:extLst>
          </p:cNvPr>
          <p:cNvSpPr>
            <a:spLocks noGrp="1"/>
          </p:cNvSpPr>
          <p:nvPr/>
        </p:nvSpPr>
        <p:spPr>
          <a:xfrm>
            <a:off x="361950" y="952500"/>
            <a:ext cx="552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假说 A：生境面积效应</a:t>
            </a:r>
            <a:endParaRPr/>
          </a:p>
        </p:txBody>
      </p:sp>
      <p:sp>
        <p:nvSpPr>
          <p:cNvPr id="6" name="text-673">
            <a:extLst>
              <a:ext uri="{FF2B5EF4-FFF2-40B4-BE49-F238E27FC236}">
                <ns2:creationId id="{E4F44F3A-CB21-4047-BA04-614D5AF81C8A}"/>
              </a:ext>
            </a:extLst>
          </p:cNvPr>
          <p:cNvSpPr>
            <a:spLocks noGrp="1"/>
          </p:cNvSpPr>
          <p:nvPr/>
        </p:nvSpPr>
        <p:spPr>
          <a:xfrm>
            <a:off x="400050" y="1381125"/>
            <a:ext cx="54483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固定隔离程度，比较生境面积变化对应的群落响应。</a:t>
            </a:r>
            <a:endParaRPr/>
          </a:p>
        </p:txBody>
      </p:sp>
      <p:pic>
        <p:nvPicPr>
          <p:cNvPr id="7" name="">
            <a:extLst>
              <a:ext uri="{FF2B5EF4-FFF2-40B4-BE49-F238E27FC236}">
                <ns2:creationId id="{9E465799-1BEA-48A1-B805-F24829FB5C3C}"/>
              </a:ext>
            </a:extLst>
          </p:cNvPr>
          <p:cNvPicPr>
            <a:picLocks noChangeAspect="1"/>
          </p:cNvPicPr>
          <p:nvPr/>
        </p:nvPicPr>
        <p:blipFill>
          <a:blip r:embed="R5f155ced3c494a39"/>
          <a:stretch/>
        </p:blipFill>
        <p:spPr>
          <a:xfrm>
            <a:off x="561975" y="2070100"/>
            <a:ext cx="1905000" cy="1270000"/>
          </a:xfrm>
          <a:prstGeom prst="rect">
            <a:avLst/>
          </a:prstGeom>
        </p:spPr>
      </p:pic>
      <p:sp>
        <p:nvSpPr>
          <p:cNvPr id="8" name="arrow-674">
            <a:extLst>
              <a:ext uri="{FF2B5EF4-FFF2-40B4-BE49-F238E27FC236}">
                <ns2:creationId id="{77859C15-A61E-470D-A5A1-1427150DA7DC}"/>
              </a:ext>
            </a:extLst>
          </p:cNvPr>
          <p:cNvSpPr>
            <a:spLocks noGrp="1"/>
          </p:cNvSpPr>
          <p:nvPr/>
        </p:nvSpPr>
        <p:spPr>
          <a:xfrm>
            <a:off x="2600325" y="2524125"/>
            <a:ext cx="742950" cy="209550"/>
          </a:xfrm>
          <a:prstGeom prst="rightArrow">
            <a:avLst/>
          </a:prstGeom>
          <a:solidFill>
            <a:srgbClr val="718EAA"/>
          </a:solidFill>
          <a:ln w="0">
            <a:noFill/>
            <a:prstDash val="solid"/>
          </a:ln>
        </p:spPr>
      </p:sp>
      <p:pic>
        <p:nvPicPr>
          <p:cNvPr id="9" name="">
            <a:extLst>
              <a:ext uri="{FF2B5EF4-FFF2-40B4-BE49-F238E27FC236}">
                <ns2:creationId id="{C030EABC-75FF-4A53-B000-E0F053DE1897}"/>
              </a:ext>
            </a:extLst>
          </p:cNvPr>
          <p:cNvPicPr>
            <a:picLocks noChangeAspect="1"/>
          </p:cNvPicPr>
          <p:nvPr/>
        </p:nvPicPr>
        <p:blipFill>
          <a:blip r:embed="Ra3e27fc1ebcc433e"/>
          <a:stretch/>
        </p:blipFill>
        <p:spPr>
          <a:xfrm>
            <a:off x="3981450" y="2425700"/>
            <a:ext cx="1238250" cy="825500"/>
          </a:xfrm>
          <a:prstGeom prst="rect">
            <a:avLst/>
          </a:prstGeom>
        </p:spPr>
      </p:pic>
      <p:sp>
        <p:nvSpPr>
          <p:cNvPr id="10" name="text-675">
            <a:extLst>
              <a:ext uri="{FF2B5EF4-FFF2-40B4-BE49-F238E27FC236}">
                <ns2:creationId id="{7EFEFEB6-15BB-4123-912B-9BB765A1B1D7}"/>
              </a:ext>
            </a:extLst>
          </p:cNvPr>
          <p:cNvSpPr>
            <a:spLocks noGrp="1"/>
          </p:cNvSpPr>
          <p:nvPr/>
        </p:nvSpPr>
        <p:spPr>
          <a:xfrm>
            <a:off x="419100" y="3476625"/>
            <a:ext cx="23431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大面积生境</a:t>
            </a:r>
            <a:endParaRPr/>
          </a:p>
        </p:txBody>
      </p:sp>
      <p:sp>
        <p:nvSpPr>
          <p:cNvPr id="11" name="text-676">
            <a:extLst>
              <a:ext uri="{FF2B5EF4-FFF2-40B4-BE49-F238E27FC236}">
                <ns2:creationId id="{5859349E-6FE1-4E8C-9CE8-1F34F50C4D25}"/>
              </a:ext>
            </a:extLst>
          </p:cNvPr>
          <p:cNvSpPr>
            <a:spLocks noGrp="1"/>
          </p:cNvSpPr>
          <p:nvPr/>
        </p:nvSpPr>
        <p:spPr>
          <a:xfrm>
            <a:off x="3457575" y="3476625"/>
            <a:ext cx="23622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小面积生境</a:t>
            </a:r>
            <a:endParaRPr/>
          </a:p>
        </p:txBody>
      </p:sp>
      <p:sp>
        <p:nvSpPr>
          <p:cNvPr id="12" name="text-677">
            <a:extLst>
              <a:ext uri="{FF2B5EF4-FFF2-40B4-BE49-F238E27FC236}">
                <ns2:creationId id="{C84A4020-E5EC-4CAC-BDA1-B76E7E0DE001}"/>
              </a:ext>
            </a:extLst>
          </p:cNvPr>
          <p:cNvSpPr>
            <a:spLocks noGrp="1"/>
          </p:cNvSpPr>
          <p:nvPr/>
        </p:nvSpPr>
        <p:spPr>
          <a:xfrm>
            <a:off x="476250" y="4124325"/>
            <a:ext cx="5295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rPr>
              <a:t>预测：丰富度随面积改变</a:t>
            </a:r>
            <a:endParaRPr/>
          </a:p>
        </p:txBody>
      </p:sp>
      <p:sp>
        <p:nvSpPr>
          <p:cNvPr id="13" name="panel-678">
            <a:extLst>
              <a:ext uri="{FF2B5EF4-FFF2-40B4-BE49-F238E27FC236}">
                <ns2:creationId id="{56510612-5B04-434A-8369-D58C3F6E0C36}"/>
              </a:ext>
            </a:extLst>
          </p:cNvPr>
          <p:cNvSpPr>
            <a:spLocks noGrp="1"/>
          </p:cNvSpPr>
          <p:nvPr/>
        </p:nvSpPr>
        <p:spPr>
          <a:xfrm>
            <a:off x="6172200" y="885825"/>
            <a:ext cx="5791200" cy="3800475"/>
          </a:xfrm>
          <a:prstGeom prst="roundRect">
            <a:avLst>
              <a:gd name="adj" fmla="val 2005"/>
            </a:avLst>
          </a:prstGeom>
          <a:solidFill>
            <a:srgbClr val="FFFFFF"/>
          </a:solidFill>
          <a:ln w="9525">
            <a:solidFill>
              <a:srgbClr val="D8DEE5"/>
            </a:solidFill>
            <a:prstDash val="solid"/>
          </a:ln>
        </p:spPr>
      </p:sp>
      <p:sp>
        <p:nvSpPr>
          <p:cNvPr id="14" name="shape-679">
            <a:extLst>
              <a:ext uri="{FF2B5EF4-FFF2-40B4-BE49-F238E27FC236}">
                <ns2:creationId id="{6624AB24-92A6-4EAF-8312-68B81E0B7A03}"/>
              </a:ext>
            </a:extLst>
          </p:cNvPr>
          <p:cNvSpPr>
            <a:spLocks noGrp="1"/>
          </p:cNvSpPr>
          <p:nvPr/>
        </p:nvSpPr>
        <p:spPr>
          <a:xfrm>
            <a:off x="6181725" y="895350"/>
            <a:ext cx="5772150" cy="400050"/>
          </a:xfrm>
          <a:prstGeom prst="roundRect">
            <a:avLst>
              <a:gd name="adj" fmla="val 19048"/>
            </a:avLst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15" name="text-680">
            <a:extLst>
              <a:ext uri="{FF2B5EF4-FFF2-40B4-BE49-F238E27FC236}">
                <ns2:creationId id="{7F5B0496-78B1-45A3-A4B8-C514E6B196D3}"/>
              </a:ext>
            </a:extLst>
          </p:cNvPr>
          <p:cNvSpPr>
            <a:spLocks noGrp="1"/>
          </p:cNvSpPr>
          <p:nvPr/>
        </p:nvSpPr>
        <p:spPr>
          <a:xfrm>
            <a:off x="6305550" y="952500"/>
            <a:ext cx="552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假说 B：空间隔离效应</a:t>
            </a:r>
            <a:endParaRPr/>
          </a:p>
        </p:txBody>
      </p:sp>
      <p:sp>
        <p:nvSpPr>
          <p:cNvPr id="16" name="text-681">
            <a:extLst>
              <a:ext uri="{FF2B5EF4-FFF2-40B4-BE49-F238E27FC236}">
                <ns2:creationId id="{E7C987B3-ED09-4CE4-9C8C-98BEAACAA899}"/>
              </a:ext>
            </a:extLst>
          </p:cNvPr>
          <p:cNvSpPr>
            <a:spLocks noGrp="1"/>
          </p:cNvSpPr>
          <p:nvPr/>
        </p:nvSpPr>
        <p:spPr>
          <a:xfrm>
            <a:off x="6343650" y="1381125"/>
            <a:ext cx="54483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固定生境总面积，比较斑块分离后的扩散与组成变化。</a:t>
            </a:r>
            <a:endParaRPr/>
          </a:p>
        </p:txBody>
      </p:sp>
      <p:pic>
        <p:nvPicPr>
          <p:cNvPr id="17" name="">
            <a:extLst>
              <a:ext uri="{FF2B5EF4-FFF2-40B4-BE49-F238E27FC236}">
                <ns2:creationId id="{7F2352F4-1939-476F-8F67-6753F8DC4396}"/>
              </a:ext>
            </a:extLst>
          </p:cNvPr>
          <p:cNvPicPr>
            <a:picLocks noChangeAspect="1"/>
          </p:cNvPicPr>
          <p:nvPr/>
        </p:nvPicPr>
        <p:blipFill>
          <a:blip r:embed="Rdf017364ef2348d1"/>
          <a:stretch/>
        </p:blipFill>
        <p:spPr>
          <a:xfrm>
            <a:off x="6505575" y="2070100"/>
            <a:ext cx="1905000" cy="1270000"/>
          </a:xfrm>
          <a:prstGeom prst="rect">
            <a:avLst/>
          </a:prstGeom>
        </p:spPr>
      </p:pic>
      <p:sp>
        <p:nvSpPr>
          <p:cNvPr id="18" name="arrow-682">
            <a:extLst>
              <a:ext uri="{FF2B5EF4-FFF2-40B4-BE49-F238E27FC236}">
                <ns2:creationId id="{1059A1F6-6B48-480C-957D-B2D4FE4E85F8}"/>
              </a:ext>
            </a:extLst>
          </p:cNvPr>
          <p:cNvSpPr>
            <a:spLocks noGrp="1"/>
          </p:cNvSpPr>
          <p:nvPr/>
        </p:nvSpPr>
        <p:spPr>
          <a:xfrm>
            <a:off x="8543925" y="2524125"/>
            <a:ext cx="742950" cy="209550"/>
          </a:xfrm>
          <a:prstGeom prst="rightArrow">
            <a:avLst/>
          </a:prstGeom>
          <a:solidFill>
            <a:srgbClr val="718EAA"/>
          </a:solidFill>
          <a:ln w="0">
            <a:noFill/>
            <a:prstDash val="solid"/>
          </a:ln>
        </p:spPr>
      </p:sp>
      <p:pic>
        <p:nvPicPr>
          <p:cNvPr id="19" name="">
            <a:extLst>
              <a:ext uri="{FF2B5EF4-FFF2-40B4-BE49-F238E27FC236}">
                <ns2:creationId id="{611FDD54-0A3F-4ECF-8566-9CBAB37863B4}"/>
              </a:ext>
            </a:extLst>
          </p:cNvPr>
          <p:cNvPicPr>
            <a:picLocks noChangeAspect="1"/>
          </p:cNvPicPr>
          <p:nvPr/>
        </p:nvPicPr>
        <p:blipFill>
          <a:blip r:embed="R32ff49c7cc97420d"/>
          <a:stretch/>
        </p:blipFill>
        <p:spPr>
          <a:xfrm>
            <a:off x="9639300" y="2047970"/>
            <a:ext cx="798671" cy="532448"/>
          </a:xfrm>
          <a:prstGeom prst="rect">
            <a:avLst/>
          </a:prstGeom>
        </p:spPr>
      </p:pic>
      <p:pic>
        <p:nvPicPr>
          <p:cNvPr id="20" name="">
            <a:extLst>
              <a:ext uri="{FF2B5EF4-FFF2-40B4-BE49-F238E27FC236}">
                <ns2:creationId id="{72943F9F-16A0-470B-8EEA-785C7238FB0F}"/>
              </a:ext>
            </a:extLst>
          </p:cNvPr>
          <p:cNvPicPr>
            <a:picLocks noChangeAspect="1"/>
          </p:cNvPicPr>
          <p:nvPr/>
        </p:nvPicPr>
        <p:blipFill>
          <a:blip r:embed="R172781c0c6724258"/>
          <a:stretch/>
        </p:blipFill>
        <p:spPr>
          <a:xfrm>
            <a:off x="10660856" y="2082260"/>
            <a:ext cx="798671" cy="532448"/>
          </a:xfrm>
          <a:prstGeom prst="rect">
            <a:avLst/>
          </a:prstGeom>
        </p:spPr>
      </p:pic>
      <p:pic>
        <p:nvPicPr>
          <p:cNvPr id="21" name="">
            <a:extLst>
              <a:ext uri="{FF2B5EF4-FFF2-40B4-BE49-F238E27FC236}">
                <ns2:creationId id="{5FE3745A-E3DD-43EB-A6AB-996C95233375}"/>
              </a:ext>
            </a:extLst>
          </p:cNvPr>
          <p:cNvPicPr>
            <a:picLocks noChangeAspect="1"/>
          </p:cNvPicPr>
          <p:nvPr/>
        </p:nvPicPr>
        <p:blipFill>
          <a:blip r:embed="R7458a5ac3d3448c8"/>
          <a:stretch/>
        </p:blipFill>
        <p:spPr>
          <a:xfrm>
            <a:off x="9676448" y="2827782"/>
            <a:ext cx="742950" cy="495300"/>
          </a:xfrm>
          <a:prstGeom prst="rect">
            <a:avLst/>
          </a:prstGeom>
        </p:spPr>
      </p:pic>
      <p:pic>
        <p:nvPicPr>
          <p:cNvPr id="22" name="">
            <a:extLst>
              <a:ext uri="{FF2B5EF4-FFF2-40B4-BE49-F238E27FC236}">
                <ns2:creationId id="{273AB73D-0981-41F6-BA00-3745B8CB1C21}"/>
              </a:ext>
            </a:extLst>
          </p:cNvPr>
          <p:cNvPicPr>
            <a:picLocks noChangeAspect="1"/>
          </p:cNvPicPr>
          <p:nvPr/>
        </p:nvPicPr>
        <p:blipFill>
          <a:blip r:embed="R6b80380e3d78440e"/>
          <a:stretch/>
        </p:blipFill>
        <p:spPr>
          <a:xfrm>
            <a:off x="10698004" y="2815400"/>
            <a:ext cx="780097" cy="520065"/>
          </a:xfrm>
          <a:prstGeom prst="rect">
            <a:avLst/>
          </a:prstGeom>
        </p:spPr>
      </p:pic>
      <p:sp>
        <p:nvSpPr>
          <p:cNvPr id="23" name="text-683">
            <a:extLst>
              <a:ext uri="{FF2B5EF4-FFF2-40B4-BE49-F238E27FC236}">
                <ns2:creationId id="{94811222-9D7B-4EC3-8179-209B7B2B8C15}"/>
              </a:ext>
            </a:extLst>
          </p:cNvPr>
          <p:cNvSpPr>
            <a:spLocks noGrp="1"/>
          </p:cNvSpPr>
          <p:nvPr/>
        </p:nvSpPr>
        <p:spPr>
          <a:xfrm>
            <a:off x="6362700" y="3476625"/>
            <a:ext cx="23431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连续生境</a:t>
            </a:r>
            <a:endParaRPr/>
          </a:p>
        </p:txBody>
      </p:sp>
      <p:sp>
        <p:nvSpPr>
          <p:cNvPr id="24" name="text-684">
            <a:extLst>
              <a:ext uri="{FF2B5EF4-FFF2-40B4-BE49-F238E27FC236}">
                <ns2:creationId id="{265C44F1-3D80-4722-B07C-036D3FBDEB23}"/>
              </a:ext>
            </a:extLst>
          </p:cNvPr>
          <p:cNvSpPr>
            <a:spLocks noGrp="1"/>
          </p:cNvSpPr>
          <p:nvPr/>
        </p:nvSpPr>
        <p:spPr>
          <a:xfrm>
            <a:off x="9401175" y="3476625"/>
            <a:ext cx="23622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隔离的生境斑块</a:t>
            </a:r>
            <a:endParaRPr/>
          </a:p>
        </p:txBody>
      </p:sp>
      <p:sp>
        <p:nvSpPr>
          <p:cNvPr id="25" name="text-685">
            <a:extLst>
              <a:ext uri="{FF2B5EF4-FFF2-40B4-BE49-F238E27FC236}">
                <ns2:creationId id="{225BCAD0-173D-4604-9379-25C18AE47927}"/>
              </a:ext>
            </a:extLst>
          </p:cNvPr>
          <p:cNvSpPr>
            <a:spLocks noGrp="1"/>
          </p:cNvSpPr>
          <p:nvPr/>
        </p:nvSpPr>
        <p:spPr>
          <a:xfrm>
            <a:off x="6419850" y="4124325"/>
            <a:ext cx="5295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rPr>
              <a:t>预测：组成随隔离改变</a:t>
            </a:r>
            <a:endParaRPr/>
          </a:p>
        </p:txBody>
      </p:sp>
      <p:graphicFrame>
        <p:nvGraphicFramePr>
          <p:cNvPr id="26" name="">
            <a:extLst>
              <a:ext uri="{FF2B5EF4-FFF2-40B4-BE49-F238E27FC236}">
                <ns2:creationId id="{BCEDAE83-2AE0-4735-991E-9FE9881224A0}"/>
              </a:ext>
            </a:extLst>
          </p:cNvPr>
          <p:cNvGraphicFramePr/>
          <p:nvPr/>
        </p:nvGraphicFramePr>
        <p:xfrm>
          <a:off x="228600" y="4857750"/>
          <a:ext cx="11734800" cy="1219200"/>
        </p:xfrm>
        <a:graphic>
          <a:graphicData uri="http://schemas.openxmlformats.org/drawingml/2006/table">
            <a:tbl>
              <a:tblPr/>
              <a:tblGrid>
                <a:gridCol w="3911600"/>
                <a:gridCol w="3911600"/>
                <a:gridCol w="3911600"/>
              </a:tblGrid>
              <a:tr h="304800"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检验维度</a:t>
                      </a:r>
                      <a:endParaRPr/>
                    </a:p>
                  </a:txBody>
                  <a:tcPr marL="91440" marR="91440" marT="45720" marB="45720" anchor="ctr">
                    <a:lnL w="5715">
                      <a:solidFill>
                        <a:srgbClr val="D8DEE5"/>
                      </a:solidFill>
                      <a:prstDash val="solid"/>
                    </a:lnL>
                    <a:lnR w="5715">
                      <a:solidFill>
                        <a:srgbClr val="D8DEE5"/>
                      </a:solidFill>
                      <a:prstDash val="solid"/>
                    </a:lnR>
                    <a:lnT w="5715">
                      <a:solidFill>
                        <a:srgbClr val="D8DEE5"/>
                      </a:solidFill>
                      <a:prstDash val="solid"/>
                    </a:lnT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173D67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面积效应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8DEE5"/>
                      </a:solidFill>
                      <a:prstDash val="solid"/>
                    </a:lnR>
                    <a:lnT w="5715">
                      <a:solidFill>
                        <a:srgbClr val="D8DEE5"/>
                      </a:solidFill>
                      <a:prstDash val="solid"/>
                    </a:lnT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173D67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隔离效应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8DEE5"/>
                      </a:solidFill>
                      <a:prstDash val="solid"/>
                    </a:lnR>
                    <a:lnT w="5715">
                      <a:solidFill>
                        <a:srgbClr val="D8DEE5"/>
                      </a:solidFill>
                      <a:prstDash val="solid"/>
                    </a:lnT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173D67"/>
                    </a:solidFill>
                  </a:tcPr>
                </a:tc>
              </a:tr>
              <a:tr h="304800"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425" b="0">
                          <a:solidFill>
                            <a:srgbClr val="17232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控制条件</a:t>
                      </a:r>
                      <a:endParaRPr/>
                    </a:p>
                  </a:txBody>
                  <a:tcPr marL="91440" marR="91440" marT="45720" marB="45720" anchor="ctr">
                    <a:lnL w="5715">
                      <a:solidFill>
                        <a:srgbClr val="D8DEE5"/>
                      </a:solidFill>
                      <a:prstDash val="solid"/>
                    </a:lnL>
                    <a:lnR w="5715">
                      <a:solidFill>
                        <a:srgbClr val="D8DEE5"/>
                      </a:solidFill>
                      <a:prstDash val="solid"/>
                    </a:lnR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425" b="0">
                          <a:solidFill>
                            <a:srgbClr val="17232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固定隔离程度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8DEE5"/>
                      </a:solidFill>
                      <a:prstDash val="solid"/>
                    </a:lnR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425" b="0">
                          <a:solidFill>
                            <a:srgbClr val="17232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固定总面积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8DEE5"/>
                      </a:solidFill>
                      <a:prstDash val="solid"/>
                    </a:lnR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425" b="0">
                          <a:solidFill>
                            <a:srgbClr val="17232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关键预测</a:t>
                      </a:r>
                      <a:endParaRPr/>
                    </a:p>
                  </a:txBody>
                  <a:tcPr marL="91440" marR="91440" marT="45720" marB="45720" anchor="ctr">
                    <a:lnL w="5715">
                      <a:solidFill>
                        <a:srgbClr val="D8DEE5"/>
                      </a:solidFill>
                      <a:prstDash val="solid"/>
                    </a:lnL>
                    <a:lnR w="5715">
                      <a:solidFill>
                        <a:srgbClr val="D8DEE5"/>
                      </a:solidFill>
                      <a:prstDash val="solid"/>
                    </a:lnR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425" b="0">
                          <a:solidFill>
                            <a:srgbClr val="17232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丰富度随面积变化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8DEE5"/>
                      </a:solidFill>
                      <a:prstDash val="solid"/>
                    </a:lnR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425" b="0">
                          <a:solidFill>
                            <a:srgbClr val="17232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组成随隔离变化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8DEE5"/>
                      </a:solidFill>
                      <a:prstDash val="solid"/>
                    </a:lnR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</a:tr>
              <a:tr h="304800"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425" b="0">
                          <a:solidFill>
                            <a:srgbClr val="17232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需要证据</a:t>
                      </a:r>
                      <a:endParaRPr/>
                    </a:p>
                  </a:txBody>
                  <a:tcPr marL="91440" marR="91440" marT="45720" marB="45720" anchor="ctr">
                    <a:lnL w="5715">
                      <a:solidFill>
                        <a:srgbClr val="D8DEE5"/>
                      </a:solidFill>
                      <a:prstDash val="solid"/>
                    </a:lnL>
                    <a:lnR w="5715">
                      <a:solidFill>
                        <a:srgbClr val="D8DEE5"/>
                      </a:solidFill>
                      <a:prstDash val="solid"/>
                    </a:lnR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425" b="0">
                          <a:solidFill>
                            <a:srgbClr val="17232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面积梯度比较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8DEE5"/>
                      </a:solidFill>
                      <a:prstDash val="solid"/>
                    </a:lnR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425" b="0">
                          <a:solidFill>
                            <a:srgbClr val="17232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连通性梯度比较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8DEE5"/>
                      </a:solidFill>
                      <a:prstDash val="solid"/>
                    </a:lnR>
                    <a:lnB w="5715">
                      <a:solidFill>
                        <a:srgbClr val="D8DE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shape-686">
            <a:extLst>
              <a:ext uri="{FF2B5EF4-FFF2-40B4-BE49-F238E27FC236}">
                <ns2:creationId id="{75878179-AAB9-4BEF-8E3A-3D09CDED29E5}"/>
              </a:ext>
            </a:extLst>
          </p:cNvPr>
          <p:cNvSpPr>
            <a:spLocks noGrp="1"/>
          </p:cNvSpPr>
          <p:nvPr/>
        </p:nvSpPr>
        <p:spPr>
          <a:xfrm>
            <a:off x="228600" y="6219825"/>
            <a:ext cx="11734800" cy="323850"/>
          </a:xfrm>
          <a:prstGeom prst="roundRect">
            <a:avLst>
              <a:gd name="adj" fmla="val 23529"/>
            </a:avLst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28" name="text-687">
            <a:extLst>
              <a:ext uri="{FF2B5EF4-FFF2-40B4-BE49-F238E27FC236}">
                <ns2:creationId id="{6935C6BE-D530-4ACD-BA13-5F4F88E35FB0}"/>
              </a:ext>
            </a:extLst>
          </p:cNvPr>
          <p:cNvSpPr>
            <a:spLocks noGrp="1"/>
          </p:cNvSpPr>
          <p:nvPr/>
        </p:nvSpPr>
        <p:spPr>
          <a:xfrm>
            <a:off x="361950" y="6257925"/>
            <a:ext cx="11468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两种机制可能</a:t>
            </a:r>
            <a:r>
              <a:rPr sz="1575" b="1">
                <a:latin typeface="Noto Sans CJK SC"/>
                <a:ea typeface="Noto Sans CJK SC"/>
                <a:cs typeface="Noto Sans CJK SC"/>
                <a:solidFill>
                  <a:srgbClr val="AF3D3D"/>
                </a:solidFill>
              </a:rPr>
              <a:t>共同作用</a:t>
            </a:r>
            <a:r>
              <a: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；需通过</a:t>
            </a:r>
            <a:r>
              <a:rPr sz="1575" b="1">
                <a:latin typeface="Noto Sans CJK SC"/>
                <a:ea typeface="Noto Sans CJK SC"/>
                <a:cs typeface="Noto Sans CJK SC"/>
                <a:solidFill>
                  <a:srgbClr val="AF3D3D"/>
                </a:solidFill>
              </a:rPr>
              <a:t>对照设计</a:t>
            </a:r>
            <a:r>
              <a: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区分</a:t>
            </a:r>
            <a:endParaRPr/>
          </a:p>
        </p:txBody>
      </p:sp>
      <p:sp>
        <p:nvSpPr>
          <p:cNvPr id="29" name="text-688">
            <a:extLst>
              <a:ext uri="{FF2B5EF4-FFF2-40B4-BE49-F238E27FC236}">
                <ns2:creationId id="{49AE60B5-9E5B-41BB-8A43-B977E62D79F4}"/>
              </a:ext>
            </a:extLst>
          </p:cNvPr>
          <p:cNvSpPr>
            <a:spLocks noGrp="1"/>
          </p:cNvSpPr>
          <p:nvPr/>
        </p:nvSpPr>
        <p:spPr>
          <a:xfrm>
            <a:off x="228600" y="6619875"/>
            <a:ext cx="105727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rPr>
              <a:t>科研模板 · 内容与数据均为示意</a:t>
            </a:r>
            <a:endParaRPr/>
          </a:p>
        </p:txBody>
      </p:sp>
      <p:sp>
        <p:nvSpPr>
          <p:cNvPr id="30" name="text-689">
            <a:extLst>
              <a:ext uri="{FF2B5EF4-FFF2-40B4-BE49-F238E27FC236}">
                <ns2:creationId id="{7D830F3E-B6BE-4B97-914E-D424F1258932}"/>
              </a:ext>
            </a:extLst>
          </p:cNvPr>
          <p:cNvSpPr>
            <a:spLocks noGrp="1"/>
          </p:cNvSpPr>
          <p:nvPr/>
        </p:nvSpPr>
        <p:spPr>
          <a:xfrm>
            <a:off x="11525250" y="6591300"/>
            <a:ext cx="4381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rPr>
              <a:t>05</a:t>
            </a:r>
            <a:endParaRPr/>
          </a:p>
        </p:txBody>
      </p:sp>
    </p:spTree>
    <p:extLst>
      <p:ext uri="{BB962C8B-B14F-4D97-AF65-F5344CB8AC3E}">
        <ns4:creationId val="161307495"/>
      </p:ext>
    </p:extLst>
  </p:cSld>
</p:sld>
</file>

<file path=ppt/slides/slide6.xml><?xml version="1.0" encoding="utf-8"?>
<p:sld xmlns:a="http://schemas.openxmlformats.org/drawingml/2006/main" xmlns:c="http://schemas.openxmlformats.org/drawingml/2006/chart" xmlns:ns2="http://schemas.microsoft.com/office/drawing/2014/main" xmlns:ns5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92" name="text-690">
            <a:extLst>
              <a:ext uri="{FF2B5EF4-FFF2-40B4-BE49-F238E27FC236}">
                <ns2:creationId id="{BE046215-C713-4A03-9CC0-8E509B4C6E6F}"/>
              </a:ext>
            </a:extLst>
          </p:cNvPr>
          <p:cNvSpPr>
            <a:spLocks noGrp="1"/>
          </p:cNvSpPr>
          <p:nvPr/>
        </p:nvSpPr>
        <p:spPr>
          <a:xfrm>
            <a:off x="228600" y="152400"/>
            <a:ext cx="117348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机制模型｜连接景观、群落与生态过程</a:t>
            </a:r>
            <a:endParaRPr/>
          </a:p>
        </p:txBody>
      </p:sp>
      <p:sp>
        <p:nvSpPr>
          <p:cNvPr id="2" name="line-691">
            <a:extLst>
              <a:ext uri="{FF2B5EF4-FFF2-40B4-BE49-F238E27FC236}">
                <ns2:creationId id="{4BA091DF-567E-4DEC-9FEC-7150963C6FA6}"/>
              </a:ext>
            </a:extLst>
          </p:cNvPr>
          <p:cNvSpPr>
            <a:spLocks noGrp="1"/>
          </p:cNvSpPr>
          <p:nvPr/>
        </p:nvSpPr>
        <p:spPr>
          <a:xfrm>
            <a:off x="228600" y="695325"/>
            <a:ext cx="11734800" cy="95"/>
          </a:xfrm>
          <a:prstGeom prst="line">
            <a:avLst/>
          </a:prstGeom>
          <a:noFill/>
          <a:ln w="16193">
            <a:solidFill>
              <a:srgbClr val="173D67"/>
            </a:solidFill>
            <a:prstDash val="solid"/>
          </a:ln>
        </p:spPr>
      </p:sp>
      <p:sp>
        <p:nvSpPr>
          <p:cNvPr id="3" name="shape-692">
            <a:extLst>
              <a:ext uri="{FF2B5EF4-FFF2-40B4-BE49-F238E27FC236}">
                <ns2:creationId id="{2A49F383-73C5-49BC-AB7D-5698EBF526B9}"/>
              </a:ext>
            </a:extLst>
          </p:cNvPr>
          <p:cNvSpPr>
            <a:spLocks noGrp="1"/>
          </p:cNvSpPr>
          <p:nvPr/>
        </p:nvSpPr>
        <p:spPr>
          <a:xfrm>
            <a:off x="228600" y="895350"/>
            <a:ext cx="2619375" cy="352425"/>
          </a:xfrm>
          <a:prstGeom prst="rect">
            <a:avLst/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4" name="text-693">
            <a:extLst>
              <a:ext uri="{FF2B5EF4-FFF2-40B4-BE49-F238E27FC236}">
                <ns2:creationId id="{885E4859-9896-452A-B972-38C9249FD8AC}"/>
              </a:ext>
            </a:extLst>
          </p:cNvPr>
          <p:cNvSpPr>
            <a:spLocks noGrp="1"/>
          </p:cNvSpPr>
          <p:nvPr/>
        </p:nvSpPr>
        <p:spPr>
          <a:xfrm>
            <a:off x="342900" y="923925"/>
            <a:ext cx="23907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输入证据</a:t>
            </a:r>
          </a:p>
        </p:txBody>
      </p:sp>
      <p:sp>
        <p:nvSpPr>
          <p:cNvPr id="5" name="shape-694">
            <a:extLst>
              <a:ext uri="{FF2B5EF4-FFF2-40B4-BE49-F238E27FC236}">
                <ns2:creationId id="{B9079D83-932D-4A67-8234-CD1EEA95C74D}"/>
              </a:ext>
            </a:extLst>
          </p:cNvPr>
          <p:cNvSpPr>
            <a:spLocks noGrp="1"/>
          </p:cNvSpPr>
          <p:nvPr/>
        </p:nvSpPr>
        <p:spPr>
          <a:xfrm>
            <a:off x="3019425" y="895350"/>
            <a:ext cx="5391150" cy="352425"/>
          </a:xfrm>
          <a:prstGeom prst="rect">
            <a:avLst/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6" name="text-695">
            <a:extLst>
              <a:ext uri="{FF2B5EF4-FFF2-40B4-BE49-F238E27FC236}">
                <ns2:creationId id="{B089125C-7CDB-478C-88B7-04F2FE95A62E}"/>
              </a:ext>
            </a:extLst>
          </p:cNvPr>
          <p:cNvSpPr>
            <a:spLocks noGrp="1"/>
          </p:cNvSpPr>
          <p:nvPr/>
        </p:nvSpPr>
        <p:spPr>
          <a:xfrm>
            <a:off x="3133725" y="923925"/>
            <a:ext cx="5162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机制模型</a:t>
            </a:r>
          </a:p>
        </p:txBody>
      </p:sp>
      <p:sp>
        <p:nvSpPr>
          <p:cNvPr id="7" name="shape-696">
            <a:extLst>
              <a:ext uri="{FF2B5EF4-FFF2-40B4-BE49-F238E27FC236}">
                <ns2:creationId id="{70317811-38FA-45FD-A5DB-B3631A970460}"/>
              </a:ext>
            </a:extLst>
          </p:cNvPr>
          <p:cNvSpPr>
            <a:spLocks noGrp="1"/>
          </p:cNvSpPr>
          <p:nvPr/>
        </p:nvSpPr>
        <p:spPr>
          <a:xfrm>
            <a:off x="8582025" y="895350"/>
            <a:ext cx="3381375" cy="352425"/>
          </a:xfrm>
          <a:prstGeom prst="rect">
            <a:avLst/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8" name="text-697">
            <a:extLst>
              <a:ext uri="{FF2B5EF4-FFF2-40B4-BE49-F238E27FC236}">
                <ns2:creationId id="{A45ABA9F-8717-4E21-BE6B-D50A4BCD2ED3}"/>
              </a:ext>
            </a:extLst>
          </p:cNvPr>
          <p:cNvSpPr>
            <a:spLocks noGrp="1"/>
          </p:cNvSpPr>
          <p:nvPr/>
        </p:nvSpPr>
        <p:spPr>
          <a:xfrm>
            <a:off x="8696325" y="923925"/>
            <a:ext cx="31527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检验输出</a:t>
            </a:r>
          </a:p>
        </p:txBody>
      </p:sp>
      <p:sp>
        <p:nvSpPr>
          <p:cNvPr id="9" name="shape-698">
            <a:extLst>
              <a:ext uri="{FF2B5EF4-FFF2-40B4-BE49-F238E27FC236}">
                <ns2:creationId id="{A094B222-644A-448C-9EA5-D701B59D0F12}"/>
              </a:ext>
            </a:extLst>
          </p:cNvPr>
          <p:cNvSpPr>
            <a:spLocks noGrp="1"/>
          </p:cNvSpPr>
          <p:nvPr/>
        </p:nvSpPr>
        <p:spPr>
          <a:xfrm>
            <a:off x="228600" y="1409700"/>
            <a:ext cx="2619375" cy="1409700"/>
          </a:xfrm>
          <a:prstGeom prst="roundRect">
            <a:avLst>
              <a:gd name="adj" fmla="val 5405"/>
            </a:avLst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10" name="vector-699">
            <a:extLst>
              <a:ext uri="{FF2B5EF4-FFF2-40B4-BE49-F238E27FC236}">
                <ns2:creationId id="{91296188-58C2-4ECD-B639-4E09D95225E2}"/>
              </a:ext>
            </a:extLst>
          </p:cNvPr>
          <p:cNvSpPr>
            <a:spLocks noGrp="1"/>
          </p:cNvSpPr>
          <p:nvPr/>
        </p:nvSpPr>
        <p:spPr>
          <a:xfrm>
            <a:off x="371475" y="1543050"/>
            <a:ext cx="438150" cy="438150"/>
          </a:xfrm>
          <a:custGeom>
            <a:pathLst>
              <a:path w="952500" h="952500">
                <a:moveTo>
                  <a:pt x="66675" y="190500"/>
                </a:moveTo>
                <a:lnTo>
                  <a:pt x="314325" y="95250"/>
                </a:lnTo>
                <a:lnTo>
                  <a:pt x="628650" y="190500"/>
                </a:lnTo>
                <a:lnTo>
                  <a:pt x="885825" y="95250"/>
                </a:lnTo>
                <a:lnTo>
                  <a:pt x="885825" y="762000"/>
                </a:lnTo>
                <a:lnTo>
                  <a:pt x="628650" y="857250"/>
                </a:lnTo>
                <a:lnTo>
                  <a:pt x="314325" y="762000"/>
                </a:lnTo>
                <a:lnTo>
                  <a:pt x="66675" y="857250"/>
                </a:lnTo>
                <a:close/>
              </a:path>
            </a:pathLst>
          </a:custGeom>
          <a:solidFill>
            <a:srgbClr val="EEF3F8"/>
          </a:solidFill>
          <a:ln w="19050">
            <a:solidFill>
              <a:srgbClr val="173D67"/>
            </a:solidFill>
            <a:prstDash val="solid"/>
          </a:ln>
        </p:spPr>
      </p:sp>
      <p:sp>
        <p:nvSpPr>
          <p:cNvPr id="11" name="vector-700">
            <a:extLst>
              <a:ext uri="{FF2B5EF4-FFF2-40B4-BE49-F238E27FC236}">
                <ns2:creationId id="{48623E79-69B6-4017-B48C-7B866DAF3EE7}"/>
              </a:ext>
            </a:extLst>
          </p:cNvPr>
          <p:cNvSpPr>
            <a:spLocks noGrp="1"/>
          </p:cNvSpPr>
          <p:nvPr/>
        </p:nvSpPr>
        <p:spPr>
          <a:xfrm>
            <a:off x="371475" y="1543050"/>
            <a:ext cx="438150" cy="438150"/>
          </a:xfrm>
          <a:custGeom>
            <a:pathLst>
              <a:path w="952500" h="952500">
                <a:moveTo>
                  <a:pt x="314325" y="95250"/>
                </a:moveTo>
                <a:lnTo>
                  <a:pt x="314325" y="762000"/>
                </a:lnTo>
              </a:path>
            </a:pathLst>
          </a:custGeom>
          <a:noFill/>
          <a:ln w="14605">
            <a:solidFill>
              <a:srgbClr val="173D67"/>
            </a:solidFill>
            <a:prstDash val="solid"/>
          </a:ln>
        </p:spPr>
      </p:sp>
      <p:sp>
        <p:nvSpPr>
          <p:cNvPr id="12" name="vector-701">
            <a:extLst>
              <a:ext uri="{FF2B5EF4-FFF2-40B4-BE49-F238E27FC236}">
                <ns2:creationId id="{FD249F3C-1E88-4302-94D0-D8DFFED457FD}"/>
              </a:ext>
            </a:extLst>
          </p:cNvPr>
          <p:cNvSpPr>
            <a:spLocks noGrp="1"/>
          </p:cNvSpPr>
          <p:nvPr/>
        </p:nvSpPr>
        <p:spPr>
          <a:xfrm>
            <a:off x="371475" y="1543050"/>
            <a:ext cx="438150" cy="438150"/>
          </a:xfrm>
          <a:custGeom>
            <a:pathLst>
              <a:path w="952500" h="952500">
                <a:moveTo>
                  <a:pt x="628650" y="190500"/>
                </a:moveTo>
                <a:lnTo>
                  <a:pt x="628650" y="857250"/>
                </a:lnTo>
              </a:path>
            </a:pathLst>
          </a:custGeom>
          <a:noFill/>
          <a:ln w="14605">
            <a:solidFill>
              <a:srgbClr val="173D67"/>
            </a:solidFill>
            <a:prstDash val="solid"/>
          </a:ln>
        </p:spPr>
      </p:sp>
      <p:sp>
        <p:nvSpPr>
          <p:cNvPr id="13" name="icon-map-702">
            <a:extLst>
              <a:ext uri="{FF2B5EF4-FFF2-40B4-BE49-F238E27FC236}">
                <ns2:creationId id="{9BE7EA37-E0C8-437F-A78A-E7165388EEE4}"/>
              </a:ext>
            </a:extLst>
          </p:cNvPr>
          <p:cNvSpPr>
            <a:spLocks noGrp="1"/>
          </p:cNvSpPr>
          <p:nvPr/>
        </p:nvSpPr>
        <p:spPr>
          <a:xfrm>
            <a:off x="546735" y="1648206"/>
            <a:ext cx="96393" cy="96393"/>
          </a:xfrm>
          <a:prstGeom prst="ellipse">
            <a:avLst/>
          </a:prstGeom>
          <a:solidFill>
            <a:srgbClr val="173D67"/>
          </a:solidFill>
          <a:ln w="13692">
            <a:solidFill>
              <a:srgbClr val="173D67"/>
            </a:solidFill>
            <a:prstDash val="solid"/>
          </a:ln>
        </p:spPr>
      </p:sp>
      <p:sp>
        <p:nvSpPr>
          <p:cNvPr id="14" name="text-703">
            <a:extLst>
              <a:ext uri="{FF2B5EF4-FFF2-40B4-BE49-F238E27FC236}">
                <ns2:creationId id="{58A6077E-B12B-4B9B-95B6-A956C83C02F0}"/>
              </a:ext>
            </a:extLst>
          </p:cNvPr>
          <p:cNvSpPr>
            <a:spLocks noGrp="1"/>
          </p:cNvSpPr>
          <p:nvPr/>
        </p:nvSpPr>
        <p:spPr>
          <a:xfrm>
            <a:off x="952500" y="1533525"/>
            <a:ext cx="17621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景观格局</a:t>
            </a:r>
            <a:endParaRPr/>
          </a:p>
        </p:txBody>
      </p:sp>
      <p:sp>
        <p:nvSpPr>
          <p:cNvPr id="15" name="text-704">
            <a:extLst>
              <a:ext uri="{FF2B5EF4-FFF2-40B4-BE49-F238E27FC236}">
                <ns2:creationId id="{E2260CB7-2444-48EF-B5C5-20D4C832E635}"/>
              </a:ext>
            </a:extLst>
          </p:cNvPr>
          <p:cNvSpPr>
            <a:spLocks noGrp="1"/>
          </p:cNvSpPr>
          <p:nvPr/>
        </p:nvSpPr>
        <p:spPr>
          <a:xfrm>
            <a:off x="381000" y="2009775"/>
            <a:ext cx="231457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斑块大小、形状及其空间配置</a:t>
            </a:r>
            <a:endParaRPr/>
          </a:p>
        </p:txBody>
      </p:sp>
      <p:sp>
        <p:nvSpPr>
          <p:cNvPr id="16" name="shape-705">
            <a:extLst>
              <a:ext uri="{FF2B5EF4-FFF2-40B4-BE49-F238E27FC236}">
                <ns2:creationId id="{0987876A-101F-4882-806E-BBAC33B7358A}"/>
              </a:ext>
            </a:extLst>
          </p:cNvPr>
          <p:cNvSpPr>
            <a:spLocks noGrp="1"/>
          </p:cNvSpPr>
          <p:nvPr/>
        </p:nvSpPr>
        <p:spPr>
          <a:xfrm>
            <a:off x="228600" y="2952750"/>
            <a:ext cx="2619375" cy="1409700"/>
          </a:xfrm>
          <a:prstGeom prst="roundRect">
            <a:avLst>
              <a:gd name="adj" fmla="val 5405"/>
            </a:avLst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17" name="vector-706">
            <a:extLst>
              <a:ext uri="{FF2B5EF4-FFF2-40B4-BE49-F238E27FC236}">
                <ns2:creationId id="{656139E8-0206-4A84-82E5-BC9880392626}"/>
              </a:ext>
            </a:extLst>
          </p:cNvPr>
          <p:cNvSpPr>
            <a:spLocks noGrp="1"/>
          </p:cNvSpPr>
          <p:nvPr/>
        </p:nvSpPr>
        <p:spPr>
          <a:xfrm>
            <a:off x="371475" y="3243834"/>
            <a:ext cx="438150" cy="219075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solidFill>
            <a:srgbClr val="B9C5D1"/>
          </a:solidFill>
          <a:ln w="11430">
            <a:solidFill>
              <a:srgbClr val="173D67"/>
            </a:solidFill>
            <a:prstDash val="solid"/>
          </a:ln>
        </p:spPr>
      </p:sp>
      <p:sp>
        <p:nvSpPr>
          <p:cNvPr id="18" name="vector-707">
            <a:extLst>
              <a:ext uri="{FF2B5EF4-FFF2-40B4-BE49-F238E27FC236}">
                <ns2:creationId id="{A72B4D98-ADE3-40AF-9E67-C2236BCCCCD0}"/>
              </a:ext>
            </a:extLst>
          </p:cNvPr>
          <p:cNvSpPr>
            <a:spLocks noGrp="1"/>
          </p:cNvSpPr>
          <p:nvPr/>
        </p:nvSpPr>
        <p:spPr>
          <a:xfrm>
            <a:off x="371475" y="3164967"/>
            <a:ext cx="438150" cy="219075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solidFill>
            <a:srgbClr val="97A8BB"/>
          </a:solidFill>
          <a:ln w="11430">
            <a:solidFill>
              <a:srgbClr val="173D67"/>
            </a:solidFill>
            <a:prstDash val="solid"/>
          </a:ln>
        </p:spPr>
      </p:sp>
      <p:sp>
        <p:nvSpPr>
          <p:cNvPr id="19" name="vector-708">
            <a:extLst>
              <a:ext uri="{FF2B5EF4-FFF2-40B4-BE49-F238E27FC236}">
                <ns2:creationId id="{65CFC610-1479-424C-B365-0F8713CB2705}"/>
              </a:ext>
            </a:extLst>
          </p:cNvPr>
          <p:cNvSpPr>
            <a:spLocks noGrp="1"/>
          </p:cNvSpPr>
          <p:nvPr/>
        </p:nvSpPr>
        <p:spPr>
          <a:xfrm>
            <a:off x="371475" y="3086100"/>
            <a:ext cx="438150" cy="219075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solidFill>
            <a:srgbClr val="748BA4"/>
          </a:solidFill>
          <a:ln w="11430">
            <a:solidFill>
              <a:srgbClr val="173D67"/>
            </a:solidFill>
            <a:prstDash val="solid"/>
          </a:ln>
        </p:spPr>
      </p:sp>
      <p:sp>
        <p:nvSpPr>
          <p:cNvPr id="20" name="text-709">
            <a:extLst>
              <a:ext uri="{FF2B5EF4-FFF2-40B4-BE49-F238E27FC236}">
                <ns2:creationId id="{3448EDD6-4972-4598-BA9C-66EE119CFFE4}"/>
              </a:ext>
            </a:extLst>
          </p:cNvPr>
          <p:cNvSpPr>
            <a:spLocks noGrp="1"/>
          </p:cNvSpPr>
          <p:nvPr/>
        </p:nvSpPr>
        <p:spPr>
          <a:xfrm>
            <a:off x="952500" y="3076575"/>
            <a:ext cx="17621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环境梯度</a:t>
            </a:r>
            <a:endParaRPr/>
          </a:p>
        </p:txBody>
      </p:sp>
      <p:sp>
        <p:nvSpPr>
          <p:cNvPr id="21" name="text-710">
            <a:extLst>
              <a:ext uri="{FF2B5EF4-FFF2-40B4-BE49-F238E27FC236}">
                <ns2:creationId id="{031BFAA9-AB8C-4FCC-B46E-CE3C33D59E88}"/>
              </a:ext>
            </a:extLst>
          </p:cNvPr>
          <p:cNvSpPr>
            <a:spLocks noGrp="1"/>
          </p:cNvSpPr>
          <p:nvPr/>
        </p:nvSpPr>
        <p:spPr>
          <a:xfrm>
            <a:off x="381000" y="3552825"/>
            <a:ext cx="231457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温度、地形与人为干扰的变化</a:t>
            </a:r>
            <a:endParaRPr/>
          </a:p>
        </p:txBody>
      </p:sp>
      <p:sp>
        <p:nvSpPr>
          <p:cNvPr id="22" name="shape-711">
            <a:extLst>
              <a:ext uri="{FF2B5EF4-FFF2-40B4-BE49-F238E27FC236}">
                <ns2:creationId id="{009BE411-26E8-4FFE-B29E-A1F32CB32FBB}"/>
              </a:ext>
            </a:extLst>
          </p:cNvPr>
          <p:cNvSpPr>
            <a:spLocks noGrp="1"/>
          </p:cNvSpPr>
          <p:nvPr/>
        </p:nvSpPr>
        <p:spPr>
          <a:xfrm>
            <a:off x="228600" y="4495800"/>
            <a:ext cx="2619375" cy="1409700"/>
          </a:xfrm>
          <a:prstGeom prst="roundRect">
            <a:avLst>
              <a:gd name="adj" fmla="val 5405"/>
            </a:avLst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23" name="icon-database-712">
            <a:extLst>
              <a:ext uri="{FF2B5EF4-FFF2-40B4-BE49-F238E27FC236}">
                <ns2:creationId id="{514424D3-4B42-434B-80A0-F0F9A91AC65C}"/>
              </a:ext>
            </a:extLst>
          </p:cNvPr>
          <p:cNvSpPr>
            <a:spLocks noGrp="1"/>
          </p:cNvSpPr>
          <p:nvPr/>
        </p:nvSpPr>
        <p:spPr>
          <a:xfrm>
            <a:off x="441579" y="4712399"/>
            <a:ext cx="297942" cy="276035"/>
          </a:xfrm>
          <a:prstGeom prst="can">
            <a:avLst/>
          </a:prstGeom>
          <a:noFill/>
          <a:ln w="13692">
            <a:solidFill>
              <a:srgbClr val="173D67"/>
            </a:solidFill>
            <a:prstDash val="solid"/>
          </a:ln>
        </p:spPr>
      </p:sp>
      <p:sp>
        <p:nvSpPr>
          <p:cNvPr id="24" name="vector-713">
            <a:extLst>
              <a:ext uri="{FF2B5EF4-FFF2-40B4-BE49-F238E27FC236}">
                <ns2:creationId id="{CB512FC4-40F1-4E58-B113-878B586A10CB}"/>
              </a:ext>
            </a:extLst>
          </p:cNvPr>
          <p:cNvSpPr>
            <a:spLocks noGrp="1"/>
          </p:cNvSpPr>
          <p:nvPr/>
        </p:nvSpPr>
        <p:spPr>
          <a:xfrm>
            <a:off x="371475" y="4629150"/>
            <a:ext cx="438150" cy="438150"/>
          </a:xfrm>
          <a:custGeom>
            <a:pathLst>
              <a:path w="952500" h="952500">
                <a:moveTo>
                  <a:pt x="161925" y="428625"/>
                </a:moveTo>
                <a:lnTo>
                  <a:pt x="790575" y="428625"/>
                </a:lnTo>
              </a:path>
            </a:pathLst>
          </a:custGeom>
          <a:noFill/>
          <a:ln w="14605">
            <a:solidFill>
              <a:srgbClr val="173D67"/>
            </a:solidFill>
            <a:prstDash val="solid"/>
          </a:ln>
        </p:spPr>
      </p:sp>
      <p:sp>
        <p:nvSpPr>
          <p:cNvPr id="25" name="vector-714">
            <a:extLst>
              <a:ext uri="{FF2B5EF4-FFF2-40B4-BE49-F238E27FC236}">
                <ns2:creationId id="{ABE74259-230C-4D90-AA6A-C89DFE77B450}"/>
              </a:ext>
            </a:extLst>
          </p:cNvPr>
          <p:cNvSpPr>
            <a:spLocks noGrp="1"/>
          </p:cNvSpPr>
          <p:nvPr/>
        </p:nvSpPr>
        <p:spPr>
          <a:xfrm>
            <a:off x="371475" y="4629150"/>
            <a:ext cx="438150" cy="438150"/>
          </a:xfrm>
          <a:custGeom>
            <a:pathLst>
              <a:path w="952500" h="952500">
                <a:moveTo>
                  <a:pt x="161925" y="600075"/>
                </a:moveTo>
                <a:lnTo>
                  <a:pt x="790575" y="600075"/>
                </a:lnTo>
              </a:path>
            </a:pathLst>
          </a:custGeom>
          <a:noFill/>
          <a:ln w="14605">
            <a:solidFill>
              <a:srgbClr val="173D67"/>
            </a:solidFill>
            <a:prstDash val="solid"/>
          </a:ln>
        </p:spPr>
      </p:sp>
      <p:sp>
        <p:nvSpPr>
          <p:cNvPr id="26" name="text-715">
            <a:extLst>
              <a:ext uri="{FF2B5EF4-FFF2-40B4-BE49-F238E27FC236}">
                <ns2:creationId id="{A1E8712E-9AA7-47B8-ABE2-FB680572D07B}"/>
              </a:ext>
            </a:extLst>
          </p:cNvPr>
          <p:cNvSpPr>
            <a:spLocks noGrp="1"/>
          </p:cNvSpPr>
          <p:nvPr/>
        </p:nvSpPr>
        <p:spPr>
          <a:xfrm>
            <a:off x="952500" y="4619625"/>
            <a:ext cx="17621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群落记录</a:t>
            </a:r>
            <a:endParaRPr/>
          </a:p>
        </p:txBody>
      </p:sp>
      <p:sp>
        <p:nvSpPr>
          <p:cNvPr id="27" name="text-716">
            <a:extLst>
              <a:ext uri="{FF2B5EF4-FFF2-40B4-BE49-F238E27FC236}">
                <ns2:creationId id="{52212A1B-44EA-4385-AB13-4F81B322E6BA}"/>
              </a:ext>
            </a:extLst>
          </p:cNvPr>
          <p:cNvSpPr>
            <a:spLocks noGrp="1"/>
          </p:cNvSpPr>
          <p:nvPr/>
        </p:nvSpPr>
        <p:spPr>
          <a:xfrm>
            <a:off x="381000" y="5095875"/>
            <a:ext cx="231457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物种出现、多度与时间记录</a:t>
            </a:r>
            <a:endParaRPr/>
          </a:p>
        </p:txBody>
      </p:sp>
      <p:sp>
        <p:nvSpPr>
          <p:cNvPr id="28" name="node-717">
            <a:extLst>
              <a:ext uri="{FF2B5EF4-FFF2-40B4-BE49-F238E27FC236}">
                <ns2:creationId id="{E8E825FC-E065-4394-96AD-E2EB7CB2E956}"/>
              </a:ext>
            </a:extLst>
          </p:cNvPr>
          <p:cNvSpPr>
            <a:spLocks noGrp="1"/>
          </p:cNvSpPr>
          <p:nvPr/>
        </p:nvSpPr>
        <p:spPr>
          <a:xfrm>
            <a:off x="3124200" y="1495425"/>
            <a:ext cx="2352675" cy="95250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 w="9525">
            <a:solidFill>
              <a:srgbClr val="718EAA"/>
            </a:solidFill>
            <a:prstDash val="solid"/>
          </a:ln>
        </p:spPr>
      </p:sp>
      <p:sp>
        <p:nvSpPr>
          <p:cNvPr id="29" name="vector-718">
            <a:extLst>
              <a:ext uri="{FF2B5EF4-FFF2-40B4-BE49-F238E27FC236}">
                <ns2:creationId id="{A805F1D1-BCF5-4ABC-A25C-51593F747D89}"/>
              </a:ext>
            </a:extLst>
          </p:cNvPr>
          <p:cNvSpPr>
            <a:spLocks noGrp="1"/>
          </p:cNvSpPr>
          <p:nvPr/>
        </p:nvSpPr>
        <p:spPr>
          <a:xfrm>
            <a:off x="3238500" y="1764030"/>
            <a:ext cx="428625" cy="214313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solidFill>
            <a:srgbClr val="B9C5D1"/>
          </a:solidFill>
          <a:ln w="11430">
            <a:solidFill>
              <a:srgbClr val="173D67"/>
            </a:solidFill>
            <a:prstDash val="solid"/>
          </a:ln>
        </p:spPr>
      </p:sp>
      <p:sp>
        <p:nvSpPr>
          <p:cNvPr id="30" name="vector-719">
            <a:extLst>
              <a:ext uri="{FF2B5EF4-FFF2-40B4-BE49-F238E27FC236}">
                <ns2:creationId id="{33AA6A50-D727-4E4F-B36A-CC04D8E0D0CC}"/>
              </a:ext>
            </a:extLst>
          </p:cNvPr>
          <p:cNvSpPr>
            <a:spLocks noGrp="1"/>
          </p:cNvSpPr>
          <p:nvPr/>
        </p:nvSpPr>
        <p:spPr>
          <a:xfrm>
            <a:off x="3238500" y="1686878"/>
            <a:ext cx="428625" cy="214313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solidFill>
            <a:srgbClr val="97A8BB"/>
          </a:solidFill>
          <a:ln w="11430">
            <a:solidFill>
              <a:srgbClr val="173D67"/>
            </a:solidFill>
            <a:prstDash val="solid"/>
          </a:ln>
        </p:spPr>
      </p:sp>
      <p:sp>
        <p:nvSpPr>
          <p:cNvPr id="31" name="vector-720">
            <a:extLst>
              <a:ext uri="{FF2B5EF4-FFF2-40B4-BE49-F238E27FC236}">
                <ns2:creationId id="{E6130890-74B5-4293-8546-DBB55C7F517A}"/>
              </a:ext>
            </a:extLst>
          </p:cNvPr>
          <p:cNvSpPr>
            <a:spLocks noGrp="1"/>
          </p:cNvSpPr>
          <p:nvPr/>
        </p:nvSpPr>
        <p:spPr>
          <a:xfrm>
            <a:off x="3238500" y="1609725"/>
            <a:ext cx="428625" cy="214313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solidFill>
            <a:srgbClr val="748BA4"/>
          </a:solidFill>
          <a:ln w="11430">
            <a:solidFill>
              <a:srgbClr val="173D67"/>
            </a:solidFill>
            <a:prstDash val="solid"/>
          </a:ln>
        </p:spPr>
      </p:sp>
      <p:sp>
        <p:nvSpPr>
          <p:cNvPr id="32" name="text-721">
            <a:extLst>
              <a:ext uri="{FF2B5EF4-FFF2-40B4-BE49-F238E27FC236}">
                <ns2:creationId id="{7DBA225C-74FB-4870-883B-2B1C3C3BAC20}"/>
              </a:ext>
            </a:extLst>
          </p:cNvPr>
          <p:cNvSpPr>
            <a:spLocks noGrp="1"/>
          </p:cNvSpPr>
          <p:nvPr/>
        </p:nvSpPr>
        <p:spPr>
          <a:xfrm>
            <a:off x="3771900" y="1571625"/>
            <a:ext cx="1590675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生境面积</a:t>
            </a:r>
            <a:endParaRPr/>
          </a:p>
        </p:txBody>
      </p:sp>
      <p:sp>
        <p:nvSpPr>
          <p:cNvPr id="33" name="node-722">
            <a:extLst>
              <a:ext uri="{FF2B5EF4-FFF2-40B4-BE49-F238E27FC236}">
                <ns2:creationId id="{26492E4E-6FDA-4109-BAFD-479FCC0F23AB}"/>
              </a:ext>
            </a:extLst>
          </p:cNvPr>
          <p:cNvSpPr>
            <a:spLocks noGrp="1"/>
          </p:cNvSpPr>
          <p:nvPr/>
        </p:nvSpPr>
        <p:spPr>
          <a:xfrm>
            <a:off x="5924550" y="1495425"/>
            <a:ext cx="2352675" cy="95250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 w="9525">
            <a:solidFill>
              <a:srgbClr val="718EAA"/>
            </a:solidFill>
            <a:prstDash val="solid"/>
          </a:ln>
        </p:spPr>
      </p:sp>
      <p:sp>
        <p:nvSpPr>
          <p:cNvPr id="34" name="vector-723">
            <a:extLst>
              <a:ext uri="{FF2B5EF4-FFF2-40B4-BE49-F238E27FC236}">
                <ns2:creationId id="{6C2D415F-8AE6-477B-A5EE-EE219D144BAA}"/>
              </a:ext>
            </a:extLst>
          </p:cNvPr>
          <p:cNvSpPr>
            <a:spLocks noGrp="1"/>
          </p:cNvSpPr>
          <p:nvPr/>
        </p:nvSpPr>
        <p:spPr>
          <a:xfrm>
            <a:off x="6038850" y="1609725"/>
            <a:ext cx="428625" cy="428625"/>
          </a:xfrm>
          <a:custGeom>
            <a:pathLst>
              <a:path w="952500" h="952500">
                <a:moveTo>
                  <a:pt x="66675" y="190500"/>
                </a:moveTo>
                <a:lnTo>
                  <a:pt x="314325" y="95250"/>
                </a:lnTo>
                <a:lnTo>
                  <a:pt x="628650" y="190500"/>
                </a:lnTo>
                <a:lnTo>
                  <a:pt x="885825" y="95250"/>
                </a:lnTo>
                <a:lnTo>
                  <a:pt x="885825" y="762000"/>
                </a:lnTo>
                <a:lnTo>
                  <a:pt x="628650" y="857250"/>
                </a:lnTo>
                <a:lnTo>
                  <a:pt x="314325" y="762000"/>
                </a:lnTo>
                <a:lnTo>
                  <a:pt x="66675" y="857250"/>
                </a:lnTo>
                <a:close/>
              </a:path>
            </a:pathLst>
          </a:custGeom>
          <a:solidFill>
            <a:srgbClr val="EEF3F8"/>
          </a:solidFill>
          <a:ln w="19050">
            <a:solidFill>
              <a:srgbClr val="173D67"/>
            </a:solidFill>
            <a:prstDash val="solid"/>
          </a:ln>
        </p:spPr>
      </p:sp>
      <p:sp>
        <p:nvSpPr>
          <p:cNvPr id="35" name="vector-724">
            <a:extLst>
              <a:ext uri="{FF2B5EF4-FFF2-40B4-BE49-F238E27FC236}">
                <ns2:creationId id="{2D1DA295-FC77-466A-88FE-ED617D006320}"/>
              </a:ext>
            </a:extLst>
          </p:cNvPr>
          <p:cNvSpPr>
            <a:spLocks noGrp="1"/>
          </p:cNvSpPr>
          <p:nvPr/>
        </p:nvSpPr>
        <p:spPr>
          <a:xfrm>
            <a:off x="6038850" y="1609725"/>
            <a:ext cx="428625" cy="428625"/>
          </a:xfrm>
          <a:custGeom>
            <a:pathLst>
              <a:path w="952500" h="952500">
                <a:moveTo>
                  <a:pt x="314325" y="95250"/>
                </a:moveTo>
                <a:lnTo>
                  <a:pt x="314325" y="762000"/>
                </a:lnTo>
              </a:path>
            </a:pathLst>
          </a:custGeom>
          <a:noFill/>
          <a:ln w="14288">
            <a:solidFill>
              <a:srgbClr val="173D67"/>
            </a:solidFill>
            <a:prstDash val="solid"/>
          </a:ln>
        </p:spPr>
      </p:sp>
      <p:sp>
        <p:nvSpPr>
          <p:cNvPr id="36" name="vector-725">
            <a:extLst>
              <a:ext uri="{FF2B5EF4-FFF2-40B4-BE49-F238E27FC236}">
                <ns2:creationId id="{CA954965-121C-43E7-8919-AC611A16A044}"/>
              </a:ext>
            </a:extLst>
          </p:cNvPr>
          <p:cNvSpPr>
            <a:spLocks noGrp="1"/>
          </p:cNvSpPr>
          <p:nvPr/>
        </p:nvSpPr>
        <p:spPr>
          <a:xfrm>
            <a:off x="6038850" y="1609725"/>
            <a:ext cx="428625" cy="428625"/>
          </a:xfrm>
          <a:custGeom>
            <a:pathLst>
              <a:path w="952500" h="952500">
                <a:moveTo>
                  <a:pt x="628650" y="190500"/>
                </a:moveTo>
                <a:lnTo>
                  <a:pt x="628650" y="857250"/>
                </a:lnTo>
              </a:path>
            </a:pathLst>
          </a:custGeom>
          <a:noFill/>
          <a:ln w="14288">
            <a:solidFill>
              <a:srgbClr val="173D67"/>
            </a:solidFill>
            <a:prstDash val="solid"/>
          </a:ln>
        </p:spPr>
      </p:sp>
      <p:sp>
        <p:nvSpPr>
          <p:cNvPr id="37" name="icon-map-726">
            <a:extLst>
              <a:ext uri="{FF2B5EF4-FFF2-40B4-BE49-F238E27FC236}">
                <ns2:creationId id="{D8A79725-A3B7-48DA-A9EA-5D779AF261E3}"/>
              </a:ext>
            </a:extLst>
          </p:cNvPr>
          <p:cNvSpPr>
            <a:spLocks noGrp="1"/>
          </p:cNvSpPr>
          <p:nvPr/>
        </p:nvSpPr>
        <p:spPr>
          <a:xfrm>
            <a:off x="6210300" y="1712595"/>
            <a:ext cx="94298" cy="94298"/>
          </a:xfrm>
          <a:prstGeom prst="ellipse">
            <a:avLst/>
          </a:prstGeom>
          <a:solidFill>
            <a:srgbClr val="173D67"/>
          </a:solidFill>
          <a:ln w="13395">
            <a:solidFill>
              <a:srgbClr val="173D67"/>
            </a:solidFill>
            <a:prstDash val="solid"/>
          </a:ln>
        </p:spPr>
      </p:sp>
      <p:sp>
        <p:nvSpPr>
          <p:cNvPr id="38" name="text-727">
            <a:extLst>
              <a:ext uri="{FF2B5EF4-FFF2-40B4-BE49-F238E27FC236}">
                <ns2:creationId id="{20E4F937-F78F-4738-9613-3824160B7B89}"/>
              </a:ext>
            </a:extLst>
          </p:cNvPr>
          <p:cNvSpPr>
            <a:spLocks noGrp="1"/>
          </p:cNvSpPr>
          <p:nvPr/>
        </p:nvSpPr>
        <p:spPr>
          <a:xfrm>
            <a:off x="6572250" y="1571625"/>
            <a:ext cx="1590675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空间隔离</a:t>
            </a:r>
            <a:endParaRPr/>
          </a:p>
        </p:txBody>
      </p:sp>
      <p:sp>
        <p:nvSpPr>
          <p:cNvPr id="39" name="node-728">
            <a:extLst>
              <a:ext uri="{FF2B5EF4-FFF2-40B4-BE49-F238E27FC236}">
                <ns2:creationId id="{29DCB5FC-EFAC-4F05-A332-B053AF4EB151}"/>
              </a:ext>
            </a:extLst>
          </p:cNvPr>
          <p:cNvSpPr>
            <a:spLocks noGrp="1"/>
          </p:cNvSpPr>
          <p:nvPr/>
        </p:nvSpPr>
        <p:spPr>
          <a:xfrm>
            <a:off x="3124200" y="3219450"/>
            <a:ext cx="2352675" cy="95250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 w="9525">
            <a:solidFill>
              <a:srgbClr val="718EAA"/>
            </a:solidFill>
            <a:prstDash val="solid"/>
          </a:ln>
        </p:spPr>
      </p:sp>
      <p:sp>
        <p:nvSpPr>
          <p:cNvPr id="40" name="vector-729">
            <a:extLst>
              <a:ext uri="{FF2B5EF4-FFF2-40B4-BE49-F238E27FC236}">
                <ns2:creationId id="{F1A6EB70-7942-4830-9800-3A52A881B1D0}"/>
              </a:ext>
            </a:extLst>
          </p:cNvPr>
          <p:cNvSpPr>
            <a:spLocks noGrp="1"/>
          </p:cNvSpPr>
          <p:nvPr/>
        </p:nvSpPr>
        <p:spPr>
          <a:xfrm>
            <a:off x="3238500" y="3333750"/>
            <a:ext cx="428625" cy="428625"/>
          </a:xfrm>
          <a:custGeom>
            <a:pathLst>
              <a:path w="952500" h="952500">
                <a:moveTo>
                  <a:pt x="476250" y="323850"/>
                </a:moveTo>
                <a:lnTo>
                  <a:pt x="476250" y="895350"/>
                </a:lnTo>
              </a:path>
            </a:pathLst>
          </a:custGeom>
          <a:noFill/>
          <a:ln w="14288">
            <a:solidFill>
              <a:srgbClr val="173D67"/>
            </a:solidFill>
            <a:prstDash val="solid"/>
          </a:ln>
        </p:spPr>
      </p:sp>
      <p:sp>
        <p:nvSpPr>
          <p:cNvPr id="41" name="icon-leaf-730">
            <a:extLst>
              <a:ext uri="{FF2B5EF4-FFF2-40B4-BE49-F238E27FC236}">
                <ns2:creationId id="{DD6AF184-3784-4D60-A55D-3EFBC9E88225}"/>
              </a:ext>
            </a:extLst>
          </p:cNvPr>
          <p:cNvSpPr>
            <a:spLocks noGrp="1"/>
          </p:cNvSpPr>
          <p:nvPr/>
        </p:nvSpPr>
        <p:spPr>
          <a:xfrm>
            <a:off x="3337084" y="3368040"/>
            <a:ext cx="115729" cy="192881"/>
          </a:xfrm>
          <a:prstGeom prst="ellipse">
            <a:avLst/>
          </a:prstGeom>
          <a:solidFill>
            <a:srgbClr val="68819C"/>
          </a:solidFill>
          <a:ln w="13395">
            <a:solidFill>
              <a:srgbClr val="173D67"/>
            </a:solidFill>
            <a:prstDash val="solid"/>
          </a:ln>
        </p:spPr>
      </p:sp>
      <p:sp>
        <p:nvSpPr>
          <p:cNvPr id="42" name="icon-leaf-731">
            <a:extLst>
              <a:ext uri="{FF2B5EF4-FFF2-40B4-BE49-F238E27FC236}">
                <ns2:creationId id="{F57F2A84-4967-4F12-A0FF-D306F07F18D9}"/>
              </a:ext>
            </a:extLst>
          </p:cNvPr>
          <p:cNvSpPr>
            <a:spLocks noGrp="1"/>
          </p:cNvSpPr>
          <p:nvPr/>
        </p:nvSpPr>
        <p:spPr>
          <a:xfrm>
            <a:off x="3457099" y="3462338"/>
            <a:ext cx="128588" cy="192881"/>
          </a:xfrm>
          <a:prstGeom prst="ellipse">
            <a:avLst/>
          </a:prstGeom>
          <a:solidFill>
            <a:srgbClr val="9EAEBF"/>
          </a:solidFill>
          <a:ln w="13395">
            <a:solidFill>
              <a:srgbClr val="173D67"/>
            </a:solidFill>
            <a:prstDash val="solid"/>
          </a:ln>
        </p:spPr>
      </p:sp>
      <p:sp>
        <p:nvSpPr>
          <p:cNvPr id="43" name="vector-732">
            <a:extLst>
              <a:ext uri="{FF2B5EF4-FFF2-40B4-BE49-F238E27FC236}">
                <ns2:creationId id="{6A9B13B7-9175-46BE-8BB7-6EA990DF9469}"/>
              </a:ext>
            </a:extLst>
          </p:cNvPr>
          <p:cNvSpPr>
            <a:spLocks noGrp="1"/>
          </p:cNvSpPr>
          <p:nvPr/>
        </p:nvSpPr>
        <p:spPr>
          <a:xfrm>
            <a:off x="3238500" y="3333750"/>
            <a:ext cx="428625" cy="428625"/>
          </a:xfrm>
          <a:custGeom>
            <a:pathLst>
              <a:path w="952500" h="952500">
                <a:moveTo>
                  <a:pt x="285750" y="285750"/>
                </a:moveTo>
                <a:lnTo>
                  <a:pt x="476250" y="628650"/>
                </a:lnTo>
              </a:path>
            </a:pathLst>
          </a:custGeom>
          <a:noFill/>
          <a:ln w="14288">
            <a:solidFill>
              <a:srgbClr val="173D67"/>
            </a:solidFill>
            <a:prstDash val="solid"/>
          </a:ln>
        </p:spPr>
      </p:sp>
      <p:sp>
        <p:nvSpPr>
          <p:cNvPr id="44" name="vector-733">
            <a:extLst>
              <a:ext uri="{FF2B5EF4-FFF2-40B4-BE49-F238E27FC236}">
                <ns2:creationId id="{0FA325D6-60D0-4932-9711-5E04F94A0BDF}"/>
              </a:ext>
            </a:extLst>
          </p:cNvPr>
          <p:cNvSpPr>
            <a:spLocks noGrp="1"/>
          </p:cNvSpPr>
          <p:nvPr/>
        </p:nvSpPr>
        <p:spPr>
          <a:xfrm>
            <a:off x="3238500" y="3333750"/>
            <a:ext cx="428625" cy="428625"/>
          </a:xfrm>
          <a:custGeom>
            <a:pathLst>
              <a:path w="952500" h="952500">
                <a:moveTo>
                  <a:pt x="619125" y="457200"/>
                </a:moveTo>
                <a:lnTo>
                  <a:pt x="476250" y="762000"/>
                </a:lnTo>
              </a:path>
            </a:pathLst>
          </a:custGeom>
          <a:noFill/>
          <a:ln w="14288">
            <a:solidFill>
              <a:srgbClr val="173D67"/>
            </a:solidFill>
            <a:prstDash val="solid"/>
          </a:ln>
        </p:spPr>
      </p:sp>
      <p:sp>
        <p:nvSpPr>
          <p:cNvPr id="45" name="text-734">
            <a:extLst>
              <a:ext uri="{FF2B5EF4-FFF2-40B4-BE49-F238E27FC236}">
                <ns2:creationId id="{CB4AADD4-8D57-42C7-8CB2-CE085A57EF76}"/>
              </a:ext>
            </a:extLst>
          </p:cNvPr>
          <p:cNvSpPr>
            <a:spLocks noGrp="1"/>
          </p:cNvSpPr>
          <p:nvPr/>
        </p:nvSpPr>
        <p:spPr>
          <a:xfrm>
            <a:off x="3771900" y="3295650"/>
            <a:ext cx="1590675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资源供给</a:t>
            </a:r>
            <a:endParaRPr/>
          </a:p>
        </p:txBody>
      </p:sp>
      <p:sp>
        <p:nvSpPr>
          <p:cNvPr id="46" name="node-735">
            <a:extLst>
              <a:ext uri="{FF2B5EF4-FFF2-40B4-BE49-F238E27FC236}">
                <ns2:creationId id="{35DFD995-F435-489A-81F0-BDB8BB047883}"/>
              </a:ext>
            </a:extLst>
          </p:cNvPr>
          <p:cNvSpPr>
            <a:spLocks noGrp="1"/>
          </p:cNvSpPr>
          <p:nvPr/>
        </p:nvSpPr>
        <p:spPr>
          <a:xfrm>
            <a:off x="5924550" y="3219450"/>
            <a:ext cx="2352675" cy="95250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 w="9525">
            <a:solidFill>
              <a:srgbClr val="718EAA"/>
            </a:solidFill>
            <a:prstDash val="solid"/>
          </a:ln>
        </p:spPr>
      </p:sp>
      <p:sp>
        <p:nvSpPr>
          <p:cNvPr id="47" name="vector-736">
            <a:extLst>
              <a:ext uri="{FF2B5EF4-FFF2-40B4-BE49-F238E27FC236}">
                <ns2:creationId id="{3B554001-EC8F-4F04-B94D-56553CD3DA10}"/>
              </a:ext>
            </a:extLst>
          </p:cNvPr>
          <p:cNvSpPr>
            <a:spLocks noGrp="1"/>
          </p:cNvSpPr>
          <p:nvPr/>
        </p:nvSpPr>
        <p:spPr>
          <a:xfrm>
            <a:off x="6038850" y="3333750"/>
            <a:ext cx="428625" cy="428625"/>
          </a:xfrm>
          <a:custGeom>
            <a:pathLst>
              <a:path w="952500" h="952500">
                <a:moveTo>
                  <a:pt x="123825" y="352425"/>
                </a:moveTo>
                <a:lnTo>
                  <a:pt x="428625" y="114300"/>
                </a:lnTo>
              </a:path>
            </a:pathLst>
          </a:custGeom>
          <a:noFill/>
          <a:ln w="14288">
            <a:solidFill>
              <a:srgbClr val="173D67"/>
            </a:solidFill>
            <a:prstDash val="solid"/>
          </a:ln>
        </p:spPr>
      </p:sp>
      <p:sp>
        <p:nvSpPr>
          <p:cNvPr id="48" name="vector-737">
            <a:extLst>
              <a:ext uri="{FF2B5EF4-FFF2-40B4-BE49-F238E27FC236}">
                <ns2:creationId id="{E6CBF9F1-D9E0-4D22-989A-1650BDC1E1D0}"/>
              </a:ext>
            </a:extLst>
          </p:cNvPr>
          <p:cNvSpPr>
            <a:spLocks noGrp="1"/>
          </p:cNvSpPr>
          <p:nvPr/>
        </p:nvSpPr>
        <p:spPr>
          <a:xfrm>
            <a:off x="6038850" y="3333750"/>
            <a:ext cx="428625" cy="428625"/>
          </a:xfrm>
          <a:custGeom>
            <a:pathLst>
              <a:path w="952500" h="952500">
                <a:moveTo>
                  <a:pt x="428625" y="114300"/>
                </a:moveTo>
                <a:lnTo>
                  <a:pt x="800100" y="285750"/>
                </a:lnTo>
              </a:path>
            </a:pathLst>
          </a:custGeom>
          <a:noFill/>
          <a:ln w="14288">
            <a:solidFill>
              <a:srgbClr val="173D67"/>
            </a:solidFill>
            <a:prstDash val="solid"/>
          </a:ln>
        </p:spPr>
      </p:sp>
      <p:sp>
        <p:nvSpPr>
          <p:cNvPr id="49" name="vector-738">
            <a:extLst>
              <a:ext uri="{FF2B5EF4-FFF2-40B4-BE49-F238E27FC236}">
                <ns2:creationId id="{F8592629-59DA-4B4D-8D23-0412D29976AE}"/>
              </a:ext>
            </a:extLst>
          </p:cNvPr>
          <p:cNvSpPr>
            <a:spLocks noGrp="1"/>
          </p:cNvSpPr>
          <p:nvPr/>
        </p:nvSpPr>
        <p:spPr>
          <a:xfrm>
            <a:off x="6038850" y="3333750"/>
            <a:ext cx="428625" cy="428625"/>
          </a:xfrm>
          <a:custGeom>
            <a:pathLst>
              <a:path w="952500" h="952500">
                <a:moveTo>
                  <a:pt x="800100" y="285750"/>
                </a:moveTo>
                <a:lnTo>
                  <a:pt x="657225" y="790575"/>
                </a:lnTo>
              </a:path>
            </a:pathLst>
          </a:custGeom>
          <a:noFill/>
          <a:ln w="14288">
            <a:solidFill>
              <a:srgbClr val="173D67"/>
            </a:solidFill>
            <a:prstDash val="solid"/>
          </a:ln>
        </p:spPr>
      </p:sp>
      <p:sp>
        <p:nvSpPr>
          <p:cNvPr id="50" name="vector-739">
            <a:extLst>
              <a:ext uri="{FF2B5EF4-FFF2-40B4-BE49-F238E27FC236}">
                <ns2:creationId id="{7CDD550F-F064-446A-BBAD-77AB4CBCE345}"/>
              </a:ext>
            </a:extLst>
          </p:cNvPr>
          <p:cNvSpPr>
            <a:spLocks noGrp="1"/>
          </p:cNvSpPr>
          <p:nvPr/>
        </p:nvSpPr>
        <p:spPr>
          <a:xfrm>
            <a:off x="6038850" y="3333750"/>
            <a:ext cx="428625" cy="428625"/>
          </a:xfrm>
          <a:custGeom>
            <a:pathLst>
              <a:path w="952500" h="952500">
                <a:moveTo>
                  <a:pt x="657225" y="790575"/>
                </a:moveTo>
                <a:lnTo>
                  <a:pt x="228600" y="781050"/>
                </a:lnTo>
              </a:path>
            </a:pathLst>
          </a:custGeom>
          <a:noFill/>
          <a:ln w="14288">
            <a:solidFill>
              <a:srgbClr val="173D67"/>
            </a:solidFill>
            <a:prstDash val="solid"/>
          </a:ln>
        </p:spPr>
      </p:sp>
      <p:sp>
        <p:nvSpPr>
          <p:cNvPr id="51" name="vector-740">
            <a:extLst>
              <a:ext uri="{FF2B5EF4-FFF2-40B4-BE49-F238E27FC236}">
                <ns2:creationId id="{51C6A9C1-2B46-4A47-9016-9251B9AD01CD}"/>
              </a:ext>
            </a:extLst>
          </p:cNvPr>
          <p:cNvSpPr>
            <a:spLocks noGrp="1"/>
          </p:cNvSpPr>
          <p:nvPr/>
        </p:nvSpPr>
        <p:spPr>
          <a:xfrm>
            <a:off x="6038850" y="3333750"/>
            <a:ext cx="428625" cy="428625"/>
          </a:xfrm>
          <a:custGeom>
            <a:pathLst>
              <a:path w="952500" h="952500">
                <a:moveTo>
                  <a:pt x="228600" y="781050"/>
                </a:moveTo>
                <a:lnTo>
                  <a:pt x="123825" y="352425"/>
                </a:lnTo>
              </a:path>
            </a:pathLst>
          </a:custGeom>
          <a:noFill/>
          <a:ln w="14288">
            <a:solidFill>
              <a:srgbClr val="173D67"/>
            </a:solidFill>
            <a:prstDash val="solid"/>
          </a:ln>
        </p:spPr>
      </p:sp>
      <p:sp>
        <p:nvSpPr>
          <p:cNvPr id="52" name="vector-741">
            <a:extLst>
              <a:ext uri="{FF2B5EF4-FFF2-40B4-BE49-F238E27FC236}">
                <ns2:creationId id="{49866C12-E3C4-4C61-95F9-5B25961A76F6}"/>
              </a:ext>
            </a:extLst>
          </p:cNvPr>
          <p:cNvSpPr>
            <a:spLocks noGrp="1"/>
          </p:cNvSpPr>
          <p:nvPr/>
        </p:nvSpPr>
        <p:spPr>
          <a:xfrm>
            <a:off x="6038850" y="3333750"/>
            <a:ext cx="428625" cy="428625"/>
          </a:xfrm>
          <a:custGeom>
            <a:pathLst>
              <a:path w="952500" h="952500">
                <a:moveTo>
                  <a:pt x="123825" y="352425"/>
                </a:moveTo>
                <a:lnTo>
                  <a:pt x="657225" y="790575"/>
                </a:lnTo>
              </a:path>
            </a:pathLst>
          </a:custGeom>
          <a:noFill/>
          <a:ln w="14288">
            <a:solidFill>
              <a:srgbClr val="173D67"/>
            </a:solidFill>
            <a:prstDash val="solid"/>
          </a:ln>
        </p:spPr>
      </p:sp>
      <p:sp>
        <p:nvSpPr>
          <p:cNvPr id="53" name="vector-742">
            <a:extLst>
              <a:ext uri="{FF2B5EF4-FFF2-40B4-BE49-F238E27FC236}">
                <ns2:creationId id="{9C57ADF1-83E0-4D55-AD95-7CFA4EDB025C}"/>
              </a:ext>
            </a:extLst>
          </p:cNvPr>
          <p:cNvSpPr>
            <a:spLocks noGrp="1"/>
          </p:cNvSpPr>
          <p:nvPr/>
        </p:nvSpPr>
        <p:spPr>
          <a:xfrm>
            <a:off x="6038850" y="3333750"/>
            <a:ext cx="428625" cy="428625"/>
          </a:xfrm>
          <a:custGeom>
            <a:pathLst>
              <a:path w="952500" h="952500">
                <a:moveTo>
                  <a:pt x="428625" y="114300"/>
                </a:moveTo>
                <a:lnTo>
                  <a:pt x="657225" y="790575"/>
                </a:lnTo>
              </a:path>
            </a:pathLst>
          </a:custGeom>
          <a:noFill/>
          <a:ln w="14288">
            <a:solidFill>
              <a:srgbClr val="173D67"/>
            </a:solidFill>
            <a:prstDash val="solid"/>
          </a:ln>
        </p:spPr>
      </p:sp>
      <p:sp>
        <p:nvSpPr>
          <p:cNvPr id="54" name="icon-network-743">
            <a:extLst>
              <a:ext uri="{FF2B5EF4-FFF2-40B4-BE49-F238E27FC236}">
                <ns2:creationId id="{36CF8364-FAAA-47D0-9824-5134C80C17A1}"/>
              </a:ext>
            </a:extLst>
          </p:cNvPr>
          <p:cNvSpPr>
            <a:spLocks noGrp="1"/>
          </p:cNvSpPr>
          <p:nvPr/>
        </p:nvSpPr>
        <p:spPr>
          <a:xfrm>
            <a:off x="6064568" y="3462338"/>
            <a:ext cx="60008" cy="60008"/>
          </a:xfrm>
          <a:prstGeom prst="ellipse">
            <a:avLst/>
          </a:prstGeom>
          <a:solidFill>
            <a:srgbClr val="FFFFFF"/>
          </a:solidFill>
          <a:ln w="13395">
            <a:solidFill>
              <a:srgbClr val="173D67"/>
            </a:solidFill>
            <a:prstDash val="solid"/>
          </a:ln>
        </p:spPr>
      </p:sp>
      <p:sp>
        <p:nvSpPr>
          <p:cNvPr id="55" name="icon-network-744">
            <a:extLst>
              <a:ext uri="{FF2B5EF4-FFF2-40B4-BE49-F238E27FC236}">
                <ns2:creationId id="{60D9B44C-44C6-4236-BF50-92AE0C1A71B8}"/>
              </a:ext>
            </a:extLst>
          </p:cNvPr>
          <p:cNvSpPr>
            <a:spLocks noGrp="1"/>
          </p:cNvSpPr>
          <p:nvPr/>
        </p:nvSpPr>
        <p:spPr>
          <a:xfrm>
            <a:off x="6201728" y="3355181"/>
            <a:ext cx="60008" cy="60008"/>
          </a:xfrm>
          <a:prstGeom prst="ellipse">
            <a:avLst/>
          </a:prstGeom>
          <a:solidFill>
            <a:srgbClr val="FFFFFF"/>
          </a:solidFill>
          <a:ln w="13395">
            <a:solidFill>
              <a:srgbClr val="173D67"/>
            </a:solidFill>
            <a:prstDash val="solid"/>
          </a:ln>
        </p:spPr>
      </p:sp>
      <p:sp>
        <p:nvSpPr>
          <p:cNvPr id="56" name="icon-network-745">
            <a:extLst>
              <a:ext uri="{FF2B5EF4-FFF2-40B4-BE49-F238E27FC236}">
                <ns2:creationId id="{5CA28338-B566-4D1A-8BAA-1BAD04B740B8}"/>
              </a:ext>
            </a:extLst>
          </p:cNvPr>
          <p:cNvSpPr>
            <a:spLocks noGrp="1"/>
          </p:cNvSpPr>
          <p:nvPr/>
        </p:nvSpPr>
        <p:spPr>
          <a:xfrm>
            <a:off x="6368891" y="3432334"/>
            <a:ext cx="60008" cy="60008"/>
          </a:xfrm>
          <a:prstGeom prst="ellipse">
            <a:avLst/>
          </a:prstGeom>
          <a:solidFill>
            <a:srgbClr val="FFFFFF"/>
          </a:solidFill>
          <a:ln w="13395">
            <a:solidFill>
              <a:srgbClr val="173D67"/>
            </a:solidFill>
            <a:prstDash val="solid"/>
          </a:ln>
        </p:spPr>
      </p:sp>
      <p:sp>
        <p:nvSpPr>
          <p:cNvPr id="57" name="icon-network-746">
            <a:extLst>
              <a:ext uri="{FF2B5EF4-FFF2-40B4-BE49-F238E27FC236}">
                <ns2:creationId id="{0B4A6D73-D4A1-4FE0-82A7-3335211A3E3B}"/>
              </a:ext>
            </a:extLst>
          </p:cNvPr>
          <p:cNvSpPr>
            <a:spLocks noGrp="1"/>
          </p:cNvSpPr>
          <p:nvPr/>
        </p:nvSpPr>
        <p:spPr>
          <a:xfrm>
            <a:off x="6304598" y="3659505"/>
            <a:ext cx="60008" cy="60008"/>
          </a:xfrm>
          <a:prstGeom prst="ellipse">
            <a:avLst/>
          </a:prstGeom>
          <a:solidFill>
            <a:srgbClr val="FFFFFF"/>
          </a:solidFill>
          <a:ln w="13395">
            <a:solidFill>
              <a:srgbClr val="173D67"/>
            </a:solidFill>
            <a:prstDash val="solid"/>
          </a:ln>
        </p:spPr>
      </p:sp>
      <p:sp>
        <p:nvSpPr>
          <p:cNvPr id="58" name="icon-network-747">
            <a:extLst>
              <a:ext uri="{FF2B5EF4-FFF2-40B4-BE49-F238E27FC236}">
                <ns2:creationId id="{43BEC919-430B-499C-B336-6D10B955A3DB}"/>
              </a:ext>
            </a:extLst>
          </p:cNvPr>
          <p:cNvSpPr>
            <a:spLocks noGrp="1"/>
          </p:cNvSpPr>
          <p:nvPr/>
        </p:nvSpPr>
        <p:spPr>
          <a:xfrm>
            <a:off x="6111716" y="3655219"/>
            <a:ext cx="60008" cy="60008"/>
          </a:xfrm>
          <a:prstGeom prst="ellipse">
            <a:avLst/>
          </a:prstGeom>
          <a:solidFill>
            <a:srgbClr val="FFFFFF"/>
          </a:solidFill>
          <a:ln w="13395">
            <a:solidFill>
              <a:srgbClr val="173D67"/>
            </a:solidFill>
            <a:prstDash val="solid"/>
          </a:ln>
        </p:spPr>
      </p:sp>
      <p:sp>
        <p:nvSpPr>
          <p:cNvPr id="59" name="text-748">
            <a:extLst>
              <a:ext uri="{FF2B5EF4-FFF2-40B4-BE49-F238E27FC236}">
                <ns2:creationId id="{11672E43-002C-46F8-ADDA-29C6AAFD8D63}"/>
              </a:ext>
            </a:extLst>
          </p:cNvPr>
          <p:cNvSpPr>
            <a:spLocks noGrp="1"/>
          </p:cNvSpPr>
          <p:nvPr/>
        </p:nvSpPr>
        <p:spPr>
          <a:xfrm>
            <a:off x="6572250" y="3295650"/>
            <a:ext cx="1590675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扩散过程</a:t>
            </a:r>
            <a:endParaRPr/>
          </a:p>
        </p:txBody>
      </p:sp>
      <p:sp>
        <p:nvSpPr>
          <p:cNvPr id="60" name="node-749">
            <a:extLst>
              <a:ext uri="{FF2B5EF4-FFF2-40B4-BE49-F238E27FC236}">
                <ns2:creationId id="{0B8A1AFA-6F60-42A6-B557-BAAE994A9A1D}"/>
              </a:ext>
            </a:extLst>
          </p:cNvPr>
          <p:cNvSpPr>
            <a:spLocks noGrp="1"/>
          </p:cNvSpPr>
          <p:nvPr/>
        </p:nvSpPr>
        <p:spPr>
          <a:xfrm>
            <a:off x="3124200" y="4943475"/>
            <a:ext cx="2352675" cy="95250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 w="9525">
            <a:solidFill>
              <a:srgbClr val="718EAA"/>
            </a:solidFill>
            <a:prstDash val="solid"/>
          </a:ln>
        </p:spPr>
      </p:sp>
      <p:sp>
        <p:nvSpPr>
          <p:cNvPr id="61" name="vector-750">
            <a:extLst>
              <a:ext uri="{FF2B5EF4-FFF2-40B4-BE49-F238E27FC236}">
                <ns2:creationId id="{E8E10E82-9215-409D-98CF-81F2F86B4E4E}"/>
              </a:ext>
            </a:extLst>
          </p:cNvPr>
          <p:cNvSpPr>
            <a:spLocks noGrp="1"/>
          </p:cNvSpPr>
          <p:nvPr/>
        </p:nvSpPr>
        <p:spPr>
          <a:xfrm>
            <a:off x="3238500" y="5057775"/>
            <a:ext cx="428625" cy="428625"/>
          </a:xfrm>
          <a:custGeom>
            <a:pathLst>
              <a:path w="952500" h="952500">
                <a:moveTo>
                  <a:pt x="476250" y="323850"/>
                </a:moveTo>
                <a:lnTo>
                  <a:pt x="476250" y="895350"/>
                </a:lnTo>
              </a:path>
            </a:pathLst>
          </a:custGeom>
          <a:noFill/>
          <a:ln w="14288">
            <a:solidFill>
              <a:srgbClr val="173D67"/>
            </a:solidFill>
            <a:prstDash val="solid"/>
          </a:ln>
        </p:spPr>
      </p:sp>
      <p:sp>
        <p:nvSpPr>
          <p:cNvPr id="62" name="icon-tree-751">
            <a:extLst>
              <a:ext uri="{FF2B5EF4-FFF2-40B4-BE49-F238E27FC236}">
                <ns2:creationId id="{AEC9296B-D08A-441E-A201-82283406A4D5}"/>
              </a:ext>
            </a:extLst>
          </p:cNvPr>
          <p:cNvSpPr>
            <a:spLocks noGrp="1"/>
          </p:cNvSpPr>
          <p:nvPr/>
        </p:nvSpPr>
        <p:spPr>
          <a:xfrm>
            <a:off x="3307080" y="5079206"/>
            <a:ext cx="295751" cy="265748"/>
          </a:xfrm>
          <a:prstGeom prst="cloud">
            <a:avLst/>
          </a:prstGeom>
          <a:solidFill>
            <a:srgbClr val="748BA4"/>
          </a:solidFill>
          <a:ln w="13395">
            <a:solidFill>
              <a:srgbClr val="173D67"/>
            </a:solidFill>
            <a:prstDash val="solid"/>
          </a:ln>
        </p:spPr>
      </p:sp>
      <p:sp>
        <p:nvSpPr>
          <p:cNvPr id="63" name="text-752">
            <a:extLst>
              <a:ext uri="{FF2B5EF4-FFF2-40B4-BE49-F238E27FC236}">
                <ns2:creationId id="{4319795D-B07C-4973-BD78-308E1DD45782}"/>
              </a:ext>
            </a:extLst>
          </p:cNvPr>
          <p:cNvSpPr>
            <a:spLocks noGrp="1"/>
          </p:cNvSpPr>
          <p:nvPr/>
        </p:nvSpPr>
        <p:spPr>
          <a:xfrm>
            <a:off x="3771900" y="5019675"/>
            <a:ext cx="1590675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物种共存</a:t>
            </a:r>
            <a:endParaRPr/>
          </a:p>
        </p:txBody>
      </p:sp>
      <p:sp>
        <p:nvSpPr>
          <p:cNvPr id="64" name="node-753">
            <a:extLst>
              <a:ext uri="{FF2B5EF4-FFF2-40B4-BE49-F238E27FC236}">
                <ns2:creationId id="{4465DFFA-8F6E-48BD-A4C6-151753879209}"/>
              </a:ext>
            </a:extLst>
          </p:cNvPr>
          <p:cNvSpPr>
            <a:spLocks noGrp="1"/>
          </p:cNvSpPr>
          <p:nvPr/>
        </p:nvSpPr>
        <p:spPr>
          <a:xfrm>
            <a:off x="5924550" y="4943475"/>
            <a:ext cx="2352675" cy="95250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 w="9525">
            <a:solidFill>
              <a:srgbClr val="718EAA"/>
            </a:solidFill>
            <a:prstDash val="solid"/>
          </a:ln>
        </p:spPr>
      </p:sp>
      <p:sp>
        <p:nvSpPr>
          <p:cNvPr id="65" name="vector-754">
            <a:extLst>
              <a:ext uri="{FF2B5EF4-FFF2-40B4-BE49-F238E27FC236}">
                <ns2:creationId id="{FEDE843D-AB0F-4940-8331-C8A4F487FF31}"/>
              </a:ext>
            </a:extLst>
          </p:cNvPr>
          <p:cNvSpPr>
            <a:spLocks noGrp="1"/>
          </p:cNvSpPr>
          <p:nvPr/>
        </p:nvSpPr>
        <p:spPr>
          <a:xfrm>
            <a:off x="6038850" y="5057775"/>
            <a:ext cx="428625" cy="428625"/>
          </a:xfrm>
          <a:custGeom>
            <a:pathLst>
              <a:path w="952500" h="952500">
                <a:moveTo>
                  <a:pt x="114300" y="76200"/>
                </a:moveTo>
                <a:lnTo>
                  <a:pt x="114300" y="828675"/>
                </a:lnTo>
              </a:path>
            </a:pathLst>
          </a:custGeom>
          <a:noFill/>
          <a:ln w="14288">
            <a:solidFill>
              <a:srgbClr val="173D67"/>
            </a:solidFill>
            <a:prstDash val="solid"/>
          </a:ln>
        </p:spPr>
      </p:sp>
      <p:sp>
        <p:nvSpPr>
          <p:cNvPr id="66" name="vector-755">
            <a:extLst>
              <a:ext uri="{FF2B5EF4-FFF2-40B4-BE49-F238E27FC236}">
                <ns2:creationId id="{C0CDAA5E-037C-4D0F-9552-F7197F51CD37}"/>
              </a:ext>
            </a:extLst>
          </p:cNvPr>
          <p:cNvSpPr>
            <a:spLocks noGrp="1"/>
          </p:cNvSpPr>
          <p:nvPr/>
        </p:nvSpPr>
        <p:spPr>
          <a:xfrm>
            <a:off x="6038850" y="5057775"/>
            <a:ext cx="428625" cy="428625"/>
          </a:xfrm>
          <a:custGeom>
            <a:pathLst>
              <a:path w="952500" h="952500">
                <a:moveTo>
                  <a:pt x="114300" y="828675"/>
                </a:moveTo>
                <a:lnTo>
                  <a:pt x="885825" y="828675"/>
                </a:lnTo>
              </a:path>
            </a:pathLst>
          </a:custGeom>
          <a:noFill/>
          <a:ln w="14288">
            <a:solidFill>
              <a:srgbClr val="173D67"/>
            </a:solidFill>
            <a:prstDash val="solid"/>
          </a:ln>
        </p:spPr>
      </p:sp>
      <p:sp>
        <p:nvSpPr>
          <p:cNvPr id="67" name="icon-chart-756">
            <a:extLst>
              <a:ext uri="{FF2B5EF4-FFF2-40B4-BE49-F238E27FC236}">
                <ns2:creationId id="{A38ED271-2F47-4004-9458-8148EEF8DB80}"/>
              </a:ext>
            </a:extLst>
          </p:cNvPr>
          <p:cNvSpPr>
            <a:spLocks noGrp="1"/>
          </p:cNvSpPr>
          <p:nvPr/>
        </p:nvSpPr>
        <p:spPr>
          <a:xfrm>
            <a:off x="6146006" y="5289233"/>
            <a:ext cx="55721" cy="141446"/>
          </a:xfrm>
          <a:prstGeom prst="rect">
            <a:avLst/>
          </a:prstGeom>
          <a:solidFill>
            <a:srgbClr val="173D67"/>
          </a:solidFill>
          <a:ln w="13395">
            <a:solidFill>
              <a:srgbClr val="173D67"/>
            </a:solidFill>
            <a:prstDash val="solid"/>
          </a:ln>
        </p:spPr>
      </p:sp>
      <p:sp>
        <p:nvSpPr>
          <p:cNvPr id="68" name="icon-chart-757">
            <a:extLst>
              <a:ext uri="{FF2B5EF4-FFF2-40B4-BE49-F238E27FC236}">
                <ns2:creationId id="{BF2BA250-EE90-44E5-8C7F-08FFFBFB3AA1}"/>
              </a:ext>
            </a:extLst>
          </p:cNvPr>
          <p:cNvSpPr>
            <a:spLocks noGrp="1"/>
          </p:cNvSpPr>
          <p:nvPr/>
        </p:nvSpPr>
        <p:spPr>
          <a:xfrm>
            <a:off x="6240304" y="5212080"/>
            <a:ext cx="55721" cy="218599"/>
          </a:xfrm>
          <a:prstGeom prst="rect">
            <a:avLst/>
          </a:prstGeom>
          <a:solidFill>
            <a:srgbClr val="5D7795"/>
          </a:solidFill>
          <a:ln w="13395">
            <a:solidFill>
              <a:srgbClr val="173D67"/>
            </a:solidFill>
            <a:prstDash val="solid"/>
          </a:ln>
        </p:spPr>
      </p:sp>
      <p:sp>
        <p:nvSpPr>
          <p:cNvPr id="69" name="icon-chart-758">
            <a:extLst>
              <a:ext uri="{FF2B5EF4-FFF2-40B4-BE49-F238E27FC236}">
                <ns2:creationId id="{10F6B736-5FF0-43C4-BF45-25DCF9AAC027}"/>
              </a:ext>
            </a:extLst>
          </p:cNvPr>
          <p:cNvSpPr>
            <a:spLocks noGrp="1"/>
          </p:cNvSpPr>
          <p:nvPr/>
        </p:nvSpPr>
        <p:spPr>
          <a:xfrm>
            <a:off x="6334601" y="5126355"/>
            <a:ext cx="55721" cy="304324"/>
          </a:xfrm>
          <a:prstGeom prst="rect">
            <a:avLst/>
          </a:prstGeom>
          <a:solidFill>
            <a:srgbClr val="173D67"/>
          </a:solidFill>
          <a:ln w="13395">
            <a:solidFill>
              <a:srgbClr val="173D67"/>
            </a:solidFill>
            <a:prstDash val="solid"/>
          </a:ln>
        </p:spPr>
      </p:sp>
      <p:sp>
        <p:nvSpPr>
          <p:cNvPr id="70" name="text-759">
            <a:extLst>
              <a:ext uri="{FF2B5EF4-FFF2-40B4-BE49-F238E27FC236}">
                <ns2:creationId id="{C3E0581C-03A4-4830-8F45-8C2BD91EE96C}"/>
              </a:ext>
            </a:extLst>
          </p:cNvPr>
          <p:cNvSpPr>
            <a:spLocks noGrp="1"/>
          </p:cNvSpPr>
          <p:nvPr/>
        </p:nvSpPr>
        <p:spPr>
          <a:xfrm>
            <a:off x="6572250" y="5019675"/>
            <a:ext cx="1590675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群落稳定性</a:t>
            </a:r>
            <a:endParaRPr/>
          </a:p>
        </p:txBody>
      </p:sp>
      <p:cxnSp>
        <p:nvCxnSpPr>
          <p:cNvPr id="71" name="">
            <a:extLst>
              <a:ext uri="{FF2B5EF4-FFF2-40B4-BE49-F238E27FC236}">
                <ns2:creationId id="{6592C4EE-92AC-40D1-9FFE-665D02B9DC3B}"/>
              </a:ext>
            </a:extLst>
          </p:cNvPr>
          <p:cNvCxnSpPr>
            <a:stCxn id="28" idx="2"/>
            <a:endCxn id="39" idx="0"/>
          </p:cNvCxnSpPr>
          <p:nvPr/>
        </p:nvCxnSpPr>
        <p:spPr>
          <a:xfrm>
            <a:off x="4300538" y="2447925"/>
            <a:ext cx="0" cy="771525"/>
          </a:xfrm>
          <a:prstGeom prst="straightConnector1">
            <a:avLst/>
          </a:prstGeom>
          <a:ln w="19050">
            <a:solidFill>
              <a:srgbClr val="173D67"/>
            </a:solidFill>
            <a:prstDash val="solid"/>
            <a:tailEnd type="triangle" w="med" len="med"/>
          </a:ln>
        </p:spPr>
      </p:cxnSp>
      <p:cxnSp>
        <p:nvCxnSpPr>
          <p:cNvPr id="72" name="">
            <a:extLst>
              <a:ext uri="{FF2B5EF4-FFF2-40B4-BE49-F238E27FC236}">
                <ns2:creationId id="{8F50F5AF-1D1E-437D-81FD-BA83EFC1870D}"/>
              </a:ext>
            </a:extLst>
          </p:cNvPr>
          <p:cNvCxnSpPr>
            <a:stCxn id="33" idx="2"/>
            <a:endCxn id="46" idx="0"/>
          </p:cNvCxnSpPr>
          <p:nvPr/>
        </p:nvCxnSpPr>
        <p:spPr>
          <a:xfrm>
            <a:off x="7100888" y="2447925"/>
            <a:ext cx="0" cy="771525"/>
          </a:xfrm>
          <a:prstGeom prst="straightConnector1">
            <a:avLst/>
          </a:prstGeom>
          <a:ln w="19050">
            <a:solidFill>
              <a:srgbClr val="173D67"/>
            </a:solidFill>
            <a:prstDash val="solid"/>
            <a:tailEnd type="triangle" w="med" len="med"/>
          </a:ln>
        </p:spPr>
      </p:cxnSp>
      <p:cxnSp>
        <p:nvCxnSpPr>
          <p:cNvPr id="73" name="">
            <a:extLst>
              <a:ext uri="{FF2B5EF4-FFF2-40B4-BE49-F238E27FC236}">
                <ns2:creationId id="{57D0DD47-318A-463C-AFE0-36F70A815136}"/>
              </a:ext>
            </a:extLst>
          </p:cNvPr>
          <p:cNvCxnSpPr>
            <a:stCxn id="39" idx="2"/>
            <a:endCxn id="60" idx="0"/>
          </p:cNvCxnSpPr>
          <p:nvPr/>
        </p:nvCxnSpPr>
        <p:spPr>
          <a:xfrm>
            <a:off x="4300538" y="4171950"/>
            <a:ext cx="0" cy="771525"/>
          </a:xfrm>
          <a:prstGeom prst="straightConnector1">
            <a:avLst/>
          </a:prstGeom>
          <a:ln w="19050">
            <a:solidFill>
              <a:srgbClr val="173D67"/>
            </a:solidFill>
            <a:prstDash val="solid"/>
            <a:tailEnd type="triangle" w="med" len="med"/>
          </a:ln>
        </p:spPr>
      </p:cxnSp>
      <p:cxnSp>
        <p:nvCxnSpPr>
          <p:cNvPr id="74" name="">
            <a:extLst>
              <a:ext uri="{FF2B5EF4-FFF2-40B4-BE49-F238E27FC236}">
                <ns2:creationId id="{186C6992-23E7-4B38-A65D-A2A0EAFC55C0}"/>
              </a:ext>
            </a:extLst>
          </p:cNvPr>
          <p:cNvCxnSpPr>
            <a:stCxn id="46" idx="2"/>
            <a:endCxn id="64" idx="0"/>
          </p:cNvCxnSpPr>
          <p:nvPr/>
        </p:nvCxnSpPr>
        <p:spPr>
          <a:xfrm>
            <a:off x="7100888" y="4171950"/>
            <a:ext cx="0" cy="771525"/>
          </a:xfrm>
          <a:prstGeom prst="straightConnector1">
            <a:avLst/>
          </a:prstGeom>
          <a:ln w="19050">
            <a:solidFill>
              <a:srgbClr val="173D67"/>
            </a:solidFill>
            <a:prstDash val="solid"/>
            <a:tailEnd type="triangle" w="med" len="med"/>
          </a:ln>
        </p:spPr>
      </p:cxnSp>
      <p:cxnSp>
        <p:nvCxnSpPr>
          <p:cNvPr id="75" name="">
            <a:extLst>
              <a:ext uri="{FF2B5EF4-FFF2-40B4-BE49-F238E27FC236}">
                <ns2:creationId id="{E36195E8-81ED-444F-8C98-84E9374D3196}"/>
              </a:ext>
            </a:extLst>
          </p:cNvPr>
          <p:cNvCxnSpPr>
            <a:stCxn id="60" idx="3"/>
            <a:endCxn id="64" idx="1"/>
          </p:cNvCxnSpPr>
          <p:nvPr/>
        </p:nvCxnSpPr>
        <p:spPr>
          <a:xfrm>
            <a:off x="5476875" y="5419725"/>
            <a:ext cx="447675" cy="0"/>
          </a:xfrm>
          <a:prstGeom prst="straightConnector1">
            <a:avLst/>
          </a:prstGeom>
          <a:ln w="19050">
            <a:solidFill>
              <a:srgbClr val="173D67"/>
            </a:solidFill>
            <a:prstDash val="solid"/>
            <a:tailEnd type="triangle" w="med" len="med"/>
          </a:ln>
        </p:spPr>
      </p:cxnSp>
      <p:sp>
        <p:nvSpPr>
          <p:cNvPr id="76" name="shape-760">
            <a:extLst>
              <a:ext uri="{FF2B5EF4-FFF2-40B4-BE49-F238E27FC236}">
                <ns2:creationId id="{3B581EAE-F962-4017-A157-EC0F705552A0}"/>
              </a:ext>
            </a:extLst>
          </p:cNvPr>
          <p:cNvSpPr>
            <a:spLocks noGrp="1"/>
          </p:cNvSpPr>
          <p:nvPr/>
        </p:nvSpPr>
        <p:spPr>
          <a:xfrm>
            <a:off x="4762500" y="4286250"/>
            <a:ext cx="1943100" cy="542925"/>
          </a:xfrm>
          <a:prstGeom prst="ellipse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77" name="text-761">
            <a:extLst>
              <a:ext uri="{FF2B5EF4-FFF2-40B4-BE49-F238E27FC236}">
                <ns2:creationId id="{48B453BE-66C0-4BBB-A7CE-42154EAACF92}"/>
              </a:ext>
            </a:extLst>
          </p:cNvPr>
          <p:cNvSpPr>
            <a:spLocks noGrp="1"/>
          </p:cNvSpPr>
          <p:nvPr/>
        </p:nvSpPr>
        <p:spPr>
          <a:xfrm>
            <a:off x="4857750" y="4333875"/>
            <a:ext cx="175260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可检验的</a:t>
            </a:r>
            <a:endParaRPr/>
          </a:p>
          <a:p>
            <a:pPr algn="ctr">
              <a:def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机制路径</a:t>
            </a:r>
            <a:endParaRPr/>
          </a:p>
        </p:txBody>
      </p:sp>
      <p:sp>
        <p:nvSpPr>
          <p:cNvPr id="78" name="text-762">
            <a:extLst>
              <a:ext uri="{FF2B5EF4-FFF2-40B4-BE49-F238E27FC236}">
                <ns2:creationId id="{058CB4FF-F6F1-47F3-BA82-1FCF415E4EEC}"/>
              </a:ext>
            </a:extLst>
          </p:cNvPr>
          <p:cNvSpPr>
            <a:spLocks noGrp="1"/>
          </p:cNvSpPr>
          <p:nvPr/>
        </p:nvSpPr>
        <p:spPr>
          <a:xfrm>
            <a:off x="8696325" y="1381125"/>
            <a:ext cx="3124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效应与不确定性</a:t>
            </a:r>
            <a:endParaRPr/>
          </a:p>
        </p:txBody>
      </p:sp>
      <p:graphicFrame>
        <p:nvGraphicFramePr>
          <p:cNvPr id="79" name="Chart">
            <a:extLst>
              <a:ext uri="{FF2B5EF4-FFF2-40B4-BE49-F238E27FC236}">
                <ns2:creationId id="{595ACE3E-BEAC-46EA-A0F7-93D7B3EF08DC}"/>
              </a:ext>
            </a:extLst>
          </p:cNvPr>
          <p:cNvGraphicFramePr/>
          <p:nvPr/>
        </p:nvGraphicFramePr>
        <p:xfrm>
          <a:off x="8629650" y="1752600"/>
          <a:ext cx="3238500" cy="2019300"/>
        </p:xfrm>
        <a:graphic>
          <a:graphicData uri="http://schemas.openxmlformats.org/drawingml/2006/chart">
            <c:chart r:id="R131fe6ba7eb5426e"/>
          </a:graphicData>
        </a:graphic>
      </p:graphicFrame>
      <p:sp>
        <p:nvSpPr>
          <p:cNvPr id="80" name="text-763">
            <a:extLst>
              <a:ext uri="{FF2B5EF4-FFF2-40B4-BE49-F238E27FC236}">
                <ns2:creationId id="{6312CC53-66D9-418C-ABEC-0883056A2281}"/>
              </a:ext>
            </a:extLst>
          </p:cNvPr>
          <p:cNvSpPr>
            <a:spLocks noGrp="1"/>
          </p:cNvSpPr>
          <p:nvPr/>
        </p:nvSpPr>
        <p:spPr>
          <a:xfrm>
            <a:off x="8629650" y="2036978"/>
            <a:ext cx="809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生境面积</a:t>
            </a:r>
            <a:endParaRPr/>
          </a:p>
        </p:txBody>
      </p:sp>
      <p:sp>
        <p:nvSpPr>
          <p:cNvPr id="81" name="text-764">
            <a:extLst>
              <a:ext uri="{FF2B5EF4-FFF2-40B4-BE49-F238E27FC236}">
                <ns2:creationId id="{668C535E-B472-4A99-AAC3-F387A91C296F}"/>
              </a:ext>
            </a:extLst>
          </p:cNvPr>
          <p:cNvSpPr>
            <a:spLocks noGrp="1"/>
          </p:cNvSpPr>
          <p:nvPr/>
        </p:nvSpPr>
        <p:spPr>
          <a:xfrm>
            <a:off x="8629650" y="2315642"/>
            <a:ext cx="809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隔离程度</a:t>
            </a:r>
            <a:endParaRPr/>
          </a:p>
        </p:txBody>
      </p:sp>
      <p:sp>
        <p:nvSpPr>
          <p:cNvPr id="82" name="text-765">
            <a:extLst>
              <a:ext uri="{FF2B5EF4-FFF2-40B4-BE49-F238E27FC236}">
                <ns2:creationId id="{0D24B946-60A0-4307-8E54-E59A4E1396F0}"/>
              </a:ext>
            </a:extLst>
          </p:cNvPr>
          <p:cNvSpPr>
            <a:spLocks noGrp="1"/>
          </p:cNvSpPr>
          <p:nvPr/>
        </p:nvSpPr>
        <p:spPr>
          <a:xfrm>
            <a:off x="8629650" y="2594305"/>
            <a:ext cx="809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植被覆盖</a:t>
            </a:r>
            <a:endParaRPr/>
          </a:p>
        </p:txBody>
      </p:sp>
      <p:sp>
        <p:nvSpPr>
          <p:cNvPr id="83" name="text-766">
            <a:extLst>
              <a:ext uri="{FF2B5EF4-FFF2-40B4-BE49-F238E27FC236}">
                <ns2:creationId id="{F32BF7EC-05F8-4E46-BAE1-31F6CFDE32B4}"/>
              </a:ext>
            </a:extLst>
          </p:cNvPr>
          <p:cNvSpPr>
            <a:spLocks noGrp="1"/>
          </p:cNvSpPr>
          <p:nvPr/>
        </p:nvSpPr>
        <p:spPr>
          <a:xfrm>
            <a:off x="8629650" y="2872969"/>
            <a:ext cx="809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人为干扰</a:t>
            </a:r>
            <a:endParaRPr/>
          </a:p>
        </p:txBody>
      </p:sp>
      <p:sp>
        <p:nvSpPr>
          <p:cNvPr id="84" name="text-767">
            <a:extLst>
              <a:ext uri="{FF2B5EF4-FFF2-40B4-BE49-F238E27FC236}">
                <ns2:creationId id="{7B32A187-4AC5-4570-B205-6CA5B6292F82}"/>
              </a:ext>
            </a:extLst>
          </p:cNvPr>
          <p:cNvSpPr>
            <a:spLocks noGrp="1"/>
          </p:cNvSpPr>
          <p:nvPr/>
        </p:nvSpPr>
        <p:spPr>
          <a:xfrm>
            <a:off x="9665970" y="3581400"/>
            <a:ext cx="1619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标准化效应值</a:t>
            </a:r>
            <a:endParaRPr/>
          </a:p>
        </p:txBody>
      </p:sp>
      <p:sp>
        <p:nvSpPr>
          <p:cNvPr id="85" name="text-768">
            <a:extLst>
              <a:ext uri="{FF2B5EF4-FFF2-40B4-BE49-F238E27FC236}">
                <ns2:creationId id="{AFB2C91A-6CA2-4BC3-9163-7893ADA9ADA9}"/>
              </a:ext>
            </a:extLst>
          </p:cNvPr>
          <p:cNvSpPr>
            <a:spLocks noGrp="1"/>
          </p:cNvSpPr>
          <p:nvPr/>
        </p:nvSpPr>
        <p:spPr>
          <a:xfrm>
            <a:off x="8696325" y="3705225"/>
            <a:ext cx="3124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模型拟合效果</a:t>
            </a:r>
            <a:endParaRPr/>
          </a:p>
        </p:txBody>
      </p:sp>
      <p:graphicFrame>
        <p:nvGraphicFramePr>
          <p:cNvPr id="86" name="Chart">
            <a:extLst>
              <a:ext uri="{FF2B5EF4-FFF2-40B4-BE49-F238E27FC236}">
                <ns2:creationId id="{0C2C577B-948A-4AD1-9250-688EB8736BD5}"/>
              </a:ext>
            </a:extLst>
          </p:cNvPr>
          <p:cNvGraphicFramePr/>
          <p:nvPr/>
        </p:nvGraphicFramePr>
        <p:xfrm>
          <a:off x="8629650" y="4076700"/>
          <a:ext cx="3238500" cy="2019300"/>
        </p:xfrm>
        <a:graphic>
          <a:graphicData uri="http://schemas.openxmlformats.org/drawingml/2006/chart">
            <c:chart r:id="R272f144416c24f5b"/>
          </a:graphicData>
        </a:graphic>
      </p:graphicFrame>
      <p:sp>
        <p:nvSpPr>
          <p:cNvPr id="87" name="text-769">
            <a:extLst>
              <a:ext uri="{FF2B5EF4-FFF2-40B4-BE49-F238E27FC236}">
                <ns2:creationId id="{6EE0E456-8F09-4F80-A193-E7B57263E740}"/>
              </a:ext>
            </a:extLst>
          </p:cNvPr>
          <p:cNvSpPr>
            <a:spLocks noGrp="1"/>
          </p:cNvSpPr>
          <p:nvPr/>
        </p:nvSpPr>
        <p:spPr>
          <a:xfrm>
            <a:off x="9665970" y="5905500"/>
            <a:ext cx="1619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预测值</a:t>
            </a:r>
            <a:endParaRPr/>
          </a:p>
        </p:txBody>
      </p:sp>
      <p:sp>
        <p:nvSpPr>
          <p:cNvPr id="88" name="shape-770">
            <a:extLst>
              <a:ext uri="{FF2B5EF4-FFF2-40B4-BE49-F238E27FC236}">
                <ns2:creationId id="{9DCB4AC7-305C-4A83-A8E4-FE87DBB34200}"/>
              </a:ext>
            </a:extLst>
          </p:cNvPr>
          <p:cNvSpPr>
            <a:spLocks noGrp="1"/>
          </p:cNvSpPr>
          <p:nvPr/>
        </p:nvSpPr>
        <p:spPr>
          <a:xfrm>
            <a:off x="228600" y="6219825"/>
            <a:ext cx="11734800" cy="323850"/>
          </a:xfrm>
          <a:prstGeom prst="roundRect">
            <a:avLst>
              <a:gd name="adj" fmla="val 23529"/>
            </a:avLst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89" name="text-771">
            <a:extLst>
              <a:ext uri="{FF2B5EF4-FFF2-40B4-BE49-F238E27FC236}">
                <ns2:creationId id="{A9B78EC0-A214-423D-9181-A4B73B6972BB}"/>
              </a:ext>
            </a:extLst>
          </p:cNvPr>
          <p:cNvSpPr>
            <a:spLocks noGrp="1"/>
          </p:cNvSpPr>
          <p:nvPr/>
        </p:nvSpPr>
        <p:spPr>
          <a:xfrm>
            <a:off x="361950" y="6257925"/>
            <a:ext cx="11468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模型用于组织证据，</a:t>
            </a:r>
            <a:r>
              <a:rPr sz="1575" b="1">
                <a:latin typeface="Noto Sans CJK SC"/>
                <a:ea typeface="Noto Sans CJK SC"/>
                <a:cs typeface="Noto Sans CJK SC"/>
                <a:solidFill>
                  <a:srgbClr val="AF3D3D"/>
                </a:solidFill>
              </a:rPr>
              <a:t>因果解释</a:t>
            </a:r>
            <a:r>
              <a: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仍需</a:t>
            </a:r>
            <a:r>
              <a:rPr sz="1575" b="1">
                <a:latin typeface="Noto Sans CJK SC"/>
                <a:ea typeface="Noto Sans CJK SC"/>
                <a:cs typeface="Noto Sans CJK SC"/>
                <a:solidFill>
                  <a:srgbClr val="AF3D3D"/>
                </a:solidFill>
              </a:rPr>
              <a:t>研究设计</a:t>
            </a:r>
            <a:r>
              <a: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支持</a:t>
            </a:r>
            <a:endParaRPr/>
          </a:p>
        </p:txBody>
      </p:sp>
      <p:sp>
        <p:nvSpPr>
          <p:cNvPr id="90" name="text-772">
            <a:extLst>
              <a:ext uri="{FF2B5EF4-FFF2-40B4-BE49-F238E27FC236}">
                <ns2:creationId id="{089EEDCC-5FE0-44A9-8A3F-011FF6226806}"/>
              </a:ext>
            </a:extLst>
          </p:cNvPr>
          <p:cNvSpPr>
            <a:spLocks noGrp="1"/>
          </p:cNvSpPr>
          <p:nvPr/>
        </p:nvSpPr>
        <p:spPr>
          <a:xfrm>
            <a:off x="228600" y="6619875"/>
            <a:ext cx="105727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rPr>
              <a:t>科研模板 · 内容与数据均为示意</a:t>
            </a:r>
            <a:endParaRPr/>
          </a:p>
        </p:txBody>
      </p:sp>
      <p:sp>
        <p:nvSpPr>
          <p:cNvPr id="91" name="text-773">
            <a:extLst>
              <a:ext uri="{FF2B5EF4-FFF2-40B4-BE49-F238E27FC236}">
                <ns2:creationId id="{C6656870-29BE-482A-8D0D-B1421C792A3B}"/>
              </a:ext>
            </a:extLst>
          </p:cNvPr>
          <p:cNvSpPr>
            <a:spLocks noGrp="1"/>
          </p:cNvSpPr>
          <p:nvPr/>
        </p:nvSpPr>
        <p:spPr>
          <a:xfrm>
            <a:off x="11525250" y="6591300"/>
            <a:ext cx="4381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rPr>
              <a:t>06</a:t>
            </a:r>
            <a:endParaRPr/>
          </a:p>
        </p:txBody>
      </p:sp>
    </p:spTree>
    <p:extLst>
      <p:ext uri="{BB962C8B-B14F-4D97-AF65-F5344CB8AC3E}">
        <ns5:creationId val="327852376"/>
      </p:ext>
    </p:extLst>
  </p:cSld>
</p:sld>
</file>

<file path=ppt/slides/slide7.xml><?xml version="1.0" encoding="utf-8"?>
<p:sld xmlns:a="http://schemas.openxmlformats.org/drawingml/2006/main" xmlns:c="http://schemas.openxmlformats.org/drawingml/2006/chart" xmlns:ns2="http://schemas.microsoft.com/office/drawing/2014/main" xmlns:ns5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42" name="text-774">
            <a:extLst>
              <a:ext uri="{FF2B5EF4-FFF2-40B4-BE49-F238E27FC236}">
                <ns2:creationId id="{870151DE-162C-4E36-9A2A-BDBE388A5215}"/>
              </a:ext>
            </a:extLst>
          </p:cNvPr>
          <p:cNvSpPr>
            <a:spLocks noGrp="1"/>
          </p:cNvSpPr>
          <p:nvPr/>
        </p:nvSpPr>
        <p:spPr>
          <a:xfrm>
            <a:off x="228600" y="152400"/>
            <a:ext cx="117348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结果展示｜多维证据共同刻画群落响应</a:t>
            </a:r>
            <a:endParaRPr/>
          </a:p>
        </p:txBody>
      </p:sp>
      <p:sp>
        <p:nvSpPr>
          <p:cNvPr id="2" name="line-775">
            <a:extLst>
              <a:ext uri="{FF2B5EF4-FFF2-40B4-BE49-F238E27FC236}">
                <ns2:creationId id="{623A8942-9983-4DAC-90FE-5824285F49AD}"/>
              </a:ext>
            </a:extLst>
          </p:cNvPr>
          <p:cNvSpPr>
            <a:spLocks noGrp="1"/>
          </p:cNvSpPr>
          <p:nvPr/>
        </p:nvSpPr>
        <p:spPr>
          <a:xfrm>
            <a:off x="228600" y="695325"/>
            <a:ext cx="11734800" cy="95"/>
          </a:xfrm>
          <a:prstGeom prst="line">
            <a:avLst/>
          </a:prstGeom>
          <a:noFill/>
          <a:ln w="16193">
            <a:solidFill>
              <a:srgbClr val="173D67"/>
            </a:solidFill>
            <a:prstDash val="solid"/>
          </a:ln>
        </p:spPr>
      </p:sp>
      <p:sp>
        <p:nvSpPr>
          <p:cNvPr id="3" name="shape-776">
            <a:extLst>
              <a:ext uri="{FF2B5EF4-FFF2-40B4-BE49-F238E27FC236}">
                <ns2:creationId id="{6238D9A9-05A6-4EA9-BFBE-DB3046E5407F}"/>
              </a:ext>
            </a:extLst>
          </p:cNvPr>
          <p:cNvSpPr>
            <a:spLocks noGrp="1"/>
          </p:cNvSpPr>
          <p:nvPr/>
        </p:nvSpPr>
        <p:spPr>
          <a:xfrm>
            <a:off x="228600" y="885825"/>
            <a:ext cx="5781675" cy="24765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8DEE5"/>
            </a:solidFill>
            <a:prstDash val="solid"/>
          </a:ln>
        </p:spPr>
      </p:sp>
      <p:sp>
        <p:nvSpPr>
          <p:cNvPr id="4" name="shape-777">
            <a:extLst>
              <a:ext uri="{FF2B5EF4-FFF2-40B4-BE49-F238E27FC236}">
                <ns2:creationId id="{B09C51B1-8A13-401C-B166-4699434CCEFC}"/>
              </a:ext>
            </a:extLst>
          </p:cNvPr>
          <p:cNvSpPr>
            <a:spLocks noGrp="1"/>
          </p:cNvSpPr>
          <p:nvPr/>
        </p:nvSpPr>
        <p:spPr>
          <a:xfrm>
            <a:off x="238125" y="895350"/>
            <a:ext cx="5762625" cy="361950"/>
          </a:xfrm>
          <a:prstGeom prst="roundRect">
            <a:avLst>
              <a:gd name="adj" fmla="val 21053"/>
            </a:avLst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5" name="shape-778">
            <a:extLst>
              <a:ext uri="{FF2B5EF4-FFF2-40B4-BE49-F238E27FC236}">
                <ns2:creationId id="{94701B7F-21F9-4E64-8428-0350248872A3}"/>
              </a:ext>
            </a:extLst>
          </p:cNvPr>
          <p:cNvSpPr>
            <a:spLocks noGrp="1"/>
          </p:cNvSpPr>
          <p:nvPr/>
        </p:nvSpPr>
        <p:spPr>
          <a:xfrm>
            <a:off x="323850" y="933450"/>
            <a:ext cx="276225" cy="276225"/>
          </a:xfrm>
          <a:prstGeom prst="ellipse">
            <a:avLst/>
          </a:prstGeom>
          <a:solidFill>
            <a:srgbClr val="173D67"/>
          </a:solidFill>
          <a:ln w="0">
            <a:noFill/>
            <a:prstDash val="solid"/>
          </a:ln>
        </p:spPr>
      </p:sp>
      <p:sp>
        <p:nvSpPr>
          <p:cNvPr id="6" name="text-779">
            <a:extLst>
              <a:ext uri="{FF2B5EF4-FFF2-40B4-BE49-F238E27FC236}">
                <ns2:creationId id="{B01030CA-E107-4642-B10D-7DD8AC610DDD}"/>
              </a:ext>
            </a:extLst>
          </p:cNvPr>
          <p:cNvSpPr>
            <a:spLocks noGrp="1"/>
          </p:cNvSpPr>
          <p:nvPr/>
        </p:nvSpPr>
        <p:spPr>
          <a:xfrm>
            <a:off x="323850" y="933450"/>
            <a:ext cx="27622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A</a:t>
            </a:r>
          </a:p>
        </p:txBody>
      </p:sp>
      <p:sp>
        <p:nvSpPr>
          <p:cNvPr id="7" name="text-780">
            <a:extLst>
              <a:ext uri="{FF2B5EF4-FFF2-40B4-BE49-F238E27FC236}">
                <ns2:creationId id="{D47D1E79-4C6E-499F-BB3E-8D46299274B6}"/>
              </a:ext>
            </a:extLst>
          </p:cNvPr>
          <p:cNvSpPr>
            <a:spLocks noGrp="1"/>
          </p:cNvSpPr>
          <p:nvPr/>
        </p:nvSpPr>
        <p:spPr>
          <a:xfrm>
            <a:off x="714375" y="942975"/>
            <a:ext cx="514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丰富度沿梯度变化</a:t>
            </a:r>
            <a:endParaRPr/>
          </a:p>
        </p:txBody>
      </p:sp>
      <p:graphicFrame>
        <p:nvGraphicFramePr>
          <p:cNvPr id="8" name="Chart">
            <a:extLst>
              <a:ext uri="{FF2B5EF4-FFF2-40B4-BE49-F238E27FC236}">
                <ns2:creationId id="{9456CB77-0FB2-4A66-BD08-7370CB22A5E3}"/>
              </a:ext>
            </a:extLst>
          </p:cNvPr>
          <p:cNvGraphicFramePr/>
          <p:nvPr/>
        </p:nvGraphicFramePr>
        <p:xfrm>
          <a:off x="304800" y="1314450"/>
          <a:ext cx="5619750" cy="1981200"/>
        </p:xfrm>
        <a:graphic>
          <a:graphicData uri="http://schemas.openxmlformats.org/drawingml/2006/chart">
            <c:chart r:id="R0f90f39fb5cf47f3"/>
          </a:graphicData>
        </a:graphic>
      </p:graphicFrame>
      <p:sp>
        <p:nvSpPr>
          <p:cNvPr id="9" name="text-781">
            <a:extLst>
              <a:ext uri="{FF2B5EF4-FFF2-40B4-BE49-F238E27FC236}">
                <ns2:creationId id="{A492B5C0-6C8E-476A-A0FF-2B8B824EFB96}"/>
              </a:ext>
            </a:extLst>
          </p:cNvPr>
          <p:cNvSpPr>
            <a:spLocks noGrp="1"/>
          </p:cNvSpPr>
          <p:nvPr/>
        </p:nvSpPr>
        <p:spPr>
          <a:xfrm>
            <a:off x="2103120" y="3105150"/>
            <a:ext cx="28098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干扰强度</a:t>
            </a:r>
            <a:endParaRPr/>
          </a:p>
        </p:txBody>
      </p:sp>
      <p:sp>
        <p:nvSpPr>
          <p:cNvPr id="10" name="shape-782">
            <a:extLst>
              <a:ext uri="{FF2B5EF4-FFF2-40B4-BE49-F238E27FC236}">
                <ns2:creationId id="{954A65F0-59E1-44F4-9F44-63E470FB03CB}"/>
              </a:ext>
            </a:extLst>
          </p:cNvPr>
          <p:cNvSpPr>
            <a:spLocks noGrp="1"/>
          </p:cNvSpPr>
          <p:nvPr/>
        </p:nvSpPr>
        <p:spPr>
          <a:xfrm>
            <a:off x="6181725" y="885825"/>
            <a:ext cx="5781675" cy="24765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8DEE5"/>
            </a:solidFill>
            <a:prstDash val="solid"/>
          </a:ln>
        </p:spPr>
      </p:sp>
      <p:sp>
        <p:nvSpPr>
          <p:cNvPr id="11" name="shape-783">
            <a:extLst>
              <a:ext uri="{FF2B5EF4-FFF2-40B4-BE49-F238E27FC236}">
                <ns2:creationId id="{E91F6EEF-201E-45C6-ADFE-3A13A329382C}"/>
              </a:ext>
            </a:extLst>
          </p:cNvPr>
          <p:cNvSpPr>
            <a:spLocks noGrp="1"/>
          </p:cNvSpPr>
          <p:nvPr/>
        </p:nvSpPr>
        <p:spPr>
          <a:xfrm>
            <a:off x="6191250" y="895350"/>
            <a:ext cx="5762625" cy="361950"/>
          </a:xfrm>
          <a:prstGeom prst="roundRect">
            <a:avLst>
              <a:gd name="adj" fmla="val 21053"/>
            </a:avLst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12" name="shape-784">
            <a:extLst>
              <a:ext uri="{FF2B5EF4-FFF2-40B4-BE49-F238E27FC236}">
                <ns2:creationId id="{9C37406F-6B5F-44F1-875A-02E2692E64C1}"/>
              </a:ext>
            </a:extLst>
          </p:cNvPr>
          <p:cNvSpPr>
            <a:spLocks noGrp="1"/>
          </p:cNvSpPr>
          <p:nvPr/>
        </p:nvSpPr>
        <p:spPr>
          <a:xfrm>
            <a:off x="6276975" y="933450"/>
            <a:ext cx="276225" cy="276225"/>
          </a:xfrm>
          <a:prstGeom prst="ellipse">
            <a:avLst/>
          </a:prstGeom>
          <a:solidFill>
            <a:srgbClr val="173D67"/>
          </a:solidFill>
          <a:ln w="0">
            <a:noFill/>
            <a:prstDash val="solid"/>
          </a:ln>
        </p:spPr>
      </p:sp>
      <p:sp>
        <p:nvSpPr>
          <p:cNvPr id="13" name="text-785">
            <a:extLst>
              <a:ext uri="{FF2B5EF4-FFF2-40B4-BE49-F238E27FC236}">
                <ns2:creationId id="{5B4A55DB-123D-4A99-A4B8-77B18A40F9C1}"/>
              </a:ext>
            </a:extLst>
          </p:cNvPr>
          <p:cNvSpPr>
            <a:spLocks noGrp="1"/>
          </p:cNvSpPr>
          <p:nvPr/>
        </p:nvSpPr>
        <p:spPr>
          <a:xfrm>
            <a:off x="6276975" y="933450"/>
            <a:ext cx="27622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B</a:t>
            </a:r>
          </a:p>
        </p:txBody>
      </p:sp>
      <p:sp>
        <p:nvSpPr>
          <p:cNvPr id="14" name="text-786">
            <a:extLst>
              <a:ext uri="{FF2B5EF4-FFF2-40B4-BE49-F238E27FC236}">
                <ns2:creationId id="{0731A0D9-0B00-4255-B368-C5548CD183E6}"/>
              </a:ext>
            </a:extLst>
          </p:cNvPr>
          <p:cNvSpPr>
            <a:spLocks noGrp="1"/>
          </p:cNvSpPr>
          <p:nvPr/>
        </p:nvSpPr>
        <p:spPr>
          <a:xfrm>
            <a:off x="6667500" y="942975"/>
            <a:ext cx="514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不同生境的群落差异</a:t>
            </a:r>
            <a:endParaRPr/>
          </a:p>
        </p:txBody>
      </p:sp>
      <p:graphicFrame>
        <p:nvGraphicFramePr>
          <p:cNvPr id="15" name="Chart">
            <a:extLst>
              <a:ext uri="{FF2B5EF4-FFF2-40B4-BE49-F238E27FC236}">
                <ns2:creationId id="{7F0206B9-6C09-457D-B465-33EE92A85635}"/>
              </a:ext>
            </a:extLst>
          </p:cNvPr>
          <p:cNvGraphicFramePr/>
          <p:nvPr/>
        </p:nvGraphicFramePr>
        <p:xfrm>
          <a:off x="6257925" y="1314450"/>
          <a:ext cx="5619750" cy="1981200"/>
        </p:xfrm>
        <a:graphic>
          <a:graphicData uri="http://schemas.openxmlformats.org/drawingml/2006/chart">
            <c:chart r:id="R5ffc3bee95974730"/>
          </a:graphicData>
        </a:graphic>
      </p:graphicFrame>
      <p:sp>
        <p:nvSpPr>
          <p:cNvPr id="16" name="shape-787">
            <a:extLst>
              <a:ext uri="{FF2B5EF4-FFF2-40B4-BE49-F238E27FC236}">
                <ns2:creationId id="{1AF9F0CC-C727-4FBF-8DC4-995AA1EF4A6D}"/>
              </a:ext>
            </a:extLst>
          </p:cNvPr>
          <p:cNvSpPr>
            <a:spLocks noGrp="1"/>
          </p:cNvSpPr>
          <p:nvPr/>
        </p:nvSpPr>
        <p:spPr>
          <a:xfrm>
            <a:off x="228600" y="3495675"/>
            <a:ext cx="5781675" cy="24765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8DEE5"/>
            </a:solidFill>
            <a:prstDash val="solid"/>
          </a:ln>
        </p:spPr>
      </p:sp>
      <p:sp>
        <p:nvSpPr>
          <p:cNvPr id="17" name="shape-788">
            <a:extLst>
              <a:ext uri="{FF2B5EF4-FFF2-40B4-BE49-F238E27FC236}">
                <ns2:creationId id="{BD71EC20-B58A-469C-9E31-70D081983CD4}"/>
              </a:ext>
            </a:extLst>
          </p:cNvPr>
          <p:cNvSpPr>
            <a:spLocks noGrp="1"/>
          </p:cNvSpPr>
          <p:nvPr/>
        </p:nvSpPr>
        <p:spPr>
          <a:xfrm>
            <a:off x="238125" y="3505200"/>
            <a:ext cx="5762625" cy="361950"/>
          </a:xfrm>
          <a:prstGeom prst="roundRect">
            <a:avLst>
              <a:gd name="adj" fmla="val 21053"/>
            </a:avLst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18" name="shape-789">
            <a:extLst>
              <a:ext uri="{FF2B5EF4-FFF2-40B4-BE49-F238E27FC236}">
                <ns2:creationId id="{8AA0545D-C63E-48FF-9919-6A3C912B1616}"/>
              </a:ext>
            </a:extLst>
          </p:cNvPr>
          <p:cNvSpPr>
            <a:spLocks noGrp="1"/>
          </p:cNvSpPr>
          <p:nvPr/>
        </p:nvSpPr>
        <p:spPr>
          <a:xfrm>
            <a:off x="323850" y="3543300"/>
            <a:ext cx="276225" cy="276225"/>
          </a:xfrm>
          <a:prstGeom prst="ellipse">
            <a:avLst/>
          </a:prstGeom>
          <a:solidFill>
            <a:srgbClr val="173D67"/>
          </a:solidFill>
          <a:ln w="0">
            <a:noFill/>
            <a:prstDash val="solid"/>
          </a:ln>
        </p:spPr>
      </p:sp>
      <p:sp>
        <p:nvSpPr>
          <p:cNvPr id="19" name="text-790">
            <a:extLst>
              <a:ext uri="{FF2B5EF4-FFF2-40B4-BE49-F238E27FC236}">
                <ns2:creationId id="{60A4A900-E79C-44C3-9DAE-47ED004E4723}"/>
              </a:ext>
            </a:extLst>
          </p:cNvPr>
          <p:cNvSpPr>
            <a:spLocks noGrp="1"/>
          </p:cNvSpPr>
          <p:nvPr/>
        </p:nvSpPr>
        <p:spPr>
          <a:xfrm>
            <a:off x="323850" y="3543300"/>
            <a:ext cx="27622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C</a:t>
            </a:r>
          </a:p>
        </p:txBody>
      </p:sp>
      <p:sp>
        <p:nvSpPr>
          <p:cNvPr id="20" name="text-791">
            <a:extLst>
              <a:ext uri="{FF2B5EF4-FFF2-40B4-BE49-F238E27FC236}">
                <ns2:creationId id="{BA801818-1268-4883-8A51-AECE03EE1DA0}"/>
              </a:ext>
            </a:extLst>
          </p:cNvPr>
          <p:cNvSpPr>
            <a:spLocks noGrp="1"/>
          </p:cNvSpPr>
          <p:nvPr/>
        </p:nvSpPr>
        <p:spPr>
          <a:xfrm>
            <a:off x="714375" y="3552825"/>
            <a:ext cx="514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季节动态</a:t>
            </a:r>
            <a:endParaRPr/>
          </a:p>
        </p:txBody>
      </p:sp>
      <p:graphicFrame>
        <p:nvGraphicFramePr>
          <p:cNvPr id="21" name="Chart">
            <a:extLst>
              <a:ext uri="{FF2B5EF4-FFF2-40B4-BE49-F238E27FC236}">
                <ns2:creationId id="{419FAEFB-A02A-4E65-BAF2-FB1C9B48BE22}"/>
              </a:ext>
            </a:extLst>
          </p:cNvPr>
          <p:cNvGraphicFramePr/>
          <p:nvPr/>
        </p:nvGraphicFramePr>
        <p:xfrm>
          <a:off x="304800" y="3924300"/>
          <a:ext cx="5619750" cy="1981200"/>
        </p:xfrm>
        <a:graphic>
          <a:graphicData uri="http://schemas.openxmlformats.org/drawingml/2006/chart">
            <c:chart r:id="R5911ad34a6c7462d"/>
          </a:graphicData>
        </a:graphic>
      </p:graphicFrame>
      <p:sp>
        <p:nvSpPr>
          <p:cNvPr id="22" name="line-792">
            <a:extLst>
              <a:ext uri="{FF2B5EF4-FFF2-40B4-BE49-F238E27FC236}">
                <ns2:creationId id="{88C43074-E8D9-46A6-9170-4D3647BF5914}"/>
              </a:ext>
            </a:extLst>
          </p:cNvPr>
          <p:cNvSpPr>
            <a:spLocks noGrp="1"/>
          </p:cNvSpPr>
          <p:nvPr/>
        </p:nvSpPr>
        <p:spPr>
          <a:xfrm>
            <a:off x="4781550" y="4124325"/>
            <a:ext cx="209550" cy="95"/>
          </a:xfrm>
          <a:prstGeom prst="line">
            <a:avLst/>
          </a:prstGeom>
          <a:noFill/>
          <a:ln w="19050">
            <a:solidFill>
              <a:srgbClr val="173D67"/>
            </a:solidFill>
            <a:prstDash val="solid"/>
          </a:ln>
        </p:spPr>
      </p:sp>
      <p:sp>
        <p:nvSpPr>
          <p:cNvPr id="23" name="text-793">
            <a:extLst>
              <a:ext uri="{FF2B5EF4-FFF2-40B4-BE49-F238E27FC236}">
                <ns2:creationId id="{A08CF5A4-363F-4B2B-907D-5754E7601F3B}"/>
              </a:ext>
            </a:extLst>
          </p:cNvPr>
          <p:cNvSpPr>
            <a:spLocks noGrp="1"/>
          </p:cNvSpPr>
          <p:nvPr/>
        </p:nvSpPr>
        <p:spPr>
          <a:xfrm>
            <a:off x="5057775" y="4038600"/>
            <a:ext cx="838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050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050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050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050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050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050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050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050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050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050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050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情景 A</a:t>
            </a:r>
            <a:endParaRPr/>
          </a:p>
        </p:txBody>
      </p:sp>
      <p:sp>
        <p:nvSpPr>
          <p:cNvPr id="24" name="line-794">
            <a:extLst>
              <a:ext uri="{FF2B5EF4-FFF2-40B4-BE49-F238E27FC236}">
                <ns2:creationId id="{7CF895B8-1DD8-4639-886A-1C5A1D8C42E4}"/>
              </a:ext>
            </a:extLst>
          </p:cNvPr>
          <p:cNvSpPr>
            <a:spLocks noGrp="1"/>
          </p:cNvSpPr>
          <p:nvPr/>
        </p:nvSpPr>
        <p:spPr>
          <a:xfrm>
            <a:off x="4781550" y="4352925"/>
            <a:ext cx="209550" cy="95"/>
          </a:xfrm>
          <a:prstGeom prst="line">
            <a:avLst/>
          </a:prstGeom>
          <a:noFill/>
          <a:ln w="19050">
            <a:solidFill>
              <a:srgbClr val="AF3D3D"/>
            </a:solidFill>
            <a:prstDash val="solid"/>
          </a:ln>
        </p:spPr>
      </p:sp>
      <p:sp>
        <p:nvSpPr>
          <p:cNvPr id="25" name="text-795">
            <a:extLst>
              <a:ext uri="{FF2B5EF4-FFF2-40B4-BE49-F238E27FC236}">
                <ns2:creationId id="{44E96B68-8185-4A2E-B713-98197F5C6A79}"/>
              </a:ext>
            </a:extLst>
          </p:cNvPr>
          <p:cNvSpPr>
            <a:spLocks noGrp="1"/>
          </p:cNvSpPr>
          <p:nvPr/>
        </p:nvSpPr>
        <p:spPr>
          <a:xfrm>
            <a:off x="5057775" y="4267200"/>
            <a:ext cx="838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050" b="0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050" b="0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050" b="0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050" b="0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050" b="0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050" b="0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050" b="0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050" b="0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050" b="0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050" b="0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050" b="0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AF3D3D"/>
                </a:solidFill>
                <a:latin typeface="Noto Sans CJK SC"/>
                <a:ea typeface="Noto Sans CJK SC"/>
                <a:cs typeface="Noto Sans CJK SC"/>
              </a:rPr>
              <a:t>情景 B</a:t>
            </a:r>
            <a:endParaRPr/>
          </a:p>
        </p:txBody>
      </p:sp>
      <p:sp>
        <p:nvSpPr>
          <p:cNvPr id="26" name="text-796">
            <a:extLst>
              <a:ext uri="{FF2B5EF4-FFF2-40B4-BE49-F238E27FC236}">
                <ns2:creationId id="{1E2CEC79-B67D-452A-B8F4-80AA0F87D6DD}"/>
              </a:ext>
            </a:extLst>
          </p:cNvPr>
          <p:cNvSpPr>
            <a:spLocks noGrp="1"/>
          </p:cNvSpPr>
          <p:nvPr/>
        </p:nvSpPr>
        <p:spPr>
          <a:xfrm>
            <a:off x="2103120" y="5715000"/>
            <a:ext cx="28098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月份</a:t>
            </a:r>
            <a:endParaRPr/>
          </a:p>
        </p:txBody>
      </p:sp>
      <p:sp>
        <p:nvSpPr>
          <p:cNvPr id="27" name="shape-797">
            <a:extLst>
              <a:ext uri="{FF2B5EF4-FFF2-40B4-BE49-F238E27FC236}">
                <ns2:creationId id="{24F3D4E5-E07C-4F4D-B936-98907F1AA144}"/>
              </a:ext>
            </a:extLst>
          </p:cNvPr>
          <p:cNvSpPr>
            <a:spLocks noGrp="1"/>
          </p:cNvSpPr>
          <p:nvPr/>
        </p:nvSpPr>
        <p:spPr>
          <a:xfrm>
            <a:off x="6181725" y="3495675"/>
            <a:ext cx="5781675" cy="24765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8DEE5"/>
            </a:solidFill>
            <a:prstDash val="solid"/>
          </a:ln>
        </p:spPr>
      </p:sp>
      <p:sp>
        <p:nvSpPr>
          <p:cNvPr id="28" name="shape-798">
            <a:extLst>
              <a:ext uri="{FF2B5EF4-FFF2-40B4-BE49-F238E27FC236}">
                <ns2:creationId id="{4583CF5F-7439-475C-B649-91E04F05FEB7}"/>
              </a:ext>
            </a:extLst>
          </p:cNvPr>
          <p:cNvSpPr>
            <a:spLocks noGrp="1"/>
          </p:cNvSpPr>
          <p:nvPr/>
        </p:nvSpPr>
        <p:spPr>
          <a:xfrm>
            <a:off x="6191250" y="3505200"/>
            <a:ext cx="5762625" cy="361950"/>
          </a:xfrm>
          <a:prstGeom prst="roundRect">
            <a:avLst>
              <a:gd name="adj" fmla="val 21053"/>
            </a:avLst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29" name="shape-799">
            <a:extLst>
              <a:ext uri="{FF2B5EF4-FFF2-40B4-BE49-F238E27FC236}">
                <ns2:creationId id="{62E7BFA5-0730-4B90-9E5A-A032A486B7EE}"/>
              </a:ext>
            </a:extLst>
          </p:cNvPr>
          <p:cNvSpPr>
            <a:spLocks noGrp="1"/>
          </p:cNvSpPr>
          <p:nvPr/>
        </p:nvSpPr>
        <p:spPr>
          <a:xfrm>
            <a:off x="6276975" y="3543300"/>
            <a:ext cx="276225" cy="276225"/>
          </a:xfrm>
          <a:prstGeom prst="ellipse">
            <a:avLst/>
          </a:prstGeom>
          <a:solidFill>
            <a:srgbClr val="173D67"/>
          </a:solidFill>
          <a:ln w="0">
            <a:noFill/>
            <a:prstDash val="solid"/>
          </a:ln>
        </p:spPr>
      </p:sp>
      <p:sp>
        <p:nvSpPr>
          <p:cNvPr id="30" name="text-800">
            <a:extLst>
              <a:ext uri="{FF2B5EF4-FFF2-40B4-BE49-F238E27FC236}">
                <ns2:creationId id="{D586D7AE-2088-4455-ADC9-B1A8F2AA4EA0}"/>
              </a:ext>
            </a:extLst>
          </p:cNvPr>
          <p:cNvSpPr>
            <a:spLocks noGrp="1"/>
          </p:cNvSpPr>
          <p:nvPr/>
        </p:nvSpPr>
        <p:spPr>
          <a:xfrm>
            <a:off x="6276975" y="3543300"/>
            <a:ext cx="27622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D</a:t>
            </a:r>
          </a:p>
        </p:txBody>
      </p:sp>
      <p:sp>
        <p:nvSpPr>
          <p:cNvPr id="31" name="text-801">
            <a:extLst>
              <a:ext uri="{FF2B5EF4-FFF2-40B4-BE49-F238E27FC236}">
                <ns2:creationId id="{3E4B1D25-FCEC-41E1-9BEC-B2C2A1076C4E}"/>
              </a:ext>
            </a:extLst>
          </p:cNvPr>
          <p:cNvSpPr>
            <a:spLocks noGrp="1"/>
          </p:cNvSpPr>
          <p:nvPr/>
        </p:nvSpPr>
        <p:spPr>
          <a:xfrm>
            <a:off x="6667500" y="3552825"/>
            <a:ext cx="514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效应与不确定性</a:t>
            </a:r>
            <a:endParaRPr/>
          </a:p>
        </p:txBody>
      </p:sp>
      <p:graphicFrame>
        <p:nvGraphicFramePr>
          <p:cNvPr id="32" name="Chart">
            <a:extLst>
              <a:ext uri="{FF2B5EF4-FFF2-40B4-BE49-F238E27FC236}">
                <ns2:creationId id="{C76A89B5-85B0-4F52-808E-076BF3306AA8}"/>
              </a:ext>
            </a:extLst>
          </p:cNvPr>
          <p:cNvGraphicFramePr/>
          <p:nvPr/>
        </p:nvGraphicFramePr>
        <p:xfrm>
          <a:off x="6257925" y="3924300"/>
          <a:ext cx="5619750" cy="1981200"/>
        </p:xfrm>
        <a:graphic>
          <a:graphicData uri="http://schemas.openxmlformats.org/drawingml/2006/chart">
            <c:chart r:id="Rffaaf39a0267400e"/>
          </a:graphicData>
        </a:graphic>
      </p:graphicFrame>
      <p:sp>
        <p:nvSpPr>
          <p:cNvPr id="33" name="text-802">
            <a:extLst>
              <a:ext uri="{FF2B5EF4-FFF2-40B4-BE49-F238E27FC236}">
                <ns2:creationId id="{A0C8B234-E2E9-4D15-BDF3-746365A32BA6}"/>
              </a:ext>
            </a:extLst>
          </p:cNvPr>
          <p:cNvSpPr>
            <a:spLocks noGrp="1"/>
          </p:cNvSpPr>
          <p:nvPr/>
        </p:nvSpPr>
        <p:spPr>
          <a:xfrm>
            <a:off x="6257925" y="4201516"/>
            <a:ext cx="1404938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生境面积</a:t>
            </a:r>
            <a:endParaRPr/>
          </a:p>
        </p:txBody>
      </p:sp>
      <p:sp>
        <p:nvSpPr>
          <p:cNvPr id="34" name="text-803">
            <a:extLst>
              <a:ext uri="{FF2B5EF4-FFF2-40B4-BE49-F238E27FC236}">
                <ns2:creationId id="{526EEFD3-E9DB-4FD5-ACFA-CEF106A3C4FD}"/>
              </a:ext>
            </a:extLst>
          </p:cNvPr>
          <p:cNvSpPr>
            <a:spLocks noGrp="1"/>
          </p:cNvSpPr>
          <p:nvPr/>
        </p:nvSpPr>
        <p:spPr>
          <a:xfrm>
            <a:off x="6257925" y="4474921"/>
            <a:ext cx="1404938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隔离程度</a:t>
            </a:r>
            <a:endParaRPr/>
          </a:p>
        </p:txBody>
      </p:sp>
      <p:sp>
        <p:nvSpPr>
          <p:cNvPr id="35" name="text-804">
            <a:extLst>
              <a:ext uri="{FF2B5EF4-FFF2-40B4-BE49-F238E27FC236}">
                <ns2:creationId id="{46F62FE8-8F48-4548-A387-C5DFEE87C019}"/>
              </a:ext>
            </a:extLst>
          </p:cNvPr>
          <p:cNvSpPr>
            <a:spLocks noGrp="1"/>
          </p:cNvSpPr>
          <p:nvPr/>
        </p:nvSpPr>
        <p:spPr>
          <a:xfrm>
            <a:off x="6257925" y="4748327"/>
            <a:ext cx="1404938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植被覆盖</a:t>
            </a:r>
            <a:endParaRPr/>
          </a:p>
        </p:txBody>
      </p:sp>
      <p:sp>
        <p:nvSpPr>
          <p:cNvPr id="36" name="text-805">
            <a:extLst>
              <a:ext uri="{FF2B5EF4-FFF2-40B4-BE49-F238E27FC236}">
                <ns2:creationId id="{CAA911A2-F636-492E-B874-1CBE6C41426B}"/>
              </a:ext>
            </a:extLst>
          </p:cNvPr>
          <p:cNvSpPr>
            <a:spLocks noGrp="1"/>
          </p:cNvSpPr>
          <p:nvPr/>
        </p:nvSpPr>
        <p:spPr>
          <a:xfrm>
            <a:off x="6257925" y="5021732"/>
            <a:ext cx="1404938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人为干扰</a:t>
            </a:r>
            <a:endParaRPr/>
          </a:p>
        </p:txBody>
      </p:sp>
      <p:sp>
        <p:nvSpPr>
          <p:cNvPr id="37" name="text-806">
            <a:extLst>
              <a:ext uri="{FF2B5EF4-FFF2-40B4-BE49-F238E27FC236}">
                <ns2:creationId id="{7A5BDBF0-3C36-41B2-BF5D-AA4A48C59BB3}"/>
              </a:ext>
            </a:extLst>
          </p:cNvPr>
          <p:cNvSpPr>
            <a:spLocks noGrp="1"/>
          </p:cNvSpPr>
          <p:nvPr/>
        </p:nvSpPr>
        <p:spPr>
          <a:xfrm>
            <a:off x="8056245" y="5715000"/>
            <a:ext cx="28098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标准化效应值</a:t>
            </a:r>
            <a:endParaRPr/>
          </a:p>
        </p:txBody>
      </p:sp>
      <p:sp>
        <p:nvSpPr>
          <p:cNvPr id="38" name="shape-807">
            <a:extLst>
              <a:ext uri="{FF2B5EF4-FFF2-40B4-BE49-F238E27FC236}">
                <ns2:creationId id="{B5D12D88-A4B1-4758-A177-9F7FF6A82C92}"/>
              </a:ext>
            </a:extLst>
          </p:cNvPr>
          <p:cNvSpPr>
            <a:spLocks noGrp="1"/>
          </p:cNvSpPr>
          <p:nvPr/>
        </p:nvSpPr>
        <p:spPr>
          <a:xfrm>
            <a:off x="228600" y="6219825"/>
            <a:ext cx="11734800" cy="323850"/>
          </a:xfrm>
          <a:prstGeom prst="roundRect">
            <a:avLst>
              <a:gd name="adj" fmla="val 23529"/>
            </a:avLst>
          </a:prstGeom>
          <a:solidFill>
            <a:srgbClr val="EEF3F8"/>
          </a:solidFill>
          <a:ln w="0">
            <a:noFill/>
            <a:prstDash val="solid"/>
          </a:ln>
        </p:spPr>
      </p:sp>
      <p:sp>
        <p:nvSpPr>
          <p:cNvPr id="39" name="text-808">
            <a:extLst>
              <a:ext uri="{FF2B5EF4-FFF2-40B4-BE49-F238E27FC236}">
                <ns2:creationId id="{1DED5E77-6EB0-4AE7-B0A4-2D6AF34EC779}"/>
              </a:ext>
            </a:extLst>
          </p:cNvPr>
          <p:cNvSpPr>
            <a:spLocks noGrp="1"/>
          </p:cNvSpPr>
          <p:nvPr/>
        </p:nvSpPr>
        <p:spPr>
          <a:xfrm>
            <a:off x="361950" y="6257925"/>
            <a:ext cx="11468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读图顺序：趋势 → 组间差异 → 动态 → 不确定性</a:t>
            </a:r>
            <a:endParaRPr/>
          </a:p>
        </p:txBody>
      </p:sp>
      <p:sp>
        <p:nvSpPr>
          <p:cNvPr id="40" name="text-809">
            <a:extLst>
              <a:ext uri="{FF2B5EF4-FFF2-40B4-BE49-F238E27FC236}">
                <ns2:creationId id="{1DA97AB6-8004-4A38-A338-5803F862D2D7}"/>
              </a:ext>
            </a:extLst>
          </p:cNvPr>
          <p:cNvSpPr>
            <a:spLocks noGrp="1"/>
          </p:cNvSpPr>
          <p:nvPr/>
        </p:nvSpPr>
        <p:spPr>
          <a:xfrm>
            <a:off x="228600" y="6619875"/>
            <a:ext cx="105727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rPr>
              <a:t>科研模板 · 内容与数据均为示意</a:t>
            </a:r>
            <a:endParaRPr/>
          </a:p>
        </p:txBody>
      </p:sp>
      <p:sp>
        <p:nvSpPr>
          <p:cNvPr id="41" name="text-810">
            <a:extLst>
              <a:ext uri="{FF2B5EF4-FFF2-40B4-BE49-F238E27FC236}">
                <ns2:creationId id="{DA94209C-B64C-43A7-849E-88E3A32FD531}"/>
              </a:ext>
            </a:extLst>
          </p:cNvPr>
          <p:cNvSpPr>
            <a:spLocks noGrp="1"/>
          </p:cNvSpPr>
          <p:nvPr/>
        </p:nvSpPr>
        <p:spPr>
          <a:xfrm>
            <a:off x="11525250" y="6591300"/>
            <a:ext cx="4381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rPr>
              <a:t>07</a:t>
            </a:r>
            <a:endParaRPr/>
          </a:p>
        </p:txBody>
      </p:sp>
    </p:spTree>
    <p:extLst>
      <p:ext uri="{BB962C8B-B14F-4D97-AF65-F5344CB8AC3E}">
        <ns5:creationId val="563918454"/>
      </p:ext>
    </p:extLst>
  </p:cSld>
</p:sld>
</file>

<file path=ppt/slides/slide8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54" name="shape-1025">
            <a:extLst>
              <a:ext uri="{FF2B5EF4-FFF2-40B4-BE49-F238E27FC236}">
                <ns2:creationId id="{77CB5FF7-3E69-4D78-BDB8-9818AFF04A2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362700" cy="5372100"/>
          </a:xfrm>
          <a:prstGeom prst="rect">
            <a:avLst/>
          </a:prstGeom>
          <a:solidFill>
            <a:srgbClr val="173D67"/>
          </a:solidFill>
          <a:ln w="0">
            <a:noFill/>
            <a:prstDash val="solid"/>
          </a:ln>
        </p:spPr>
      </p:sp>
      <p:sp>
        <p:nvSpPr>
          <p:cNvPr id="2" name="text-1026">
            <a:extLst>
              <a:ext uri="{FF2B5EF4-FFF2-40B4-BE49-F238E27FC236}">
                <ns2:creationId id="{0B2D4289-CAB8-408C-A494-D84B4F13F6CA}"/>
              </a:ext>
            </a:extLst>
          </p:cNvPr>
          <p:cNvSpPr>
            <a:spLocks noGrp="1"/>
          </p:cNvSpPr>
          <p:nvPr/>
        </p:nvSpPr>
        <p:spPr>
          <a:xfrm>
            <a:off x="457200" y="1114425"/>
            <a:ext cx="5334000" cy="2219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5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5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5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5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5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5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5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5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5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5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5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5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汇报完毕</a:t>
            </a:r>
            <a:endParaRPr/>
          </a:p>
          <a:p>
            <a:pPr algn="l">
              <a:defRPr sz="5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5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敬请讨论</a:t>
            </a:r>
            <a:endParaRPr/>
          </a:p>
        </p:txBody>
      </p:sp>
      <p:sp>
        <p:nvSpPr>
          <p:cNvPr id="3" name="shape-1027">
            <a:extLst>
              <a:ext uri="{FF2B5EF4-FFF2-40B4-BE49-F238E27FC236}">
                <ns2:creationId id="{69B80962-B16B-4D7F-AB73-2BB7B3FC2E00}"/>
              </a:ext>
            </a:extLst>
          </p:cNvPr>
          <p:cNvSpPr>
            <a:spLocks noGrp="1"/>
          </p:cNvSpPr>
          <p:nvPr/>
        </p:nvSpPr>
        <p:spPr>
          <a:xfrm>
            <a:off x="485775" y="3705225"/>
            <a:ext cx="857250" cy="47625"/>
          </a:xfrm>
          <a:prstGeom prst="rect">
            <a:avLst/>
          </a:prstGeom>
          <a:solidFill>
            <a:srgbClr val="AF3D3D"/>
          </a:solidFill>
          <a:ln w="0">
            <a:noFill/>
            <a:prstDash val="solid"/>
          </a:ln>
        </p:spPr>
      </p:sp>
      <p:sp>
        <p:nvSpPr>
          <p:cNvPr id="4" name="text-1028">
            <a:extLst>
              <a:ext uri="{FF2B5EF4-FFF2-40B4-BE49-F238E27FC236}">
                <ns2:creationId id="{05DB9C03-3EE5-4518-840D-6D13D80E69C1}"/>
              </a:ext>
            </a:extLst>
          </p:cNvPr>
          <p:cNvSpPr>
            <a:spLocks noGrp="1"/>
          </p:cNvSpPr>
          <p:nvPr/>
        </p:nvSpPr>
        <p:spPr>
          <a:xfrm>
            <a:off x="457200" y="4114800"/>
            <a:ext cx="5410200" cy="676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1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1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1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1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1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1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1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1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1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1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1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哪些解释仍需进一步检验？</a:t>
            </a:r>
            <a:endParaRPr/>
          </a:p>
        </p:txBody>
      </p:sp>
      <p:pic>
        <p:nvPicPr>
          <p:cNvPr id="5" name="">
            <a:extLst>
              <a:ext uri="{FF2B5EF4-FFF2-40B4-BE49-F238E27FC236}">
                <ns2:creationId id="{8B786B51-977C-493C-91C3-8801239F2907}"/>
              </a:ext>
            </a:extLst>
          </p:cNvPr>
          <p:cNvPicPr>
            <a:picLocks noChangeAspect="1"/>
          </p:cNvPicPr>
          <p:nvPr/>
        </p:nvPicPr>
        <p:blipFill>
          <a:blip r:embed="R3b9dd86b0bd84db3"/>
          <a:stretch/>
        </p:blipFill>
        <p:spPr>
          <a:xfrm>
            <a:off x="6919913" y="419100"/>
            <a:ext cx="4581525" cy="4581525"/>
          </a:xfrm>
          <a:prstGeom prst="rect">
            <a:avLst/>
          </a:prstGeom>
        </p:spPr>
      </p:pic>
      <p:sp>
        <p:nvSpPr>
          <p:cNvPr id="6" name="icon-camera-1029">
            <a:extLst>
              <a:ext uri="{FF2B5EF4-FFF2-40B4-BE49-F238E27FC236}">
                <ns2:creationId id="{58E52C56-00A9-4B85-8378-263597D0CB5A}"/>
              </a:ext>
            </a:extLst>
          </p:cNvPr>
          <p:cNvSpPr>
            <a:spLocks noGrp="1"/>
          </p:cNvSpPr>
          <p:nvPr/>
        </p:nvSpPr>
        <p:spPr>
          <a:xfrm>
            <a:off x="6855047" y="632555"/>
            <a:ext cx="548831" cy="389287"/>
          </a:xfrm>
          <a:prstGeom prst="roundRect">
            <a:avLst>
              <a:gd name="adj" fmla="val 19574"/>
            </a:avLst>
          </a:prstGeom>
          <a:noFill/>
          <a:ln w="19943">
            <a:solidFill>
              <a:srgbClr val="173D67"/>
            </a:solidFill>
            <a:prstDash val="solid"/>
          </a:ln>
        </p:spPr>
      </p:sp>
      <p:sp>
        <p:nvSpPr>
          <p:cNvPr id="7" name="icon-camera-1030">
            <a:extLst>
              <a:ext uri="{FF2B5EF4-FFF2-40B4-BE49-F238E27FC236}">
                <ns2:creationId id="{0CD595AD-F27C-4960-834F-F6C4F75C1F48}"/>
              </a:ext>
            </a:extLst>
          </p:cNvPr>
          <p:cNvSpPr>
            <a:spLocks noGrp="1"/>
          </p:cNvSpPr>
          <p:nvPr/>
        </p:nvSpPr>
        <p:spPr>
          <a:xfrm>
            <a:off x="7020973" y="549593"/>
            <a:ext cx="210598" cy="108490"/>
          </a:xfrm>
          <a:prstGeom prst="roundRect">
            <a:avLst>
              <a:gd name="adj" fmla="val 50000"/>
            </a:avLst>
          </a:prstGeom>
          <a:noFill/>
          <a:ln w="19943">
            <a:solidFill>
              <a:srgbClr val="173D67"/>
            </a:solidFill>
            <a:prstDash val="solid"/>
          </a:ln>
        </p:spPr>
      </p:sp>
      <p:sp>
        <p:nvSpPr>
          <p:cNvPr id="8" name="icon-camera-1031">
            <a:extLst>
              <a:ext uri="{FF2B5EF4-FFF2-40B4-BE49-F238E27FC236}">
                <ns2:creationId id="{38FD796F-DB6C-4551-97C0-B697EC179407}"/>
              </a:ext>
            </a:extLst>
          </p:cNvPr>
          <p:cNvSpPr>
            <a:spLocks noGrp="1"/>
          </p:cNvSpPr>
          <p:nvPr/>
        </p:nvSpPr>
        <p:spPr>
          <a:xfrm>
            <a:off x="7014591" y="715518"/>
            <a:ext cx="229743" cy="229743"/>
          </a:xfrm>
          <a:prstGeom prst="ellipse">
            <a:avLst/>
          </a:prstGeom>
          <a:noFill/>
          <a:ln w="19943">
            <a:solidFill>
              <a:srgbClr val="173D67"/>
            </a:solidFill>
            <a:prstDash val="solid"/>
          </a:ln>
        </p:spPr>
      </p:sp>
      <p:sp>
        <p:nvSpPr>
          <p:cNvPr id="9" name="icon-camera-1032">
            <a:extLst>
              <a:ext uri="{FF2B5EF4-FFF2-40B4-BE49-F238E27FC236}">
                <ns2:creationId id="{E68D5007-5EA2-4FA7-9E91-DA529C269FF3}"/>
              </a:ext>
            </a:extLst>
          </p:cNvPr>
          <p:cNvSpPr>
            <a:spLocks noGrp="1"/>
          </p:cNvSpPr>
          <p:nvPr/>
        </p:nvSpPr>
        <p:spPr>
          <a:xfrm>
            <a:off x="7282625" y="683609"/>
            <a:ext cx="51054" cy="51054"/>
          </a:xfrm>
          <a:prstGeom prst="ellipse">
            <a:avLst/>
          </a:prstGeom>
          <a:solidFill>
            <a:srgbClr val="173D67"/>
          </a:solidFill>
          <a:ln w="19943">
            <a:solidFill>
              <a:srgbClr val="173D67"/>
            </a:solidFill>
            <a:prstDash val="solid"/>
          </a:ln>
        </p:spPr>
      </p:sp>
      <p:sp>
        <p:nvSpPr>
          <p:cNvPr id="10" name="vector-1033">
            <a:extLst>
              <a:ext uri="{FF2B5EF4-FFF2-40B4-BE49-F238E27FC236}">
                <ns2:creationId id="{207CA9D4-CCCD-4156-A9C8-7AD30C3EC7BC}"/>
              </a:ext>
            </a:extLst>
          </p:cNvPr>
          <p:cNvSpPr>
            <a:spLocks noGrp="1"/>
          </p:cNvSpPr>
          <p:nvPr/>
        </p:nvSpPr>
        <p:spPr>
          <a:xfrm>
            <a:off x="10668000" y="495300"/>
            <a:ext cx="638175" cy="638175"/>
          </a:xfrm>
          <a:custGeom>
            <a:pathLst>
              <a:path w="952500" h="952500">
                <a:moveTo>
                  <a:pt x="123825" y="352425"/>
                </a:moveTo>
                <a:lnTo>
                  <a:pt x="428625" y="114300"/>
                </a:lnTo>
              </a:path>
            </a:pathLst>
          </a:custGeom>
          <a:noFill/>
          <a:ln w="21273">
            <a:solidFill>
              <a:srgbClr val="173D67"/>
            </a:solidFill>
            <a:prstDash val="solid"/>
          </a:ln>
        </p:spPr>
      </p:sp>
      <p:sp>
        <p:nvSpPr>
          <p:cNvPr id="11" name="vector-1034">
            <a:extLst>
              <a:ext uri="{FF2B5EF4-FFF2-40B4-BE49-F238E27FC236}">
                <ns2:creationId id="{2B20E361-DC6A-45FB-A7D3-4E63A1D03563}"/>
              </a:ext>
            </a:extLst>
          </p:cNvPr>
          <p:cNvSpPr>
            <a:spLocks noGrp="1"/>
          </p:cNvSpPr>
          <p:nvPr/>
        </p:nvSpPr>
        <p:spPr>
          <a:xfrm>
            <a:off x="10668000" y="495300"/>
            <a:ext cx="638175" cy="638175"/>
          </a:xfrm>
          <a:custGeom>
            <a:pathLst>
              <a:path w="952500" h="952500">
                <a:moveTo>
                  <a:pt x="428625" y="114300"/>
                </a:moveTo>
                <a:lnTo>
                  <a:pt x="800100" y="285750"/>
                </a:lnTo>
              </a:path>
            </a:pathLst>
          </a:custGeom>
          <a:noFill/>
          <a:ln w="21273">
            <a:solidFill>
              <a:srgbClr val="173D67"/>
            </a:solidFill>
            <a:prstDash val="solid"/>
          </a:ln>
        </p:spPr>
      </p:sp>
      <p:sp>
        <p:nvSpPr>
          <p:cNvPr id="12" name="vector-1035">
            <a:extLst>
              <a:ext uri="{FF2B5EF4-FFF2-40B4-BE49-F238E27FC236}">
                <ns2:creationId id="{FCB4BE22-641C-40B2-92EF-FD3BCE9A0FA5}"/>
              </a:ext>
            </a:extLst>
          </p:cNvPr>
          <p:cNvSpPr>
            <a:spLocks noGrp="1"/>
          </p:cNvSpPr>
          <p:nvPr/>
        </p:nvSpPr>
        <p:spPr>
          <a:xfrm>
            <a:off x="10668000" y="495300"/>
            <a:ext cx="638175" cy="638175"/>
          </a:xfrm>
          <a:custGeom>
            <a:pathLst>
              <a:path w="952500" h="952500">
                <a:moveTo>
                  <a:pt x="800100" y="285750"/>
                </a:moveTo>
                <a:lnTo>
                  <a:pt x="657225" y="790575"/>
                </a:lnTo>
              </a:path>
            </a:pathLst>
          </a:custGeom>
          <a:noFill/>
          <a:ln w="21273">
            <a:solidFill>
              <a:srgbClr val="173D67"/>
            </a:solidFill>
            <a:prstDash val="solid"/>
          </a:ln>
        </p:spPr>
      </p:sp>
      <p:sp>
        <p:nvSpPr>
          <p:cNvPr id="13" name="vector-1036">
            <a:extLst>
              <a:ext uri="{FF2B5EF4-FFF2-40B4-BE49-F238E27FC236}">
                <ns2:creationId id="{A180FDAB-2EEF-402A-B78E-20DB8C7B5F70}"/>
              </a:ext>
            </a:extLst>
          </p:cNvPr>
          <p:cNvSpPr>
            <a:spLocks noGrp="1"/>
          </p:cNvSpPr>
          <p:nvPr/>
        </p:nvSpPr>
        <p:spPr>
          <a:xfrm>
            <a:off x="10668000" y="495300"/>
            <a:ext cx="638175" cy="638175"/>
          </a:xfrm>
          <a:custGeom>
            <a:pathLst>
              <a:path w="952500" h="952500">
                <a:moveTo>
                  <a:pt x="657225" y="790575"/>
                </a:moveTo>
                <a:lnTo>
                  <a:pt x="228600" y="781050"/>
                </a:lnTo>
              </a:path>
            </a:pathLst>
          </a:custGeom>
          <a:noFill/>
          <a:ln w="21273">
            <a:solidFill>
              <a:srgbClr val="173D67"/>
            </a:solidFill>
            <a:prstDash val="solid"/>
          </a:ln>
        </p:spPr>
      </p:sp>
      <p:sp>
        <p:nvSpPr>
          <p:cNvPr id="14" name="vector-1037">
            <a:extLst>
              <a:ext uri="{FF2B5EF4-FFF2-40B4-BE49-F238E27FC236}">
                <ns2:creationId id="{FC988FD6-C3D7-4085-BD17-37A53DBF3E5B}"/>
              </a:ext>
            </a:extLst>
          </p:cNvPr>
          <p:cNvSpPr>
            <a:spLocks noGrp="1"/>
          </p:cNvSpPr>
          <p:nvPr/>
        </p:nvSpPr>
        <p:spPr>
          <a:xfrm>
            <a:off x="10668000" y="495300"/>
            <a:ext cx="638175" cy="638175"/>
          </a:xfrm>
          <a:custGeom>
            <a:pathLst>
              <a:path w="952500" h="952500">
                <a:moveTo>
                  <a:pt x="228600" y="781050"/>
                </a:moveTo>
                <a:lnTo>
                  <a:pt x="123825" y="352425"/>
                </a:lnTo>
              </a:path>
            </a:pathLst>
          </a:custGeom>
          <a:noFill/>
          <a:ln w="21273">
            <a:solidFill>
              <a:srgbClr val="173D67"/>
            </a:solidFill>
            <a:prstDash val="solid"/>
          </a:ln>
        </p:spPr>
      </p:sp>
      <p:sp>
        <p:nvSpPr>
          <p:cNvPr id="15" name="vector-1038">
            <a:extLst>
              <a:ext uri="{FF2B5EF4-FFF2-40B4-BE49-F238E27FC236}">
                <ns2:creationId id="{23DDC71A-E1AD-4EB6-8F6C-0830B772DD00}"/>
              </a:ext>
            </a:extLst>
          </p:cNvPr>
          <p:cNvSpPr>
            <a:spLocks noGrp="1"/>
          </p:cNvSpPr>
          <p:nvPr/>
        </p:nvSpPr>
        <p:spPr>
          <a:xfrm>
            <a:off x="10668000" y="495300"/>
            <a:ext cx="638175" cy="638175"/>
          </a:xfrm>
          <a:custGeom>
            <a:pathLst>
              <a:path w="952500" h="952500">
                <a:moveTo>
                  <a:pt x="123825" y="352425"/>
                </a:moveTo>
                <a:lnTo>
                  <a:pt x="657225" y="790575"/>
                </a:lnTo>
              </a:path>
            </a:pathLst>
          </a:custGeom>
          <a:noFill/>
          <a:ln w="21273">
            <a:solidFill>
              <a:srgbClr val="173D67"/>
            </a:solidFill>
            <a:prstDash val="solid"/>
          </a:ln>
        </p:spPr>
      </p:sp>
      <p:sp>
        <p:nvSpPr>
          <p:cNvPr id="16" name="vector-1039">
            <a:extLst>
              <a:ext uri="{FF2B5EF4-FFF2-40B4-BE49-F238E27FC236}">
                <ns2:creationId id="{305F648B-AB2E-4DE4-B223-F4EBAE2696A7}"/>
              </a:ext>
            </a:extLst>
          </p:cNvPr>
          <p:cNvSpPr>
            <a:spLocks noGrp="1"/>
          </p:cNvSpPr>
          <p:nvPr/>
        </p:nvSpPr>
        <p:spPr>
          <a:xfrm>
            <a:off x="10668000" y="495300"/>
            <a:ext cx="638175" cy="638175"/>
          </a:xfrm>
          <a:custGeom>
            <a:pathLst>
              <a:path w="952500" h="952500">
                <a:moveTo>
                  <a:pt x="428625" y="114300"/>
                </a:moveTo>
                <a:lnTo>
                  <a:pt x="657225" y="790575"/>
                </a:lnTo>
              </a:path>
            </a:pathLst>
          </a:custGeom>
          <a:noFill/>
          <a:ln w="21273">
            <a:solidFill>
              <a:srgbClr val="173D67"/>
            </a:solidFill>
            <a:prstDash val="solid"/>
          </a:ln>
        </p:spPr>
      </p:sp>
      <p:sp>
        <p:nvSpPr>
          <p:cNvPr id="17" name="icon-network-1040">
            <a:extLst>
              <a:ext uri="{FF2B5EF4-FFF2-40B4-BE49-F238E27FC236}">
                <ns2:creationId id="{2B037542-39E9-461C-8EBA-E9BE14091390}"/>
              </a:ext>
            </a:extLst>
          </p:cNvPr>
          <p:cNvSpPr>
            <a:spLocks noGrp="1"/>
          </p:cNvSpPr>
          <p:nvPr/>
        </p:nvSpPr>
        <p:spPr>
          <a:xfrm>
            <a:off x="10706291" y="686753"/>
            <a:ext cx="89345" cy="89345"/>
          </a:xfrm>
          <a:prstGeom prst="ellipse">
            <a:avLst/>
          </a:prstGeom>
          <a:solidFill>
            <a:srgbClr val="FFFFFF"/>
          </a:solidFill>
          <a:ln w="19943">
            <a:solidFill>
              <a:srgbClr val="173D67"/>
            </a:solidFill>
            <a:prstDash val="solid"/>
          </a:ln>
        </p:spPr>
      </p:sp>
      <p:sp>
        <p:nvSpPr>
          <p:cNvPr id="18" name="icon-network-1041">
            <a:extLst>
              <a:ext uri="{FF2B5EF4-FFF2-40B4-BE49-F238E27FC236}">
                <ns2:creationId id="{46F498EF-4D41-4609-B35F-56F037CAE256}"/>
              </a:ext>
            </a:extLst>
          </p:cNvPr>
          <p:cNvSpPr>
            <a:spLocks noGrp="1"/>
          </p:cNvSpPr>
          <p:nvPr/>
        </p:nvSpPr>
        <p:spPr>
          <a:xfrm>
            <a:off x="10910507" y="527209"/>
            <a:ext cx="89345" cy="89345"/>
          </a:xfrm>
          <a:prstGeom prst="ellipse">
            <a:avLst/>
          </a:prstGeom>
          <a:solidFill>
            <a:srgbClr val="FFFFFF"/>
          </a:solidFill>
          <a:ln w="19943">
            <a:solidFill>
              <a:srgbClr val="173D67"/>
            </a:solidFill>
            <a:prstDash val="solid"/>
          </a:ln>
        </p:spPr>
      </p:sp>
      <p:sp>
        <p:nvSpPr>
          <p:cNvPr id="19" name="icon-network-1042">
            <a:extLst>
              <a:ext uri="{FF2B5EF4-FFF2-40B4-BE49-F238E27FC236}">
                <ns2:creationId id="{D9BB65F7-D9DF-491B-949A-5D5D7A5F0E73}"/>
              </a:ext>
            </a:extLst>
          </p:cNvPr>
          <p:cNvSpPr>
            <a:spLocks noGrp="1"/>
          </p:cNvSpPr>
          <p:nvPr/>
        </p:nvSpPr>
        <p:spPr>
          <a:xfrm>
            <a:off x="11159395" y="642080"/>
            <a:ext cx="89345" cy="89345"/>
          </a:xfrm>
          <a:prstGeom prst="ellipse">
            <a:avLst/>
          </a:prstGeom>
          <a:solidFill>
            <a:srgbClr val="FFFFFF"/>
          </a:solidFill>
          <a:ln w="19943">
            <a:solidFill>
              <a:srgbClr val="173D67"/>
            </a:solidFill>
            <a:prstDash val="solid"/>
          </a:ln>
        </p:spPr>
      </p:sp>
      <p:sp>
        <p:nvSpPr>
          <p:cNvPr id="20" name="icon-network-1043">
            <a:extLst>
              <a:ext uri="{FF2B5EF4-FFF2-40B4-BE49-F238E27FC236}">
                <ns2:creationId id="{72B4FE93-B519-42B8-8FF0-3CCC18638EB3}"/>
              </a:ext>
            </a:extLst>
          </p:cNvPr>
          <p:cNvSpPr>
            <a:spLocks noGrp="1"/>
          </p:cNvSpPr>
          <p:nvPr/>
        </p:nvSpPr>
        <p:spPr>
          <a:xfrm>
            <a:off x="11063669" y="980313"/>
            <a:ext cx="89345" cy="89345"/>
          </a:xfrm>
          <a:prstGeom prst="ellipse">
            <a:avLst/>
          </a:prstGeom>
          <a:solidFill>
            <a:srgbClr val="FFFFFF"/>
          </a:solidFill>
          <a:ln w="19943">
            <a:solidFill>
              <a:srgbClr val="173D67"/>
            </a:solidFill>
            <a:prstDash val="solid"/>
          </a:ln>
        </p:spPr>
      </p:sp>
      <p:sp>
        <p:nvSpPr>
          <p:cNvPr id="21" name="icon-network-1044">
            <a:extLst>
              <a:ext uri="{FF2B5EF4-FFF2-40B4-BE49-F238E27FC236}">
                <ns2:creationId id="{DC373796-B381-46CD-A478-35483FB497E0}"/>
              </a:ext>
            </a:extLst>
          </p:cNvPr>
          <p:cNvSpPr>
            <a:spLocks noGrp="1"/>
          </p:cNvSpPr>
          <p:nvPr/>
        </p:nvSpPr>
        <p:spPr>
          <a:xfrm>
            <a:off x="10776490" y="973931"/>
            <a:ext cx="89345" cy="89345"/>
          </a:xfrm>
          <a:prstGeom prst="ellipse">
            <a:avLst/>
          </a:prstGeom>
          <a:solidFill>
            <a:srgbClr val="FFFFFF"/>
          </a:solidFill>
          <a:ln w="19943">
            <a:solidFill>
              <a:srgbClr val="173D67"/>
            </a:solidFill>
            <a:prstDash val="solid"/>
          </a:ln>
        </p:spPr>
      </p:sp>
      <p:sp>
        <p:nvSpPr>
          <p:cNvPr id="22" name="vector-1045">
            <a:extLst>
              <a:ext uri="{FF2B5EF4-FFF2-40B4-BE49-F238E27FC236}">
                <ns2:creationId id="{4274ABE2-BEA4-48A6-8DE4-3D132964B052}"/>
              </a:ext>
            </a:extLst>
          </p:cNvPr>
          <p:cNvSpPr>
            <a:spLocks noGrp="1"/>
          </p:cNvSpPr>
          <p:nvPr/>
        </p:nvSpPr>
        <p:spPr>
          <a:xfrm>
            <a:off x="6762750" y="3590925"/>
            <a:ext cx="638175" cy="638175"/>
          </a:xfrm>
          <a:custGeom>
            <a:pathLst>
              <a:path w="952500" h="952500">
                <a:moveTo>
                  <a:pt x="342900" y="38100"/>
                </a:moveTo>
                <a:lnTo>
                  <a:pt x="609600" y="38100"/>
                </a:lnTo>
                <a:lnTo>
                  <a:pt x="609600" y="400050"/>
                </a:lnTo>
                <a:lnTo>
                  <a:pt x="838200" y="828675"/>
                </a:lnTo>
                <a:lnTo>
                  <a:pt x="752475" y="904875"/>
                </a:lnTo>
                <a:lnTo>
                  <a:pt x="200025" y="904875"/>
                </a:lnTo>
                <a:lnTo>
                  <a:pt x="114300" y="828675"/>
                </a:lnTo>
                <a:lnTo>
                  <a:pt x="342900" y="400050"/>
                </a:lnTo>
                <a:close/>
              </a:path>
            </a:pathLst>
          </a:custGeom>
          <a:solidFill>
            <a:srgbClr val="EEF3F8"/>
          </a:solidFill>
          <a:ln w="19050">
            <a:solidFill>
              <a:srgbClr val="173D67"/>
            </a:solidFill>
            <a:prstDash val="solid"/>
          </a:ln>
        </p:spPr>
      </p:sp>
      <p:sp>
        <p:nvSpPr>
          <p:cNvPr id="23" name="vector-1046">
            <a:extLst>
              <a:ext uri="{FF2B5EF4-FFF2-40B4-BE49-F238E27FC236}">
                <ns2:creationId id="{0D3B369B-1925-4006-A5A4-345647B347E0}"/>
              </a:ext>
            </a:extLst>
          </p:cNvPr>
          <p:cNvSpPr>
            <a:spLocks noGrp="1"/>
          </p:cNvSpPr>
          <p:nvPr/>
        </p:nvSpPr>
        <p:spPr>
          <a:xfrm>
            <a:off x="6762750" y="3590925"/>
            <a:ext cx="638175" cy="638175"/>
          </a:xfrm>
          <a:custGeom>
            <a:pathLst>
              <a:path w="952500" h="952500">
                <a:moveTo>
                  <a:pt x="247650" y="647700"/>
                </a:moveTo>
                <a:lnTo>
                  <a:pt x="714375" y="647700"/>
                </a:lnTo>
              </a:path>
            </a:pathLst>
          </a:custGeom>
          <a:noFill/>
          <a:ln w="21273">
            <a:solidFill>
              <a:srgbClr val="173D67"/>
            </a:solidFill>
            <a:prstDash val="solid"/>
          </a:ln>
        </p:spPr>
      </p:sp>
      <p:sp>
        <p:nvSpPr>
          <p:cNvPr id="24" name="vector-1047">
            <a:extLst>
              <a:ext uri="{FF2B5EF4-FFF2-40B4-BE49-F238E27FC236}">
                <ns2:creationId id="{B7295F35-6DD2-45D3-A5E0-66327A403B54}"/>
              </a:ext>
            </a:extLst>
          </p:cNvPr>
          <p:cNvSpPr>
            <a:spLocks noGrp="1"/>
          </p:cNvSpPr>
          <p:nvPr/>
        </p:nvSpPr>
        <p:spPr>
          <a:xfrm>
            <a:off x="10763250" y="3524250"/>
            <a:ext cx="638175" cy="638175"/>
          </a:xfrm>
          <a:custGeom>
            <a:pathLst>
              <a:path w="952500" h="952500">
                <a:moveTo>
                  <a:pt x="114300" y="76200"/>
                </a:moveTo>
                <a:lnTo>
                  <a:pt x="114300" y="828675"/>
                </a:lnTo>
              </a:path>
            </a:pathLst>
          </a:custGeom>
          <a:noFill/>
          <a:ln w="21273">
            <a:solidFill>
              <a:srgbClr val="173D67"/>
            </a:solidFill>
            <a:prstDash val="solid"/>
          </a:ln>
        </p:spPr>
      </p:sp>
      <p:sp>
        <p:nvSpPr>
          <p:cNvPr id="25" name="vector-1048">
            <a:extLst>
              <a:ext uri="{FF2B5EF4-FFF2-40B4-BE49-F238E27FC236}">
                <ns2:creationId id="{008B93AD-D0B1-43F1-B0B5-D6C0D10E7B26}"/>
              </a:ext>
            </a:extLst>
          </p:cNvPr>
          <p:cNvSpPr>
            <a:spLocks noGrp="1"/>
          </p:cNvSpPr>
          <p:nvPr/>
        </p:nvSpPr>
        <p:spPr>
          <a:xfrm>
            <a:off x="10763250" y="3524250"/>
            <a:ext cx="638175" cy="638175"/>
          </a:xfrm>
          <a:custGeom>
            <a:pathLst>
              <a:path w="952500" h="952500">
                <a:moveTo>
                  <a:pt x="114300" y="828675"/>
                </a:moveTo>
                <a:lnTo>
                  <a:pt x="885825" y="828675"/>
                </a:lnTo>
              </a:path>
            </a:pathLst>
          </a:custGeom>
          <a:noFill/>
          <a:ln w="21273">
            <a:solidFill>
              <a:srgbClr val="173D67"/>
            </a:solidFill>
            <a:prstDash val="solid"/>
          </a:ln>
        </p:spPr>
      </p:sp>
      <p:sp>
        <p:nvSpPr>
          <p:cNvPr id="26" name="icon-chart-1049">
            <a:extLst>
              <a:ext uri="{FF2B5EF4-FFF2-40B4-BE49-F238E27FC236}">
                <ns2:creationId id="{F63B9922-8319-482C-B6CA-9177B1090CC8}"/>
              </a:ext>
            </a:extLst>
          </p:cNvPr>
          <p:cNvSpPr>
            <a:spLocks noGrp="1"/>
          </p:cNvSpPr>
          <p:nvPr/>
        </p:nvSpPr>
        <p:spPr>
          <a:xfrm>
            <a:off x="10922794" y="3868865"/>
            <a:ext cx="82963" cy="210598"/>
          </a:xfrm>
          <a:prstGeom prst="rect">
            <a:avLst/>
          </a:prstGeom>
          <a:solidFill>
            <a:srgbClr val="173D67"/>
          </a:solidFill>
          <a:ln w="19943">
            <a:solidFill>
              <a:srgbClr val="173D67"/>
            </a:solidFill>
            <a:prstDash val="solid"/>
          </a:ln>
        </p:spPr>
      </p:sp>
      <p:sp>
        <p:nvSpPr>
          <p:cNvPr id="27" name="icon-chart-1050">
            <a:extLst>
              <a:ext uri="{FF2B5EF4-FFF2-40B4-BE49-F238E27FC236}">
                <ns2:creationId id="{D0778A82-AFE8-4CFD-8A9B-922F60359E24}"/>
              </a:ext>
            </a:extLst>
          </p:cNvPr>
          <p:cNvSpPr>
            <a:spLocks noGrp="1"/>
          </p:cNvSpPr>
          <p:nvPr/>
        </p:nvSpPr>
        <p:spPr>
          <a:xfrm>
            <a:off x="11063192" y="3753993"/>
            <a:ext cx="82963" cy="325469"/>
          </a:xfrm>
          <a:prstGeom prst="rect">
            <a:avLst/>
          </a:prstGeom>
          <a:solidFill>
            <a:srgbClr val="5D7795"/>
          </a:solidFill>
          <a:ln w="19943">
            <a:solidFill>
              <a:srgbClr val="173D67"/>
            </a:solidFill>
            <a:prstDash val="solid"/>
          </a:ln>
        </p:spPr>
      </p:sp>
      <p:sp>
        <p:nvSpPr>
          <p:cNvPr id="28" name="icon-chart-1051">
            <a:extLst>
              <a:ext uri="{FF2B5EF4-FFF2-40B4-BE49-F238E27FC236}">
                <ns2:creationId id="{A3A9F975-EF8F-432B-A1B6-01FC3BE4E50E}"/>
              </a:ext>
            </a:extLst>
          </p:cNvPr>
          <p:cNvSpPr>
            <a:spLocks noGrp="1"/>
          </p:cNvSpPr>
          <p:nvPr/>
        </p:nvSpPr>
        <p:spPr>
          <a:xfrm>
            <a:off x="11203591" y="3626358"/>
            <a:ext cx="82963" cy="453104"/>
          </a:xfrm>
          <a:prstGeom prst="rect">
            <a:avLst/>
          </a:prstGeom>
          <a:solidFill>
            <a:srgbClr val="173D67"/>
          </a:solidFill>
          <a:ln w="19943">
            <a:solidFill>
              <a:srgbClr val="173D67"/>
            </a:solidFill>
            <a:prstDash val="solid"/>
          </a:ln>
        </p:spPr>
      </p:sp>
      <p:sp>
        <p:nvSpPr>
          <p:cNvPr id="29" name="line-1052">
            <a:extLst>
              <a:ext uri="{FF2B5EF4-FFF2-40B4-BE49-F238E27FC236}">
                <ns2:creationId id="{C916AB14-3151-4998-9A22-08D6D800BBD5}"/>
              </a:ext>
            </a:extLst>
          </p:cNvPr>
          <p:cNvSpPr>
            <a:spLocks noGrp="1"/>
          </p:cNvSpPr>
          <p:nvPr/>
        </p:nvSpPr>
        <p:spPr>
          <a:xfrm>
            <a:off x="0" y="5372100"/>
            <a:ext cx="12192000" cy="95"/>
          </a:xfrm>
          <a:prstGeom prst="line">
            <a:avLst/>
          </a:prstGeom>
          <a:noFill/>
          <a:ln w="19050">
            <a:solidFill>
              <a:srgbClr val="173D67"/>
            </a:solidFill>
            <a:prstDash val="solid"/>
          </a:ln>
        </p:spPr>
      </p:sp>
      <p:sp>
        <p:nvSpPr>
          <p:cNvPr id="30" name="icon-person-1053">
            <a:extLst>
              <a:ext uri="{FF2B5EF4-FFF2-40B4-BE49-F238E27FC236}">
                <ns2:creationId id="{92625B89-B190-48BA-B604-C2162296F65C}"/>
              </a:ext>
            </a:extLst>
          </p:cNvPr>
          <p:cNvSpPr>
            <a:spLocks noGrp="1"/>
          </p:cNvSpPr>
          <p:nvPr/>
        </p:nvSpPr>
        <p:spPr>
          <a:xfrm>
            <a:off x="465296" y="5875592"/>
            <a:ext cx="88583" cy="88583"/>
          </a:xfrm>
          <a:prstGeom prst="ellipse">
            <a:avLst/>
          </a:prstGeom>
          <a:noFill/>
          <a:ln w="12383">
            <a:solidFill>
              <a:srgbClr val="173D67"/>
            </a:solidFill>
            <a:prstDash val="solid"/>
          </a:ln>
        </p:spPr>
      </p:sp>
      <p:sp>
        <p:nvSpPr>
          <p:cNvPr id="31" name="icon-person-1054">
            <a:extLst>
              <a:ext uri="{FF2B5EF4-FFF2-40B4-BE49-F238E27FC236}">
                <ns2:creationId id="{2F70FE3B-E1D7-4054-90A0-E497DF759AEB}"/>
              </a:ext>
            </a:extLst>
          </p:cNvPr>
          <p:cNvSpPr>
            <a:spLocks noGrp="1"/>
          </p:cNvSpPr>
          <p:nvPr/>
        </p:nvSpPr>
        <p:spPr>
          <a:xfrm>
            <a:off x="412147" y="5984843"/>
            <a:ext cx="191929" cy="135827"/>
          </a:xfrm>
          <a:prstGeom prst="roundRect">
            <a:avLst>
              <a:gd name="adj" fmla="val 50000"/>
            </a:avLst>
          </a:prstGeom>
          <a:noFill/>
          <a:ln w="12383">
            <a:solidFill>
              <a:srgbClr val="173D67"/>
            </a:solidFill>
            <a:prstDash val="solid"/>
          </a:ln>
        </p:spPr>
      </p:sp>
      <p:sp>
        <p:nvSpPr>
          <p:cNvPr id="32" name="text-1055">
            <a:extLst>
              <a:ext uri="{FF2B5EF4-FFF2-40B4-BE49-F238E27FC236}">
                <ns2:creationId id="{2F5F3C28-5451-462C-B48E-ACE750BAC77E}"/>
              </a:ext>
            </a:extLst>
          </p:cNvPr>
          <p:cNvSpPr>
            <a:spLocks noGrp="1"/>
          </p:cNvSpPr>
          <p:nvPr/>
        </p:nvSpPr>
        <p:spPr>
          <a:xfrm>
            <a:off x="781050" y="5829300"/>
            <a:ext cx="31432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汇报人：待填写</a:t>
            </a:r>
            <a:endParaRPr/>
          </a:p>
        </p:txBody>
      </p:sp>
      <p:sp>
        <p:nvSpPr>
          <p:cNvPr id="33" name="icon-clipboard-1056">
            <a:extLst>
              <a:ext uri="{FF2B5EF4-FFF2-40B4-BE49-F238E27FC236}">
                <ns2:creationId id="{DD9215D2-35D2-4D02-9FA4-CD1E74BDEE98}"/>
              </a:ext>
            </a:extLst>
          </p:cNvPr>
          <p:cNvSpPr>
            <a:spLocks noGrp="1"/>
          </p:cNvSpPr>
          <p:nvPr/>
        </p:nvSpPr>
        <p:spPr>
          <a:xfrm>
            <a:off x="4501134" y="5782056"/>
            <a:ext cx="260033" cy="312039"/>
          </a:xfrm>
          <a:prstGeom prst="roundRect">
            <a:avLst>
              <a:gd name="adj" fmla="val 29304"/>
            </a:avLst>
          </a:prstGeom>
          <a:noFill/>
          <a:ln w="12502">
            <a:solidFill>
              <a:srgbClr val="173D67"/>
            </a:solidFill>
            <a:prstDash val="solid"/>
          </a:ln>
        </p:spPr>
      </p:sp>
      <p:sp>
        <p:nvSpPr>
          <p:cNvPr id="34" name="icon-clipboard-1057">
            <a:extLst>
              <a:ext uri="{FF2B5EF4-FFF2-40B4-BE49-F238E27FC236}">
                <ns2:creationId id="{BD828FB0-C018-47D2-AA3C-A90D4522B0D4}"/>
              </a:ext>
            </a:extLst>
          </p:cNvPr>
          <p:cNvSpPr>
            <a:spLocks noGrp="1"/>
          </p:cNvSpPr>
          <p:nvPr/>
        </p:nvSpPr>
        <p:spPr>
          <a:xfrm>
            <a:off x="4569143" y="5754053"/>
            <a:ext cx="120015" cy="600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502">
            <a:solidFill>
              <a:srgbClr val="173D67"/>
            </a:solidFill>
            <a:prstDash val="solid"/>
          </a:ln>
        </p:spPr>
      </p:sp>
      <p:sp>
        <p:nvSpPr>
          <p:cNvPr id="35" name="vector-1058">
            <a:extLst>
              <a:ext uri="{FF2B5EF4-FFF2-40B4-BE49-F238E27FC236}">
                <ns2:creationId id="{B9E0CBB6-31E1-4772-979B-C1F7146AF936}"/>
              </a:ext>
            </a:extLst>
          </p:cNvPr>
          <p:cNvSpPr>
            <a:spLocks noGrp="1"/>
          </p:cNvSpPr>
          <p:nvPr/>
        </p:nvSpPr>
        <p:spPr>
          <a:xfrm>
            <a:off x="4429125" y="5734050"/>
            <a:ext cx="400050" cy="400050"/>
          </a:xfrm>
          <a:custGeom>
            <a:pathLst>
              <a:path w="952500" h="952500">
                <a:moveTo>
                  <a:pt x="266700" y="342900"/>
                </a:moveTo>
                <a:lnTo>
                  <a:pt x="342900" y="40005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36" name="vector-1059">
            <a:extLst>
              <a:ext uri="{FF2B5EF4-FFF2-40B4-BE49-F238E27FC236}">
                <ns2:creationId id="{11F633F6-15A8-4DA9-9C5A-0DA38894C877}"/>
              </a:ext>
            </a:extLst>
          </p:cNvPr>
          <p:cNvSpPr>
            <a:spLocks noGrp="1"/>
          </p:cNvSpPr>
          <p:nvPr/>
        </p:nvSpPr>
        <p:spPr>
          <a:xfrm>
            <a:off x="4429125" y="5734050"/>
            <a:ext cx="400050" cy="400050"/>
          </a:xfrm>
          <a:custGeom>
            <a:pathLst>
              <a:path w="952500" h="952500">
                <a:moveTo>
                  <a:pt x="342900" y="400050"/>
                </a:moveTo>
                <a:lnTo>
                  <a:pt x="428625" y="276225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37" name="vector-1060">
            <a:extLst>
              <a:ext uri="{FF2B5EF4-FFF2-40B4-BE49-F238E27FC236}">
                <ns2:creationId id="{79831547-281B-4648-890A-2C4080EA1DAD}"/>
              </a:ext>
            </a:extLst>
          </p:cNvPr>
          <p:cNvSpPr>
            <a:spLocks noGrp="1"/>
          </p:cNvSpPr>
          <p:nvPr/>
        </p:nvSpPr>
        <p:spPr>
          <a:xfrm>
            <a:off x="4429125" y="5734050"/>
            <a:ext cx="400050" cy="400050"/>
          </a:xfrm>
          <a:custGeom>
            <a:pathLst>
              <a:path w="952500" h="952500">
                <a:moveTo>
                  <a:pt x="495300" y="352425"/>
                </a:moveTo>
                <a:lnTo>
                  <a:pt x="695325" y="352425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38" name="vector-1061">
            <a:extLst>
              <a:ext uri="{FF2B5EF4-FFF2-40B4-BE49-F238E27FC236}">
                <ns2:creationId id="{0AD41106-1B0F-445D-8B21-6925B61DABC2}"/>
              </a:ext>
            </a:extLst>
          </p:cNvPr>
          <p:cNvSpPr>
            <a:spLocks noGrp="1"/>
          </p:cNvSpPr>
          <p:nvPr/>
        </p:nvSpPr>
        <p:spPr>
          <a:xfrm>
            <a:off x="4429125" y="5734050"/>
            <a:ext cx="400050" cy="400050"/>
          </a:xfrm>
          <a:custGeom>
            <a:pathLst>
              <a:path w="952500" h="952500">
                <a:moveTo>
                  <a:pt x="266700" y="523875"/>
                </a:moveTo>
                <a:lnTo>
                  <a:pt x="342900" y="581025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39" name="vector-1062">
            <a:extLst>
              <a:ext uri="{FF2B5EF4-FFF2-40B4-BE49-F238E27FC236}">
                <ns2:creationId id="{7155229C-5079-45A6-B185-092B37F6C65C}"/>
              </a:ext>
            </a:extLst>
          </p:cNvPr>
          <p:cNvSpPr>
            <a:spLocks noGrp="1"/>
          </p:cNvSpPr>
          <p:nvPr/>
        </p:nvSpPr>
        <p:spPr>
          <a:xfrm>
            <a:off x="4429125" y="5734050"/>
            <a:ext cx="400050" cy="400050"/>
          </a:xfrm>
          <a:custGeom>
            <a:pathLst>
              <a:path w="952500" h="952500">
                <a:moveTo>
                  <a:pt x="342900" y="581025"/>
                </a:moveTo>
                <a:lnTo>
                  <a:pt x="428625" y="45720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40" name="vector-1063">
            <a:extLst>
              <a:ext uri="{FF2B5EF4-FFF2-40B4-BE49-F238E27FC236}">
                <ns2:creationId id="{C04D408E-B21F-492B-B469-89698AB79BAF}"/>
              </a:ext>
            </a:extLst>
          </p:cNvPr>
          <p:cNvSpPr>
            <a:spLocks noGrp="1"/>
          </p:cNvSpPr>
          <p:nvPr/>
        </p:nvSpPr>
        <p:spPr>
          <a:xfrm>
            <a:off x="4429125" y="5734050"/>
            <a:ext cx="400050" cy="400050"/>
          </a:xfrm>
          <a:custGeom>
            <a:pathLst>
              <a:path w="952500" h="952500">
                <a:moveTo>
                  <a:pt x="495300" y="533400"/>
                </a:moveTo>
                <a:lnTo>
                  <a:pt x="695325" y="53340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41" name="vector-1064">
            <a:extLst>
              <a:ext uri="{FF2B5EF4-FFF2-40B4-BE49-F238E27FC236}">
                <ns2:creationId id="{CD69603F-5B16-4918-9F5A-F8CE4A248F0B}"/>
              </a:ext>
            </a:extLst>
          </p:cNvPr>
          <p:cNvSpPr>
            <a:spLocks noGrp="1"/>
          </p:cNvSpPr>
          <p:nvPr/>
        </p:nvSpPr>
        <p:spPr>
          <a:xfrm>
            <a:off x="4429125" y="5734050"/>
            <a:ext cx="400050" cy="400050"/>
          </a:xfrm>
          <a:custGeom>
            <a:pathLst>
              <a:path w="952500" h="952500">
                <a:moveTo>
                  <a:pt x="266700" y="704850"/>
                </a:moveTo>
                <a:lnTo>
                  <a:pt x="342900" y="762000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42" name="vector-1065">
            <a:extLst>
              <a:ext uri="{FF2B5EF4-FFF2-40B4-BE49-F238E27FC236}">
                <ns2:creationId id="{D3471EB6-E8BC-427D-BBC9-9AF580B4F912}"/>
              </a:ext>
            </a:extLst>
          </p:cNvPr>
          <p:cNvSpPr>
            <a:spLocks noGrp="1"/>
          </p:cNvSpPr>
          <p:nvPr/>
        </p:nvSpPr>
        <p:spPr>
          <a:xfrm>
            <a:off x="4429125" y="5734050"/>
            <a:ext cx="400050" cy="400050"/>
          </a:xfrm>
          <a:custGeom>
            <a:pathLst>
              <a:path w="952500" h="952500">
                <a:moveTo>
                  <a:pt x="342900" y="762000"/>
                </a:moveTo>
                <a:lnTo>
                  <a:pt x="428625" y="638175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43" name="vector-1066">
            <a:extLst>
              <a:ext uri="{FF2B5EF4-FFF2-40B4-BE49-F238E27FC236}">
                <ns2:creationId id="{C8737E86-F9B2-4CFC-BE61-4691A6D32CDE}"/>
              </a:ext>
            </a:extLst>
          </p:cNvPr>
          <p:cNvSpPr>
            <a:spLocks noGrp="1"/>
          </p:cNvSpPr>
          <p:nvPr/>
        </p:nvSpPr>
        <p:spPr>
          <a:xfrm>
            <a:off x="4429125" y="5734050"/>
            <a:ext cx="400050" cy="400050"/>
          </a:xfrm>
          <a:custGeom>
            <a:pathLst>
              <a:path w="952500" h="952500">
                <a:moveTo>
                  <a:pt x="495300" y="714375"/>
                </a:moveTo>
                <a:lnTo>
                  <a:pt x="695325" y="714375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44" name="text-1067">
            <a:extLst>
              <a:ext uri="{FF2B5EF4-FFF2-40B4-BE49-F238E27FC236}">
                <ns2:creationId id="{F5EB26CC-8E4D-432E-8AC4-9D16C03DE544}"/>
              </a:ext>
            </a:extLst>
          </p:cNvPr>
          <p:cNvSpPr>
            <a:spLocks noGrp="1"/>
          </p:cNvSpPr>
          <p:nvPr/>
        </p:nvSpPr>
        <p:spPr>
          <a:xfrm>
            <a:off x="4953000" y="5791200"/>
            <a:ext cx="18764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研究设计</a:t>
            </a:r>
            <a:endParaRPr/>
          </a:p>
        </p:txBody>
      </p:sp>
      <p:sp>
        <p:nvSpPr>
          <p:cNvPr id="45" name="icon-search-1068">
            <a:extLst>
              <a:ext uri="{FF2B5EF4-FFF2-40B4-BE49-F238E27FC236}">
                <ns2:creationId id="{9DCC8505-3220-497A-ACE4-63689413C14B}"/>
              </a:ext>
            </a:extLst>
          </p:cNvPr>
          <p:cNvSpPr>
            <a:spLocks noGrp="1"/>
          </p:cNvSpPr>
          <p:nvPr/>
        </p:nvSpPr>
        <p:spPr>
          <a:xfrm>
            <a:off x="7031355" y="5774055"/>
            <a:ext cx="232029" cy="232029"/>
          </a:xfrm>
          <a:prstGeom prst="ellipse">
            <a:avLst/>
          </a:prstGeom>
          <a:noFill/>
          <a:ln w="12502">
            <a:solidFill>
              <a:srgbClr val="173D67"/>
            </a:solidFill>
            <a:prstDash val="solid"/>
          </a:ln>
        </p:spPr>
      </p:sp>
      <p:sp>
        <p:nvSpPr>
          <p:cNvPr id="46" name="vector-1069">
            <a:extLst>
              <a:ext uri="{FF2B5EF4-FFF2-40B4-BE49-F238E27FC236}">
                <ns2:creationId id="{6A00402F-604C-465F-99C6-68D97D0C083D}"/>
              </a:ext>
            </a:extLst>
          </p:cNvPr>
          <p:cNvSpPr>
            <a:spLocks noGrp="1"/>
          </p:cNvSpPr>
          <p:nvPr/>
        </p:nvSpPr>
        <p:spPr>
          <a:xfrm>
            <a:off x="6991350" y="5734050"/>
            <a:ext cx="400050" cy="400050"/>
          </a:xfrm>
          <a:custGeom>
            <a:pathLst>
              <a:path w="952500" h="952500">
                <a:moveTo>
                  <a:pt x="571500" y="571500"/>
                </a:moveTo>
                <a:lnTo>
                  <a:pt x="866775" y="866775"/>
                </a:lnTo>
              </a:path>
            </a:pathLst>
          </a:custGeom>
          <a:noFill/>
          <a:ln w="13335">
            <a:solidFill>
              <a:srgbClr val="173D67"/>
            </a:solidFill>
            <a:prstDash val="solid"/>
          </a:ln>
        </p:spPr>
      </p:sp>
      <p:sp>
        <p:nvSpPr>
          <p:cNvPr id="47" name="text-1070">
            <a:extLst>
              <a:ext uri="{FF2B5EF4-FFF2-40B4-BE49-F238E27FC236}">
                <ns2:creationId id="{EE58B76C-DD9F-4C00-9273-84E4F39B858A}"/>
              </a:ext>
            </a:extLst>
          </p:cNvPr>
          <p:cNvSpPr>
            <a:spLocks noGrp="1"/>
          </p:cNvSpPr>
          <p:nvPr/>
        </p:nvSpPr>
        <p:spPr>
          <a:xfrm>
            <a:off x="7515225" y="5791200"/>
            <a:ext cx="18764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证据边界</a:t>
            </a:r>
            <a:endParaRPr/>
          </a:p>
        </p:txBody>
      </p:sp>
      <p:sp>
        <p:nvSpPr>
          <p:cNvPr id="48" name="icon-compass-1071">
            <a:extLst>
              <a:ext uri="{FF2B5EF4-FFF2-40B4-BE49-F238E27FC236}">
                <ns2:creationId id="{F6EDAD83-45E2-420B-A60E-53D6935B2167}"/>
              </a:ext>
            </a:extLst>
          </p:cNvPr>
          <p:cNvSpPr>
            <a:spLocks noGrp="1"/>
          </p:cNvSpPr>
          <p:nvPr/>
        </p:nvSpPr>
        <p:spPr>
          <a:xfrm>
            <a:off x="9577578" y="5758053"/>
            <a:ext cx="352044" cy="352044"/>
          </a:xfrm>
          <a:prstGeom prst="ellipse">
            <a:avLst/>
          </a:prstGeom>
          <a:noFill/>
          <a:ln w="12502">
            <a:solidFill>
              <a:srgbClr val="173D67"/>
            </a:solidFill>
            <a:prstDash val="solid"/>
          </a:ln>
        </p:spPr>
      </p:sp>
      <p:sp>
        <p:nvSpPr>
          <p:cNvPr id="49" name="vector-1072">
            <a:extLst>
              <a:ext uri="{FF2B5EF4-FFF2-40B4-BE49-F238E27FC236}">
                <ns2:creationId id="{5197B925-E643-4B61-9680-53CF7DC39BC4}"/>
              </a:ext>
            </a:extLst>
          </p:cNvPr>
          <p:cNvSpPr>
            <a:spLocks noGrp="1"/>
          </p:cNvSpPr>
          <p:nvPr/>
        </p:nvSpPr>
        <p:spPr>
          <a:xfrm>
            <a:off x="9553575" y="5734050"/>
            <a:ext cx="400050" cy="400050"/>
          </a:xfrm>
          <a:custGeom>
            <a:pathLst>
              <a:path w="952500" h="952500">
                <a:moveTo>
                  <a:pt x="476250" y="142875"/>
                </a:moveTo>
                <a:lnTo>
                  <a:pt x="600075" y="581025"/>
                </a:lnTo>
                <a:lnTo>
                  <a:pt x="352425" y="581025"/>
                </a:lnTo>
                <a:close/>
              </a:path>
            </a:pathLst>
          </a:custGeom>
          <a:solidFill>
            <a:srgbClr val="173D67"/>
          </a:solidFill>
          <a:ln w="14288">
            <a:noFill/>
            <a:prstDash val="solid"/>
          </a:ln>
        </p:spPr>
      </p:sp>
      <p:sp>
        <p:nvSpPr>
          <p:cNvPr id="50" name="vector-1073">
            <a:extLst>
              <a:ext uri="{FF2B5EF4-FFF2-40B4-BE49-F238E27FC236}">
                <ns2:creationId id="{E353FA93-8D3D-4748-B80D-B03F6A91A68B}"/>
              </a:ext>
            </a:extLst>
          </p:cNvPr>
          <p:cNvSpPr>
            <a:spLocks noGrp="1"/>
          </p:cNvSpPr>
          <p:nvPr/>
        </p:nvSpPr>
        <p:spPr>
          <a:xfrm>
            <a:off x="9553575" y="5734050"/>
            <a:ext cx="400050" cy="400050"/>
          </a:xfrm>
          <a:custGeom>
            <a:pathLst>
              <a:path w="952500" h="952500">
                <a:moveTo>
                  <a:pt x="476250" y="809625"/>
                </a:moveTo>
                <a:lnTo>
                  <a:pt x="352425" y="581025"/>
                </a:lnTo>
                <a:lnTo>
                  <a:pt x="600075" y="581025"/>
                </a:lnTo>
                <a:close/>
              </a:path>
            </a:pathLst>
          </a:custGeom>
          <a:solidFill>
            <a:srgbClr val="AF3D3D"/>
          </a:solidFill>
          <a:ln w="14288">
            <a:noFill/>
            <a:prstDash val="solid"/>
          </a:ln>
        </p:spPr>
      </p:sp>
      <p:sp>
        <p:nvSpPr>
          <p:cNvPr id="51" name="text-1074">
            <a:extLst>
              <a:ext uri="{FF2B5EF4-FFF2-40B4-BE49-F238E27FC236}">
                <ns2:creationId id="{B71D1E75-297B-4368-8ED9-545F621B469C}"/>
              </a:ext>
            </a:extLst>
          </p:cNvPr>
          <p:cNvSpPr>
            <a:spLocks noGrp="1"/>
          </p:cNvSpPr>
          <p:nvPr/>
        </p:nvSpPr>
        <p:spPr>
          <a:xfrm>
            <a:off x="10077450" y="5791200"/>
            <a:ext cx="18764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73D67"/>
                </a:solidFill>
                <a:latin typeface="Noto Sans CJK SC"/>
                <a:ea typeface="Noto Sans CJK SC"/>
                <a:cs typeface="Noto Sans CJK SC"/>
              </a:rPr>
              <a:t>下一步工作</a:t>
            </a:r>
            <a:endParaRPr/>
          </a:p>
        </p:txBody>
      </p:sp>
      <p:sp>
        <p:nvSpPr>
          <p:cNvPr id="52" name="text-1075">
            <a:extLst>
              <a:ext uri="{FF2B5EF4-FFF2-40B4-BE49-F238E27FC236}">
                <ns2:creationId id="{374F29D9-52C4-4636-AF0E-907AA99230BF}"/>
              </a:ext>
            </a:extLst>
          </p:cNvPr>
          <p:cNvSpPr>
            <a:spLocks noGrp="1"/>
          </p:cNvSpPr>
          <p:nvPr/>
        </p:nvSpPr>
        <p:spPr>
          <a:xfrm>
            <a:off x="228600" y="6619875"/>
            <a:ext cx="105727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rPr>
              <a:t>科研模板 · 内容与数据均为示意</a:t>
            </a:r>
            <a:endParaRPr/>
          </a:p>
        </p:txBody>
      </p:sp>
      <p:sp>
        <p:nvSpPr>
          <p:cNvPr id="53" name="text-1076">
            <a:extLst>
              <a:ext uri="{FF2B5EF4-FFF2-40B4-BE49-F238E27FC236}">
                <ns2:creationId id="{498A1029-233C-4F0B-9D87-3E16AAB23A87}"/>
              </a:ext>
            </a:extLst>
          </p:cNvPr>
          <p:cNvSpPr>
            <a:spLocks noGrp="1"/>
          </p:cNvSpPr>
          <p:nvPr/>
        </p:nvSpPr>
        <p:spPr>
          <a:xfrm>
            <a:off x="11525250" y="6591300"/>
            <a:ext cx="4381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718EAA"/>
                </a:solidFill>
                <a:latin typeface="Noto Sans CJK SC"/>
                <a:ea typeface="Noto Sans CJK SC"/>
                <a:cs typeface="Noto Sans CJK SC"/>
              </a:rPr>
              <a:t>08</a:t>
            </a:r>
            <a:endParaRPr/>
          </a:p>
        </p:txBody>
      </p:sp>
    </p:spTree>
    <p:extLst>
      <p:ext uri="{BB962C8B-B14F-4D97-AF65-F5344CB8AC3E}">
        <ns4:creationId val="7114631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Noto Sans CJK SC"/>
        <a:ea typeface=""/>
        <a:cs typeface=""/>
      </a:majorFont>
      <a:minorFont>
        <a:latin typeface="Noto Sans CJK S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ns0:Properties xmlns:ns0="http://schemas.openxmlformats.org/officeDocument/2006/extended-properties">
  <ns0:Application>Walnut Exporter</ns0:Application>
  <ns0:PresentationFormat>Converted Presentation</ns0:PresentationFormat>
  <ns0:Slides>8</ns0:Slides>
  <ns0:Notes>0</ns0:Notes>
  <ns0:HiddenSlides>0</ns0:HiddenSlides>
  <ns0:SharedDoc>false</ns0:SharedDoc>
  <ns0:DocSecurity>0</ns0:DocSecurity>
</ns0:Properties>
</file>

<file path=docProps/core.xml><?xml version="1.0" encoding="utf-8"?>
<ns0:coreProperties xmlns:dc="http://purl.org/dc/elements/1.1/" xmlns:dcterms="http://purl.org/dc/terms/" xmlns:ns0="http://schemas.openxmlformats.org/package/2006/metadata/core-properties" xmlns:xsi="http://www.w3.org/2001/XMLSchema-instance">
  <dc:creator>editable-research-ppt contributors</dc:creator>
  <ns0:lastModifiedBy>editable-research-ppt contributors</ns0:lastModifiedBy>
  <dc:title>Presentation</dc:title>
  <dcterms:created xsi:type="dcterms:W3CDTF">2026-10-19T12:24:09.8680000Z</dcterms:created>
  <dcterms:modified xsi:type="dcterms:W3CDTF">2026-10-19T12:24:09.8680000Z</dcterms:modified>
</ns0:coreProperties>
</file>