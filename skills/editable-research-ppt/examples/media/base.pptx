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"/>
          <p:cNvSpPr txBox="1"/>
          <p:nvPr/>
        </p:nvSpPr>
        <p:spPr>
          <a:xfrm>
            <a:off x="304799" y="228599"/>
            <a:ext cx="11582399" cy="2857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75" b="1">
                <a:solidFill>
                  <a:srgbClr val="123C67"/>
                </a:solidFill>
                <a:latin typeface="Noto Sans CJK SC"/>
              </a:defRPr>
            </a:pPr>
            <a:r>
              <a:t>01 · 原生点击动画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304799" y="628649"/>
            <a:ext cx="11582399" cy="571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150" b="1">
                <a:solidFill>
                  <a:srgbClr val="123C67"/>
                </a:solidFill>
                <a:latin typeface="Noto Sans CJK SC"/>
              </a:defRPr>
            </a:pPr>
            <a:r>
              <a:t>用分步呈现组织讲解顺序</a:t>
            </a:r>
          </a:p>
        </p:txBody>
      </p:sp>
      <p:sp>
        <p:nvSpPr>
          <p:cNvPr id="4" name="rule"/>
          <p:cNvSpPr/>
          <p:nvPr/>
        </p:nvSpPr>
        <p:spPr>
          <a:xfrm>
            <a:off x="304799" y="1304924"/>
            <a:ext cx="11582399" cy="19049"/>
          </a:xfrm>
          <a:prstGeom prst="rect">
            <a:avLst/>
          </a:prstGeom>
          <a:solidFill>
            <a:srgbClr val="1D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304799" y="6534149"/>
            <a:ext cx="11582399" cy="2285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75" b="0">
                <a:solidFill>
                  <a:srgbClr val="526C84"/>
                </a:solidFill>
                <a:latin typeface="Noto Sans CJK SC"/>
              </a:defRPr>
            </a:pPr>
            <a:r>
              <a:t>合成教学样板 · 无实测数据 · 仅验证媒体与编辑功能</a:t>
            </a:r>
          </a:p>
        </p:txBody>
      </p:sp>
      <p:sp>
        <p:nvSpPr>
          <p:cNvPr id="6" name="panel0"/>
          <p:cNvSpPr/>
          <p:nvPr/>
        </p:nvSpPr>
        <p:spPr>
          <a:xfrm>
            <a:off x="304799" y="2257424"/>
            <a:ext cx="3619499" cy="2666999"/>
          </a:xfrm>
          <a:prstGeom prst="rect">
            <a:avLst/>
          </a:prstGeom>
          <a:solidFill>
            <a:srgbClr val="ED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ad0"/>
          <p:cNvSpPr txBox="1"/>
          <p:nvPr/>
        </p:nvSpPr>
        <p:spPr>
          <a:xfrm>
            <a:off x="533399" y="2571749"/>
            <a:ext cx="3143249" cy="4762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250" b="1">
                <a:solidFill>
                  <a:srgbClr val="123C67"/>
                </a:solidFill>
                <a:latin typeface="Noto Sans CJK SC"/>
              </a:defRPr>
            </a:pPr>
            <a:r>
              <a:t>观察问题</a:t>
            </a:r>
          </a:p>
        </p:txBody>
      </p:sp>
      <p:sp>
        <p:nvSpPr>
          <p:cNvPr id="8" name="body0"/>
          <p:cNvSpPr txBox="1"/>
          <p:nvPr/>
        </p:nvSpPr>
        <p:spPr>
          <a:xfrm>
            <a:off x="533399" y="3333749"/>
            <a:ext cx="3143249" cy="10477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800" b="0">
                <a:solidFill>
                  <a:srgbClr val="123C67"/>
                </a:solidFill>
                <a:latin typeface="Noto Sans CJK SC"/>
              </a:defRPr>
            </a:pPr>
            <a:r>
              <a:t>先让听众识别研究对象</a:t>
            </a:r>
          </a:p>
          <a:p>
            <a:pPr>
              <a:defRPr sz="1800" b="0">
                <a:solidFill>
                  <a:srgbClr val="123C67"/>
                </a:solidFill>
                <a:latin typeface="Noto Sans CJK SC"/>
              </a:defRPr>
            </a:pPr>
            <a:r>
              <a:t>与需要解释的现象</a:t>
            </a:r>
          </a:p>
        </p:txBody>
      </p:sp>
      <p:sp>
        <p:nvSpPr>
          <p:cNvPr id="9" name="panel1"/>
          <p:cNvSpPr/>
          <p:nvPr/>
        </p:nvSpPr>
        <p:spPr>
          <a:xfrm>
            <a:off x="4286249" y="2257424"/>
            <a:ext cx="3619499" cy="2666999"/>
          </a:xfrm>
          <a:prstGeom prst="rect">
            <a:avLst/>
          </a:prstGeom>
          <a:solidFill>
            <a:srgbClr val="ED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ad1"/>
          <p:cNvSpPr txBox="1"/>
          <p:nvPr/>
        </p:nvSpPr>
        <p:spPr>
          <a:xfrm>
            <a:off x="4514849" y="2571749"/>
            <a:ext cx="3143249" cy="4762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250" b="1">
                <a:solidFill>
                  <a:srgbClr val="123C67"/>
                </a:solidFill>
                <a:latin typeface="Noto Sans CJK SC"/>
              </a:defRPr>
            </a:pPr>
            <a:r>
              <a:t>解释过程</a:t>
            </a:r>
          </a:p>
        </p:txBody>
      </p:sp>
      <p:sp>
        <p:nvSpPr>
          <p:cNvPr id="11" name="body1"/>
          <p:cNvSpPr txBox="1"/>
          <p:nvPr/>
        </p:nvSpPr>
        <p:spPr>
          <a:xfrm>
            <a:off x="4514849" y="3333749"/>
            <a:ext cx="3143249" cy="10477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800" b="0">
                <a:solidFill>
                  <a:srgbClr val="123C67"/>
                </a:solidFill>
                <a:latin typeface="Noto Sans CJK SC"/>
              </a:defRPr>
            </a:pPr>
            <a:r>
              <a:t>再展开关键过程</a:t>
            </a:r>
          </a:p>
          <a:p>
            <a:pPr>
              <a:defRPr sz="1800" b="0">
                <a:solidFill>
                  <a:srgbClr val="123C67"/>
                </a:solidFill>
                <a:latin typeface="Noto Sans CJK SC"/>
              </a:defRPr>
            </a:pPr>
            <a:r>
              <a:t>及其可能影响</a:t>
            </a:r>
          </a:p>
        </p:txBody>
      </p:sp>
      <p:sp>
        <p:nvSpPr>
          <p:cNvPr id="12" name="panel2"/>
          <p:cNvSpPr/>
          <p:nvPr/>
        </p:nvSpPr>
        <p:spPr>
          <a:xfrm>
            <a:off x="8267699" y="2257424"/>
            <a:ext cx="3619499" cy="2666999"/>
          </a:xfrm>
          <a:prstGeom prst="rect">
            <a:avLst/>
          </a:prstGeom>
          <a:solidFill>
            <a:srgbClr val="ED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ad2"/>
          <p:cNvSpPr txBox="1"/>
          <p:nvPr/>
        </p:nvSpPr>
        <p:spPr>
          <a:xfrm>
            <a:off x="8496299" y="2571749"/>
            <a:ext cx="3143249" cy="4762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250" b="1">
                <a:solidFill>
                  <a:srgbClr val="123C67"/>
                </a:solidFill>
                <a:latin typeface="Noto Sans CJK SC"/>
              </a:defRPr>
            </a:pPr>
            <a:r>
              <a:t>回到证据</a:t>
            </a:r>
          </a:p>
        </p:txBody>
      </p:sp>
      <p:sp>
        <p:nvSpPr>
          <p:cNvPr id="14" name="body2"/>
          <p:cNvSpPr txBox="1"/>
          <p:nvPr/>
        </p:nvSpPr>
        <p:spPr>
          <a:xfrm>
            <a:off x="8496299" y="3333749"/>
            <a:ext cx="3143249" cy="10477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800" b="0">
                <a:solidFill>
                  <a:srgbClr val="123C67"/>
                </a:solidFill>
                <a:latin typeface="Noto Sans CJK SC"/>
              </a:defRPr>
            </a:pPr>
            <a:r>
              <a:t>最后说明证据支持范围</a:t>
            </a:r>
          </a:p>
          <a:p>
            <a:pPr>
              <a:defRPr sz="1800" b="0">
                <a:solidFill>
                  <a:srgbClr val="123C67"/>
                </a:solidFill>
                <a:latin typeface="Noto Sans CJK SC"/>
              </a:defRPr>
            </a:pPr>
            <a:r>
              <a:t>和需要继续验证的部分</a:t>
            </a:r>
          </a:p>
        </p:txBody>
      </p:sp>
      <p:sp>
        <p:nvSpPr>
          <p:cNvPr id="15" name="instruction"/>
          <p:cNvSpPr txBox="1"/>
          <p:nvPr/>
        </p:nvSpPr>
        <p:spPr>
          <a:xfrm>
            <a:off x="304799" y="5667374"/>
            <a:ext cx="11582399" cy="5238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800" b="0">
                <a:solidFill>
                  <a:srgbClr val="123C67"/>
                </a:solidFill>
                <a:latin typeface="Noto Sans CJK SC"/>
              </a:defRPr>
            </a:pPr>
            <a:r>
              <a:t>放映后点击三次，依次显示三个部分；文字与形状均可修改。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"/>
          <p:cNvSpPr txBox="1"/>
          <p:nvPr/>
        </p:nvSpPr>
        <p:spPr>
          <a:xfrm>
            <a:off x="304799" y="228599"/>
            <a:ext cx="11582399" cy="2857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75" b="1">
                <a:solidFill>
                  <a:srgbClr val="123C67"/>
                </a:solidFill>
                <a:latin typeface="Noto Sans CJK SC"/>
              </a:defRPr>
            </a:pPr>
            <a:r>
              <a:t>02 · SVG制作 / 视频内嵌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304799" y="628649"/>
            <a:ext cx="11582399" cy="571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150" b="1">
                <a:solidFill>
                  <a:srgbClr val="123C67"/>
                </a:solidFill>
                <a:latin typeface="Noto Sans CJK SC"/>
              </a:defRPr>
            </a:pPr>
            <a:r>
              <a:t>连续运动用于辅助理解抽象概念</a:t>
            </a:r>
          </a:p>
        </p:txBody>
      </p:sp>
      <p:sp>
        <p:nvSpPr>
          <p:cNvPr id="4" name="rule"/>
          <p:cNvSpPr/>
          <p:nvPr/>
        </p:nvSpPr>
        <p:spPr>
          <a:xfrm>
            <a:off x="304799" y="1304924"/>
            <a:ext cx="11582399" cy="19049"/>
          </a:xfrm>
          <a:prstGeom prst="rect">
            <a:avLst/>
          </a:prstGeom>
          <a:solidFill>
            <a:srgbClr val="1D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304799" y="6534149"/>
            <a:ext cx="11582399" cy="2285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75" b="0">
                <a:solidFill>
                  <a:srgbClr val="526C84"/>
                </a:solidFill>
                <a:latin typeface="Noto Sans CJK SC"/>
              </a:defRPr>
            </a:pPr>
            <a:r>
              <a:t>合成教学样板 · 无实测数据 · 仅验证媒体与编辑功能</a:t>
            </a:r>
          </a:p>
        </p:txBody>
      </p:sp>
      <p:sp>
        <p:nvSpPr>
          <p:cNvPr id="6" name="why"/>
          <p:cNvSpPr txBox="1"/>
          <p:nvPr/>
        </p:nvSpPr>
        <p:spPr>
          <a:xfrm>
            <a:off x="8820149" y="1904999"/>
            <a:ext cx="2952749" cy="4762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025" b="1">
                <a:solidFill>
                  <a:srgbClr val="123C67"/>
                </a:solidFill>
                <a:latin typeface="Noto Sans CJK SC"/>
              </a:defRPr>
            </a:pPr>
            <a:r>
              <a:t>先确定要解释的关系</a:t>
            </a:r>
          </a:p>
        </p:txBody>
      </p:sp>
      <p:sp>
        <p:nvSpPr>
          <p:cNvPr id="7" name="explain"/>
          <p:cNvSpPr txBox="1"/>
          <p:nvPr/>
        </p:nvSpPr>
        <p:spPr>
          <a:xfrm>
            <a:off x="8820149" y="2857499"/>
            <a:ext cx="2952749" cy="15239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800" b="0">
                <a:solidFill>
                  <a:srgbClr val="123C67"/>
                </a:solidFill>
                <a:latin typeface="Noto Sans CJK SC"/>
              </a:defRPr>
            </a:pPr>
            <a:r>
              <a:t>本例演示管腔边界变化。</a:t>
            </a:r>
          </a:p>
          <a:p>
            <a:pPr>
              <a:defRPr sz="1800" b="0">
                <a:solidFill>
                  <a:srgbClr val="123C67"/>
                </a:solidFill>
                <a:latin typeface="Noto Sans CJK SC"/>
              </a:defRPr>
            </a:pPr>
            <a:r>
              <a:t>尺寸和速度均为示意，</a:t>
            </a:r>
          </a:p>
          <a:p>
            <a:pPr>
              <a:defRPr sz="1800" b="0">
                <a:solidFill>
                  <a:srgbClr val="123C67"/>
                </a:solidFill>
                <a:latin typeface="Noto Sans CJK SC"/>
              </a:defRPr>
            </a:pPr>
            <a:r>
              <a:t>不对应实测量或生理时间。</a:t>
            </a:r>
          </a:p>
        </p:txBody>
      </p:sp>
      <p:sp>
        <p:nvSpPr>
          <p:cNvPr id="8" name="edit-note"/>
          <p:cNvSpPr txBox="1"/>
          <p:nvPr/>
        </p:nvSpPr>
        <p:spPr>
          <a:xfrm>
            <a:off x="8820149" y="5143499"/>
            <a:ext cx="2952749" cy="8572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575" b="0">
                <a:solidFill>
                  <a:srgbClr val="526C84"/>
                </a:solidFill>
                <a:latin typeface="Noto Sans CJK SC"/>
              </a:defRPr>
            </a:pPr>
            <a:r>
              <a:t>视频内部修改源SVG；</a:t>
            </a:r>
          </a:p>
          <a:p>
            <a:pPr>
              <a:defRPr sz="1575" b="0">
                <a:solidFill>
                  <a:srgbClr val="526C84"/>
                </a:solidFill>
                <a:latin typeface="Noto Sans CJK SC"/>
              </a:defRPr>
            </a:pPr>
            <a:r>
              <a:t>本页文字仍可编辑。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"/>
          <p:cNvSpPr txBox="1"/>
          <p:nvPr/>
        </p:nvSpPr>
        <p:spPr>
          <a:xfrm>
            <a:off x="304799" y="228599"/>
            <a:ext cx="11582399" cy="2857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75" b="1">
                <a:solidFill>
                  <a:srgbClr val="123C67"/>
                </a:solidFill>
                <a:latin typeface="Noto Sans CJK SC"/>
              </a:defRPr>
            </a:pPr>
            <a:r>
              <a:t>03 · 静态关键帧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304799" y="628649"/>
            <a:ext cx="11582399" cy="571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150" b="1">
                <a:solidFill>
                  <a:srgbClr val="123C67"/>
                </a:solidFill>
                <a:latin typeface="Noto Sans CJK SC"/>
              </a:defRPr>
            </a:pPr>
            <a:r>
              <a:t>保留静态后备，导出PDF仍可阅读</a:t>
            </a:r>
          </a:p>
        </p:txBody>
      </p:sp>
      <p:sp>
        <p:nvSpPr>
          <p:cNvPr id="4" name="rule"/>
          <p:cNvSpPr/>
          <p:nvPr/>
        </p:nvSpPr>
        <p:spPr>
          <a:xfrm>
            <a:off x="304799" y="1304924"/>
            <a:ext cx="11582399" cy="19049"/>
          </a:xfrm>
          <a:prstGeom prst="rect">
            <a:avLst/>
          </a:prstGeom>
          <a:solidFill>
            <a:srgbClr val="1D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304799" y="6534149"/>
            <a:ext cx="11582399" cy="2285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75" b="0">
                <a:solidFill>
                  <a:srgbClr val="526C84"/>
                </a:solidFill>
                <a:latin typeface="Noto Sans CJK SC"/>
              </a:defRPr>
            </a:pPr>
            <a:r>
              <a:t>合成教学样板 · 无实测数据 · 仅验证媒体与编辑功能</a:t>
            </a:r>
          </a:p>
        </p:txBody>
      </p:sp>
      <p:pic>
        <p:nvPicPr>
          <p:cNvPr id="6" name="Picture 5" descr="st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99" y="1523999"/>
            <a:ext cx="7810499" cy="4881562"/>
          </a:xfrm>
          <a:prstGeom prst="rect">
            <a:avLst/>
          </a:prstGeom>
        </p:spPr>
      </p:pic>
      <p:sp>
        <p:nvSpPr>
          <p:cNvPr id="7" name="fallback-explain"/>
          <p:cNvSpPr txBox="1"/>
          <p:nvPr/>
        </p:nvSpPr>
        <p:spPr>
          <a:xfrm>
            <a:off x="8762999" y="2857499"/>
            <a:ext cx="2952749" cy="1714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025" b="1">
                <a:solidFill>
                  <a:srgbClr val="123C67"/>
                </a:solidFill>
                <a:latin typeface="Noto Sans CJK SC"/>
              </a:defRPr>
            </a:pPr>
            <a:r>
              <a:t>动画不能播放时，</a:t>
            </a:r>
          </a:p>
          <a:p>
            <a:pPr>
              <a:defRPr sz="2025" b="1">
                <a:solidFill>
                  <a:srgbClr val="123C67"/>
                </a:solidFill>
                <a:latin typeface="Noto Sans CJK SC"/>
              </a:defRPr>
            </a:pPr>
            <a:r>
              <a:t>使用关键帧与页内说明</a:t>
            </a:r>
          </a:p>
          <a:p>
            <a:pPr>
              <a:defRPr sz="2025" b="1">
                <a:solidFill>
                  <a:srgbClr val="123C67"/>
                </a:solidFill>
                <a:latin typeface="Noto Sans CJK SC"/>
              </a:defRPr>
            </a:pPr>
            <a:r>
              <a:t>继续讲解。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cp:lastModifiedBy>ScholarFlow contributors</cp:lastModifiedBy>
  <cp:revision>1</cp:revision>
  <dcterms:created xsi:type="dcterms:W3CDTF">2013-01-27T09:14:16Z</dcterms:created>
  <dcterms:modified xsi:type="dcterms:W3CDTF">2013-01-27T09:15:58Z</dcterms:modified>
  <cp:category/>
</cp:coreProperties>
</file>