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01 · 原生点击动画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用分步呈现组织讲解顺序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sp>
        <p:nvSpPr>
          <p:cNvPr id="6" name="panel0"/>
          <p:cNvSpPr/>
          <p:nvPr/>
        </p:nvSpPr>
        <p:spPr>
          <a:xfrm>
            <a:off x="304799" y="2257424"/>
            <a:ext cx="3619499" cy="2666999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d0"/>
          <p:cNvSpPr txBox="1"/>
          <p:nvPr/>
        </p:nvSpPr>
        <p:spPr>
          <a:xfrm>
            <a:off x="533399" y="2571749"/>
            <a:ext cx="3143249" cy="47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50" b="1">
                <a:solidFill>
                  <a:srgbClr val="123C67"/>
                </a:solidFill>
                <a:latin typeface="Noto Sans CJK SC"/>
              </a:defRPr>
            </a:pPr>
            <a:r>
              <a:t>观察问题</a:t>
            </a:r>
          </a:p>
        </p:txBody>
      </p:sp>
      <p:sp>
        <p:nvSpPr>
          <p:cNvPr id="8" name="body0"/>
          <p:cNvSpPr txBox="1"/>
          <p:nvPr/>
        </p:nvSpPr>
        <p:spPr>
          <a:xfrm>
            <a:off x="533399" y="3333749"/>
            <a:ext cx="3143249" cy="104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先让听众识别研究对象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与需要解释的现象</a:t>
            </a:r>
          </a:p>
        </p:txBody>
      </p:sp>
      <p:sp>
        <p:nvSpPr>
          <p:cNvPr id="9" name="panel1"/>
          <p:cNvSpPr/>
          <p:nvPr/>
        </p:nvSpPr>
        <p:spPr>
          <a:xfrm>
            <a:off x="4286249" y="2257424"/>
            <a:ext cx="3619499" cy="2666999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1"/>
          <p:cNvSpPr txBox="1"/>
          <p:nvPr/>
        </p:nvSpPr>
        <p:spPr>
          <a:xfrm>
            <a:off x="4514849" y="2571749"/>
            <a:ext cx="3143249" cy="47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50" b="1">
                <a:solidFill>
                  <a:srgbClr val="123C67"/>
                </a:solidFill>
                <a:latin typeface="Noto Sans CJK SC"/>
              </a:defRPr>
            </a:pPr>
            <a:r>
              <a:t>解释过程</a:t>
            </a:r>
          </a:p>
        </p:txBody>
      </p:sp>
      <p:sp>
        <p:nvSpPr>
          <p:cNvPr id="11" name="body1"/>
          <p:cNvSpPr txBox="1"/>
          <p:nvPr/>
        </p:nvSpPr>
        <p:spPr>
          <a:xfrm>
            <a:off x="4514849" y="3333749"/>
            <a:ext cx="3143249" cy="104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再展开关键过程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及其可能影响</a:t>
            </a:r>
          </a:p>
        </p:txBody>
      </p:sp>
      <p:sp>
        <p:nvSpPr>
          <p:cNvPr id="12" name="panel2"/>
          <p:cNvSpPr/>
          <p:nvPr/>
        </p:nvSpPr>
        <p:spPr>
          <a:xfrm>
            <a:off x="8267699" y="2257424"/>
            <a:ext cx="3619499" cy="2666999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ad2"/>
          <p:cNvSpPr txBox="1"/>
          <p:nvPr/>
        </p:nvSpPr>
        <p:spPr>
          <a:xfrm>
            <a:off x="8496299" y="2571749"/>
            <a:ext cx="3143249" cy="47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50" b="1">
                <a:solidFill>
                  <a:srgbClr val="123C67"/>
                </a:solidFill>
                <a:latin typeface="Noto Sans CJK SC"/>
              </a:defRPr>
            </a:pPr>
            <a:r>
              <a:t>回到证据</a:t>
            </a:r>
          </a:p>
        </p:txBody>
      </p:sp>
      <p:sp>
        <p:nvSpPr>
          <p:cNvPr id="14" name="body2"/>
          <p:cNvSpPr txBox="1"/>
          <p:nvPr/>
        </p:nvSpPr>
        <p:spPr>
          <a:xfrm>
            <a:off x="8496299" y="3333749"/>
            <a:ext cx="3143249" cy="1047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最后说明证据支持范围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和需要继续验证的部分</a:t>
            </a:r>
          </a:p>
        </p:txBody>
      </p:sp>
      <p:sp>
        <p:nvSpPr>
          <p:cNvPr id="15" name="instruction"/>
          <p:cNvSpPr txBox="1"/>
          <p:nvPr/>
        </p:nvSpPr>
        <p:spPr>
          <a:xfrm>
            <a:off x="304799" y="5667374"/>
            <a:ext cx="11582399" cy="523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放映后点击三次，依次显示三个部分；文字与形状均可修改。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02 · SVG制作 / 视频内嵌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连续运动用于辅助理解抽象概念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sp>
        <p:nvSpPr>
          <p:cNvPr id="6" name="why"/>
          <p:cNvSpPr txBox="1"/>
          <p:nvPr/>
        </p:nvSpPr>
        <p:spPr>
          <a:xfrm>
            <a:off x="8820149" y="1904999"/>
            <a:ext cx="2952749" cy="47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先确定要解释的关系</a:t>
            </a:r>
          </a:p>
        </p:txBody>
      </p:sp>
      <p:sp>
        <p:nvSpPr>
          <p:cNvPr id="7" name="explain"/>
          <p:cNvSpPr txBox="1"/>
          <p:nvPr/>
        </p:nvSpPr>
        <p:spPr>
          <a:xfrm>
            <a:off x="8820149" y="2857499"/>
            <a:ext cx="2952749" cy="1523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本例演示管腔边界变化。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尺寸和速度均为示意，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不对应实测量或生理时间。</a:t>
            </a:r>
          </a:p>
        </p:txBody>
      </p:sp>
      <p:sp>
        <p:nvSpPr>
          <p:cNvPr id="8" name="edit-note"/>
          <p:cNvSpPr txBox="1"/>
          <p:nvPr/>
        </p:nvSpPr>
        <p:spPr>
          <a:xfrm>
            <a:off x="8820149" y="5143499"/>
            <a:ext cx="2952749" cy="857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75" b="0">
                <a:solidFill>
                  <a:srgbClr val="526C84"/>
                </a:solidFill>
                <a:latin typeface="Noto Sans CJK SC"/>
              </a:defRPr>
            </a:pPr>
            <a:r>
              <a:t>视频内部修改源SVG；</a:t>
            </a:r>
          </a:p>
          <a:p>
            <a:pPr>
              <a:defRPr sz="1575" b="0">
                <a:solidFill>
                  <a:srgbClr val="526C84"/>
                </a:solidFill>
                <a:latin typeface="Noto Sans CJK SC"/>
              </a:defRPr>
            </a:pPr>
            <a:r>
              <a:t>本页文字仍可编辑。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03 · 静态关键帧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保留静态后备，导出PDF仍可阅读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pic>
        <p:nvPicPr>
          <p:cNvPr id="6" name="Picture 5" descr="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523999"/>
            <a:ext cx="7810499" cy="4881562"/>
          </a:xfrm>
          <a:prstGeom prst="rect">
            <a:avLst/>
          </a:prstGeom>
        </p:spPr>
      </p:pic>
      <p:sp>
        <p:nvSpPr>
          <p:cNvPr id="7" name="fallback-explain"/>
          <p:cNvSpPr txBox="1"/>
          <p:nvPr/>
        </p:nvSpPr>
        <p:spPr>
          <a:xfrm>
            <a:off x="8762999" y="2857499"/>
            <a:ext cx="2952749" cy="1714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动画不能播放时，</a:t>
            </a:r>
          </a:p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使用关键帧与页内说明</a:t>
            </a:r>
          </a:p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继续讲解。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