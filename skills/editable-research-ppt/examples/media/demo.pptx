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304799" y="228599"/>
            <a:ext cx="11582399" cy="285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1">
                <a:solidFill>
                  <a:srgbClr val="123C67"/>
                </a:solidFill>
                <a:latin typeface="Noto Sans CJK SC"/>
              </a:defRPr>
            </a:pPr>
            <a:r>
              <a:t>01 · 原生点击动画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04799" y="628649"/>
            <a:ext cx="11582399" cy="571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50" b="1">
                <a:solidFill>
                  <a:srgbClr val="123C67"/>
                </a:solidFill>
                <a:latin typeface="Noto Sans CJK SC"/>
              </a:defRPr>
            </a:pPr>
            <a:r>
              <a:t>用分步呈现组织讲解顺序</a:t>
            </a:r>
          </a:p>
        </p:txBody>
      </p:sp>
      <p:sp>
        <p:nvSpPr>
          <p:cNvPr id="4" name="rule"/>
          <p:cNvSpPr/>
          <p:nvPr/>
        </p:nvSpPr>
        <p:spPr>
          <a:xfrm>
            <a:off x="304799" y="1304924"/>
            <a:ext cx="11582399" cy="19049"/>
          </a:xfrm>
          <a:prstGeom prst="rect">
            <a:avLst/>
          </a:prstGeom>
          <a:solidFill>
            <a:srgbClr val="1D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ource"/>
          <p:cNvSpPr txBox="1"/>
          <p:nvPr/>
        </p:nvSpPr>
        <p:spPr>
          <a:xfrm>
            <a:off x="304799" y="6534149"/>
            <a:ext cx="11582399" cy="228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0">
                <a:solidFill>
                  <a:srgbClr val="526C84"/>
                </a:solidFill>
                <a:latin typeface="Noto Sans CJK SC"/>
              </a:defRPr>
            </a:pPr>
            <a:r>
              <a:t>合成教学样板 · 无实测数据 · 仅验证媒体与编辑功能</a:t>
            </a:r>
          </a:p>
        </p:txBody>
      </p:sp>
      <p:grpSp>
        <p:nvGrpSpPr>
          <p:cNvPr id="16" name="step-1">
            <a:extLst>
              <a:ext uri="{FF2B5EF4-FFF2-40B4-BE49-F238E27FC236}">
                <a16:creationId xmlns:a16="http://schemas.microsoft.com/office/drawing/2014/main" id="{629B115C-189B-F5E6-0E8D-269B94E33D3B}"/>
              </a:ext>
            </a:extLst>
          </p:cNvPr>
          <p:cNvGrpSpPr/>
          <p:nvPr/>
        </p:nvGrpSpPr>
        <p:grpSpPr>
          <a:xfrm>
            <a:off x="304799" y="2257424"/>
            <a:ext cx="3619499" cy="2666999"/>
            <a:chOff x="304799" y="2257424"/>
            <a:chExt cx="3619499" cy="2666999"/>
          </a:xfrm>
        </p:grpSpPr>
        <p:sp>
          <p:nvSpPr>
            <p:cNvPr id="6" name="panel0"/>
            <p:cNvSpPr/>
            <p:nvPr/>
          </p:nvSpPr>
          <p:spPr>
            <a:xfrm>
              <a:off x="304799" y="2257424"/>
              <a:ext cx="3619499" cy="2666999"/>
            </a:xfrm>
            <a:prstGeom prst="rect">
              <a:avLst/>
            </a:prstGeom>
            <a:solidFill>
              <a:srgbClr val="EDF5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head0"/>
            <p:cNvSpPr txBox="1"/>
            <p:nvPr/>
          </p:nvSpPr>
          <p:spPr>
            <a:xfrm>
              <a:off x="533399" y="2571749"/>
              <a:ext cx="3143249" cy="47624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 sz="2250" b="1">
                  <a:solidFill>
                    <a:srgbClr val="123C67"/>
                  </a:solidFill>
                  <a:latin typeface="Noto Sans CJK SC"/>
                </a:defRPr>
              </a:pPr>
              <a:r>
                <a:t>观察问题</a:t>
              </a:r>
            </a:p>
          </p:txBody>
        </p:sp>
        <p:sp>
          <p:nvSpPr>
            <p:cNvPr id="8" name="body0"/>
            <p:cNvSpPr txBox="1"/>
            <p:nvPr/>
          </p:nvSpPr>
          <p:spPr>
            <a:xfrm>
              <a:off x="533399" y="3333749"/>
              <a:ext cx="3143249" cy="104774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 sz="1800" b="0">
                  <a:solidFill>
                    <a:srgbClr val="123C67"/>
                  </a:solidFill>
                  <a:latin typeface="Noto Sans CJK SC"/>
                </a:defRPr>
              </a:pPr>
              <a:r>
                <a:t>先让听众识别研究对象</a:t>
              </a:r>
            </a:p>
            <a:p>
              <a:pPr>
                <a:defRPr sz="1800" b="0">
                  <a:solidFill>
                    <a:srgbClr val="123C67"/>
                  </a:solidFill>
                  <a:latin typeface="Noto Sans CJK SC"/>
                </a:defRPr>
              </a:pPr>
              <a:r>
                <a:t>与需要解释的现象</a:t>
              </a:r>
            </a:p>
          </p:txBody>
        </p:sp>
      </p:grpSp>
      <p:grpSp>
        <p:nvGrpSpPr>
          <p:cNvPr id="17" name="step-2">
            <a:extLst>
              <a:ext uri="{FF2B5EF4-FFF2-40B4-BE49-F238E27FC236}">
                <a16:creationId xmlns:a16="http://schemas.microsoft.com/office/drawing/2014/main" id="{39F0763B-8794-CA9A-70E6-EC138494C26C}"/>
              </a:ext>
            </a:extLst>
          </p:cNvPr>
          <p:cNvGrpSpPr/>
          <p:nvPr/>
        </p:nvGrpSpPr>
        <p:grpSpPr>
          <a:xfrm>
            <a:off x="4286249" y="2257424"/>
            <a:ext cx="3619499" cy="2666999"/>
            <a:chOff x="4286249" y="2257424"/>
            <a:chExt cx="3619499" cy="2666999"/>
          </a:xfrm>
        </p:grpSpPr>
        <p:sp>
          <p:nvSpPr>
            <p:cNvPr id="9" name="panel1"/>
            <p:cNvSpPr/>
            <p:nvPr/>
          </p:nvSpPr>
          <p:spPr>
            <a:xfrm>
              <a:off x="4286249" y="2257424"/>
              <a:ext cx="3619499" cy="2666999"/>
            </a:xfrm>
            <a:prstGeom prst="rect">
              <a:avLst/>
            </a:prstGeom>
            <a:solidFill>
              <a:srgbClr val="EDF5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head1"/>
            <p:cNvSpPr txBox="1"/>
            <p:nvPr/>
          </p:nvSpPr>
          <p:spPr>
            <a:xfrm>
              <a:off x="4514849" y="2571749"/>
              <a:ext cx="3143249" cy="47624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 sz="2250" b="1">
                  <a:solidFill>
                    <a:srgbClr val="123C67"/>
                  </a:solidFill>
                  <a:latin typeface="Noto Sans CJK SC"/>
                </a:defRPr>
              </a:pPr>
              <a:r>
                <a:t>解释过程</a:t>
              </a:r>
            </a:p>
          </p:txBody>
        </p:sp>
        <p:sp>
          <p:nvSpPr>
            <p:cNvPr id="11" name="body1"/>
            <p:cNvSpPr txBox="1"/>
            <p:nvPr/>
          </p:nvSpPr>
          <p:spPr>
            <a:xfrm>
              <a:off x="4514849" y="3333749"/>
              <a:ext cx="3143249" cy="104774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 sz="1800" b="0">
                  <a:solidFill>
                    <a:srgbClr val="123C67"/>
                  </a:solidFill>
                  <a:latin typeface="Noto Sans CJK SC"/>
                </a:defRPr>
              </a:pPr>
              <a:r>
                <a:t>再展开关键过程</a:t>
              </a:r>
            </a:p>
            <a:p>
              <a:pPr>
                <a:defRPr sz="1800" b="0">
                  <a:solidFill>
                    <a:srgbClr val="123C67"/>
                  </a:solidFill>
                  <a:latin typeface="Noto Sans CJK SC"/>
                </a:defRPr>
              </a:pPr>
              <a:r>
                <a:t>及其可能影响</a:t>
              </a:r>
            </a:p>
          </p:txBody>
        </p:sp>
      </p:grpSp>
      <p:grpSp>
        <p:nvGrpSpPr>
          <p:cNvPr id="18" name="step-3">
            <a:extLst>
              <a:ext uri="{FF2B5EF4-FFF2-40B4-BE49-F238E27FC236}">
                <a16:creationId xmlns:a16="http://schemas.microsoft.com/office/drawing/2014/main" id="{55F80412-4016-31A2-2A0E-90A38DBB52B7}"/>
              </a:ext>
            </a:extLst>
          </p:cNvPr>
          <p:cNvGrpSpPr/>
          <p:nvPr/>
        </p:nvGrpSpPr>
        <p:grpSpPr>
          <a:xfrm>
            <a:off x="8267699" y="2257424"/>
            <a:ext cx="3619499" cy="2666999"/>
            <a:chOff x="8267699" y="2257424"/>
            <a:chExt cx="3619499" cy="2666999"/>
          </a:xfrm>
        </p:grpSpPr>
        <p:sp>
          <p:nvSpPr>
            <p:cNvPr id="12" name="panel2"/>
            <p:cNvSpPr/>
            <p:nvPr/>
          </p:nvSpPr>
          <p:spPr>
            <a:xfrm>
              <a:off x="8267699" y="2257424"/>
              <a:ext cx="3619499" cy="2666999"/>
            </a:xfrm>
            <a:prstGeom prst="rect">
              <a:avLst/>
            </a:prstGeom>
            <a:solidFill>
              <a:srgbClr val="EDF5F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head2"/>
            <p:cNvSpPr txBox="1"/>
            <p:nvPr/>
          </p:nvSpPr>
          <p:spPr>
            <a:xfrm>
              <a:off x="8496299" y="2571749"/>
              <a:ext cx="3143249" cy="47624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 sz="2250" b="1">
                  <a:solidFill>
                    <a:srgbClr val="123C67"/>
                  </a:solidFill>
                  <a:latin typeface="Noto Sans CJK SC"/>
                </a:defRPr>
              </a:pPr>
              <a:r>
                <a:t>回到证据</a:t>
              </a:r>
            </a:p>
          </p:txBody>
        </p:sp>
        <p:sp>
          <p:nvSpPr>
            <p:cNvPr id="14" name="body2"/>
            <p:cNvSpPr txBox="1"/>
            <p:nvPr/>
          </p:nvSpPr>
          <p:spPr>
            <a:xfrm>
              <a:off x="8496299" y="3333749"/>
              <a:ext cx="3143249" cy="1047749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>
                <a:defRPr sz="1800" b="0">
                  <a:solidFill>
                    <a:srgbClr val="123C67"/>
                  </a:solidFill>
                  <a:latin typeface="Noto Sans CJK SC"/>
                </a:defRPr>
              </a:pPr>
              <a:r>
                <a:t>最后说明证据支持范围</a:t>
              </a:r>
            </a:p>
            <a:p>
              <a:pPr>
                <a:defRPr sz="1800" b="0">
                  <a:solidFill>
                    <a:srgbClr val="123C67"/>
                  </a:solidFill>
                  <a:latin typeface="Noto Sans CJK SC"/>
                </a:defRPr>
              </a:pPr>
              <a:r>
                <a:t>和需要继续验证的部分</a:t>
              </a:r>
            </a:p>
          </p:txBody>
        </p:sp>
      </p:grpSp>
      <p:sp>
        <p:nvSpPr>
          <p:cNvPr id="15" name="instruction"/>
          <p:cNvSpPr txBox="1"/>
          <p:nvPr/>
        </p:nvSpPr>
        <p:spPr>
          <a:xfrm>
            <a:off x="304799" y="5667374"/>
            <a:ext cx="11582399" cy="5238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放映后点击三次，依次显示三个部分；文字与形状均可修改。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304799" y="228599"/>
            <a:ext cx="11582399" cy="285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1">
                <a:solidFill>
                  <a:srgbClr val="123C67"/>
                </a:solidFill>
                <a:latin typeface="Noto Sans CJK SC"/>
              </a:defRPr>
            </a:pPr>
            <a:r>
              <a:t>02 · SVG制作 / 视频内嵌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04799" y="628649"/>
            <a:ext cx="11582399" cy="571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50" b="1">
                <a:solidFill>
                  <a:srgbClr val="123C67"/>
                </a:solidFill>
                <a:latin typeface="Noto Sans CJK SC"/>
              </a:defRPr>
            </a:pPr>
            <a:r>
              <a:t>连续运动用于辅助理解抽象概念</a:t>
            </a:r>
          </a:p>
        </p:txBody>
      </p:sp>
      <p:sp>
        <p:nvSpPr>
          <p:cNvPr id="4" name="rule"/>
          <p:cNvSpPr/>
          <p:nvPr/>
        </p:nvSpPr>
        <p:spPr>
          <a:xfrm>
            <a:off x="304799" y="1304924"/>
            <a:ext cx="11582399" cy="19049"/>
          </a:xfrm>
          <a:prstGeom prst="rect">
            <a:avLst/>
          </a:prstGeom>
          <a:solidFill>
            <a:srgbClr val="1D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ource"/>
          <p:cNvSpPr txBox="1"/>
          <p:nvPr/>
        </p:nvSpPr>
        <p:spPr>
          <a:xfrm>
            <a:off x="304799" y="6534149"/>
            <a:ext cx="11582399" cy="228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0">
                <a:solidFill>
                  <a:srgbClr val="526C84"/>
                </a:solidFill>
                <a:latin typeface="Noto Sans CJK SC"/>
              </a:defRPr>
            </a:pPr>
            <a:r>
              <a:t>合成教学样板 · 无实测数据 · 仅验证媒体与编辑功能</a:t>
            </a:r>
          </a:p>
        </p:txBody>
      </p:sp>
      <p:sp>
        <p:nvSpPr>
          <p:cNvPr id="6" name="why"/>
          <p:cNvSpPr txBox="1"/>
          <p:nvPr/>
        </p:nvSpPr>
        <p:spPr>
          <a:xfrm>
            <a:off x="8820149" y="1904999"/>
            <a:ext cx="2952749" cy="476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先确定要解释的关系</a:t>
            </a:r>
          </a:p>
        </p:txBody>
      </p:sp>
      <p:sp>
        <p:nvSpPr>
          <p:cNvPr id="7" name="explain"/>
          <p:cNvSpPr txBox="1"/>
          <p:nvPr/>
        </p:nvSpPr>
        <p:spPr>
          <a:xfrm>
            <a:off x="8820149" y="2857499"/>
            <a:ext cx="2952749" cy="1523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本例演示管腔边界变化。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尺寸和速度均为示意，</a:t>
            </a:r>
          </a:p>
          <a:p>
            <a:pPr>
              <a:defRPr sz="1800" b="0">
                <a:solidFill>
                  <a:srgbClr val="123C67"/>
                </a:solidFill>
                <a:latin typeface="Noto Sans CJK SC"/>
              </a:defRPr>
            </a:pPr>
            <a:r>
              <a:t>不对应实测量或生理时间。</a:t>
            </a:r>
          </a:p>
        </p:txBody>
      </p:sp>
      <p:sp>
        <p:nvSpPr>
          <p:cNvPr id="8" name="edit-note"/>
          <p:cNvSpPr txBox="1"/>
          <p:nvPr/>
        </p:nvSpPr>
        <p:spPr>
          <a:xfrm>
            <a:off x="8820149" y="5143499"/>
            <a:ext cx="2952749" cy="857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75" b="0">
                <a:solidFill>
                  <a:srgbClr val="526C84"/>
                </a:solidFill>
                <a:latin typeface="Noto Sans CJK SC"/>
              </a:defRPr>
            </a:pPr>
            <a:r>
              <a:t>视频内部修改源SVG；</a:t>
            </a:r>
          </a:p>
          <a:p>
            <a:pPr>
              <a:defRPr sz="1575" b="0">
                <a:solidFill>
                  <a:srgbClr val="526C84"/>
                </a:solidFill>
                <a:latin typeface="Noto Sans CJK SC"/>
              </a:defRPr>
            </a:pPr>
            <a:r>
              <a:t>本页文字仍可编辑。</a:t>
            </a:r>
          </a:p>
        </p:txBody>
      </p:sp>
      <p:pic>
        <p:nvPicPr>
          <p:cNvPr id="9" name="concept-demo">
            <a:hlinkClick r:id="" action="ppaction://media"/>
            <a:extLst>
              <a:ext uri="{FF2B5EF4-FFF2-40B4-BE49-F238E27FC236}">
                <a16:creationId xmlns:a16="http://schemas.microsoft.com/office/drawing/2014/main" id="{7AE3E603-578B-975A-C7AD-2C4CFB6E36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" y="1524000"/>
            <a:ext cx="8229600" cy="4629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304799" y="228599"/>
            <a:ext cx="11582399" cy="2857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1">
                <a:solidFill>
                  <a:srgbClr val="123C67"/>
                </a:solidFill>
                <a:latin typeface="Noto Sans CJK SC"/>
              </a:defRPr>
            </a:pPr>
            <a:r>
              <a:t>03 · 静态关键帧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304799" y="628649"/>
            <a:ext cx="11582399" cy="571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150" b="1">
                <a:solidFill>
                  <a:srgbClr val="123C67"/>
                </a:solidFill>
                <a:latin typeface="Noto Sans CJK SC"/>
              </a:defRPr>
            </a:pPr>
            <a:r>
              <a:t>保留静态后备，导出PDF仍可阅读</a:t>
            </a:r>
          </a:p>
        </p:txBody>
      </p:sp>
      <p:sp>
        <p:nvSpPr>
          <p:cNvPr id="4" name="rule"/>
          <p:cNvSpPr/>
          <p:nvPr/>
        </p:nvSpPr>
        <p:spPr>
          <a:xfrm>
            <a:off x="304799" y="1304924"/>
            <a:ext cx="11582399" cy="19049"/>
          </a:xfrm>
          <a:prstGeom prst="rect">
            <a:avLst/>
          </a:prstGeom>
          <a:solidFill>
            <a:srgbClr val="1D5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ource"/>
          <p:cNvSpPr txBox="1"/>
          <p:nvPr/>
        </p:nvSpPr>
        <p:spPr>
          <a:xfrm>
            <a:off x="304799" y="6534149"/>
            <a:ext cx="11582399" cy="2285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75" b="0">
                <a:solidFill>
                  <a:srgbClr val="526C84"/>
                </a:solidFill>
                <a:latin typeface="Noto Sans CJK SC"/>
              </a:defRPr>
            </a:pPr>
            <a:r>
              <a:t>合成教学样板 · 无实测数据 · 仅验证媒体与编辑功能</a:t>
            </a:r>
          </a:p>
        </p:txBody>
      </p:sp>
      <p:pic>
        <p:nvPicPr>
          <p:cNvPr id="6" name="Picture 5" descr="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523999"/>
            <a:ext cx="7810499" cy="4881562"/>
          </a:xfrm>
          <a:prstGeom prst="rect">
            <a:avLst/>
          </a:prstGeom>
        </p:spPr>
      </p:pic>
      <p:sp>
        <p:nvSpPr>
          <p:cNvPr id="7" name="fallback-explain"/>
          <p:cNvSpPr txBox="1"/>
          <p:nvPr/>
        </p:nvSpPr>
        <p:spPr>
          <a:xfrm>
            <a:off x="8762999" y="2857499"/>
            <a:ext cx="2952749" cy="1714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动画不能播放时，</a:t>
            </a:r>
          </a:p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使用关键帧与页内说明</a:t>
            </a:r>
          </a:p>
          <a:p>
            <a:pPr>
              <a:defRPr sz="2025" b="1">
                <a:solidFill>
                  <a:srgbClr val="123C67"/>
                </a:solidFill>
                <a:latin typeface="Noto Sans CJK SC"/>
              </a:defRPr>
            </a:pPr>
            <a:r>
              <a:t>继续讲解。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</Words>
  <Application>Microsoft Office PowerPoint</Application>
  <PresentationFormat>宽屏</PresentationFormat>
  <Paragraphs>28</Paragraphs>
  <Slides>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趾萱 黄</cp:lastModifiedBy>
  <cp:revision>2</cp:revision>
  <dcterms:created xsi:type="dcterms:W3CDTF">2013-01-27T09:14:16Z</dcterms:created>
  <dcterms:modified xsi:type="dcterms:W3CDTF">2026-10-21T13:21:15Z</dcterms:modified>
  <cp:category/>
</cp:coreProperties>
</file>