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Default Extension="xlsx" ContentType="application/vnd.openxmlformats-officedocument.spreadsheetml.sheet"/>
  <Override PartName="/docProps/app.xml" ContentType="application/vnd.openxmlformats-officedocument.extended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?>
<Relationships xmlns="http://schemas.openxmlformats.org/package/2006/relationships"><Relationship Type="http://schemas.openxmlformats.org/package/2006/relationships/metadata/core-properties" Target="/docProps/core.xml" Id="R32fc68590ff54f8e" /><Relationship Type="http://schemas.openxmlformats.org/officeDocument/2006/relationships/extended-properties" Target="/docProps/app.xml" Id="R9996562d962046fa" /><Relationship Type="http://schemas.openxmlformats.org/officeDocument/2006/relationships/officeDocument" Target="/ppt/presentation.xml" Id="R13872f0bbada46e6" 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b19ee25308e24c04"/>
  </p:sldMasterIdLst>
  <p:notesMasterIdLst>
    <p:notesMasterId r:id="R61c415f220744dd4"/>
  </p:notesMasterIdLst>
  <p:sldIdLst>
    <p:sldId id="256" r:id="researchSlide1"/>
    <p:sldId id="257" r:id="researchSlide2"/>
    <p:sldId id="258" r:id="researchSlide3"/>
    <p:sldId id="259" r:id="researchSlide4"/>
    <p:sldId id="260" r:id="researchSlide5"/>
    <p:sldId id="261" r:id="researchSlide6"/>
  </p:sldIdLst>
  <p:sldSz cx="12192000" cy="6858000"/>
  <p:notesSz cx="6858000" cy="9144000"/>
</p:presentation>
</file>

<file path=ppt/presProps.xml><?xml version="1.0" encoding="utf-8"?>
<p:presentationPr xmlns:ns1="http://schemas.microsoft.com/office/powerpoint/2010/main" xmlns:ns2="http://schemas.microsoft.com/office/powerpoint/2012/main" xmlns:p="http://schemas.openxmlformats.org/presentationml/2006/main">
  <p:extLst>
    <p:ext uri="{E76CE94A-603C-4142-B9EB-6D1370010A27}">
      <ns1:discardImageEditData val="0"/>
    </p:ext>
    <p:ext uri="{D31A062A-798A-4329-ABDD-BBA856620510}">
      <ns1:defaultImageDpi val="32767"/>
    </p:ext>
    <p:ext uri="{FD5EFAAD-0ECE-453E-9831-46B23BE46B34}">
      <ns2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?>
<Relationships xmlns="http://schemas.openxmlformats.org/package/2006/relationships"><Relationship Type="http://schemas.openxmlformats.org/officeDocument/2006/relationships/theme" Target="/ppt/theme/theme1.xml" Id="R03c946439b9f4075" /><Relationship Type="http://schemas.openxmlformats.org/officeDocument/2006/relationships/slideMaster" Target="/ppt/slideMasters/slideMaster1.xml" Id="Rb19ee25308e24c04" /><Relationship Type="http://schemas.openxmlformats.org/officeDocument/2006/relationships/notesMaster" Target="/ppt/notesMasters/notesMaster1.xml" Id="R61c415f220744dd4" /><Relationship Type="http://schemas.openxmlformats.org/officeDocument/2006/relationships/presProps" Target="/ppt/presProps.xml" Id="Ra206bb6ddb7e4a48" /><Relationship Type="http://schemas.openxmlformats.org/officeDocument/2006/relationships/tableStyles" Target="/ppt/tableStyles.xml" Id="R708608b2d79d4b97" /><Relationship Id="researchSlide1" Type="http://schemas.openxmlformats.org/officeDocument/2006/relationships/slide" Target="/ppt/slides/slide1.xml" /><Relationship Id="researchSlide2" Type="http://schemas.openxmlformats.org/officeDocument/2006/relationships/slide" Target="/ppt/slides/slide2.xml" /><Relationship Id="researchSlide3" Type="http://schemas.openxmlformats.org/officeDocument/2006/relationships/slide" Target="/ppt/slides/slide3.xml" /><Relationship Id="researchSlide4" Type="http://schemas.openxmlformats.org/officeDocument/2006/relationships/slide" Target="/ppt/slides/slide4.xml" /><Relationship Id="researchSlide5" Type="http://schemas.openxmlformats.org/officeDocument/2006/relationships/slide" Target="/ppt/slides/slide5.xml" /><Relationship Id="researchSlide6" Type="http://schemas.openxmlformats.org/officeDocument/2006/relationships/slide" Target="/ppt/slides/slide6.xml" /></Relationships>
</file>

<file path=ppt/charts/_rels/chart1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1.xlsx" /></Relationships>
</file>

<file path=ppt/charts/_rels/chart2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2.xlsx" /></Relationships>
</file>

<file path=ppt/charts/_rels/chart3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3.xlsx" /></Relationships>
</file>

<file path=ppt/charts/_rels/chart4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4.xlsx" /></Relationships>
</file>

<file path=ppt/charts/_rels/chart5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5.xlsx" /></Relationships>
</file>

<file path=ppt/charts/_rels/chart6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6.xlsx" /></Relationships>
</file>

<file path=ppt/charts/_rels/chart7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7.xlsx" /></Relationships>
</file>

<file path=ppt/charts/_rels/chart8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8.xlsx" /></Relationships>
</file>

<file path=ppt/charts/_rels/chart9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9.xlsx" /></Relationships>
</file>

<file path=ppt/charts/_rels/chart10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10.xlsx" /></Relationships>
</file>

<file path=ppt/charts/_rels/chart11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11.xlsx" /></Relationships>
</file>

<file path=ppt/charts/_rels/chart12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12.xlsx" /></Relationships>
</file>

<file path=ppt/charts/_rels/chart13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13.xlsx" /></Relationships>
</file>

<file path=ppt/charts/_rels/chart14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14.xlsx" /></Relationships>
</file>

<file path=ppt/charts/_rels/chart15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15.xlsx" /></Relationships>
</file>

<file path=ppt/charts/_rels/chart16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16.xlsx" /></Relationships>
</file>

<file path=ppt/charts/_rels/chart17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17.xlsx" /></Relationships>
</file>

<file path=ppt/charts/_rels/chart18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18.xlsx" /></Relationships>
</file>

<file path=ppt/charts/_rels/chart19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19.xlsx" /></Relationships>
</file>

<file path=ppt/charts/_rels/chart20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20.xlsx" /></Relationships>
</file>

<file path=ppt/charts/_rels/chart21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21.xlsx" /></Relationships>
</file>

<file path=ppt/charts/_rels/chart22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22.xlsx" /></Relationships>
</file>

<file path=ppt/charts/_rels/chart23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23.xlsx" /></Relationships>
</file>

<file path=ppt/charts/_rels/chart24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24.xlsx" /></Relationships>
</file>

<file path=ppt/charts/chart1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2"/>
          <c:y val="0.06"/>
          <c:w val="0.84"/>
          <c:h val="0.69"/>
        </c:manualLayout>
      </c:layout>
      <c:scatterChart>
        <c:scatterStyle val="marker"/>
        <c:varyColors val="0"/>
        <c:ser>
          <c:idx val="0"/>
          <c:order val="0"/>
          <c:tx>
            <c:v>示意观测</c:v>
          </c:tx>
          <c:spPr>
            <a:noFill/>
            <a:ln>
              <a:noFill/>
            </a:ln>
          </c:spPr>
          <c:marker>
            <c:symbol val="circle"/>
            <c:size val="4"/>
            <c:spPr>
              <a:solidFill>
                <a:srgbClr val="173D67"/>
              </a:solidFill>
              <a:ln w="8890">
                <a:solidFill>
                  <a:srgbClr val="173D67"/>
                </a:solidFill>
              </a:ln>
            </c:spPr>
          </c:marker>
          <c:trendline>
            <c:spPr>
              <a:ln w="19050">
                <a:solidFill>
                  <a:srgbClr val="173D67"/>
                </a:solidFill>
                <a:prstDash val="solid"/>
              </a:ln>
            </c:spPr>
            <c:trendlineType val="linear"/>
            <c:dispRSqr val="0"/>
            <c:dispEq val="0"/>
          </c:trendline>
          <c:xVal>
            <c:numRef>
              <c:f>'Chart Data'!$A$2:$A$42</c:f>
              <c:numCache>
                <c:formatCode>General</c:formatCode>
                <c:ptCount val="41"/>
                <c:pt idx="0">
                  <c:v>0</c:v>
                </c:pt>
                <c:pt idx="1">
                  <c:v>0.025</c:v>
                </c:pt>
                <c:pt idx="2">
                  <c:v>0.05</c:v>
                </c:pt>
                <c:pt idx="3">
                  <c:v>0.075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0.175</c:v>
                </c:pt>
                <c:pt idx="8">
                  <c:v>0.2</c:v>
                </c:pt>
                <c:pt idx="9">
                  <c:v>0.225</c:v>
                </c:pt>
                <c:pt idx="10">
                  <c:v>0.25</c:v>
                </c:pt>
                <c:pt idx="11">
                  <c:v>0.275</c:v>
                </c:pt>
                <c:pt idx="12">
                  <c:v>0.3</c:v>
                </c:pt>
                <c:pt idx="13">
                  <c:v>0.325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0.425</c:v>
                </c:pt>
                <c:pt idx="18">
                  <c:v>0.45</c:v>
                </c:pt>
                <c:pt idx="19">
                  <c:v>0.475</c:v>
                </c:pt>
                <c:pt idx="20">
                  <c:v>0.5</c:v>
                </c:pt>
                <c:pt idx="21">
                  <c:v>0.525</c:v>
                </c:pt>
                <c:pt idx="22">
                  <c:v>0.55</c:v>
                </c:pt>
                <c:pt idx="23">
                  <c:v>0.575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</c:v>
                </c:pt>
                <c:pt idx="28">
                  <c:v>0.7</c:v>
                </c:pt>
                <c:pt idx="29">
                  <c:v>0.725</c:v>
                </c:pt>
                <c:pt idx="30">
                  <c:v>0.75</c:v>
                </c:pt>
                <c:pt idx="31">
                  <c:v>0.775</c:v>
                </c:pt>
                <c:pt idx="32">
                  <c:v>0.8</c:v>
                </c:pt>
                <c:pt idx="33">
                  <c:v>0.825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</c:v>
                </c:pt>
                <c:pt idx="38">
                  <c:v>0.95</c:v>
                </c:pt>
                <c:pt idx="39">
                  <c:v>0.975</c:v>
                </c:pt>
                <c:pt idx="40">
                  <c:v>1</c:v>
                </c:pt>
              </c:numCache>
            </c:numRef>
          </c:xVal>
          <c:yVal>
            <c:numRef>
              <c:f>'Chart Data'!$B$2:$B$42</c:f>
              <c:numCache>
                <c:formatCode>General</c:formatCode>
                <c:ptCount val="41"/>
                <c:pt idx="0">
                  <c:v>80</c:v>
                </c:pt>
                <c:pt idx="1">
                  <c:v>85.9</c:v>
                </c:pt>
                <c:pt idx="2">
                  <c:v>67</c:v>
                </c:pt>
                <c:pt idx="3">
                  <c:v>81.2</c:v>
                </c:pt>
                <c:pt idx="4">
                  <c:v>76.1</c:v>
                </c:pt>
                <c:pt idx="5">
                  <c:v>63.6</c:v>
                </c:pt>
                <c:pt idx="6">
                  <c:v>80.3</c:v>
                </c:pt>
                <c:pt idx="7">
                  <c:v>65.5</c:v>
                </c:pt>
                <c:pt idx="8">
                  <c:v>63.5</c:v>
                </c:pt>
                <c:pt idx="9">
                  <c:v>75.9</c:v>
                </c:pt>
                <c:pt idx="10">
                  <c:v>56.3</c:v>
                </c:pt>
                <c:pt idx="11">
                  <c:v>64.9</c:v>
                </c:pt>
                <c:pt idx="12">
                  <c:v>67.9</c:v>
                </c:pt>
                <c:pt idx="13">
                  <c:v>50.2</c:v>
                </c:pt>
                <c:pt idx="14">
                  <c:v>65.7</c:v>
                </c:pt>
                <c:pt idx="15">
                  <c:v>57.7</c:v>
                </c:pt>
                <c:pt idx="16">
                  <c:v>47.8</c:v>
                </c:pt>
                <c:pt idx="17">
                  <c:v>63.9</c:v>
                </c:pt>
                <c:pt idx="18">
                  <c:v>47.2</c:v>
                </c:pt>
                <c:pt idx="19">
                  <c:v>48.2</c:v>
                </c:pt>
                <c:pt idx="20">
                  <c:v>58.5</c:v>
                </c:pt>
                <c:pt idx="21">
                  <c:v>38.7</c:v>
                </c:pt>
                <c:pt idx="22">
                  <c:v>49.7</c:v>
                </c:pt>
                <c:pt idx="23">
                  <c:v>49.8</c:v>
                </c:pt>
                <c:pt idx="24">
                  <c:v>33.6</c:v>
                </c:pt>
                <c:pt idx="25">
                  <c:v>50</c:v>
                </c:pt>
                <c:pt idx="26">
                  <c:v>39.3</c:v>
                </c:pt>
                <c:pt idx="27">
                  <c:v>32.1</c:v>
                </c:pt>
                <c:pt idx="28">
                  <c:v>47.3</c:v>
                </c:pt>
                <c:pt idx="29">
                  <c:v>29.1</c:v>
                </c:pt>
                <c:pt idx="30">
                  <c:v>33.1</c:v>
                </c:pt>
                <c:pt idx="31">
                  <c:v>40.9</c:v>
                </c:pt>
                <c:pt idx="32">
                  <c:v>21.5</c:v>
                </c:pt>
                <c:pt idx="33">
                  <c:v>34.5</c:v>
                </c:pt>
                <c:pt idx="34">
                  <c:v>31.5</c:v>
                </c:pt>
                <c:pt idx="35">
                  <c:v>17.4</c:v>
                </c:pt>
                <c:pt idx="36">
                  <c:v>34.1</c:v>
                </c:pt>
                <c:pt idx="37">
                  <c:v>20.8</c:v>
                </c:pt>
                <c:pt idx="38">
                  <c:v>16.7</c:v>
                </c:pt>
                <c:pt idx="39">
                  <c:v>30.4</c:v>
                </c:pt>
                <c:pt idx="40">
                  <c:v>11.2</c:v>
                </c:pt>
              </c:numCache>
            </c:numRef>
          </c:y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100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125">
                    <a:latin typeface="Noto Sans CJK SC"/>
                    <a:ea typeface="Noto Sans CJK SC"/>
                    <a:cs typeface="Noto Sans CJK SC"/>
                  </a:rPr>
                  <a:t>物种数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12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majorUnit val="25"/>
      </c:valAx>
      <c:valAx>
        <c:axId val="48650112"/>
        <c:scaling>
          <c:orientation val="minMax"/>
          <c:max val="1"/>
          <c:min val="0"/>
        </c:scaling>
        <c:delete val="0"/>
        <c:axPos val="b"/>
        <c:numFmt formatCode="0.0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majorUnit val="0.25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2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2"/>
          <c:y val="0.06"/>
          <c:w val="0.84"/>
          <c:h val="0.69"/>
        </c:manualLayout>
      </c:layout>
      <c:barChart>
        <c:barDir val="col"/>
        <c:grouping val="stacked"/>
        <c:varyColors val="0"/>
        <c:ser>
          <c:idx val="0"/>
          <c:order val="0"/>
          <c:tx>
            <c:v>Q1</c:v>
          </c:tx>
          <c:spPr>
            <a:noFill/>
            <a:ln>
              <a:noFill/>
            </a:ln>
          </c:spPr>
          <c:invertIfNegative val="0"/>
          <c:errBars>
            <c:errDir val="y"/>
            <c:errBarType val="both"/>
            <c:errValType val="cust"/>
            <c:noEndCap val="0"/>
            <c:plus>
              <c:numLit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0</c:v>
                </c:pt>
              </c:numLit>
            </c:plus>
            <c:minus>
              <c:numLit>
                <c:formatCode>General</c:formatCode>
                <c:ptCount val="3"/>
                <c:pt idx="0">
                  <c:v>0.1365</c:v>
                </c:pt>
                <c:pt idx="1">
                  <c:v>0.1365</c:v>
                </c:pt>
                <c:pt idx="2">
                  <c:v>0.1365</c:v>
                </c:pt>
              </c:numLit>
            </c:minus>
            <c:spPr>
              <a:ln w="15240">
                <a:solidFill>
                  <a:srgbClr val="173D67"/>
                </a:solidFill>
              </a:ln>
            </c:spPr>
          </c:errBars>
          <c:cat>
            <c:strRef>
              <c:f>'Chart Data'!$A$2:$A$4</c:f>
              <c:strCache>
                <c:ptCount val="3"/>
                <c:pt idx="0">
                  <c:v>连续林</c:v>
                </c:pt>
                <c:pt idx="1">
                  <c:v>过渡带</c:v>
                </c:pt>
                <c:pt idx="2">
                  <c:v>破碎林</c:v>
                </c:pt>
              </c:strCache>
            </c:strRef>
          </c:cat>
          <c:val>
            <c:numRef>
              <c:f>'Chart Data'!$B$2:$B$4</c:f>
              <c:numCache>
                <c:formatCode>General</c:formatCode>
                <c:ptCount val="3"/>
                <c:pt idx="0">
                  <c:v>1.4245</c:v>
                </c:pt>
                <c:pt idx="1">
                  <c:v>0.9245</c:v>
                </c:pt>
                <c:pt idx="2">
                  <c:v>0.4045</c:v>
                </c:pt>
              </c:numCache>
            </c:numRef>
          </c:val>
        </c:ser>
        <c:ser>
          <c:idx val="1"/>
          <c:order val="1"/>
          <c:tx>
            <c:v>Median minus Q1</c:v>
          </c:tx>
          <c:spPr>
            <a:solidFill>
              <a:srgbClr val="718EAA"/>
            </a:solidFill>
            <a:ln w="11430">
              <a:solidFill>
                <a:srgbClr val="173D67"/>
              </a:solidFill>
            </a:ln>
          </c:spPr>
          <c:invertIfNegative val="0"/>
          <c:cat>
            <c:strRef>
              <c:f>'Chart Data'!$C$2:$C$4</c:f>
              <c:strCache>
                <c:ptCount val="3"/>
                <c:pt idx="0">
                  <c:v>连续林</c:v>
                </c:pt>
                <c:pt idx="1">
                  <c:v>过渡带</c:v>
                </c:pt>
                <c:pt idx="2">
                  <c:v>破碎林</c:v>
                </c:pt>
              </c:strCache>
            </c:strRef>
          </c:cat>
          <c:val>
            <c:numRef>
              <c:f>'Chart Data'!$D$2:$D$4</c:f>
              <c:numCache>
                <c:formatCode>General</c:formatCode>
                <c:ptCount val="3"/>
                <c:pt idx="0">
                  <c:v>0.165</c:v>
                </c:pt>
                <c:pt idx="1">
                  <c:v>0.165</c:v>
                </c:pt>
                <c:pt idx="2">
                  <c:v>0.165</c:v>
                </c:pt>
              </c:numCache>
            </c:numRef>
          </c:val>
        </c:ser>
        <c:ser>
          <c:idx val="2"/>
          <c:order val="2"/>
          <c:tx>
            <c:v>Q3 minus median</c:v>
          </c:tx>
          <c:spPr>
            <a:solidFill>
              <a:srgbClr val="718EAA"/>
            </a:solidFill>
            <a:ln w="11430">
              <a:solidFill>
                <a:srgbClr val="173D67"/>
              </a:solidFill>
            </a:ln>
          </c:spPr>
          <c:invertIfNegative val="0"/>
          <c:errBars>
            <c:errDir val="y"/>
            <c:errBarType val="both"/>
            <c:errValType val="cust"/>
            <c:noEndCap val="0"/>
            <c:plus>
              <c:numLit>
                <c:formatCode>General</c:formatCode>
                <c:ptCount val="3"/>
                <c:pt idx="0">
                  <c:v>0.1745</c:v>
                </c:pt>
                <c:pt idx="1">
                  <c:v>0.1745</c:v>
                </c:pt>
                <c:pt idx="2">
                  <c:v>0.1745</c:v>
                </c:pt>
              </c:numLit>
            </c:plus>
            <c:minus>
              <c:numLit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0</c:v>
                </c:pt>
              </c:numLit>
            </c:minus>
            <c:spPr>
              <a:ln w="15240">
                <a:solidFill>
                  <a:srgbClr val="173D67"/>
                </a:solidFill>
              </a:ln>
            </c:spPr>
          </c:errBars>
          <c:cat>
            <c:strRef>
              <c:f>'Chart Data'!$E$2:$E$4</c:f>
              <c:strCache>
                <c:ptCount val="3"/>
                <c:pt idx="0">
                  <c:v>连续林</c:v>
                </c:pt>
                <c:pt idx="1">
                  <c:v>过渡带</c:v>
                </c:pt>
                <c:pt idx="2">
                  <c:v>破碎林</c:v>
                </c:pt>
              </c:strCache>
            </c:strRef>
          </c:cat>
          <c:val>
            <c:numRef>
              <c:f>'Chart Data'!$F$2:$F$4</c:f>
              <c:numCache>
                <c:formatCode>General</c:formatCode>
                <c:ptCount val="3"/>
                <c:pt idx="0">
                  <c:v>0.103</c:v>
                </c:pt>
                <c:pt idx="1">
                  <c:v>0.103</c:v>
                </c:pt>
                <c:pt idx="2">
                  <c:v>0.103</c:v>
                </c:pt>
              </c:numCache>
            </c:numRef>
          </c: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10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tickLblSkip val="1"/>
        <c:tickMarkSkip val="1"/>
      </c:catAx>
      <c:valAx>
        <c:axId val="48672768"/>
        <c:scaling>
          <c:orientation val="minMax"/>
          <c:max val="2.5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125">
                    <a:latin typeface="Noto Sans CJK SC"/>
                    <a:ea typeface="Noto Sans CJK SC"/>
                    <a:cs typeface="Noto Sans CJK SC"/>
                  </a:rPr>
                  <a:t>多样性指数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12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.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crossBetween val="between"/>
        <c:majorUnit val="0.5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3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2"/>
          <c:y val="0.06"/>
          <c:w val="0.84"/>
          <c:h val="0.69"/>
        </c:manualLayout>
      </c:layout>
      <c:areaChart>
        <c:grouping val="stacked"/>
        <c:varyColors val="0"/>
        <c:ser>
          <c:idx val="0"/>
          <c:order val="0"/>
          <c:tx>
            <c:v>Lower bound</c:v>
          </c:tx>
          <c:spPr>
            <a:noFill/>
            <a:ln>
              <a:noFill/>
            </a:ln>
          </c:spPr>
          <c:cat>
            <c:strRef>
              <c:f>'Chart Data'!$A$2:$A$13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Data'!$B$2:$B$13</c:f>
              <c:numCache>
                <c:formatCode>General</c:formatCode>
                <c:ptCount val="12"/>
                <c:pt idx="0">
                  <c:v>0.61</c:v>
                </c:pt>
                <c:pt idx="1">
                  <c:v>0.71</c:v>
                </c:pt>
                <c:pt idx="2">
                  <c:v>0.9</c:v>
                </c:pt>
                <c:pt idx="3">
                  <c:v>1.09</c:v>
                </c:pt>
                <c:pt idx="4">
                  <c:v>1.28</c:v>
                </c:pt>
                <c:pt idx="5">
                  <c:v>1.13</c:v>
                </c:pt>
                <c:pt idx="6">
                  <c:v>0.91</c:v>
                </c:pt>
                <c:pt idx="7">
                  <c:v>0.73</c:v>
                </c:pt>
                <c:pt idx="8">
                  <c:v>0.64</c:v>
                </c:pt>
                <c:pt idx="9">
                  <c:v>0.53</c:v>
                </c:pt>
                <c:pt idx="10">
                  <c:v>0.47</c:v>
                </c:pt>
                <c:pt idx="11">
                  <c:v>0.42</c:v>
                </c:pt>
              </c:numCache>
            </c:numRef>
          </c:val>
        </c:ser>
        <c:ser>
          <c:idx val="1"/>
          <c:order val="1"/>
          <c:tx>
            <c:v>Band width</c:v>
          </c:tx>
          <c:spPr>
            <a:solidFill>
              <a:srgbClr val="EEF3F8"/>
            </a:solidFill>
            <a:ln>
              <a:noFill/>
            </a:ln>
          </c:spPr>
          <c:cat>
            <c:strRef>
              <c:f>'Chart Data'!$C$2:$C$13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Data'!$D$2:$D$13</c:f>
              <c:numCache>
                <c:formatCode>General</c:formatCode>
                <c:ptCount val="12"/>
                <c:pt idx="0">
                  <c:v>0.34</c:v>
                </c:pt>
                <c:pt idx="1">
                  <c:v>0.38</c:v>
                </c:pt>
                <c:pt idx="2">
                  <c:v>0.4</c:v>
                </c:pt>
                <c:pt idx="3">
                  <c:v>0.42</c:v>
                </c:pt>
                <c:pt idx="4">
                  <c:v>0.4</c:v>
                </c:pt>
                <c:pt idx="5">
                  <c:v>0.38</c:v>
                </c:pt>
                <c:pt idx="6">
                  <c:v>0.38</c:v>
                </c:pt>
                <c:pt idx="7">
                  <c:v>0.38</c:v>
                </c:pt>
                <c:pt idx="8">
                  <c:v>0.38</c:v>
                </c:pt>
                <c:pt idx="9">
                  <c:v>0.38</c:v>
                </c:pt>
                <c:pt idx="10">
                  <c:v>0.38</c:v>
                </c:pt>
                <c:pt idx="11">
                  <c:v>0.36</c:v>
                </c:pt>
              </c:numCache>
            </c:numRef>
          </c:val>
        </c:ser>
        <c:axId val="48650112"/>
        <c:axId val="48672768"/>
      </c:areaChart>
      <c:lineChart>
        <c:grouping val="standard"/>
        <c:varyColors val="0"/>
        <c:ser>
          <c:idx val="2"/>
          <c:order val="2"/>
          <c:tx>
            <c:v>情景 A</c:v>
          </c:tx>
          <c:spPr>
            <a:solidFill>
              <a:srgbClr val="173D67"/>
            </a:solidFill>
            <a:ln w="19050">
              <a:solidFill>
                <a:srgbClr val="173D67"/>
              </a:solidFill>
              <a:prstDash val="solid"/>
            </a:ln>
          </c:spPr>
          <c:marker>
            <c:symbol val="circle"/>
            <c:size val="5"/>
            <c:spPr>
              <a:solidFill>
                <a:srgbClr val="173D67"/>
              </a:solidFill>
              <a:ln w="8890">
                <a:solidFill>
                  <a:srgbClr val="173D67"/>
                </a:solidFill>
              </a:ln>
            </c:spPr>
          </c:marker>
          <c:cat>
            <c:strRef>
              <c:f>'Chart Data'!$E$2:$E$13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Data'!$F$2:$F$13</c:f>
              <c:numCache>
                <c:formatCode>General</c:formatCode>
                <c:ptCount val="12"/>
                <c:pt idx="0">
                  <c:v>0.78</c:v>
                </c:pt>
                <c:pt idx="1">
                  <c:v>0.9</c:v>
                </c:pt>
                <c:pt idx="2">
                  <c:v>1.1</c:v>
                </c:pt>
                <c:pt idx="3">
                  <c:v>1.3</c:v>
                </c:pt>
                <c:pt idx="4">
                  <c:v>1.48</c:v>
                </c:pt>
                <c:pt idx="5">
                  <c:v>1.32</c:v>
                </c:pt>
                <c:pt idx="6">
                  <c:v>1.1</c:v>
                </c:pt>
                <c:pt idx="7">
                  <c:v>0.92</c:v>
                </c:pt>
                <c:pt idx="8">
                  <c:v>0.83</c:v>
                </c:pt>
                <c:pt idx="9">
                  <c:v>0.72</c:v>
                </c:pt>
                <c:pt idx="10">
                  <c:v>0.66</c:v>
                </c:pt>
                <c:pt idx="11">
                  <c:v>0.6</c:v>
                </c:pt>
              </c:numCache>
            </c:numRef>
          </c:val>
          <c:smooth val="0"/>
        </c:ser>
        <c:ser>
          <c:idx val="3"/>
          <c:order val="3"/>
          <c:tx>
            <c:v>情景 B</c:v>
          </c:tx>
          <c:spPr>
            <a:solidFill>
              <a:srgbClr val="AF3D3D"/>
            </a:solidFill>
            <a:ln w="19050">
              <a:solidFill>
                <a:srgbClr val="AF3D3D"/>
              </a:solidFill>
              <a:prstDash val="solid"/>
            </a:ln>
          </c:spPr>
          <c:marker>
            <c:symbol val="circle"/>
            <c:size val="5"/>
            <c:spPr>
              <a:solidFill>
                <a:srgbClr val="AF3D3D"/>
              </a:solidFill>
              <a:ln w="8890">
                <a:solidFill>
                  <a:srgbClr val="AF3D3D"/>
                </a:solidFill>
              </a:ln>
            </c:spPr>
          </c:marker>
          <c:cat>
            <c:strRef>
              <c:f>'Chart Data'!$G$2:$G$13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Data'!$H$2:$H$13</c:f>
              <c:numCache>
                <c:formatCode>General</c:formatCode>
                <c:ptCount val="12"/>
                <c:pt idx="0">
                  <c:v>0.24</c:v>
                </c:pt>
                <c:pt idx="1">
                  <c:v>0.32</c:v>
                </c:pt>
                <c:pt idx="2">
                  <c:v>0.44</c:v>
                </c:pt>
                <c:pt idx="3">
                  <c:v>0.61</c:v>
                </c:pt>
                <c:pt idx="4">
                  <c:v>0.72</c:v>
                </c:pt>
                <c:pt idx="5">
                  <c:v>0.6</c:v>
                </c:pt>
                <c:pt idx="6">
                  <c:v>0.52</c:v>
                </c:pt>
                <c:pt idx="7">
                  <c:v>0.38</c:v>
                </c:pt>
                <c:pt idx="8">
                  <c:v>0.31</c:v>
                </c:pt>
                <c:pt idx="9">
                  <c:v>0.27</c:v>
                </c:pt>
                <c:pt idx="10">
                  <c:v>0.25</c:v>
                </c:pt>
                <c:pt idx="11">
                  <c:v>0.24</c:v>
                </c:pt>
              </c:numCache>
            </c:numRef>
          </c:val>
          <c:smooth val="0"/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tickLblSkip val="2"/>
        <c:tickMarkSkip val="2"/>
      </c:catAx>
      <c:valAx>
        <c:axId val="48672768"/>
        <c:scaling>
          <c:orientation val="minMax"/>
          <c:max val="2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125">
                    <a:latin typeface="Noto Sans CJK SC"/>
                    <a:ea typeface="Noto Sans CJK SC"/>
                    <a:cs typeface="Noto Sans CJK SC"/>
                  </a:rPr>
                  <a:t>相对活动指数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12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.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crossBetween val="between"/>
        <c:majorUnit val="0.5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4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27"/>
          <c:y val="0.05"/>
          <c:w val="0.69"/>
          <c:h val="0.69"/>
        </c:manualLayout>
      </c:layout>
      <c:scatterChart>
        <c:scatterStyle val="marker"/>
        <c:varyColors val="0"/>
        <c:ser>
          <c:idx val="0"/>
          <c:order val="0"/>
          <c:tx>
            <c:v>效应估计</c:v>
          </c:tx>
          <c:spPr>
            <a:noFill/>
            <a:ln>
              <a:noFill/>
            </a:ln>
          </c:spPr>
          <c:marker>
            <c:symbol val="circle"/>
            <c:size val="7"/>
            <c:spPr>
              <a:solidFill>
                <a:srgbClr val="173D67"/>
              </a:solidFill>
              <a:ln w="8890">
                <a:solidFill>
                  <a:srgbClr val="173D67"/>
                </a:solidFill>
              </a:ln>
            </c:spPr>
          </c:marker>
          <c:errBars>
            <c:errDir val="x"/>
            <c:errBarType val="both"/>
            <c:errValType val="cust"/>
            <c:noEndCap val="0"/>
            <c:plus>
              <c:numLit>
                <c:formatCode>General</c:formatCode>
                <c:ptCount val="4"/>
                <c:pt idx="0">
                  <c:v>0.23</c:v>
                </c:pt>
                <c:pt idx="1">
                  <c:v>0.17</c:v>
                </c:pt>
                <c:pt idx="2">
                  <c:v>0.22</c:v>
                </c:pt>
                <c:pt idx="3">
                  <c:v>0.2</c:v>
                </c:pt>
              </c:numLit>
            </c:plus>
            <c:minus>
              <c:numLit>
                <c:formatCode>General</c:formatCode>
                <c:ptCount val="4"/>
                <c:pt idx="0">
                  <c:v>0.23</c:v>
                </c:pt>
                <c:pt idx="1">
                  <c:v>0.17</c:v>
                </c:pt>
                <c:pt idx="2">
                  <c:v>0.21</c:v>
                </c:pt>
                <c:pt idx="3">
                  <c:v>0.18</c:v>
                </c:pt>
              </c:numLit>
            </c:minus>
            <c:spPr>
              <a:ln w="15240">
                <a:solidFill>
                  <a:srgbClr val="173D67"/>
                </a:solidFill>
              </a:ln>
            </c:spPr>
          </c:errBars>
          <c:xVal>
            <c:numRef>
              <c:f>'Chart Data'!$A$2:$A$5</c:f>
              <c:numCache>
                <c:formatCode>General</c:formatCode>
                <c:ptCount val="4"/>
                <c:pt idx="0">
                  <c:v>0.42</c:v>
                </c:pt>
                <c:pt idx="1">
                  <c:v>-0.24</c:v>
                </c:pt>
                <c:pt idx="2">
                  <c:v>0.31</c:v>
                </c:pt>
                <c:pt idx="3">
                  <c:v>-0.44</c:v>
                </c:pt>
              </c:numCache>
            </c:numRef>
          </c:xVal>
          <c:yVal>
            <c:numRef>
              <c:f>'Chart Data'!$B$2:$B$5</c:f>
              <c:numCache>
                <c:formatCode>General</c:formatCode>
                <c:ptCount val="4"/>
                <c:pt idx="0">
                  <c:v>4</c:v>
                </c:pt>
                <c:pt idx="1">
                  <c:v>3</c:v>
                </c:pt>
                <c:pt idx="2">
                  <c:v>2</c:v>
                </c:pt>
                <c:pt idx="3">
                  <c:v>1</c:v>
                </c:pt>
              </c:numCache>
            </c:numRef>
          </c:y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5"/>
          <c:min val="0"/>
        </c:scaling>
        <c:delete val="0"/>
        <c:axPos val="l"/>
        <c:numFmt formatCode="&quot;&quot;" sourceLinked="0"/>
        <c:majorTickMark val="none"/>
        <c:minorTickMark val="none"/>
        <c:tickLblPos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majorUnit val="1"/>
      </c:valAx>
      <c:valAx>
        <c:axId val="48650112"/>
        <c:scaling>
          <c:orientation val="minMax"/>
          <c:max val="0.8"/>
          <c:min val="-0.8"/>
        </c:scaling>
        <c:delete val="0"/>
        <c:axPos val="b"/>
        <c:numFmt formatCode="0.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majorUnit val="0.4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5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2"/>
          <c:y val="0.06"/>
          <c:w val="0.84"/>
          <c:h val="0.69"/>
        </c:manualLayout>
      </c:layout>
      <c:scatterChart>
        <c:scatterStyle val="marker"/>
        <c:varyColors val="0"/>
        <c:ser>
          <c:idx val="0"/>
          <c:order val="0"/>
          <c:tx>
            <c:v>示意观测</c:v>
          </c:tx>
          <c:spPr>
            <a:noFill/>
            <a:ln>
              <a:noFill/>
            </a:ln>
          </c:spPr>
          <c:marker>
            <c:symbol val="circle"/>
            <c:size val="4"/>
            <c:spPr>
              <a:solidFill>
                <a:srgbClr val="28463A"/>
              </a:solidFill>
              <a:ln w="8890">
                <a:solidFill>
                  <a:srgbClr val="28463A"/>
                </a:solidFill>
              </a:ln>
            </c:spPr>
          </c:marker>
          <c:trendline>
            <c:spPr>
              <a:ln w="19050">
                <a:solidFill>
                  <a:srgbClr val="28463A"/>
                </a:solidFill>
                <a:prstDash val="solid"/>
              </a:ln>
            </c:spPr>
            <c:trendlineType val="linear"/>
            <c:dispRSqr val="0"/>
            <c:dispEq val="0"/>
          </c:trendline>
          <c:xVal>
            <c:numRef>
              <c:f>'Chart Data'!$A$2:$A$42</c:f>
              <c:numCache>
                <c:formatCode>General</c:formatCode>
                <c:ptCount val="41"/>
                <c:pt idx="0">
                  <c:v>0</c:v>
                </c:pt>
                <c:pt idx="1">
                  <c:v>0.025</c:v>
                </c:pt>
                <c:pt idx="2">
                  <c:v>0.05</c:v>
                </c:pt>
                <c:pt idx="3">
                  <c:v>0.075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0.175</c:v>
                </c:pt>
                <c:pt idx="8">
                  <c:v>0.2</c:v>
                </c:pt>
                <c:pt idx="9">
                  <c:v>0.225</c:v>
                </c:pt>
                <c:pt idx="10">
                  <c:v>0.25</c:v>
                </c:pt>
                <c:pt idx="11">
                  <c:v>0.275</c:v>
                </c:pt>
                <c:pt idx="12">
                  <c:v>0.3</c:v>
                </c:pt>
                <c:pt idx="13">
                  <c:v>0.325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0.425</c:v>
                </c:pt>
                <c:pt idx="18">
                  <c:v>0.45</c:v>
                </c:pt>
                <c:pt idx="19">
                  <c:v>0.475</c:v>
                </c:pt>
                <c:pt idx="20">
                  <c:v>0.5</c:v>
                </c:pt>
                <c:pt idx="21">
                  <c:v>0.525</c:v>
                </c:pt>
                <c:pt idx="22">
                  <c:v>0.55</c:v>
                </c:pt>
                <c:pt idx="23">
                  <c:v>0.575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</c:v>
                </c:pt>
                <c:pt idx="28">
                  <c:v>0.7</c:v>
                </c:pt>
                <c:pt idx="29">
                  <c:v>0.725</c:v>
                </c:pt>
                <c:pt idx="30">
                  <c:v>0.75</c:v>
                </c:pt>
                <c:pt idx="31">
                  <c:v>0.775</c:v>
                </c:pt>
                <c:pt idx="32">
                  <c:v>0.8</c:v>
                </c:pt>
                <c:pt idx="33">
                  <c:v>0.825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</c:v>
                </c:pt>
                <c:pt idx="38">
                  <c:v>0.95</c:v>
                </c:pt>
                <c:pt idx="39">
                  <c:v>0.975</c:v>
                </c:pt>
                <c:pt idx="40">
                  <c:v>1</c:v>
                </c:pt>
              </c:numCache>
            </c:numRef>
          </c:xVal>
          <c:yVal>
            <c:numRef>
              <c:f>'Chart Data'!$B$2:$B$42</c:f>
              <c:numCache>
                <c:formatCode>General</c:formatCode>
                <c:ptCount val="41"/>
                <c:pt idx="0">
                  <c:v>80</c:v>
                </c:pt>
                <c:pt idx="1">
                  <c:v>85.9</c:v>
                </c:pt>
                <c:pt idx="2">
                  <c:v>67</c:v>
                </c:pt>
                <c:pt idx="3">
                  <c:v>81.2</c:v>
                </c:pt>
                <c:pt idx="4">
                  <c:v>76.1</c:v>
                </c:pt>
                <c:pt idx="5">
                  <c:v>63.6</c:v>
                </c:pt>
                <c:pt idx="6">
                  <c:v>80.3</c:v>
                </c:pt>
                <c:pt idx="7">
                  <c:v>65.5</c:v>
                </c:pt>
                <c:pt idx="8">
                  <c:v>63.5</c:v>
                </c:pt>
                <c:pt idx="9">
                  <c:v>75.9</c:v>
                </c:pt>
                <c:pt idx="10">
                  <c:v>56.3</c:v>
                </c:pt>
                <c:pt idx="11">
                  <c:v>64.9</c:v>
                </c:pt>
                <c:pt idx="12">
                  <c:v>67.9</c:v>
                </c:pt>
                <c:pt idx="13">
                  <c:v>50.2</c:v>
                </c:pt>
                <c:pt idx="14">
                  <c:v>65.7</c:v>
                </c:pt>
                <c:pt idx="15">
                  <c:v>57.7</c:v>
                </c:pt>
                <c:pt idx="16">
                  <c:v>47.8</c:v>
                </c:pt>
                <c:pt idx="17">
                  <c:v>63.9</c:v>
                </c:pt>
                <c:pt idx="18">
                  <c:v>47.2</c:v>
                </c:pt>
                <c:pt idx="19">
                  <c:v>48.2</c:v>
                </c:pt>
                <c:pt idx="20">
                  <c:v>58.5</c:v>
                </c:pt>
                <c:pt idx="21">
                  <c:v>38.7</c:v>
                </c:pt>
                <c:pt idx="22">
                  <c:v>49.7</c:v>
                </c:pt>
                <c:pt idx="23">
                  <c:v>49.8</c:v>
                </c:pt>
                <c:pt idx="24">
                  <c:v>33.6</c:v>
                </c:pt>
                <c:pt idx="25">
                  <c:v>50</c:v>
                </c:pt>
                <c:pt idx="26">
                  <c:v>39.3</c:v>
                </c:pt>
                <c:pt idx="27">
                  <c:v>32.1</c:v>
                </c:pt>
                <c:pt idx="28">
                  <c:v>47.3</c:v>
                </c:pt>
                <c:pt idx="29">
                  <c:v>29.1</c:v>
                </c:pt>
                <c:pt idx="30">
                  <c:v>33.1</c:v>
                </c:pt>
                <c:pt idx="31">
                  <c:v>40.9</c:v>
                </c:pt>
                <c:pt idx="32">
                  <c:v>21.5</c:v>
                </c:pt>
                <c:pt idx="33">
                  <c:v>34.5</c:v>
                </c:pt>
                <c:pt idx="34">
                  <c:v>31.5</c:v>
                </c:pt>
                <c:pt idx="35">
                  <c:v>17.4</c:v>
                </c:pt>
                <c:pt idx="36">
                  <c:v>34.1</c:v>
                </c:pt>
                <c:pt idx="37">
                  <c:v>20.8</c:v>
                </c:pt>
                <c:pt idx="38">
                  <c:v>16.7</c:v>
                </c:pt>
                <c:pt idx="39">
                  <c:v>30.4</c:v>
                </c:pt>
                <c:pt idx="40">
                  <c:v>11.2</c:v>
                </c:pt>
              </c:numCache>
            </c:numRef>
          </c:y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100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125">
                    <a:latin typeface="Noto Sans CJK SC"/>
                    <a:ea typeface="Noto Sans CJK SC"/>
                    <a:cs typeface="Noto Sans CJK SC"/>
                  </a:rPr>
                  <a:t>物种数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12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majorUnit val="25"/>
      </c:valAx>
      <c:valAx>
        <c:axId val="48650112"/>
        <c:scaling>
          <c:orientation val="minMax"/>
          <c:max val="1"/>
          <c:min val="0"/>
        </c:scaling>
        <c:delete val="0"/>
        <c:axPos val="b"/>
        <c:numFmt formatCode="0.0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majorUnit val="0.25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6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2"/>
          <c:y val="0.06"/>
          <c:w val="0.84"/>
          <c:h val="0.69"/>
        </c:manualLayout>
      </c:layout>
      <c:barChart>
        <c:barDir val="col"/>
        <c:grouping val="stacked"/>
        <c:varyColors val="0"/>
        <c:ser>
          <c:idx val="0"/>
          <c:order val="0"/>
          <c:tx>
            <c:v>Q1</c:v>
          </c:tx>
          <c:spPr>
            <a:noFill/>
            <a:ln>
              <a:noFill/>
            </a:ln>
          </c:spPr>
          <c:invertIfNegative val="0"/>
          <c:errBars>
            <c:errDir val="y"/>
            <c:errBarType val="both"/>
            <c:errValType val="cust"/>
            <c:noEndCap val="0"/>
            <c:plus>
              <c:numLit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0</c:v>
                </c:pt>
              </c:numLit>
            </c:plus>
            <c:minus>
              <c:numLit>
                <c:formatCode>General</c:formatCode>
                <c:ptCount val="3"/>
                <c:pt idx="0">
                  <c:v>0.1365</c:v>
                </c:pt>
                <c:pt idx="1">
                  <c:v>0.1365</c:v>
                </c:pt>
                <c:pt idx="2">
                  <c:v>0.1365</c:v>
                </c:pt>
              </c:numLit>
            </c:minus>
            <c:spPr>
              <a:ln w="15240">
                <a:solidFill>
                  <a:srgbClr val="28463A"/>
                </a:solidFill>
              </a:ln>
            </c:spPr>
          </c:errBars>
          <c:cat>
            <c:strRef>
              <c:f>'Chart Data'!$A$2:$A$4</c:f>
              <c:strCache>
                <c:ptCount val="3"/>
                <c:pt idx="0">
                  <c:v>连续林</c:v>
                </c:pt>
                <c:pt idx="1">
                  <c:v>过渡带</c:v>
                </c:pt>
                <c:pt idx="2">
                  <c:v>破碎林</c:v>
                </c:pt>
              </c:strCache>
            </c:strRef>
          </c:cat>
          <c:val>
            <c:numRef>
              <c:f>'Chart Data'!$B$2:$B$4</c:f>
              <c:numCache>
                <c:formatCode>General</c:formatCode>
                <c:ptCount val="3"/>
                <c:pt idx="0">
                  <c:v>1.4245</c:v>
                </c:pt>
                <c:pt idx="1">
                  <c:v>0.9245</c:v>
                </c:pt>
                <c:pt idx="2">
                  <c:v>0.4045</c:v>
                </c:pt>
              </c:numCache>
            </c:numRef>
          </c:val>
        </c:ser>
        <c:ser>
          <c:idx val="1"/>
          <c:order val="1"/>
          <c:tx>
            <c:v>Median minus Q1</c:v>
          </c:tx>
          <c:spPr>
            <a:solidFill>
              <a:srgbClr val="8A9B81"/>
            </a:solidFill>
            <a:ln w="11430">
              <a:solidFill>
                <a:srgbClr val="28463A"/>
              </a:solidFill>
            </a:ln>
          </c:spPr>
          <c:invertIfNegative val="0"/>
          <c:cat>
            <c:strRef>
              <c:f>'Chart Data'!$C$2:$C$4</c:f>
              <c:strCache>
                <c:ptCount val="3"/>
                <c:pt idx="0">
                  <c:v>连续林</c:v>
                </c:pt>
                <c:pt idx="1">
                  <c:v>过渡带</c:v>
                </c:pt>
                <c:pt idx="2">
                  <c:v>破碎林</c:v>
                </c:pt>
              </c:strCache>
            </c:strRef>
          </c:cat>
          <c:val>
            <c:numRef>
              <c:f>'Chart Data'!$D$2:$D$4</c:f>
              <c:numCache>
                <c:formatCode>General</c:formatCode>
                <c:ptCount val="3"/>
                <c:pt idx="0">
                  <c:v>0.165</c:v>
                </c:pt>
                <c:pt idx="1">
                  <c:v>0.165</c:v>
                </c:pt>
                <c:pt idx="2">
                  <c:v>0.165</c:v>
                </c:pt>
              </c:numCache>
            </c:numRef>
          </c:val>
        </c:ser>
        <c:ser>
          <c:idx val="2"/>
          <c:order val="2"/>
          <c:tx>
            <c:v>Q3 minus median</c:v>
          </c:tx>
          <c:spPr>
            <a:solidFill>
              <a:srgbClr val="8A9B81"/>
            </a:solidFill>
            <a:ln w="11430">
              <a:solidFill>
                <a:srgbClr val="28463A"/>
              </a:solidFill>
            </a:ln>
          </c:spPr>
          <c:invertIfNegative val="0"/>
          <c:errBars>
            <c:errDir val="y"/>
            <c:errBarType val="both"/>
            <c:errValType val="cust"/>
            <c:noEndCap val="0"/>
            <c:plus>
              <c:numLit>
                <c:formatCode>General</c:formatCode>
                <c:ptCount val="3"/>
                <c:pt idx="0">
                  <c:v>0.1745</c:v>
                </c:pt>
                <c:pt idx="1">
                  <c:v>0.1745</c:v>
                </c:pt>
                <c:pt idx="2">
                  <c:v>0.1745</c:v>
                </c:pt>
              </c:numLit>
            </c:plus>
            <c:minus>
              <c:numLit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0</c:v>
                </c:pt>
              </c:numLit>
            </c:minus>
            <c:spPr>
              <a:ln w="15240">
                <a:solidFill>
                  <a:srgbClr val="28463A"/>
                </a:solidFill>
              </a:ln>
            </c:spPr>
          </c:errBars>
          <c:cat>
            <c:strRef>
              <c:f>'Chart Data'!$E$2:$E$4</c:f>
              <c:strCache>
                <c:ptCount val="3"/>
                <c:pt idx="0">
                  <c:v>连续林</c:v>
                </c:pt>
                <c:pt idx="1">
                  <c:v>过渡带</c:v>
                </c:pt>
                <c:pt idx="2">
                  <c:v>破碎林</c:v>
                </c:pt>
              </c:strCache>
            </c:strRef>
          </c:cat>
          <c:val>
            <c:numRef>
              <c:f>'Chart Data'!$F$2:$F$4</c:f>
              <c:numCache>
                <c:formatCode>General</c:formatCode>
                <c:ptCount val="3"/>
                <c:pt idx="0">
                  <c:v>0.103</c:v>
                </c:pt>
                <c:pt idx="1">
                  <c:v>0.103</c:v>
                </c:pt>
                <c:pt idx="2">
                  <c:v>0.103</c:v>
                </c:pt>
              </c:numCache>
            </c:numRef>
          </c: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10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tickLblSkip val="1"/>
        <c:tickMarkSkip val="1"/>
      </c:catAx>
      <c:valAx>
        <c:axId val="48672768"/>
        <c:scaling>
          <c:orientation val="minMax"/>
          <c:max val="2.5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125">
                    <a:latin typeface="Noto Sans CJK SC"/>
                    <a:ea typeface="Noto Sans CJK SC"/>
                    <a:cs typeface="Noto Sans CJK SC"/>
                  </a:rPr>
                  <a:t>多样性指数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12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.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crossBetween val="between"/>
        <c:majorUnit val="0.5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7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2"/>
          <c:y val="0.06"/>
          <c:w val="0.84"/>
          <c:h val="0.69"/>
        </c:manualLayout>
      </c:layout>
      <c:areaChart>
        <c:grouping val="stacked"/>
        <c:varyColors val="0"/>
        <c:ser>
          <c:idx val="0"/>
          <c:order val="0"/>
          <c:tx>
            <c:v>Lower bound</c:v>
          </c:tx>
          <c:spPr>
            <a:noFill/>
            <a:ln>
              <a:noFill/>
            </a:ln>
          </c:spPr>
          <c:cat>
            <c:strRef>
              <c:f>'Chart Data'!$A$2:$A$13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Data'!$B$2:$B$13</c:f>
              <c:numCache>
                <c:formatCode>General</c:formatCode>
                <c:ptCount val="12"/>
                <c:pt idx="0">
                  <c:v>0.61</c:v>
                </c:pt>
                <c:pt idx="1">
                  <c:v>0.71</c:v>
                </c:pt>
                <c:pt idx="2">
                  <c:v>0.9</c:v>
                </c:pt>
                <c:pt idx="3">
                  <c:v>1.09</c:v>
                </c:pt>
                <c:pt idx="4">
                  <c:v>1.28</c:v>
                </c:pt>
                <c:pt idx="5">
                  <c:v>1.13</c:v>
                </c:pt>
                <c:pt idx="6">
                  <c:v>0.91</c:v>
                </c:pt>
                <c:pt idx="7">
                  <c:v>0.73</c:v>
                </c:pt>
                <c:pt idx="8">
                  <c:v>0.64</c:v>
                </c:pt>
                <c:pt idx="9">
                  <c:v>0.53</c:v>
                </c:pt>
                <c:pt idx="10">
                  <c:v>0.47</c:v>
                </c:pt>
                <c:pt idx="11">
                  <c:v>0.42</c:v>
                </c:pt>
              </c:numCache>
            </c:numRef>
          </c:val>
        </c:ser>
        <c:ser>
          <c:idx val="1"/>
          <c:order val="1"/>
          <c:tx>
            <c:v>Band width</c:v>
          </c:tx>
          <c:spPr>
            <a:solidFill>
              <a:srgbClr val="EAF0E8"/>
            </a:solidFill>
            <a:ln>
              <a:noFill/>
            </a:ln>
          </c:spPr>
          <c:cat>
            <c:strRef>
              <c:f>'Chart Data'!$C$2:$C$13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Data'!$D$2:$D$13</c:f>
              <c:numCache>
                <c:formatCode>General</c:formatCode>
                <c:ptCount val="12"/>
                <c:pt idx="0">
                  <c:v>0.34</c:v>
                </c:pt>
                <c:pt idx="1">
                  <c:v>0.38</c:v>
                </c:pt>
                <c:pt idx="2">
                  <c:v>0.4</c:v>
                </c:pt>
                <c:pt idx="3">
                  <c:v>0.42</c:v>
                </c:pt>
                <c:pt idx="4">
                  <c:v>0.4</c:v>
                </c:pt>
                <c:pt idx="5">
                  <c:v>0.38</c:v>
                </c:pt>
                <c:pt idx="6">
                  <c:v>0.38</c:v>
                </c:pt>
                <c:pt idx="7">
                  <c:v>0.38</c:v>
                </c:pt>
                <c:pt idx="8">
                  <c:v>0.38</c:v>
                </c:pt>
                <c:pt idx="9">
                  <c:v>0.38</c:v>
                </c:pt>
                <c:pt idx="10">
                  <c:v>0.38</c:v>
                </c:pt>
                <c:pt idx="11">
                  <c:v>0.36</c:v>
                </c:pt>
              </c:numCache>
            </c:numRef>
          </c:val>
        </c:ser>
        <c:axId val="48650112"/>
        <c:axId val="48672768"/>
      </c:areaChart>
      <c:lineChart>
        <c:grouping val="standard"/>
        <c:varyColors val="0"/>
        <c:ser>
          <c:idx val="2"/>
          <c:order val="2"/>
          <c:tx>
            <c:v>情景 A</c:v>
          </c:tx>
          <c:spPr>
            <a:solidFill>
              <a:srgbClr val="28463A"/>
            </a:solidFill>
            <a:ln w="19050">
              <a:solidFill>
                <a:srgbClr val="28463A"/>
              </a:solidFill>
              <a:prstDash val="solid"/>
            </a:ln>
          </c:spPr>
          <c:marker>
            <c:symbol val="circle"/>
            <c:size val="5"/>
            <c:spPr>
              <a:solidFill>
                <a:srgbClr val="28463A"/>
              </a:solidFill>
              <a:ln w="8890">
                <a:solidFill>
                  <a:srgbClr val="28463A"/>
                </a:solidFill>
              </a:ln>
            </c:spPr>
          </c:marker>
          <c:cat>
            <c:strRef>
              <c:f>'Chart Data'!$E$2:$E$13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Data'!$F$2:$F$13</c:f>
              <c:numCache>
                <c:formatCode>General</c:formatCode>
                <c:ptCount val="12"/>
                <c:pt idx="0">
                  <c:v>0.78</c:v>
                </c:pt>
                <c:pt idx="1">
                  <c:v>0.9</c:v>
                </c:pt>
                <c:pt idx="2">
                  <c:v>1.1</c:v>
                </c:pt>
                <c:pt idx="3">
                  <c:v>1.3</c:v>
                </c:pt>
                <c:pt idx="4">
                  <c:v>1.48</c:v>
                </c:pt>
                <c:pt idx="5">
                  <c:v>1.32</c:v>
                </c:pt>
                <c:pt idx="6">
                  <c:v>1.1</c:v>
                </c:pt>
                <c:pt idx="7">
                  <c:v>0.92</c:v>
                </c:pt>
                <c:pt idx="8">
                  <c:v>0.83</c:v>
                </c:pt>
                <c:pt idx="9">
                  <c:v>0.72</c:v>
                </c:pt>
                <c:pt idx="10">
                  <c:v>0.66</c:v>
                </c:pt>
                <c:pt idx="11">
                  <c:v>0.6</c:v>
                </c:pt>
              </c:numCache>
            </c:numRef>
          </c:val>
          <c:smooth val="0"/>
        </c:ser>
        <c:ser>
          <c:idx val="3"/>
          <c:order val="3"/>
          <c:tx>
            <c:v>情景 B</c:v>
          </c:tx>
          <c:spPr>
            <a:solidFill>
              <a:srgbClr val="A8562F"/>
            </a:solidFill>
            <a:ln w="19050">
              <a:solidFill>
                <a:srgbClr val="A8562F"/>
              </a:solidFill>
              <a:prstDash val="solid"/>
            </a:ln>
          </c:spPr>
          <c:marker>
            <c:symbol val="circle"/>
            <c:size val="5"/>
            <c:spPr>
              <a:solidFill>
                <a:srgbClr val="A8562F"/>
              </a:solidFill>
              <a:ln w="8890">
                <a:solidFill>
                  <a:srgbClr val="A8562F"/>
                </a:solidFill>
              </a:ln>
            </c:spPr>
          </c:marker>
          <c:cat>
            <c:strRef>
              <c:f>'Chart Data'!$G$2:$G$13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Data'!$H$2:$H$13</c:f>
              <c:numCache>
                <c:formatCode>General</c:formatCode>
                <c:ptCount val="12"/>
                <c:pt idx="0">
                  <c:v>0.24</c:v>
                </c:pt>
                <c:pt idx="1">
                  <c:v>0.32</c:v>
                </c:pt>
                <c:pt idx="2">
                  <c:v>0.44</c:v>
                </c:pt>
                <c:pt idx="3">
                  <c:v>0.61</c:v>
                </c:pt>
                <c:pt idx="4">
                  <c:v>0.72</c:v>
                </c:pt>
                <c:pt idx="5">
                  <c:v>0.6</c:v>
                </c:pt>
                <c:pt idx="6">
                  <c:v>0.52</c:v>
                </c:pt>
                <c:pt idx="7">
                  <c:v>0.38</c:v>
                </c:pt>
                <c:pt idx="8">
                  <c:v>0.31</c:v>
                </c:pt>
                <c:pt idx="9">
                  <c:v>0.27</c:v>
                </c:pt>
                <c:pt idx="10">
                  <c:v>0.25</c:v>
                </c:pt>
                <c:pt idx="11">
                  <c:v>0.24</c:v>
                </c:pt>
              </c:numCache>
            </c:numRef>
          </c:val>
          <c:smooth val="0"/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tickLblSkip val="2"/>
        <c:tickMarkSkip val="2"/>
      </c:catAx>
      <c:valAx>
        <c:axId val="48672768"/>
        <c:scaling>
          <c:orientation val="minMax"/>
          <c:max val="2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125">
                    <a:latin typeface="Noto Sans CJK SC"/>
                    <a:ea typeface="Noto Sans CJK SC"/>
                    <a:cs typeface="Noto Sans CJK SC"/>
                  </a:rPr>
                  <a:t>相对活动指数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12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.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crossBetween val="between"/>
        <c:majorUnit val="0.5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8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27"/>
          <c:y val="0.05"/>
          <c:w val="0.69"/>
          <c:h val="0.69"/>
        </c:manualLayout>
      </c:layout>
      <c:scatterChart>
        <c:scatterStyle val="marker"/>
        <c:varyColors val="0"/>
        <c:ser>
          <c:idx val="0"/>
          <c:order val="0"/>
          <c:tx>
            <c:v>效应估计</c:v>
          </c:tx>
          <c:spPr>
            <a:noFill/>
            <a:ln>
              <a:noFill/>
            </a:ln>
          </c:spPr>
          <c:marker>
            <c:symbol val="circle"/>
            <c:size val="7"/>
            <c:spPr>
              <a:solidFill>
                <a:srgbClr val="28463A"/>
              </a:solidFill>
              <a:ln w="8890">
                <a:solidFill>
                  <a:srgbClr val="28463A"/>
                </a:solidFill>
              </a:ln>
            </c:spPr>
          </c:marker>
          <c:errBars>
            <c:errDir val="x"/>
            <c:errBarType val="both"/>
            <c:errValType val="cust"/>
            <c:noEndCap val="0"/>
            <c:plus>
              <c:numLit>
                <c:formatCode>General</c:formatCode>
                <c:ptCount val="4"/>
                <c:pt idx="0">
                  <c:v>0.23</c:v>
                </c:pt>
                <c:pt idx="1">
                  <c:v>0.17</c:v>
                </c:pt>
                <c:pt idx="2">
                  <c:v>0.22</c:v>
                </c:pt>
                <c:pt idx="3">
                  <c:v>0.2</c:v>
                </c:pt>
              </c:numLit>
            </c:plus>
            <c:minus>
              <c:numLit>
                <c:formatCode>General</c:formatCode>
                <c:ptCount val="4"/>
                <c:pt idx="0">
                  <c:v>0.23</c:v>
                </c:pt>
                <c:pt idx="1">
                  <c:v>0.17</c:v>
                </c:pt>
                <c:pt idx="2">
                  <c:v>0.21</c:v>
                </c:pt>
                <c:pt idx="3">
                  <c:v>0.18</c:v>
                </c:pt>
              </c:numLit>
            </c:minus>
            <c:spPr>
              <a:ln w="15240">
                <a:solidFill>
                  <a:srgbClr val="28463A"/>
                </a:solidFill>
              </a:ln>
            </c:spPr>
          </c:errBars>
          <c:xVal>
            <c:numRef>
              <c:f>'Chart Data'!$A$2:$A$5</c:f>
              <c:numCache>
                <c:formatCode>General</c:formatCode>
                <c:ptCount val="4"/>
                <c:pt idx="0">
                  <c:v>0.42</c:v>
                </c:pt>
                <c:pt idx="1">
                  <c:v>-0.24</c:v>
                </c:pt>
                <c:pt idx="2">
                  <c:v>0.31</c:v>
                </c:pt>
                <c:pt idx="3">
                  <c:v>-0.44</c:v>
                </c:pt>
              </c:numCache>
            </c:numRef>
          </c:xVal>
          <c:yVal>
            <c:numRef>
              <c:f>'Chart Data'!$B$2:$B$5</c:f>
              <c:numCache>
                <c:formatCode>General</c:formatCode>
                <c:ptCount val="4"/>
                <c:pt idx="0">
                  <c:v>4</c:v>
                </c:pt>
                <c:pt idx="1">
                  <c:v>3</c:v>
                </c:pt>
                <c:pt idx="2">
                  <c:v>2</c:v>
                </c:pt>
                <c:pt idx="3">
                  <c:v>1</c:v>
                </c:pt>
              </c:numCache>
            </c:numRef>
          </c:y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5"/>
          <c:min val="0"/>
        </c:scaling>
        <c:delete val="0"/>
        <c:axPos val="l"/>
        <c:numFmt formatCode="&quot;&quot;" sourceLinked="0"/>
        <c:majorTickMark val="none"/>
        <c:minorTickMark val="none"/>
        <c:tickLblPos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majorUnit val="1"/>
      </c:valAx>
      <c:valAx>
        <c:axId val="48650112"/>
        <c:scaling>
          <c:orientation val="minMax"/>
          <c:max val="0.8"/>
          <c:min val="-0.8"/>
        </c:scaling>
        <c:delete val="0"/>
        <c:axPos val="b"/>
        <c:numFmt formatCode="0.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majorUnit val="0.4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9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2"/>
          <c:y val="0.06"/>
          <c:w val="0.84"/>
          <c:h val="0.69"/>
        </c:manualLayout>
      </c:layout>
      <c:scatterChart>
        <c:scatterStyle val="marker"/>
        <c:varyColors val="0"/>
        <c:ser>
          <c:idx val="0"/>
          <c:order val="0"/>
          <c:tx>
            <c:v>示意观测</c:v>
          </c:tx>
          <c:spPr>
            <a:noFill/>
            <a:ln>
              <a:noFill/>
            </a:ln>
          </c:spPr>
          <c:marker>
            <c:symbol val="circle"/>
            <c:size val="4"/>
            <c:spPr>
              <a:solidFill>
                <a:srgbClr val="12303A"/>
              </a:solidFill>
              <a:ln w="8890">
                <a:solidFill>
                  <a:srgbClr val="12303A"/>
                </a:solidFill>
              </a:ln>
            </c:spPr>
          </c:marker>
          <c:trendline>
            <c:spPr>
              <a:ln w="19050">
                <a:solidFill>
                  <a:srgbClr val="12303A"/>
                </a:solidFill>
                <a:prstDash val="solid"/>
              </a:ln>
            </c:spPr>
            <c:trendlineType val="linear"/>
            <c:dispRSqr val="0"/>
            <c:dispEq val="0"/>
          </c:trendline>
          <c:xVal>
            <c:numRef>
              <c:f>'Chart Data'!$A$2:$A$42</c:f>
              <c:numCache>
                <c:formatCode>General</c:formatCode>
                <c:ptCount val="41"/>
                <c:pt idx="0">
                  <c:v>0</c:v>
                </c:pt>
                <c:pt idx="1">
                  <c:v>0.025</c:v>
                </c:pt>
                <c:pt idx="2">
                  <c:v>0.05</c:v>
                </c:pt>
                <c:pt idx="3">
                  <c:v>0.075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0.175</c:v>
                </c:pt>
                <c:pt idx="8">
                  <c:v>0.2</c:v>
                </c:pt>
                <c:pt idx="9">
                  <c:v>0.225</c:v>
                </c:pt>
                <c:pt idx="10">
                  <c:v>0.25</c:v>
                </c:pt>
                <c:pt idx="11">
                  <c:v>0.275</c:v>
                </c:pt>
                <c:pt idx="12">
                  <c:v>0.3</c:v>
                </c:pt>
                <c:pt idx="13">
                  <c:v>0.325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0.425</c:v>
                </c:pt>
                <c:pt idx="18">
                  <c:v>0.45</c:v>
                </c:pt>
                <c:pt idx="19">
                  <c:v>0.475</c:v>
                </c:pt>
                <c:pt idx="20">
                  <c:v>0.5</c:v>
                </c:pt>
                <c:pt idx="21">
                  <c:v>0.525</c:v>
                </c:pt>
                <c:pt idx="22">
                  <c:v>0.55</c:v>
                </c:pt>
                <c:pt idx="23">
                  <c:v>0.575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</c:v>
                </c:pt>
                <c:pt idx="28">
                  <c:v>0.7</c:v>
                </c:pt>
                <c:pt idx="29">
                  <c:v>0.725</c:v>
                </c:pt>
                <c:pt idx="30">
                  <c:v>0.75</c:v>
                </c:pt>
                <c:pt idx="31">
                  <c:v>0.775</c:v>
                </c:pt>
                <c:pt idx="32">
                  <c:v>0.8</c:v>
                </c:pt>
                <c:pt idx="33">
                  <c:v>0.825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</c:v>
                </c:pt>
                <c:pt idx="38">
                  <c:v>0.95</c:v>
                </c:pt>
                <c:pt idx="39">
                  <c:v>0.975</c:v>
                </c:pt>
                <c:pt idx="40">
                  <c:v>1</c:v>
                </c:pt>
              </c:numCache>
            </c:numRef>
          </c:xVal>
          <c:yVal>
            <c:numRef>
              <c:f>'Chart Data'!$B$2:$B$42</c:f>
              <c:numCache>
                <c:formatCode>General</c:formatCode>
                <c:ptCount val="41"/>
                <c:pt idx="0">
                  <c:v>80</c:v>
                </c:pt>
                <c:pt idx="1">
                  <c:v>85.9</c:v>
                </c:pt>
                <c:pt idx="2">
                  <c:v>67</c:v>
                </c:pt>
                <c:pt idx="3">
                  <c:v>81.2</c:v>
                </c:pt>
                <c:pt idx="4">
                  <c:v>76.1</c:v>
                </c:pt>
                <c:pt idx="5">
                  <c:v>63.6</c:v>
                </c:pt>
                <c:pt idx="6">
                  <c:v>80.3</c:v>
                </c:pt>
                <c:pt idx="7">
                  <c:v>65.5</c:v>
                </c:pt>
                <c:pt idx="8">
                  <c:v>63.5</c:v>
                </c:pt>
                <c:pt idx="9">
                  <c:v>75.9</c:v>
                </c:pt>
                <c:pt idx="10">
                  <c:v>56.3</c:v>
                </c:pt>
                <c:pt idx="11">
                  <c:v>64.9</c:v>
                </c:pt>
                <c:pt idx="12">
                  <c:v>67.9</c:v>
                </c:pt>
                <c:pt idx="13">
                  <c:v>50.2</c:v>
                </c:pt>
                <c:pt idx="14">
                  <c:v>65.7</c:v>
                </c:pt>
                <c:pt idx="15">
                  <c:v>57.7</c:v>
                </c:pt>
                <c:pt idx="16">
                  <c:v>47.8</c:v>
                </c:pt>
                <c:pt idx="17">
                  <c:v>63.9</c:v>
                </c:pt>
                <c:pt idx="18">
                  <c:v>47.2</c:v>
                </c:pt>
                <c:pt idx="19">
                  <c:v>48.2</c:v>
                </c:pt>
                <c:pt idx="20">
                  <c:v>58.5</c:v>
                </c:pt>
                <c:pt idx="21">
                  <c:v>38.7</c:v>
                </c:pt>
                <c:pt idx="22">
                  <c:v>49.7</c:v>
                </c:pt>
                <c:pt idx="23">
                  <c:v>49.8</c:v>
                </c:pt>
                <c:pt idx="24">
                  <c:v>33.6</c:v>
                </c:pt>
                <c:pt idx="25">
                  <c:v>50</c:v>
                </c:pt>
                <c:pt idx="26">
                  <c:v>39.3</c:v>
                </c:pt>
                <c:pt idx="27">
                  <c:v>32.1</c:v>
                </c:pt>
                <c:pt idx="28">
                  <c:v>47.3</c:v>
                </c:pt>
                <c:pt idx="29">
                  <c:v>29.1</c:v>
                </c:pt>
                <c:pt idx="30">
                  <c:v>33.1</c:v>
                </c:pt>
                <c:pt idx="31">
                  <c:v>40.9</c:v>
                </c:pt>
                <c:pt idx="32">
                  <c:v>21.5</c:v>
                </c:pt>
                <c:pt idx="33">
                  <c:v>34.5</c:v>
                </c:pt>
                <c:pt idx="34">
                  <c:v>31.5</c:v>
                </c:pt>
                <c:pt idx="35">
                  <c:v>17.4</c:v>
                </c:pt>
                <c:pt idx="36">
                  <c:v>34.1</c:v>
                </c:pt>
                <c:pt idx="37">
                  <c:v>20.8</c:v>
                </c:pt>
                <c:pt idx="38">
                  <c:v>16.7</c:v>
                </c:pt>
                <c:pt idx="39">
                  <c:v>30.4</c:v>
                </c:pt>
                <c:pt idx="40">
                  <c:v>11.2</c:v>
                </c:pt>
              </c:numCache>
            </c:numRef>
          </c:y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100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125">
                    <a:latin typeface="Noto Sans CJK SC"/>
                    <a:ea typeface="Noto Sans CJK SC"/>
                    <a:cs typeface="Noto Sans CJK SC"/>
                  </a:rPr>
                  <a:t>物种数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12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majorUnit val="25"/>
      </c:valAx>
      <c:valAx>
        <c:axId val="48650112"/>
        <c:scaling>
          <c:orientation val="minMax"/>
          <c:max val="1"/>
          <c:min val="0"/>
        </c:scaling>
        <c:delete val="0"/>
        <c:axPos val="b"/>
        <c:numFmt formatCode="0.0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majorUnit val="0.25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10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2"/>
          <c:y val="0.06"/>
          <c:w val="0.84"/>
          <c:h val="0.69"/>
        </c:manualLayout>
      </c:layout>
      <c:barChart>
        <c:barDir val="col"/>
        <c:grouping val="stacked"/>
        <c:varyColors val="0"/>
        <c:ser>
          <c:idx val="0"/>
          <c:order val="0"/>
          <c:tx>
            <c:v>Q1</c:v>
          </c:tx>
          <c:spPr>
            <a:noFill/>
            <a:ln>
              <a:noFill/>
            </a:ln>
          </c:spPr>
          <c:invertIfNegative val="0"/>
          <c:errBars>
            <c:errDir val="y"/>
            <c:errBarType val="both"/>
            <c:errValType val="cust"/>
            <c:noEndCap val="0"/>
            <c:plus>
              <c:numLit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0</c:v>
                </c:pt>
              </c:numLit>
            </c:plus>
            <c:minus>
              <c:numLit>
                <c:formatCode>General</c:formatCode>
                <c:ptCount val="3"/>
                <c:pt idx="0">
                  <c:v>0.1365</c:v>
                </c:pt>
                <c:pt idx="1">
                  <c:v>0.1365</c:v>
                </c:pt>
                <c:pt idx="2">
                  <c:v>0.1365</c:v>
                </c:pt>
              </c:numLit>
            </c:minus>
            <c:spPr>
              <a:ln w="15240">
                <a:solidFill>
                  <a:srgbClr val="12303A"/>
                </a:solidFill>
              </a:ln>
            </c:spPr>
          </c:errBars>
          <c:cat>
            <c:strRef>
              <c:f>'Chart Data'!$A$2:$A$4</c:f>
              <c:strCache>
                <c:ptCount val="3"/>
                <c:pt idx="0">
                  <c:v>连续林</c:v>
                </c:pt>
                <c:pt idx="1">
                  <c:v>过渡带</c:v>
                </c:pt>
                <c:pt idx="2">
                  <c:v>破碎林</c:v>
                </c:pt>
              </c:strCache>
            </c:strRef>
          </c:cat>
          <c:val>
            <c:numRef>
              <c:f>'Chart Data'!$B$2:$B$4</c:f>
              <c:numCache>
                <c:formatCode>General</c:formatCode>
                <c:ptCount val="3"/>
                <c:pt idx="0">
                  <c:v>1.4245</c:v>
                </c:pt>
                <c:pt idx="1">
                  <c:v>0.9245</c:v>
                </c:pt>
                <c:pt idx="2">
                  <c:v>0.4045</c:v>
                </c:pt>
              </c:numCache>
            </c:numRef>
          </c:val>
        </c:ser>
        <c:ser>
          <c:idx val="1"/>
          <c:order val="1"/>
          <c:tx>
            <c:v>Median minus Q1</c:v>
          </c:tx>
          <c:spPr>
            <a:solidFill>
              <a:srgbClr val="5D9298"/>
            </a:solidFill>
            <a:ln w="11430">
              <a:solidFill>
                <a:srgbClr val="12303A"/>
              </a:solidFill>
            </a:ln>
          </c:spPr>
          <c:invertIfNegative val="0"/>
          <c:cat>
            <c:strRef>
              <c:f>'Chart Data'!$C$2:$C$4</c:f>
              <c:strCache>
                <c:ptCount val="3"/>
                <c:pt idx="0">
                  <c:v>连续林</c:v>
                </c:pt>
                <c:pt idx="1">
                  <c:v>过渡带</c:v>
                </c:pt>
                <c:pt idx="2">
                  <c:v>破碎林</c:v>
                </c:pt>
              </c:strCache>
            </c:strRef>
          </c:cat>
          <c:val>
            <c:numRef>
              <c:f>'Chart Data'!$D$2:$D$4</c:f>
              <c:numCache>
                <c:formatCode>General</c:formatCode>
                <c:ptCount val="3"/>
                <c:pt idx="0">
                  <c:v>0.165</c:v>
                </c:pt>
                <c:pt idx="1">
                  <c:v>0.165</c:v>
                </c:pt>
                <c:pt idx="2">
                  <c:v>0.165</c:v>
                </c:pt>
              </c:numCache>
            </c:numRef>
          </c:val>
        </c:ser>
        <c:ser>
          <c:idx val="2"/>
          <c:order val="2"/>
          <c:tx>
            <c:v>Q3 minus median</c:v>
          </c:tx>
          <c:spPr>
            <a:solidFill>
              <a:srgbClr val="5D9298"/>
            </a:solidFill>
            <a:ln w="11430">
              <a:solidFill>
                <a:srgbClr val="12303A"/>
              </a:solidFill>
            </a:ln>
          </c:spPr>
          <c:invertIfNegative val="0"/>
          <c:errBars>
            <c:errDir val="y"/>
            <c:errBarType val="both"/>
            <c:errValType val="cust"/>
            <c:noEndCap val="0"/>
            <c:plus>
              <c:numLit>
                <c:formatCode>General</c:formatCode>
                <c:ptCount val="3"/>
                <c:pt idx="0">
                  <c:v>0.1745</c:v>
                </c:pt>
                <c:pt idx="1">
                  <c:v>0.1745</c:v>
                </c:pt>
                <c:pt idx="2">
                  <c:v>0.1745</c:v>
                </c:pt>
              </c:numLit>
            </c:plus>
            <c:minus>
              <c:numLit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0</c:v>
                </c:pt>
              </c:numLit>
            </c:minus>
            <c:spPr>
              <a:ln w="15240">
                <a:solidFill>
                  <a:srgbClr val="12303A"/>
                </a:solidFill>
              </a:ln>
            </c:spPr>
          </c:errBars>
          <c:cat>
            <c:strRef>
              <c:f>'Chart Data'!$E$2:$E$4</c:f>
              <c:strCache>
                <c:ptCount val="3"/>
                <c:pt idx="0">
                  <c:v>连续林</c:v>
                </c:pt>
                <c:pt idx="1">
                  <c:v>过渡带</c:v>
                </c:pt>
                <c:pt idx="2">
                  <c:v>破碎林</c:v>
                </c:pt>
              </c:strCache>
            </c:strRef>
          </c:cat>
          <c:val>
            <c:numRef>
              <c:f>'Chart Data'!$F$2:$F$4</c:f>
              <c:numCache>
                <c:formatCode>General</c:formatCode>
                <c:ptCount val="3"/>
                <c:pt idx="0">
                  <c:v>0.103</c:v>
                </c:pt>
                <c:pt idx="1">
                  <c:v>0.103</c:v>
                </c:pt>
                <c:pt idx="2">
                  <c:v>0.103</c:v>
                </c:pt>
              </c:numCache>
            </c:numRef>
          </c: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10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tickLblSkip val="1"/>
        <c:tickMarkSkip val="1"/>
      </c:catAx>
      <c:valAx>
        <c:axId val="48672768"/>
        <c:scaling>
          <c:orientation val="minMax"/>
          <c:max val="2.5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125">
                    <a:latin typeface="Noto Sans CJK SC"/>
                    <a:ea typeface="Noto Sans CJK SC"/>
                    <a:cs typeface="Noto Sans CJK SC"/>
                  </a:rPr>
                  <a:t>多样性指数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12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.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crossBetween val="between"/>
        <c:majorUnit val="0.5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11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2"/>
          <c:y val="0.06"/>
          <c:w val="0.84"/>
          <c:h val="0.69"/>
        </c:manualLayout>
      </c:layout>
      <c:areaChart>
        <c:grouping val="stacked"/>
        <c:varyColors val="0"/>
        <c:ser>
          <c:idx val="0"/>
          <c:order val="0"/>
          <c:tx>
            <c:v>Lower bound</c:v>
          </c:tx>
          <c:spPr>
            <a:noFill/>
            <a:ln>
              <a:noFill/>
            </a:ln>
          </c:spPr>
          <c:cat>
            <c:strRef>
              <c:f>'Chart Data'!$A$2:$A$13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Data'!$B$2:$B$13</c:f>
              <c:numCache>
                <c:formatCode>General</c:formatCode>
                <c:ptCount val="12"/>
                <c:pt idx="0">
                  <c:v>0.61</c:v>
                </c:pt>
                <c:pt idx="1">
                  <c:v>0.71</c:v>
                </c:pt>
                <c:pt idx="2">
                  <c:v>0.9</c:v>
                </c:pt>
                <c:pt idx="3">
                  <c:v>1.09</c:v>
                </c:pt>
                <c:pt idx="4">
                  <c:v>1.28</c:v>
                </c:pt>
                <c:pt idx="5">
                  <c:v>1.13</c:v>
                </c:pt>
                <c:pt idx="6">
                  <c:v>0.91</c:v>
                </c:pt>
                <c:pt idx="7">
                  <c:v>0.73</c:v>
                </c:pt>
                <c:pt idx="8">
                  <c:v>0.64</c:v>
                </c:pt>
                <c:pt idx="9">
                  <c:v>0.53</c:v>
                </c:pt>
                <c:pt idx="10">
                  <c:v>0.47</c:v>
                </c:pt>
                <c:pt idx="11">
                  <c:v>0.42</c:v>
                </c:pt>
              </c:numCache>
            </c:numRef>
          </c:val>
        </c:ser>
        <c:ser>
          <c:idx val="1"/>
          <c:order val="1"/>
          <c:tx>
            <c:v>Band width</c:v>
          </c:tx>
          <c:spPr>
            <a:solidFill>
              <a:srgbClr val="EDF3F2"/>
            </a:solidFill>
            <a:ln>
              <a:noFill/>
            </a:ln>
          </c:spPr>
          <c:cat>
            <c:strRef>
              <c:f>'Chart Data'!$C$2:$C$13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Data'!$D$2:$D$13</c:f>
              <c:numCache>
                <c:formatCode>General</c:formatCode>
                <c:ptCount val="12"/>
                <c:pt idx="0">
                  <c:v>0.34</c:v>
                </c:pt>
                <c:pt idx="1">
                  <c:v>0.38</c:v>
                </c:pt>
                <c:pt idx="2">
                  <c:v>0.4</c:v>
                </c:pt>
                <c:pt idx="3">
                  <c:v>0.42</c:v>
                </c:pt>
                <c:pt idx="4">
                  <c:v>0.4</c:v>
                </c:pt>
                <c:pt idx="5">
                  <c:v>0.38</c:v>
                </c:pt>
                <c:pt idx="6">
                  <c:v>0.38</c:v>
                </c:pt>
                <c:pt idx="7">
                  <c:v>0.38</c:v>
                </c:pt>
                <c:pt idx="8">
                  <c:v>0.38</c:v>
                </c:pt>
                <c:pt idx="9">
                  <c:v>0.38</c:v>
                </c:pt>
                <c:pt idx="10">
                  <c:v>0.38</c:v>
                </c:pt>
                <c:pt idx="11">
                  <c:v>0.36</c:v>
                </c:pt>
              </c:numCache>
            </c:numRef>
          </c:val>
        </c:ser>
        <c:axId val="48650112"/>
        <c:axId val="48672768"/>
      </c:areaChart>
      <c:lineChart>
        <c:grouping val="standard"/>
        <c:varyColors val="0"/>
        <c:ser>
          <c:idx val="2"/>
          <c:order val="2"/>
          <c:tx>
            <c:v>情景 A</c:v>
          </c:tx>
          <c:spPr>
            <a:solidFill>
              <a:srgbClr val="12303A"/>
            </a:solidFill>
            <a:ln w="19050">
              <a:solidFill>
                <a:srgbClr val="12303A"/>
              </a:solidFill>
              <a:prstDash val="solid"/>
            </a:ln>
          </c:spPr>
          <c:marker>
            <c:symbol val="circle"/>
            <c:size val="5"/>
            <c:spPr>
              <a:solidFill>
                <a:srgbClr val="12303A"/>
              </a:solidFill>
              <a:ln w="8890">
                <a:solidFill>
                  <a:srgbClr val="12303A"/>
                </a:solidFill>
              </a:ln>
            </c:spPr>
          </c:marker>
          <c:cat>
            <c:strRef>
              <c:f>'Chart Data'!$E$2:$E$13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Data'!$F$2:$F$13</c:f>
              <c:numCache>
                <c:formatCode>General</c:formatCode>
                <c:ptCount val="12"/>
                <c:pt idx="0">
                  <c:v>0.78</c:v>
                </c:pt>
                <c:pt idx="1">
                  <c:v>0.9</c:v>
                </c:pt>
                <c:pt idx="2">
                  <c:v>1.1</c:v>
                </c:pt>
                <c:pt idx="3">
                  <c:v>1.3</c:v>
                </c:pt>
                <c:pt idx="4">
                  <c:v>1.48</c:v>
                </c:pt>
                <c:pt idx="5">
                  <c:v>1.32</c:v>
                </c:pt>
                <c:pt idx="6">
                  <c:v>1.1</c:v>
                </c:pt>
                <c:pt idx="7">
                  <c:v>0.92</c:v>
                </c:pt>
                <c:pt idx="8">
                  <c:v>0.83</c:v>
                </c:pt>
                <c:pt idx="9">
                  <c:v>0.72</c:v>
                </c:pt>
                <c:pt idx="10">
                  <c:v>0.66</c:v>
                </c:pt>
                <c:pt idx="11">
                  <c:v>0.6</c:v>
                </c:pt>
              </c:numCache>
            </c:numRef>
          </c:val>
          <c:smooth val="0"/>
        </c:ser>
        <c:ser>
          <c:idx val="3"/>
          <c:order val="3"/>
          <c:tx>
            <c:v>情景 B</c:v>
          </c:tx>
          <c:spPr>
            <a:solidFill>
              <a:srgbClr val="B08026"/>
            </a:solidFill>
            <a:ln w="19050">
              <a:solidFill>
                <a:srgbClr val="B08026"/>
              </a:solidFill>
              <a:prstDash val="solid"/>
            </a:ln>
          </c:spPr>
          <c:marker>
            <c:symbol val="circle"/>
            <c:size val="5"/>
            <c:spPr>
              <a:solidFill>
                <a:srgbClr val="B08026"/>
              </a:solidFill>
              <a:ln w="8890">
                <a:solidFill>
                  <a:srgbClr val="B08026"/>
                </a:solidFill>
              </a:ln>
            </c:spPr>
          </c:marker>
          <c:cat>
            <c:strRef>
              <c:f>'Chart Data'!$G$2:$G$13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Data'!$H$2:$H$13</c:f>
              <c:numCache>
                <c:formatCode>General</c:formatCode>
                <c:ptCount val="12"/>
                <c:pt idx="0">
                  <c:v>0.24</c:v>
                </c:pt>
                <c:pt idx="1">
                  <c:v>0.32</c:v>
                </c:pt>
                <c:pt idx="2">
                  <c:v>0.44</c:v>
                </c:pt>
                <c:pt idx="3">
                  <c:v>0.61</c:v>
                </c:pt>
                <c:pt idx="4">
                  <c:v>0.72</c:v>
                </c:pt>
                <c:pt idx="5">
                  <c:v>0.6</c:v>
                </c:pt>
                <c:pt idx="6">
                  <c:v>0.52</c:v>
                </c:pt>
                <c:pt idx="7">
                  <c:v>0.38</c:v>
                </c:pt>
                <c:pt idx="8">
                  <c:v>0.31</c:v>
                </c:pt>
                <c:pt idx="9">
                  <c:v>0.27</c:v>
                </c:pt>
                <c:pt idx="10">
                  <c:v>0.25</c:v>
                </c:pt>
                <c:pt idx="11">
                  <c:v>0.24</c:v>
                </c:pt>
              </c:numCache>
            </c:numRef>
          </c:val>
          <c:smooth val="0"/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tickLblSkip val="2"/>
        <c:tickMarkSkip val="2"/>
      </c:catAx>
      <c:valAx>
        <c:axId val="48672768"/>
        <c:scaling>
          <c:orientation val="minMax"/>
          <c:max val="2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125">
                    <a:latin typeface="Noto Sans CJK SC"/>
                    <a:ea typeface="Noto Sans CJK SC"/>
                    <a:cs typeface="Noto Sans CJK SC"/>
                  </a:rPr>
                  <a:t>相对活动指数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12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.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crossBetween val="between"/>
        <c:majorUnit val="0.5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12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27"/>
          <c:y val="0.05"/>
          <c:w val="0.69"/>
          <c:h val="0.69"/>
        </c:manualLayout>
      </c:layout>
      <c:scatterChart>
        <c:scatterStyle val="marker"/>
        <c:varyColors val="0"/>
        <c:ser>
          <c:idx val="0"/>
          <c:order val="0"/>
          <c:tx>
            <c:v>效应估计</c:v>
          </c:tx>
          <c:spPr>
            <a:noFill/>
            <a:ln>
              <a:noFill/>
            </a:ln>
          </c:spPr>
          <c:marker>
            <c:symbol val="circle"/>
            <c:size val="7"/>
            <c:spPr>
              <a:solidFill>
                <a:srgbClr val="12303A"/>
              </a:solidFill>
              <a:ln w="8890">
                <a:solidFill>
                  <a:srgbClr val="12303A"/>
                </a:solidFill>
              </a:ln>
            </c:spPr>
          </c:marker>
          <c:errBars>
            <c:errDir val="x"/>
            <c:errBarType val="both"/>
            <c:errValType val="cust"/>
            <c:noEndCap val="0"/>
            <c:plus>
              <c:numLit>
                <c:formatCode>General</c:formatCode>
                <c:ptCount val="4"/>
                <c:pt idx="0">
                  <c:v>0.23</c:v>
                </c:pt>
                <c:pt idx="1">
                  <c:v>0.17</c:v>
                </c:pt>
                <c:pt idx="2">
                  <c:v>0.22</c:v>
                </c:pt>
                <c:pt idx="3">
                  <c:v>0.2</c:v>
                </c:pt>
              </c:numLit>
            </c:plus>
            <c:minus>
              <c:numLit>
                <c:formatCode>General</c:formatCode>
                <c:ptCount val="4"/>
                <c:pt idx="0">
                  <c:v>0.23</c:v>
                </c:pt>
                <c:pt idx="1">
                  <c:v>0.17</c:v>
                </c:pt>
                <c:pt idx="2">
                  <c:v>0.21</c:v>
                </c:pt>
                <c:pt idx="3">
                  <c:v>0.18</c:v>
                </c:pt>
              </c:numLit>
            </c:minus>
            <c:spPr>
              <a:ln w="15240">
                <a:solidFill>
                  <a:srgbClr val="12303A"/>
                </a:solidFill>
              </a:ln>
            </c:spPr>
          </c:errBars>
          <c:xVal>
            <c:numRef>
              <c:f>'Chart Data'!$A$2:$A$5</c:f>
              <c:numCache>
                <c:formatCode>General</c:formatCode>
                <c:ptCount val="4"/>
                <c:pt idx="0">
                  <c:v>0.42</c:v>
                </c:pt>
                <c:pt idx="1">
                  <c:v>-0.24</c:v>
                </c:pt>
                <c:pt idx="2">
                  <c:v>0.31</c:v>
                </c:pt>
                <c:pt idx="3">
                  <c:v>-0.44</c:v>
                </c:pt>
              </c:numCache>
            </c:numRef>
          </c:xVal>
          <c:yVal>
            <c:numRef>
              <c:f>'Chart Data'!$B$2:$B$5</c:f>
              <c:numCache>
                <c:formatCode>General</c:formatCode>
                <c:ptCount val="4"/>
                <c:pt idx="0">
                  <c:v>4</c:v>
                </c:pt>
                <c:pt idx="1">
                  <c:v>3</c:v>
                </c:pt>
                <c:pt idx="2">
                  <c:v>2</c:v>
                </c:pt>
                <c:pt idx="3">
                  <c:v>1</c:v>
                </c:pt>
              </c:numCache>
            </c:numRef>
          </c:y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5"/>
          <c:min val="0"/>
        </c:scaling>
        <c:delete val="0"/>
        <c:axPos val="l"/>
        <c:numFmt formatCode="&quot;&quot;" sourceLinked="0"/>
        <c:majorTickMark val="none"/>
        <c:minorTickMark val="none"/>
        <c:tickLblPos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majorUnit val="1"/>
      </c:valAx>
      <c:valAx>
        <c:axId val="48650112"/>
        <c:scaling>
          <c:orientation val="minMax"/>
          <c:max val="0.8"/>
          <c:min val="-0.8"/>
        </c:scaling>
        <c:delete val="0"/>
        <c:axPos val="b"/>
        <c:numFmt formatCode="0.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majorUnit val="0.4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13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2"/>
          <c:y val="0.06"/>
          <c:w val="0.84"/>
          <c:h val="0.69"/>
        </c:manualLayout>
      </c:layout>
      <c:scatterChart>
        <c:scatterStyle val="marker"/>
        <c:varyColors val="0"/>
        <c:ser>
          <c:idx val="0"/>
          <c:order val="0"/>
          <c:tx>
            <c:v>示意观测</c:v>
          </c:tx>
          <c:spPr>
            <a:noFill/>
            <a:ln>
              <a:noFill/>
            </a:ln>
          </c:spPr>
          <c:marker>
            <c:symbol val="circle"/>
            <c:size val="4"/>
            <c:spPr>
              <a:solidFill>
                <a:srgbClr val="6E293C"/>
              </a:solidFill>
              <a:ln w="8890">
                <a:solidFill>
                  <a:srgbClr val="6E293C"/>
                </a:solidFill>
              </a:ln>
            </c:spPr>
          </c:marker>
          <c:trendline>
            <c:spPr>
              <a:ln w="19050">
                <a:solidFill>
                  <a:srgbClr val="6E293C"/>
                </a:solidFill>
                <a:prstDash val="solid"/>
              </a:ln>
            </c:spPr>
            <c:trendlineType val="linear"/>
            <c:dispRSqr val="0"/>
            <c:dispEq val="0"/>
          </c:trendline>
          <c:xVal>
            <c:numRef>
              <c:f>'Chart Data'!$A$2:$A$42</c:f>
              <c:numCache>
                <c:formatCode>General</c:formatCode>
                <c:ptCount val="41"/>
                <c:pt idx="0">
                  <c:v>0</c:v>
                </c:pt>
                <c:pt idx="1">
                  <c:v>0.025</c:v>
                </c:pt>
                <c:pt idx="2">
                  <c:v>0.05</c:v>
                </c:pt>
                <c:pt idx="3">
                  <c:v>0.075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0.175</c:v>
                </c:pt>
                <c:pt idx="8">
                  <c:v>0.2</c:v>
                </c:pt>
                <c:pt idx="9">
                  <c:v>0.225</c:v>
                </c:pt>
                <c:pt idx="10">
                  <c:v>0.25</c:v>
                </c:pt>
                <c:pt idx="11">
                  <c:v>0.275</c:v>
                </c:pt>
                <c:pt idx="12">
                  <c:v>0.3</c:v>
                </c:pt>
                <c:pt idx="13">
                  <c:v>0.325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0.425</c:v>
                </c:pt>
                <c:pt idx="18">
                  <c:v>0.45</c:v>
                </c:pt>
                <c:pt idx="19">
                  <c:v>0.475</c:v>
                </c:pt>
                <c:pt idx="20">
                  <c:v>0.5</c:v>
                </c:pt>
                <c:pt idx="21">
                  <c:v>0.525</c:v>
                </c:pt>
                <c:pt idx="22">
                  <c:v>0.55</c:v>
                </c:pt>
                <c:pt idx="23">
                  <c:v>0.575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</c:v>
                </c:pt>
                <c:pt idx="28">
                  <c:v>0.7</c:v>
                </c:pt>
                <c:pt idx="29">
                  <c:v>0.725</c:v>
                </c:pt>
                <c:pt idx="30">
                  <c:v>0.75</c:v>
                </c:pt>
                <c:pt idx="31">
                  <c:v>0.775</c:v>
                </c:pt>
                <c:pt idx="32">
                  <c:v>0.8</c:v>
                </c:pt>
                <c:pt idx="33">
                  <c:v>0.825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</c:v>
                </c:pt>
                <c:pt idx="38">
                  <c:v>0.95</c:v>
                </c:pt>
                <c:pt idx="39">
                  <c:v>0.975</c:v>
                </c:pt>
                <c:pt idx="40">
                  <c:v>1</c:v>
                </c:pt>
              </c:numCache>
            </c:numRef>
          </c:xVal>
          <c:yVal>
            <c:numRef>
              <c:f>'Chart Data'!$B$2:$B$42</c:f>
              <c:numCache>
                <c:formatCode>General</c:formatCode>
                <c:ptCount val="41"/>
                <c:pt idx="0">
                  <c:v>80</c:v>
                </c:pt>
                <c:pt idx="1">
                  <c:v>85.9</c:v>
                </c:pt>
                <c:pt idx="2">
                  <c:v>67</c:v>
                </c:pt>
                <c:pt idx="3">
                  <c:v>81.2</c:v>
                </c:pt>
                <c:pt idx="4">
                  <c:v>76.1</c:v>
                </c:pt>
                <c:pt idx="5">
                  <c:v>63.6</c:v>
                </c:pt>
                <c:pt idx="6">
                  <c:v>80.3</c:v>
                </c:pt>
                <c:pt idx="7">
                  <c:v>65.5</c:v>
                </c:pt>
                <c:pt idx="8">
                  <c:v>63.5</c:v>
                </c:pt>
                <c:pt idx="9">
                  <c:v>75.9</c:v>
                </c:pt>
                <c:pt idx="10">
                  <c:v>56.3</c:v>
                </c:pt>
                <c:pt idx="11">
                  <c:v>64.9</c:v>
                </c:pt>
                <c:pt idx="12">
                  <c:v>67.9</c:v>
                </c:pt>
                <c:pt idx="13">
                  <c:v>50.2</c:v>
                </c:pt>
                <c:pt idx="14">
                  <c:v>65.7</c:v>
                </c:pt>
                <c:pt idx="15">
                  <c:v>57.7</c:v>
                </c:pt>
                <c:pt idx="16">
                  <c:v>47.8</c:v>
                </c:pt>
                <c:pt idx="17">
                  <c:v>63.9</c:v>
                </c:pt>
                <c:pt idx="18">
                  <c:v>47.2</c:v>
                </c:pt>
                <c:pt idx="19">
                  <c:v>48.2</c:v>
                </c:pt>
                <c:pt idx="20">
                  <c:v>58.5</c:v>
                </c:pt>
                <c:pt idx="21">
                  <c:v>38.7</c:v>
                </c:pt>
                <c:pt idx="22">
                  <c:v>49.7</c:v>
                </c:pt>
                <c:pt idx="23">
                  <c:v>49.8</c:v>
                </c:pt>
                <c:pt idx="24">
                  <c:v>33.6</c:v>
                </c:pt>
                <c:pt idx="25">
                  <c:v>50</c:v>
                </c:pt>
                <c:pt idx="26">
                  <c:v>39.3</c:v>
                </c:pt>
                <c:pt idx="27">
                  <c:v>32.1</c:v>
                </c:pt>
                <c:pt idx="28">
                  <c:v>47.3</c:v>
                </c:pt>
                <c:pt idx="29">
                  <c:v>29.1</c:v>
                </c:pt>
                <c:pt idx="30">
                  <c:v>33.1</c:v>
                </c:pt>
                <c:pt idx="31">
                  <c:v>40.9</c:v>
                </c:pt>
                <c:pt idx="32">
                  <c:v>21.5</c:v>
                </c:pt>
                <c:pt idx="33">
                  <c:v>34.5</c:v>
                </c:pt>
                <c:pt idx="34">
                  <c:v>31.5</c:v>
                </c:pt>
                <c:pt idx="35">
                  <c:v>17.4</c:v>
                </c:pt>
                <c:pt idx="36">
                  <c:v>34.1</c:v>
                </c:pt>
                <c:pt idx="37">
                  <c:v>20.8</c:v>
                </c:pt>
                <c:pt idx="38">
                  <c:v>16.7</c:v>
                </c:pt>
                <c:pt idx="39">
                  <c:v>30.4</c:v>
                </c:pt>
                <c:pt idx="40">
                  <c:v>11.2</c:v>
                </c:pt>
              </c:numCache>
            </c:numRef>
          </c:y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100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125">
                    <a:latin typeface="Noto Sans CJK SC"/>
                    <a:ea typeface="Noto Sans CJK SC"/>
                    <a:cs typeface="Noto Sans CJK SC"/>
                  </a:rPr>
                  <a:t>物种数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12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majorUnit val="25"/>
      </c:valAx>
      <c:valAx>
        <c:axId val="48650112"/>
        <c:scaling>
          <c:orientation val="minMax"/>
          <c:max val="1"/>
          <c:min val="0"/>
        </c:scaling>
        <c:delete val="0"/>
        <c:axPos val="b"/>
        <c:numFmt formatCode="0.0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majorUnit val="0.25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14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2"/>
          <c:y val="0.06"/>
          <c:w val="0.84"/>
          <c:h val="0.69"/>
        </c:manualLayout>
      </c:layout>
      <c:barChart>
        <c:barDir val="col"/>
        <c:grouping val="stacked"/>
        <c:varyColors val="0"/>
        <c:ser>
          <c:idx val="0"/>
          <c:order val="0"/>
          <c:tx>
            <c:v>Q1</c:v>
          </c:tx>
          <c:spPr>
            <a:noFill/>
            <a:ln>
              <a:noFill/>
            </a:ln>
          </c:spPr>
          <c:invertIfNegative val="0"/>
          <c:errBars>
            <c:errDir val="y"/>
            <c:errBarType val="both"/>
            <c:errValType val="cust"/>
            <c:noEndCap val="0"/>
            <c:plus>
              <c:numLit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0</c:v>
                </c:pt>
              </c:numLit>
            </c:plus>
            <c:minus>
              <c:numLit>
                <c:formatCode>General</c:formatCode>
                <c:ptCount val="3"/>
                <c:pt idx="0">
                  <c:v>0.1365</c:v>
                </c:pt>
                <c:pt idx="1">
                  <c:v>0.1365</c:v>
                </c:pt>
                <c:pt idx="2">
                  <c:v>0.1365</c:v>
                </c:pt>
              </c:numLit>
            </c:minus>
            <c:spPr>
              <a:ln w="15240">
                <a:solidFill>
                  <a:srgbClr val="6E293C"/>
                </a:solidFill>
              </a:ln>
            </c:spPr>
          </c:errBars>
          <c:cat>
            <c:strRef>
              <c:f>'Chart Data'!$A$2:$A$4</c:f>
              <c:strCache>
                <c:ptCount val="3"/>
                <c:pt idx="0">
                  <c:v>连续林</c:v>
                </c:pt>
                <c:pt idx="1">
                  <c:v>过渡带</c:v>
                </c:pt>
                <c:pt idx="2">
                  <c:v>破碎林</c:v>
                </c:pt>
              </c:strCache>
            </c:strRef>
          </c:cat>
          <c:val>
            <c:numRef>
              <c:f>'Chart Data'!$B$2:$B$4</c:f>
              <c:numCache>
                <c:formatCode>General</c:formatCode>
                <c:ptCount val="3"/>
                <c:pt idx="0">
                  <c:v>1.4245</c:v>
                </c:pt>
                <c:pt idx="1">
                  <c:v>0.9245</c:v>
                </c:pt>
                <c:pt idx="2">
                  <c:v>0.4045</c:v>
                </c:pt>
              </c:numCache>
            </c:numRef>
          </c:val>
        </c:ser>
        <c:ser>
          <c:idx val="1"/>
          <c:order val="1"/>
          <c:tx>
            <c:v>Median minus Q1</c:v>
          </c:tx>
          <c:spPr>
            <a:solidFill>
              <a:srgbClr val="66859A"/>
            </a:solidFill>
            <a:ln w="11430">
              <a:solidFill>
                <a:srgbClr val="6E293C"/>
              </a:solidFill>
            </a:ln>
          </c:spPr>
          <c:invertIfNegative val="0"/>
          <c:cat>
            <c:strRef>
              <c:f>'Chart Data'!$C$2:$C$4</c:f>
              <c:strCache>
                <c:ptCount val="3"/>
                <c:pt idx="0">
                  <c:v>连续林</c:v>
                </c:pt>
                <c:pt idx="1">
                  <c:v>过渡带</c:v>
                </c:pt>
                <c:pt idx="2">
                  <c:v>破碎林</c:v>
                </c:pt>
              </c:strCache>
            </c:strRef>
          </c:cat>
          <c:val>
            <c:numRef>
              <c:f>'Chart Data'!$D$2:$D$4</c:f>
              <c:numCache>
                <c:formatCode>General</c:formatCode>
                <c:ptCount val="3"/>
                <c:pt idx="0">
                  <c:v>0.165</c:v>
                </c:pt>
                <c:pt idx="1">
                  <c:v>0.165</c:v>
                </c:pt>
                <c:pt idx="2">
                  <c:v>0.165</c:v>
                </c:pt>
              </c:numCache>
            </c:numRef>
          </c:val>
        </c:ser>
        <c:ser>
          <c:idx val="2"/>
          <c:order val="2"/>
          <c:tx>
            <c:v>Q3 minus median</c:v>
          </c:tx>
          <c:spPr>
            <a:solidFill>
              <a:srgbClr val="66859A"/>
            </a:solidFill>
            <a:ln w="11430">
              <a:solidFill>
                <a:srgbClr val="6E293C"/>
              </a:solidFill>
            </a:ln>
          </c:spPr>
          <c:invertIfNegative val="0"/>
          <c:errBars>
            <c:errDir val="y"/>
            <c:errBarType val="both"/>
            <c:errValType val="cust"/>
            <c:noEndCap val="0"/>
            <c:plus>
              <c:numLit>
                <c:formatCode>General</c:formatCode>
                <c:ptCount val="3"/>
                <c:pt idx="0">
                  <c:v>0.1745</c:v>
                </c:pt>
                <c:pt idx="1">
                  <c:v>0.1745</c:v>
                </c:pt>
                <c:pt idx="2">
                  <c:v>0.1745</c:v>
                </c:pt>
              </c:numLit>
            </c:plus>
            <c:minus>
              <c:numLit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0</c:v>
                </c:pt>
              </c:numLit>
            </c:minus>
            <c:spPr>
              <a:ln w="15240">
                <a:solidFill>
                  <a:srgbClr val="6E293C"/>
                </a:solidFill>
              </a:ln>
            </c:spPr>
          </c:errBars>
          <c:cat>
            <c:strRef>
              <c:f>'Chart Data'!$E$2:$E$4</c:f>
              <c:strCache>
                <c:ptCount val="3"/>
                <c:pt idx="0">
                  <c:v>连续林</c:v>
                </c:pt>
                <c:pt idx="1">
                  <c:v>过渡带</c:v>
                </c:pt>
                <c:pt idx="2">
                  <c:v>破碎林</c:v>
                </c:pt>
              </c:strCache>
            </c:strRef>
          </c:cat>
          <c:val>
            <c:numRef>
              <c:f>'Chart Data'!$F$2:$F$4</c:f>
              <c:numCache>
                <c:formatCode>General</c:formatCode>
                <c:ptCount val="3"/>
                <c:pt idx="0">
                  <c:v>0.103</c:v>
                </c:pt>
                <c:pt idx="1">
                  <c:v>0.103</c:v>
                </c:pt>
                <c:pt idx="2">
                  <c:v>0.103</c:v>
                </c:pt>
              </c:numCache>
            </c:numRef>
          </c: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10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tickLblSkip val="1"/>
        <c:tickMarkSkip val="1"/>
      </c:catAx>
      <c:valAx>
        <c:axId val="48672768"/>
        <c:scaling>
          <c:orientation val="minMax"/>
          <c:max val="2.5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125">
                    <a:latin typeface="Noto Sans CJK SC"/>
                    <a:ea typeface="Noto Sans CJK SC"/>
                    <a:cs typeface="Noto Sans CJK SC"/>
                  </a:rPr>
                  <a:t>多样性指数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12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.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crossBetween val="between"/>
        <c:majorUnit val="0.5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15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2"/>
          <c:y val="0.06"/>
          <c:w val="0.84"/>
          <c:h val="0.69"/>
        </c:manualLayout>
      </c:layout>
      <c:areaChart>
        <c:grouping val="stacked"/>
        <c:varyColors val="0"/>
        <c:ser>
          <c:idx val="0"/>
          <c:order val="0"/>
          <c:tx>
            <c:v>Lower bound</c:v>
          </c:tx>
          <c:spPr>
            <a:noFill/>
            <a:ln>
              <a:noFill/>
            </a:ln>
          </c:spPr>
          <c:cat>
            <c:strRef>
              <c:f>'Chart Data'!$A$2:$A$13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Data'!$B$2:$B$13</c:f>
              <c:numCache>
                <c:formatCode>General</c:formatCode>
                <c:ptCount val="12"/>
                <c:pt idx="0">
                  <c:v>0.61</c:v>
                </c:pt>
                <c:pt idx="1">
                  <c:v>0.71</c:v>
                </c:pt>
                <c:pt idx="2">
                  <c:v>0.9</c:v>
                </c:pt>
                <c:pt idx="3">
                  <c:v>1.09</c:v>
                </c:pt>
                <c:pt idx="4">
                  <c:v>1.28</c:v>
                </c:pt>
                <c:pt idx="5">
                  <c:v>1.13</c:v>
                </c:pt>
                <c:pt idx="6">
                  <c:v>0.91</c:v>
                </c:pt>
                <c:pt idx="7">
                  <c:v>0.73</c:v>
                </c:pt>
                <c:pt idx="8">
                  <c:v>0.64</c:v>
                </c:pt>
                <c:pt idx="9">
                  <c:v>0.53</c:v>
                </c:pt>
                <c:pt idx="10">
                  <c:v>0.47</c:v>
                </c:pt>
                <c:pt idx="11">
                  <c:v>0.42</c:v>
                </c:pt>
              </c:numCache>
            </c:numRef>
          </c:val>
        </c:ser>
        <c:ser>
          <c:idx val="1"/>
          <c:order val="1"/>
          <c:tx>
            <c:v>Band width</c:v>
          </c:tx>
          <c:spPr>
            <a:solidFill>
              <a:srgbClr val="F4ECEE"/>
            </a:solidFill>
            <a:ln>
              <a:noFill/>
            </a:ln>
          </c:spPr>
          <c:cat>
            <c:strRef>
              <c:f>'Chart Data'!$C$2:$C$13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Data'!$D$2:$D$13</c:f>
              <c:numCache>
                <c:formatCode>General</c:formatCode>
                <c:ptCount val="12"/>
                <c:pt idx="0">
                  <c:v>0.34</c:v>
                </c:pt>
                <c:pt idx="1">
                  <c:v>0.38</c:v>
                </c:pt>
                <c:pt idx="2">
                  <c:v>0.4</c:v>
                </c:pt>
                <c:pt idx="3">
                  <c:v>0.42</c:v>
                </c:pt>
                <c:pt idx="4">
                  <c:v>0.4</c:v>
                </c:pt>
                <c:pt idx="5">
                  <c:v>0.38</c:v>
                </c:pt>
                <c:pt idx="6">
                  <c:v>0.38</c:v>
                </c:pt>
                <c:pt idx="7">
                  <c:v>0.38</c:v>
                </c:pt>
                <c:pt idx="8">
                  <c:v>0.38</c:v>
                </c:pt>
                <c:pt idx="9">
                  <c:v>0.38</c:v>
                </c:pt>
                <c:pt idx="10">
                  <c:v>0.38</c:v>
                </c:pt>
                <c:pt idx="11">
                  <c:v>0.36</c:v>
                </c:pt>
              </c:numCache>
            </c:numRef>
          </c:val>
        </c:ser>
        <c:axId val="48650112"/>
        <c:axId val="48672768"/>
      </c:areaChart>
      <c:lineChart>
        <c:grouping val="standard"/>
        <c:varyColors val="0"/>
        <c:ser>
          <c:idx val="2"/>
          <c:order val="2"/>
          <c:tx>
            <c:v>情景 A</c:v>
          </c:tx>
          <c:spPr>
            <a:solidFill>
              <a:srgbClr val="6E293C"/>
            </a:solidFill>
            <a:ln w="19050">
              <a:solidFill>
                <a:srgbClr val="6E293C"/>
              </a:solidFill>
              <a:prstDash val="solid"/>
            </a:ln>
          </c:spPr>
          <c:marker>
            <c:symbol val="circle"/>
            <c:size val="5"/>
            <c:spPr>
              <a:solidFill>
                <a:srgbClr val="6E293C"/>
              </a:solidFill>
              <a:ln w="8890">
                <a:solidFill>
                  <a:srgbClr val="6E293C"/>
                </a:solidFill>
              </a:ln>
            </c:spPr>
          </c:marker>
          <c:cat>
            <c:strRef>
              <c:f>'Chart Data'!$E$2:$E$13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Data'!$F$2:$F$13</c:f>
              <c:numCache>
                <c:formatCode>General</c:formatCode>
                <c:ptCount val="12"/>
                <c:pt idx="0">
                  <c:v>0.78</c:v>
                </c:pt>
                <c:pt idx="1">
                  <c:v>0.9</c:v>
                </c:pt>
                <c:pt idx="2">
                  <c:v>1.1</c:v>
                </c:pt>
                <c:pt idx="3">
                  <c:v>1.3</c:v>
                </c:pt>
                <c:pt idx="4">
                  <c:v>1.48</c:v>
                </c:pt>
                <c:pt idx="5">
                  <c:v>1.32</c:v>
                </c:pt>
                <c:pt idx="6">
                  <c:v>1.1</c:v>
                </c:pt>
                <c:pt idx="7">
                  <c:v>0.92</c:v>
                </c:pt>
                <c:pt idx="8">
                  <c:v>0.83</c:v>
                </c:pt>
                <c:pt idx="9">
                  <c:v>0.72</c:v>
                </c:pt>
                <c:pt idx="10">
                  <c:v>0.66</c:v>
                </c:pt>
                <c:pt idx="11">
                  <c:v>0.6</c:v>
                </c:pt>
              </c:numCache>
            </c:numRef>
          </c:val>
          <c:smooth val="0"/>
        </c:ser>
        <c:ser>
          <c:idx val="3"/>
          <c:order val="3"/>
          <c:tx>
            <c:v>情景 B</c:v>
          </c:tx>
          <c:spPr>
            <a:solidFill>
              <a:srgbClr val="A97738"/>
            </a:solidFill>
            <a:ln w="19050">
              <a:solidFill>
                <a:srgbClr val="A97738"/>
              </a:solidFill>
              <a:prstDash val="solid"/>
            </a:ln>
          </c:spPr>
          <c:marker>
            <c:symbol val="circle"/>
            <c:size val="5"/>
            <c:spPr>
              <a:solidFill>
                <a:srgbClr val="A97738"/>
              </a:solidFill>
              <a:ln w="8890">
                <a:solidFill>
                  <a:srgbClr val="A97738"/>
                </a:solidFill>
              </a:ln>
            </c:spPr>
          </c:marker>
          <c:cat>
            <c:strRef>
              <c:f>'Chart Data'!$G$2:$G$13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Data'!$H$2:$H$13</c:f>
              <c:numCache>
                <c:formatCode>General</c:formatCode>
                <c:ptCount val="12"/>
                <c:pt idx="0">
                  <c:v>0.24</c:v>
                </c:pt>
                <c:pt idx="1">
                  <c:v>0.32</c:v>
                </c:pt>
                <c:pt idx="2">
                  <c:v>0.44</c:v>
                </c:pt>
                <c:pt idx="3">
                  <c:v>0.61</c:v>
                </c:pt>
                <c:pt idx="4">
                  <c:v>0.72</c:v>
                </c:pt>
                <c:pt idx="5">
                  <c:v>0.6</c:v>
                </c:pt>
                <c:pt idx="6">
                  <c:v>0.52</c:v>
                </c:pt>
                <c:pt idx="7">
                  <c:v>0.38</c:v>
                </c:pt>
                <c:pt idx="8">
                  <c:v>0.31</c:v>
                </c:pt>
                <c:pt idx="9">
                  <c:v>0.27</c:v>
                </c:pt>
                <c:pt idx="10">
                  <c:v>0.25</c:v>
                </c:pt>
                <c:pt idx="11">
                  <c:v>0.24</c:v>
                </c:pt>
              </c:numCache>
            </c:numRef>
          </c:val>
          <c:smooth val="0"/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tickLblSkip val="2"/>
        <c:tickMarkSkip val="2"/>
      </c:catAx>
      <c:valAx>
        <c:axId val="48672768"/>
        <c:scaling>
          <c:orientation val="minMax"/>
          <c:max val="2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125">
                    <a:latin typeface="Noto Sans CJK SC"/>
                    <a:ea typeface="Noto Sans CJK SC"/>
                    <a:cs typeface="Noto Sans CJK SC"/>
                  </a:rPr>
                  <a:t>相对活动指数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12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.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crossBetween val="between"/>
        <c:majorUnit val="0.5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16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27"/>
          <c:y val="0.05"/>
          <c:w val="0.69"/>
          <c:h val="0.69"/>
        </c:manualLayout>
      </c:layout>
      <c:scatterChart>
        <c:scatterStyle val="marker"/>
        <c:varyColors val="0"/>
        <c:ser>
          <c:idx val="0"/>
          <c:order val="0"/>
          <c:tx>
            <c:v>效应估计</c:v>
          </c:tx>
          <c:spPr>
            <a:noFill/>
            <a:ln>
              <a:noFill/>
            </a:ln>
          </c:spPr>
          <c:marker>
            <c:symbol val="circle"/>
            <c:size val="7"/>
            <c:spPr>
              <a:solidFill>
                <a:srgbClr val="6E293C"/>
              </a:solidFill>
              <a:ln w="8890">
                <a:solidFill>
                  <a:srgbClr val="6E293C"/>
                </a:solidFill>
              </a:ln>
            </c:spPr>
          </c:marker>
          <c:errBars>
            <c:errDir val="x"/>
            <c:errBarType val="both"/>
            <c:errValType val="cust"/>
            <c:noEndCap val="0"/>
            <c:plus>
              <c:numLit>
                <c:formatCode>General</c:formatCode>
                <c:ptCount val="4"/>
                <c:pt idx="0">
                  <c:v>0.23</c:v>
                </c:pt>
                <c:pt idx="1">
                  <c:v>0.17</c:v>
                </c:pt>
                <c:pt idx="2">
                  <c:v>0.22</c:v>
                </c:pt>
                <c:pt idx="3">
                  <c:v>0.2</c:v>
                </c:pt>
              </c:numLit>
            </c:plus>
            <c:minus>
              <c:numLit>
                <c:formatCode>General</c:formatCode>
                <c:ptCount val="4"/>
                <c:pt idx="0">
                  <c:v>0.23</c:v>
                </c:pt>
                <c:pt idx="1">
                  <c:v>0.17</c:v>
                </c:pt>
                <c:pt idx="2">
                  <c:v>0.21</c:v>
                </c:pt>
                <c:pt idx="3">
                  <c:v>0.18</c:v>
                </c:pt>
              </c:numLit>
            </c:minus>
            <c:spPr>
              <a:ln w="15240">
                <a:solidFill>
                  <a:srgbClr val="6E293C"/>
                </a:solidFill>
              </a:ln>
            </c:spPr>
          </c:errBars>
          <c:xVal>
            <c:numRef>
              <c:f>'Chart Data'!$A$2:$A$5</c:f>
              <c:numCache>
                <c:formatCode>General</c:formatCode>
                <c:ptCount val="4"/>
                <c:pt idx="0">
                  <c:v>0.42</c:v>
                </c:pt>
                <c:pt idx="1">
                  <c:v>-0.24</c:v>
                </c:pt>
                <c:pt idx="2">
                  <c:v>0.31</c:v>
                </c:pt>
                <c:pt idx="3">
                  <c:v>-0.44</c:v>
                </c:pt>
              </c:numCache>
            </c:numRef>
          </c:xVal>
          <c:yVal>
            <c:numRef>
              <c:f>'Chart Data'!$B$2:$B$5</c:f>
              <c:numCache>
                <c:formatCode>General</c:formatCode>
                <c:ptCount val="4"/>
                <c:pt idx="0">
                  <c:v>4</c:v>
                </c:pt>
                <c:pt idx="1">
                  <c:v>3</c:v>
                </c:pt>
                <c:pt idx="2">
                  <c:v>2</c:v>
                </c:pt>
                <c:pt idx="3">
                  <c:v>1</c:v>
                </c:pt>
              </c:numCache>
            </c:numRef>
          </c:y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5"/>
          <c:min val="0"/>
        </c:scaling>
        <c:delete val="0"/>
        <c:axPos val="l"/>
        <c:numFmt formatCode="&quot;&quot;" sourceLinked="0"/>
        <c:majorTickMark val="none"/>
        <c:minorTickMark val="none"/>
        <c:tickLblPos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majorUnit val="1"/>
      </c:valAx>
      <c:valAx>
        <c:axId val="48650112"/>
        <c:scaling>
          <c:orientation val="minMax"/>
          <c:max val="0.8"/>
          <c:min val="-0.8"/>
        </c:scaling>
        <c:delete val="0"/>
        <c:axPos val="b"/>
        <c:numFmt formatCode="0.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majorUnit val="0.4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17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2"/>
          <c:y val="0.06"/>
          <c:w val="0.84"/>
          <c:h val="0.69"/>
        </c:manualLayout>
      </c:layout>
      <c:scatterChart>
        <c:scatterStyle val="marker"/>
        <c:varyColors val="0"/>
        <c:ser>
          <c:idx val="0"/>
          <c:order val="0"/>
          <c:tx>
            <c:v>示意观测</c:v>
          </c:tx>
          <c:spPr>
            <a:noFill/>
            <a:ln>
              <a:noFill/>
            </a:ln>
          </c:spPr>
          <c:marker>
            <c:symbol val="circle"/>
            <c:size val="4"/>
            <c:spPr>
              <a:solidFill>
                <a:srgbClr val="3F2F7A"/>
              </a:solidFill>
              <a:ln w="8890">
                <a:solidFill>
                  <a:srgbClr val="3F2F7A"/>
                </a:solidFill>
              </a:ln>
            </c:spPr>
          </c:marker>
          <c:trendline>
            <c:spPr>
              <a:ln w="19050">
                <a:solidFill>
                  <a:srgbClr val="3F2F7A"/>
                </a:solidFill>
                <a:prstDash val="solid"/>
              </a:ln>
            </c:spPr>
            <c:trendlineType val="linear"/>
            <c:dispRSqr val="0"/>
            <c:dispEq val="0"/>
          </c:trendline>
          <c:xVal>
            <c:numRef>
              <c:f>'Chart Data'!$A$2:$A$42</c:f>
              <c:numCache>
                <c:formatCode>General</c:formatCode>
                <c:ptCount val="41"/>
                <c:pt idx="0">
                  <c:v>0</c:v>
                </c:pt>
                <c:pt idx="1">
                  <c:v>0.025</c:v>
                </c:pt>
                <c:pt idx="2">
                  <c:v>0.05</c:v>
                </c:pt>
                <c:pt idx="3">
                  <c:v>0.075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0.175</c:v>
                </c:pt>
                <c:pt idx="8">
                  <c:v>0.2</c:v>
                </c:pt>
                <c:pt idx="9">
                  <c:v>0.225</c:v>
                </c:pt>
                <c:pt idx="10">
                  <c:v>0.25</c:v>
                </c:pt>
                <c:pt idx="11">
                  <c:v>0.275</c:v>
                </c:pt>
                <c:pt idx="12">
                  <c:v>0.3</c:v>
                </c:pt>
                <c:pt idx="13">
                  <c:v>0.325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0.425</c:v>
                </c:pt>
                <c:pt idx="18">
                  <c:v>0.45</c:v>
                </c:pt>
                <c:pt idx="19">
                  <c:v>0.475</c:v>
                </c:pt>
                <c:pt idx="20">
                  <c:v>0.5</c:v>
                </c:pt>
                <c:pt idx="21">
                  <c:v>0.525</c:v>
                </c:pt>
                <c:pt idx="22">
                  <c:v>0.55</c:v>
                </c:pt>
                <c:pt idx="23">
                  <c:v>0.575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</c:v>
                </c:pt>
                <c:pt idx="28">
                  <c:v>0.7</c:v>
                </c:pt>
                <c:pt idx="29">
                  <c:v>0.725</c:v>
                </c:pt>
                <c:pt idx="30">
                  <c:v>0.75</c:v>
                </c:pt>
                <c:pt idx="31">
                  <c:v>0.775</c:v>
                </c:pt>
                <c:pt idx="32">
                  <c:v>0.8</c:v>
                </c:pt>
                <c:pt idx="33">
                  <c:v>0.825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</c:v>
                </c:pt>
                <c:pt idx="38">
                  <c:v>0.95</c:v>
                </c:pt>
                <c:pt idx="39">
                  <c:v>0.975</c:v>
                </c:pt>
                <c:pt idx="40">
                  <c:v>1</c:v>
                </c:pt>
              </c:numCache>
            </c:numRef>
          </c:xVal>
          <c:yVal>
            <c:numRef>
              <c:f>'Chart Data'!$B$2:$B$42</c:f>
              <c:numCache>
                <c:formatCode>General</c:formatCode>
                <c:ptCount val="41"/>
                <c:pt idx="0">
                  <c:v>80</c:v>
                </c:pt>
                <c:pt idx="1">
                  <c:v>85.9</c:v>
                </c:pt>
                <c:pt idx="2">
                  <c:v>67</c:v>
                </c:pt>
                <c:pt idx="3">
                  <c:v>81.2</c:v>
                </c:pt>
                <c:pt idx="4">
                  <c:v>76.1</c:v>
                </c:pt>
                <c:pt idx="5">
                  <c:v>63.6</c:v>
                </c:pt>
                <c:pt idx="6">
                  <c:v>80.3</c:v>
                </c:pt>
                <c:pt idx="7">
                  <c:v>65.5</c:v>
                </c:pt>
                <c:pt idx="8">
                  <c:v>63.5</c:v>
                </c:pt>
                <c:pt idx="9">
                  <c:v>75.9</c:v>
                </c:pt>
                <c:pt idx="10">
                  <c:v>56.3</c:v>
                </c:pt>
                <c:pt idx="11">
                  <c:v>64.9</c:v>
                </c:pt>
                <c:pt idx="12">
                  <c:v>67.9</c:v>
                </c:pt>
                <c:pt idx="13">
                  <c:v>50.2</c:v>
                </c:pt>
                <c:pt idx="14">
                  <c:v>65.7</c:v>
                </c:pt>
                <c:pt idx="15">
                  <c:v>57.7</c:v>
                </c:pt>
                <c:pt idx="16">
                  <c:v>47.8</c:v>
                </c:pt>
                <c:pt idx="17">
                  <c:v>63.9</c:v>
                </c:pt>
                <c:pt idx="18">
                  <c:v>47.2</c:v>
                </c:pt>
                <c:pt idx="19">
                  <c:v>48.2</c:v>
                </c:pt>
                <c:pt idx="20">
                  <c:v>58.5</c:v>
                </c:pt>
                <c:pt idx="21">
                  <c:v>38.7</c:v>
                </c:pt>
                <c:pt idx="22">
                  <c:v>49.7</c:v>
                </c:pt>
                <c:pt idx="23">
                  <c:v>49.8</c:v>
                </c:pt>
                <c:pt idx="24">
                  <c:v>33.6</c:v>
                </c:pt>
                <c:pt idx="25">
                  <c:v>50</c:v>
                </c:pt>
                <c:pt idx="26">
                  <c:v>39.3</c:v>
                </c:pt>
                <c:pt idx="27">
                  <c:v>32.1</c:v>
                </c:pt>
                <c:pt idx="28">
                  <c:v>47.3</c:v>
                </c:pt>
                <c:pt idx="29">
                  <c:v>29.1</c:v>
                </c:pt>
                <c:pt idx="30">
                  <c:v>33.1</c:v>
                </c:pt>
                <c:pt idx="31">
                  <c:v>40.9</c:v>
                </c:pt>
                <c:pt idx="32">
                  <c:v>21.5</c:v>
                </c:pt>
                <c:pt idx="33">
                  <c:v>34.5</c:v>
                </c:pt>
                <c:pt idx="34">
                  <c:v>31.5</c:v>
                </c:pt>
                <c:pt idx="35">
                  <c:v>17.4</c:v>
                </c:pt>
                <c:pt idx="36">
                  <c:v>34.1</c:v>
                </c:pt>
                <c:pt idx="37">
                  <c:v>20.8</c:v>
                </c:pt>
                <c:pt idx="38">
                  <c:v>16.7</c:v>
                </c:pt>
                <c:pt idx="39">
                  <c:v>30.4</c:v>
                </c:pt>
                <c:pt idx="40">
                  <c:v>11.2</c:v>
                </c:pt>
              </c:numCache>
            </c:numRef>
          </c:y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100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125">
                    <a:latin typeface="Noto Sans CJK SC"/>
                    <a:ea typeface="Noto Sans CJK SC"/>
                    <a:cs typeface="Noto Sans CJK SC"/>
                  </a:rPr>
                  <a:t>物种数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12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majorUnit val="25"/>
      </c:valAx>
      <c:valAx>
        <c:axId val="48650112"/>
        <c:scaling>
          <c:orientation val="minMax"/>
          <c:max val="1"/>
          <c:min val="0"/>
        </c:scaling>
        <c:delete val="0"/>
        <c:axPos val="b"/>
        <c:numFmt formatCode="0.0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majorUnit val="0.25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18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2"/>
          <c:y val="0.06"/>
          <c:w val="0.84"/>
          <c:h val="0.69"/>
        </c:manualLayout>
      </c:layout>
      <c:barChart>
        <c:barDir val="col"/>
        <c:grouping val="stacked"/>
        <c:varyColors val="0"/>
        <c:ser>
          <c:idx val="0"/>
          <c:order val="0"/>
          <c:tx>
            <c:v>Q1</c:v>
          </c:tx>
          <c:spPr>
            <a:noFill/>
            <a:ln>
              <a:noFill/>
            </a:ln>
          </c:spPr>
          <c:invertIfNegative val="0"/>
          <c:errBars>
            <c:errDir val="y"/>
            <c:errBarType val="both"/>
            <c:errValType val="cust"/>
            <c:noEndCap val="0"/>
            <c:plus>
              <c:numLit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0</c:v>
                </c:pt>
              </c:numLit>
            </c:plus>
            <c:minus>
              <c:numLit>
                <c:formatCode>General</c:formatCode>
                <c:ptCount val="3"/>
                <c:pt idx="0">
                  <c:v>0.1365</c:v>
                </c:pt>
                <c:pt idx="1">
                  <c:v>0.1365</c:v>
                </c:pt>
                <c:pt idx="2">
                  <c:v>0.1365</c:v>
                </c:pt>
              </c:numLit>
            </c:minus>
            <c:spPr>
              <a:ln w="15240">
                <a:solidFill>
                  <a:srgbClr val="3F2F7A"/>
                </a:solidFill>
              </a:ln>
            </c:spPr>
          </c:errBars>
          <c:cat>
            <c:strRef>
              <c:f>'Chart Data'!$A$2:$A$4</c:f>
              <c:strCache>
                <c:ptCount val="3"/>
                <c:pt idx="0">
                  <c:v>连续林</c:v>
                </c:pt>
                <c:pt idx="1">
                  <c:v>过渡带</c:v>
                </c:pt>
                <c:pt idx="2">
                  <c:v>破碎林</c:v>
                </c:pt>
              </c:strCache>
            </c:strRef>
          </c:cat>
          <c:val>
            <c:numRef>
              <c:f>'Chart Data'!$B$2:$B$4</c:f>
              <c:numCache>
                <c:formatCode>General</c:formatCode>
                <c:ptCount val="3"/>
                <c:pt idx="0">
                  <c:v>1.4245</c:v>
                </c:pt>
                <c:pt idx="1">
                  <c:v>0.9245</c:v>
                </c:pt>
                <c:pt idx="2">
                  <c:v>0.4045</c:v>
                </c:pt>
              </c:numCache>
            </c:numRef>
          </c:val>
        </c:ser>
        <c:ser>
          <c:idx val="1"/>
          <c:order val="1"/>
          <c:tx>
            <c:v>Median minus Q1</c:v>
          </c:tx>
          <c:spPr>
            <a:solidFill>
              <a:srgbClr val="8C84AE"/>
            </a:solidFill>
            <a:ln w="11430">
              <a:solidFill>
                <a:srgbClr val="3F2F7A"/>
              </a:solidFill>
            </a:ln>
          </c:spPr>
          <c:invertIfNegative val="0"/>
          <c:cat>
            <c:strRef>
              <c:f>'Chart Data'!$C$2:$C$4</c:f>
              <c:strCache>
                <c:ptCount val="3"/>
                <c:pt idx="0">
                  <c:v>连续林</c:v>
                </c:pt>
                <c:pt idx="1">
                  <c:v>过渡带</c:v>
                </c:pt>
                <c:pt idx="2">
                  <c:v>破碎林</c:v>
                </c:pt>
              </c:strCache>
            </c:strRef>
          </c:cat>
          <c:val>
            <c:numRef>
              <c:f>'Chart Data'!$D$2:$D$4</c:f>
              <c:numCache>
                <c:formatCode>General</c:formatCode>
                <c:ptCount val="3"/>
                <c:pt idx="0">
                  <c:v>0.165</c:v>
                </c:pt>
                <c:pt idx="1">
                  <c:v>0.165</c:v>
                </c:pt>
                <c:pt idx="2">
                  <c:v>0.165</c:v>
                </c:pt>
              </c:numCache>
            </c:numRef>
          </c:val>
        </c:ser>
        <c:ser>
          <c:idx val="2"/>
          <c:order val="2"/>
          <c:tx>
            <c:v>Q3 minus median</c:v>
          </c:tx>
          <c:spPr>
            <a:solidFill>
              <a:srgbClr val="8C84AE"/>
            </a:solidFill>
            <a:ln w="11430">
              <a:solidFill>
                <a:srgbClr val="3F2F7A"/>
              </a:solidFill>
            </a:ln>
          </c:spPr>
          <c:invertIfNegative val="0"/>
          <c:errBars>
            <c:errDir val="y"/>
            <c:errBarType val="both"/>
            <c:errValType val="cust"/>
            <c:noEndCap val="0"/>
            <c:plus>
              <c:numLit>
                <c:formatCode>General</c:formatCode>
                <c:ptCount val="3"/>
                <c:pt idx="0">
                  <c:v>0.1745</c:v>
                </c:pt>
                <c:pt idx="1">
                  <c:v>0.1745</c:v>
                </c:pt>
                <c:pt idx="2">
                  <c:v>0.1745</c:v>
                </c:pt>
              </c:numLit>
            </c:plus>
            <c:minus>
              <c:numLit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0</c:v>
                </c:pt>
              </c:numLit>
            </c:minus>
            <c:spPr>
              <a:ln w="15240">
                <a:solidFill>
                  <a:srgbClr val="3F2F7A"/>
                </a:solidFill>
              </a:ln>
            </c:spPr>
          </c:errBars>
          <c:cat>
            <c:strRef>
              <c:f>'Chart Data'!$E$2:$E$4</c:f>
              <c:strCache>
                <c:ptCount val="3"/>
                <c:pt idx="0">
                  <c:v>连续林</c:v>
                </c:pt>
                <c:pt idx="1">
                  <c:v>过渡带</c:v>
                </c:pt>
                <c:pt idx="2">
                  <c:v>破碎林</c:v>
                </c:pt>
              </c:strCache>
            </c:strRef>
          </c:cat>
          <c:val>
            <c:numRef>
              <c:f>'Chart Data'!$F$2:$F$4</c:f>
              <c:numCache>
                <c:formatCode>General</c:formatCode>
                <c:ptCount val="3"/>
                <c:pt idx="0">
                  <c:v>0.103</c:v>
                </c:pt>
                <c:pt idx="1">
                  <c:v>0.103</c:v>
                </c:pt>
                <c:pt idx="2">
                  <c:v>0.103</c:v>
                </c:pt>
              </c:numCache>
            </c:numRef>
          </c: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10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tickLblSkip val="1"/>
        <c:tickMarkSkip val="1"/>
      </c:catAx>
      <c:valAx>
        <c:axId val="48672768"/>
        <c:scaling>
          <c:orientation val="minMax"/>
          <c:max val="2.5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125">
                    <a:latin typeface="Noto Sans CJK SC"/>
                    <a:ea typeface="Noto Sans CJK SC"/>
                    <a:cs typeface="Noto Sans CJK SC"/>
                  </a:rPr>
                  <a:t>多样性指数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12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.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crossBetween val="between"/>
        <c:majorUnit val="0.5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19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2"/>
          <c:y val="0.06"/>
          <c:w val="0.84"/>
          <c:h val="0.69"/>
        </c:manualLayout>
      </c:layout>
      <c:areaChart>
        <c:grouping val="stacked"/>
        <c:varyColors val="0"/>
        <c:ser>
          <c:idx val="0"/>
          <c:order val="0"/>
          <c:tx>
            <c:v>Lower bound</c:v>
          </c:tx>
          <c:spPr>
            <a:noFill/>
            <a:ln>
              <a:noFill/>
            </a:ln>
          </c:spPr>
          <c:cat>
            <c:strRef>
              <c:f>'Chart Data'!$A$2:$A$13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Data'!$B$2:$B$13</c:f>
              <c:numCache>
                <c:formatCode>General</c:formatCode>
                <c:ptCount val="12"/>
                <c:pt idx="0">
                  <c:v>0.61</c:v>
                </c:pt>
                <c:pt idx="1">
                  <c:v>0.71</c:v>
                </c:pt>
                <c:pt idx="2">
                  <c:v>0.9</c:v>
                </c:pt>
                <c:pt idx="3">
                  <c:v>1.09</c:v>
                </c:pt>
                <c:pt idx="4">
                  <c:v>1.28</c:v>
                </c:pt>
                <c:pt idx="5">
                  <c:v>1.13</c:v>
                </c:pt>
                <c:pt idx="6">
                  <c:v>0.91</c:v>
                </c:pt>
                <c:pt idx="7">
                  <c:v>0.73</c:v>
                </c:pt>
                <c:pt idx="8">
                  <c:v>0.64</c:v>
                </c:pt>
                <c:pt idx="9">
                  <c:v>0.53</c:v>
                </c:pt>
                <c:pt idx="10">
                  <c:v>0.47</c:v>
                </c:pt>
                <c:pt idx="11">
                  <c:v>0.42</c:v>
                </c:pt>
              </c:numCache>
            </c:numRef>
          </c:val>
        </c:ser>
        <c:ser>
          <c:idx val="1"/>
          <c:order val="1"/>
          <c:tx>
            <c:v>Band width</c:v>
          </c:tx>
          <c:spPr>
            <a:solidFill>
              <a:srgbClr val="F0EEF7"/>
            </a:solidFill>
            <a:ln>
              <a:noFill/>
            </a:ln>
          </c:spPr>
          <c:cat>
            <c:strRef>
              <c:f>'Chart Data'!$C$2:$C$13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Data'!$D$2:$D$13</c:f>
              <c:numCache>
                <c:formatCode>General</c:formatCode>
                <c:ptCount val="12"/>
                <c:pt idx="0">
                  <c:v>0.34</c:v>
                </c:pt>
                <c:pt idx="1">
                  <c:v>0.38</c:v>
                </c:pt>
                <c:pt idx="2">
                  <c:v>0.4</c:v>
                </c:pt>
                <c:pt idx="3">
                  <c:v>0.42</c:v>
                </c:pt>
                <c:pt idx="4">
                  <c:v>0.4</c:v>
                </c:pt>
                <c:pt idx="5">
                  <c:v>0.38</c:v>
                </c:pt>
                <c:pt idx="6">
                  <c:v>0.38</c:v>
                </c:pt>
                <c:pt idx="7">
                  <c:v>0.38</c:v>
                </c:pt>
                <c:pt idx="8">
                  <c:v>0.38</c:v>
                </c:pt>
                <c:pt idx="9">
                  <c:v>0.38</c:v>
                </c:pt>
                <c:pt idx="10">
                  <c:v>0.38</c:v>
                </c:pt>
                <c:pt idx="11">
                  <c:v>0.36</c:v>
                </c:pt>
              </c:numCache>
            </c:numRef>
          </c:val>
        </c:ser>
        <c:axId val="48650112"/>
        <c:axId val="48672768"/>
      </c:areaChart>
      <c:lineChart>
        <c:grouping val="standard"/>
        <c:varyColors val="0"/>
        <c:ser>
          <c:idx val="2"/>
          <c:order val="2"/>
          <c:tx>
            <c:v>情景 A</c:v>
          </c:tx>
          <c:spPr>
            <a:solidFill>
              <a:srgbClr val="3F2F7A"/>
            </a:solidFill>
            <a:ln w="19050">
              <a:solidFill>
                <a:srgbClr val="3F2F7A"/>
              </a:solidFill>
              <a:prstDash val="solid"/>
            </a:ln>
          </c:spPr>
          <c:marker>
            <c:symbol val="circle"/>
            <c:size val="5"/>
            <c:spPr>
              <a:solidFill>
                <a:srgbClr val="3F2F7A"/>
              </a:solidFill>
              <a:ln w="8890">
                <a:solidFill>
                  <a:srgbClr val="3F2F7A"/>
                </a:solidFill>
              </a:ln>
            </c:spPr>
          </c:marker>
          <c:cat>
            <c:strRef>
              <c:f>'Chart Data'!$E$2:$E$13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Data'!$F$2:$F$13</c:f>
              <c:numCache>
                <c:formatCode>General</c:formatCode>
                <c:ptCount val="12"/>
                <c:pt idx="0">
                  <c:v>0.78</c:v>
                </c:pt>
                <c:pt idx="1">
                  <c:v>0.9</c:v>
                </c:pt>
                <c:pt idx="2">
                  <c:v>1.1</c:v>
                </c:pt>
                <c:pt idx="3">
                  <c:v>1.3</c:v>
                </c:pt>
                <c:pt idx="4">
                  <c:v>1.48</c:v>
                </c:pt>
                <c:pt idx="5">
                  <c:v>1.32</c:v>
                </c:pt>
                <c:pt idx="6">
                  <c:v>1.1</c:v>
                </c:pt>
                <c:pt idx="7">
                  <c:v>0.92</c:v>
                </c:pt>
                <c:pt idx="8">
                  <c:v>0.83</c:v>
                </c:pt>
                <c:pt idx="9">
                  <c:v>0.72</c:v>
                </c:pt>
                <c:pt idx="10">
                  <c:v>0.66</c:v>
                </c:pt>
                <c:pt idx="11">
                  <c:v>0.6</c:v>
                </c:pt>
              </c:numCache>
            </c:numRef>
          </c:val>
          <c:smooth val="0"/>
        </c:ser>
        <c:ser>
          <c:idx val="3"/>
          <c:order val="3"/>
          <c:tx>
            <c:v>情景 B</c:v>
          </c:tx>
          <c:spPr>
            <a:solidFill>
              <a:srgbClr val="A58116"/>
            </a:solidFill>
            <a:ln w="19050">
              <a:solidFill>
                <a:srgbClr val="A58116"/>
              </a:solidFill>
              <a:prstDash val="solid"/>
            </a:ln>
          </c:spPr>
          <c:marker>
            <c:symbol val="circle"/>
            <c:size val="5"/>
            <c:spPr>
              <a:solidFill>
                <a:srgbClr val="A58116"/>
              </a:solidFill>
              <a:ln w="8890">
                <a:solidFill>
                  <a:srgbClr val="A58116"/>
                </a:solidFill>
              </a:ln>
            </c:spPr>
          </c:marker>
          <c:cat>
            <c:strRef>
              <c:f>'Chart Data'!$G$2:$G$13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Data'!$H$2:$H$13</c:f>
              <c:numCache>
                <c:formatCode>General</c:formatCode>
                <c:ptCount val="12"/>
                <c:pt idx="0">
                  <c:v>0.24</c:v>
                </c:pt>
                <c:pt idx="1">
                  <c:v>0.32</c:v>
                </c:pt>
                <c:pt idx="2">
                  <c:v>0.44</c:v>
                </c:pt>
                <c:pt idx="3">
                  <c:v>0.61</c:v>
                </c:pt>
                <c:pt idx="4">
                  <c:v>0.72</c:v>
                </c:pt>
                <c:pt idx="5">
                  <c:v>0.6</c:v>
                </c:pt>
                <c:pt idx="6">
                  <c:v>0.52</c:v>
                </c:pt>
                <c:pt idx="7">
                  <c:v>0.38</c:v>
                </c:pt>
                <c:pt idx="8">
                  <c:v>0.31</c:v>
                </c:pt>
                <c:pt idx="9">
                  <c:v>0.27</c:v>
                </c:pt>
                <c:pt idx="10">
                  <c:v>0.25</c:v>
                </c:pt>
                <c:pt idx="11">
                  <c:v>0.24</c:v>
                </c:pt>
              </c:numCache>
            </c:numRef>
          </c:val>
          <c:smooth val="0"/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tickLblSkip val="2"/>
        <c:tickMarkSkip val="2"/>
      </c:catAx>
      <c:valAx>
        <c:axId val="48672768"/>
        <c:scaling>
          <c:orientation val="minMax"/>
          <c:max val="2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125">
                    <a:latin typeface="Noto Sans CJK SC"/>
                    <a:ea typeface="Noto Sans CJK SC"/>
                    <a:cs typeface="Noto Sans CJK SC"/>
                  </a:rPr>
                  <a:t>相对活动指数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12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.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crossBetween val="between"/>
        <c:majorUnit val="0.5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20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27"/>
          <c:y val="0.05"/>
          <c:w val="0.69"/>
          <c:h val="0.69"/>
        </c:manualLayout>
      </c:layout>
      <c:scatterChart>
        <c:scatterStyle val="marker"/>
        <c:varyColors val="0"/>
        <c:ser>
          <c:idx val="0"/>
          <c:order val="0"/>
          <c:tx>
            <c:v>效应估计</c:v>
          </c:tx>
          <c:spPr>
            <a:noFill/>
            <a:ln>
              <a:noFill/>
            </a:ln>
          </c:spPr>
          <c:marker>
            <c:symbol val="circle"/>
            <c:size val="7"/>
            <c:spPr>
              <a:solidFill>
                <a:srgbClr val="3F2F7A"/>
              </a:solidFill>
              <a:ln w="8890">
                <a:solidFill>
                  <a:srgbClr val="3F2F7A"/>
                </a:solidFill>
              </a:ln>
            </c:spPr>
          </c:marker>
          <c:errBars>
            <c:errDir val="x"/>
            <c:errBarType val="both"/>
            <c:errValType val="cust"/>
            <c:noEndCap val="0"/>
            <c:plus>
              <c:numLit>
                <c:formatCode>General</c:formatCode>
                <c:ptCount val="4"/>
                <c:pt idx="0">
                  <c:v>0.23</c:v>
                </c:pt>
                <c:pt idx="1">
                  <c:v>0.17</c:v>
                </c:pt>
                <c:pt idx="2">
                  <c:v>0.22</c:v>
                </c:pt>
                <c:pt idx="3">
                  <c:v>0.2</c:v>
                </c:pt>
              </c:numLit>
            </c:plus>
            <c:minus>
              <c:numLit>
                <c:formatCode>General</c:formatCode>
                <c:ptCount val="4"/>
                <c:pt idx="0">
                  <c:v>0.23</c:v>
                </c:pt>
                <c:pt idx="1">
                  <c:v>0.17</c:v>
                </c:pt>
                <c:pt idx="2">
                  <c:v>0.21</c:v>
                </c:pt>
                <c:pt idx="3">
                  <c:v>0.18</c:v>
                </c:pt>
              </c:numLit>
            </c:minus>
            <c:spPr>
              <a:ln w="15240">
                <a:solidFill>
                  <a:srgbClr val="3F2F7A"/>
                </a:solidFill>
              </a:ln>
            </c:spPr>
          </c:errBars>
          <c:xVal>
            <c:numRef>
              <c:f>'Chart Data'!$A$2:$A$5</c:f>
              <c:numCache>
                <c:formatCode>General</c:formatCode>
                <c:ptCount val="4"/>
                <c:pt idx="0">
                  <c:v>0.42</c:v>
                </c:pt>
                <c:pt idx="1">
                  <c:v>-0.24</c:v>
                </c:pt>
                <c:pt idx="2">
                  <c:v>0.31</c:v>
                </c:pt>
                <c:pt idx="3">
                  <c:v>-0.44</c:v>
                </c:pt>
              </c:numCache>
            </c:numRef>
          </c:xVal>
          <c:yVal>
            <c:numRef>
              <c:f>'Chart Data'!$B$2:$B$5</c:f>
              <c:numCache>
                <c:formatCode>General</c:formatCode>
                <c:ptCount val="4"/>
                <c:pt idx="0">
                  <c:v>4</c:v>
                </c:pt>
                <c:pt idx="1">
                  <c:v>3</c:v>
                </c:pt>
                <c:pt idx="2">
                  <c:v>2</c:v>
                </c:pt>
                <c:pt idx="3">
                  <c:v>1</c:v>
                </c:pt>
              </c:numCache>
            </c:numRef>
          </c:y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5"/>
          <c:min val="0"/>
        </c:scaling>
        <c:delete val="0"/>
        <c:axPos val="l"/>
        <c:numFmt formatCode="&quot;&quot;" sourceLinked="0"/>
        <c:majorTickMark val="none"/>
        <c:minorTickMark val="none"/>
        <c:tickLblPos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majorUnit val="1"/>
      </c:valAx>
      <c:valAx>
        <c:axId val="48650112"/>
        <c:scaling>
          <c:orientation val="minMax"/>
          <c:max val="0.8"/>
          <c:min val="-0.8"/>
        </c:scaling>
        <c:delete val="0"/>
        <c:axPos val="b"/>
        <c:numFmt formatCode="0.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majorUnit val="0.4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21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2"/>
          <c:y val="0.06"/>
          <c:w val="0.84"/>
          <c:h val="0.69"/>
        </c:manualLayout>
      </c:layout>
      <c:scatterChart>
        <c:scatterStyle val="marker"/>
        <c:varyColors val="0"/>
        <c:ser>
          <c:idx val="0"/>
          <c:order val="0"/>
          <c:tx>
            <c:v>示意观测</c:v>
          </c:tx>
          <c:spPr>
            <a:noFill/>
            <a:ln>
              <a:noFill/>
            </a:ln>
          </c:spPr>
          <c:marker>
            <c:symbol val="circle"/>
            <c:size val="4"/>
            <c:spPr>
              <a:solidFill>
                <a:srgbClr val="087F9A"/>
              </a:solidFill>
              <a:ln w="8890">
                <a:solidFill>
                  <a:srgbClr val="087F9A"/>
                </a:solidFill>
              </a:ln>
            </c:spPr>
          </c:marker>
          <c:trendline>
            <c:spPr>
              <a:ln w="19050">
                <a:solidFill>
                  <a:srgbClr val="087F9A"/>
                </a:solidFill>
                <a:prstDash val="solid"/>
              </a:ln>
            </c:spPr>
            <c:trendlineType val="linear"/>
            <c:dispRSqr val="0"/>
            <c:dispEq val="0"/>
          </c:trendline>
          <c:xVal>
            <c:numRef>
              <c:f>'Chart Data'!$A$2:$A$42</c:f>
              <c:numCache>
                <c:formatCode>General</c:formatCode>
                <c:ptCount val="41"/>
                <c:pt idx="0">
                  <c:v>0</c:v>
                </c:pt>
                <c:pt idx="1">
                  <c:v>0.025</c:v>
                </c:pt>
                <c:pt idx="2">
                  <c:v>0.05</c:v>
                </c:pt>
                <c:pt idx="3">
                  <c:v>0.075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0.175</c:v>
                </c:pt>
                <c:pt idx="8">
                  <c:v>0.2</c:v>
                </c:pt>
                <c:pt idx="9">
                  <c:v>0.225</c:v>
                </c:pt>
                <c:pt idx="10">
                  <c:v>0.25</c:v>
                </c:pt>
                <c:pt idx="11">
                  <c:v>0.275</c:v>
                </c:pt>
                <c:pt idx="12">
                  <c:v>0.3</c:v>
                </c:pt>
                <c:pt idx="13">
                  <c:v>0.325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0.425</c:v>
                </c:pt>
                <c:pt idx="18">
                  <c:v>0.45</c:v>
                </c:pt>
                <c:pt idx="19">
                  <c:v>0.475</c:v>
                </c:pt>
                <c:pt idx="20">
                  <c:v>0.5</c:v>
                </c:pt>
                <c:pt idx="21">
                  <c:v>0.525</c:v>
                </c:pt>
                <c:pt idx="22">
                  <c:v>0.55</c:v>
                </c:pt>
                <c:pt idx="23">
                  <c:v>0.575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</c:v>
                </c:pt>
                <c:pt idx="28">
                  <c:v>0.7</c:v>
                </c:pt>
                <c:pt idx="29">
                  <c:v>0.725</c:v>
                </c:pt>
                <c:pt idx="30">
                  <c:v>0.75</c:v>
                </c:pt>
                <c:pt idx="31">
                  <c:v>0.775</c:v>
                </c:pt>
                <c:pt idx="32">
                  <c:v>0.8</c:v>
                </c:pt>
                <c:pt idx="33">
                  <c:v>0.825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</c:v>
                </c:pt>
                <c:pt idx="38">
                  <c:v>0.95</c:v>
                </c:pt>
                <c:pt idx="39">
                  <c:v>0.975</c:v>
                </c:pt>
                <c:pt idx="40">
                  <c:v>1</c:v>
                </c:pt>
              </c:numCache>
            </c:numRef>
          </c:xVal>
          <c:yVal>
            <c:numRef>
              <c:f>'Chart Data'!$B$2:$B$42</c:f>
              <c:numCache>
                <c:formatCode>General</c:formatCode>
                <c:ptCount val="41"/>
                <c:pt idx="0">
                  <c:v>80</c:v>
                </c:pt>
                <c:pt idx="1">
                  <c:v>85.9</c:v>
                </c:pt>
                <c:pt idx="2">
                  <c:v>67</c:v>
                </c:pt>
                <c:pt idx="3">
                  <c:v>81.2</c:v>
                </c:pt>
                <c:pt idx="4">
                  <c:v>76.1</c:v>
                </c:pt>
                <c:pt idx="5">
                  <c:v>63.6</c:v>
                </c:pt>
                <c:pt idx="6">
                  <c:v>80.3</c:v>
                </c:pt>
                <c:pt idx="7">
                  <c:v>65.5</c:v>
                </c:pt>
                <c:pt idx="8">
                  <c:v>63.5</c:v>
                </c:pt>
                <c:pt idx="9">
                  <c:v>75.9</c:v>
                </c:pt>
                <c:pt idx="10">
                  <c:v>56.3</c:v>
                </c:pt>
                <c:pt idx="11">
                  <c:v>64.9</c:v>
                </c:pt>
                <c:pt idx="12">
                  <c:v>67.9</c:v>
                </c:pt>
                <c:pt idx="13">
                  <c:v>50.2</c:v>
                </c:pt>
                <c:pt idx="14">
                  <c:v>65.7</c:v>
                </c:pt>
                <c:pt idx="15">
                  <c:v>57.7</c:v>
                </c:pt>
                <c:pt idx="16">
                  <c:v>47.8</c:v>
                </c:pt>
                <c:pt idx="17">
                  <c:v>63.9</c:v>
                </c:pt>
                <c:pt idx="18">
                  <c:v>47.2</c:v>
                </c:pt>
                <c:pt idx="19">
                  <c:v>48.2</c:v>
                </c:pt>
                <c:pt idx="20">
                  <c:v>58.5</c:v>
                </c:pt>
                <c:pt idx="21">
                  <c:v>38.7</c:v>
                </c:pt>
                <c:pt idx="22">
                  <c:v>49.7</c:v>
                </c:pt>
                <c:pt idx="23">
                  <c:v>49.8</c:v>
                </c:pt>
                <c:pt idx="24">
                  <c:v>33.6</c:v>
                </c:pt>
                <c:pt idx="25">
                  <c:v>50</c:v>
                </c:pt>
                <c:pt idx="26">
                  <c:v>39.3</c:v>
                </c:pt>
                <c:pt idx="27">
                  <c:v>32.1</c:v>
                </c:pt>
                <c:pt idx="28">
                  <c:v>47.3</c:v>
                </c:pt>
                <c:pt idx="29">
                  <c:v>29.1</c:v>
                </c:pt>
                <c:pt idx="30">
                  <c:v>33.1</c:v>
                </c:pt>
                <c:pt idx="31">
                  <c:v>40.9</c:v>
                </c:pt>
                <c:pt idx="32">
                  <c:v>21.5</c:v>
                </c:pt>
                <c:pt idx="33">
                  <c:v>34.5</c:v>
                </c:pt>
                <c:pt idx="34">
                  <c:v>31.5</c:v>
                </c:pt>
                <c:pt idx="35">
                  <c:v>17.4</c:v>
                </c:pt>
                <c:pt idx="36">
                  <c:v>34.1</c:v>
                </c:pt>
                <c:pt idx="37">
                  <c:v>20.8</c:v>
                </c:pt>
                <c:pt idx="38">
                  <c:v>16.7</c:v>
                </c:pt>
                <c:pt idx="39">
                  <c:v>30.4</c:v>
                </c:pt>
                <c:pt idx="40">
                  <c:v>11.2</c:v>
                </c:pt>
              </c:numCache>
            </c:numRef>
          </c:y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100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125">
                    <a:latin typeface="Noto Sans CJK SC"/>
                    <a:ea typeface="Noto Sans CJK SC"/>
                    <a:cs typeface="Noto Sans CJK SC"/>
                  </a:rPr>
                  <a:t>物种数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12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majorUnit val="25"/>
      </c:valAx>
      <c:valAx>
        <c:axId val="48650112"/>
        <c:scaling>
          <c:orientation val="minMax"/>
          <c:max val="1"/>
          <c:min val="0"/>
        </c:scaling>
        <c:delete val="0"/>
        <c:axPos val="b"/>
        <c:numFmt formatCode="0.0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majorUnit val="0.25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22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2"/>
          <c:y val="0.06"/>
          <c:w val="0.84"/>
          <c:h val="0.69"/>
        </c:manualLayout>
      </c:layout>
      <c:barChart>
        <c:barDir val="col"/>
        <c:grouping val="stacked"/>
        <c:varyColors val="0"/>
        <c:ser>
          <c:idx val="0"/>
          <c:order val="0"/>
          <c:tx>
            <c:v>Q1</c:v>
          </c:tx>
          <c:spPr>
            <a:noFill/>
            <a:ln>
              <a:noFill/>
            </a:ln>
          </c:spPr>
          <c:invertIfNegative val="0"/>
          <c:errBars>
            <c:errDir val="y"/>
            <c:errBarType val="both"/>
            <c:errValType val="cust"/>
            <c:noEndCap val="0"/>
            <c:plus>
              <c:numLit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0</c:v>
                </c:pt>
              </c:numLit>
            </c:plus>
            <c:minus>
              <c:numLit>
                <c:formatCode>General</c:formatCode>
                <c:ptCount val="3"/>
                <c:pt idx="0">
                  <c:v>0.1365</c:v>
                </c:pt>
                <c:pt idx="1">
                  <c:v>0.1365</c:v>
                </c:pt>
                <c:pt idx="2">
                  <c:v>0.1365</c:v>
                </c:pt>
              </c:numLit>
            </c:minus>
            <c:spPr>
              <a:ln w="15240">
                <a:solidFill>
                  <a:srgbClr val="087F9A"/>
                </a:solidFill>
              </a:ln>
            </c:spPr>
          </c:errBars>
          <c:cat>
            <c:strRef>
              <c:f>'Chart Data'!$A$2:$A$4</c:f>
              <c:strCache>
                <c:ptCount val="3"/>
                <c:pt idx="0">
                  <c:v>连续林</c:v>
                </c:pt>
                <c:pt idx="1">
                  <c:v>过渡带</c:v>
                </c:pt>
                <c:pt idx="2">
                  <c:v>破碎林</c:v>
                </c:pt>
              </c:strCache>
            </c:strRef>
          </c:cat>
          <c:val>
            <c:numRef>
              <c:f>'Chart Data'!$B$2:$B$4</c:f>
              <c:numCache>
                <c:formatCode>General</c:formatCode>
                <c:ptCount val="3"/>
                <c:pt idx="0">
                  <c:v>1.4245</c:v>
                </c:pt>
                <c:pt idx="1">
                  <c:v>0.9245</c:v>
                </c:pt>
                <c:pt idx="2">
                  <c:v>0.4045</c:v>
                </c:pt>
              </c:numCache>
            </c:numRef>
          </c:val>
        </c:ser>
        <c:ser>
          <c:idx val="1"/>
          <c:order val="1"/>
          <c:tx>
            <c:v>Median minus Q1</c:v>
          </c:tx>
          <c:spPr>
            <a:solidFill>
              <a:srgbClr val="6A9DAA"/>
            </a:solidFill>
            <a:ln w="11430">
              <a:solidFill>
                <a:srgbClr val="087F9A"/>
              </a:solidFill>
            </a:ln>
          </c:spPr>
          <c:invertIfNegative val="0"/>
          <c:cat>
            <c:strRef>
              <c:f>'Chart Data'!$C$2:$C$4</c:f>
              <c:strCache>
                <c:ptCount val="3"/>
                <c:pt idx="0">
                  <c:v>连续林</c:v>
                </c:pt>
                <c:pt idx="1">
                  <c:v>过渡带</c:v>
                </c:pt>
                <c:pt idx="2">
                  <c:v>破碎林</c:v>
                </c:pt>
              </c:strCache>
            </c:strRef>
          </c:cat>
          <c:val>
            <c:numRef>
              <c:f>'Chart Data'!$D$2:$D$4</c:f>
              <c:numCache>
                <c:formatCode>General</c:formatCode>
                <c:ptCount val="3"/>
                <c:pt idx="0">
                  <c:v>0.165</c:v>
                </c:pt>
                <c:pt idx="1">
                  <c:v>0.165</c:v>
                </c:pt>
                <c:pt idx="2">
                  <c:v>0.165</c:v>
                </c:pt>
              </c:numCache>
            </c:numRef>
          </c:val>
        </c:ser>
        <c:ser>
          <c:idx val="2"/>
          <c:order val="2"/>
          <c:tx>
            <c:v>Q3 minus median</c:v>
          </c:tx>
          <c:spPr>
            <a:solidFill>
              <a:srgbClr val="6A9DAA"/>
            </a:solidFill>
            <a:ln w="11430">
              <a:solidFill>
                <a:srgbClr val="087F9A"/>
              </a:solidFill>
            </a:ln>
          </c:spPr>
          <c:invertIfNegative val="0"/>
          <c:errBars>
            <c:errDir val="y"/>
            <c:errBarType val="both"/>
            <c:errValType val="cust"/>
            <c:noEndCap val="0"/>
            <c:plus>
              <c:numLit>
                <c:formatCode>General</c:formatCode>
                <c:ptCount val="3"/>
                <c:pt idx="0">
                  <c:v>0.1745</c:v>
                </c:pt>
                <c:pt idx="1">
                  <c:v>0.1745</c:v>
                </c:pt>
                <c:pt idx="2">
                  <c:v>0.1745</c:v>
                </c:pt>
              </c:numLit>
            </c:plus>
            <c:minus>
              <c:numLit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0</c:v>
                </c:pt>
              </c:numLit>
            </c:minus>
            <c:spPr>
              <a:ln w="15240">
                <a:solidFill>
                  <a:srgbClr val="087F9A"/>
                </a:solidFill>
              </a:ln>
            </c:spPr>
          </c:errBars>
          <c:cat>
            <c:strRef>
              <c:f>'Chart Data'!$E$2:$E$4</c:f>
              <c:strCache>
                <c:ptCount val="3"/>
                <c:pt idx="0">
                  <c:v>连续林</c:v>
                </c:pt>
                <c:pt idx="1">
                  <c:v>过渡带</c:v>
                </c:pt>
                <c:pt idx="2">
                  <c:v>破碎林</c:v>
                </c:pt>
              </c:strCache>
            </c:strRef>
          </c:cat>
          <c:val>
            <c:numRef>
              <c:f>'Chart Data'!$F$2:$F$4</c:f>
              <c:numCache>
                <c:formatCode>General</c:formatCode>
                <c:ptCount val="3"/>
                <c:pt idx="0">
                  <c:v>0.103</c:v>
                </c:pt>
                <c:pt idx="1">
                  <c:v>0.103</c:v>
                </c:pt>
                <c:pt idx="2">
                  <c:v>0.103</c:v>
                </c:pt>
              </c:numCache>
            </c:numRef>
          </c: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10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tickLblSkip val="1"/>
        <c:tickMarkSkip val="1"/>
      </c:catAx>
      <c:valAx>
        <c:axId val="48672768"/>
        <c:scaling>
          <c:orientation val="minMax"/>
          <c:max val="2.5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125">
                    <a:latin typeface="Noto Sans CJK SC"/>
                    <a:ea typeface="Noto Sans CJK SC"/>
                    <a:cs typeface="Noto Sans CJK SC"/>
                  </a:rPr>
                  <a:t>多样性指数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12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.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crossBetween val="between"/>
        <c:majorUnit val="0.5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23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2"/>
          <c:y val="0.06"/>
          <c:w val="0.84"/>
          <c:h val="0.69"/>
        </c:manualLayout>
      </c:layout>
      <c:areaChart>
        <c:grouping val="stacked"/>
        <c:varyColors val="0"/>
        <c:ser>
          <c:idx val="0"/>
          <c:order val="0"/>
          <c:tx>
            <c:v>Lower bound</c:v>
          </c:tx>
          <c:spPr>
            <a:noFill/>
            <a:ln>
              <a:noFill/>
            </a:ln>
          </c:spPr>
          <c:cat>
            <c:strRef>
              <c:f>'Chart Data'!$A$2:$A$13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Data'!$B$2:$B$13</c:f>
              <c:numCache>
                <c:formatCode>General</c:formatCode>
                <c:ptCount val="12"/>
                <c:pt idx="0">
                  <c:v>0.61</c:v>
                </c:pt>
                <c:pt idx="1">
                  <c:v>0.71</c:v>
                </c:pt>
                <c:pt idx="2">
                  <c:v>0.9</c:v>
                </c:pt>
                <c:pt idx="3">
                  <c:v>1.09</c:v>
                </c:pt>
                <c:pt idx="4">
                  <c:v>1.28</c:v>
                </c:pt>
                <c:pt idx="5">
                  <c:v>1.13</c:v>
                </c:pt>
                <c:pt idx="6">
                  <c:v>0.91</c:v>
                </c:pt>
                <c:pt idx="7">
                  <c:v>0.73</c:v>
                </c:pt>
                <c:pt idx="8">
                  <c:v>0.64</c:v>
                </c:pt>
                <c:pt idx="9">
                  <c:v>0.53</c:v>
                </c:pt>
                <c:pt idx="10">
                  <c:v>0.47</c:v>
                </c:pt>
                <c:pt idx="11">
                  <c:v>0.42</c:v>
                </c:pt>
              </c:numCache>
            </c:numRef>
          </c:val>
        </c:ser>
        <c:ser>
          <c:idx val="1"/>
          <c:order val="1"/>
          <c:tx>
            <c:v>Band width</c:v>
          </c:tx>
          <c:spPr>
            <a:solidFill>
              <a:srgbClr val="EFF8FB"/>
            </a:solidFill>
            <a:ln>
              <a:noFill/>
            </a:ln>
          </c:spPr>
          <c:cat>
            <c:strRef>
              <c:f>'Chart Data'!$C$2:$C$13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Data'!$D$2:$D$13</c:f>
              <c:numCache>
                <c:formatCode>General</c:formatCode>
                <c:ptCount val="12"/>
                <c:pt idx="0">
                  <c:v>0.34</c:v>
                </c:pt>
                <c:pt idx="1">
                  <c:v>0.38</c:v>
                </c:pt>
                <c:pt idx="2">
                  <c:v>0.4</c:v>
                </c:pt>
                <c:pt idx="3">
                  <c:v>0.42</c:v>
                </c:pt>
                <c:pt idx="4">
                  <c:v>0.4</c:v>
                </c:pt>
                <c:pt idx="5">
                  <c:v>0.38</c:v>
                </c:pt>
                <c:pt idx="6">
                  <c:v>0.38</c:v>
                </c:pt>
                <c:pt idx="7">
                  <c:v>0.38</c:v>
                </c:pt>
                <c:pt idx="8">
                  <c:v>0.38</c:v>
                </c:pt>
                <c:pt idx="9">
                  <c:v>0.38</c:v>
                </c:pt>
                <c:pt idx="10">
                  <c:v>0.38</c:v>
                </c:pt>
                <c:pt idx="11">
                  <c:v>0.36</c:v>
                </c:pt>
              </c:numCache>
            </c:numRef>
          </c:val>
        </c:ser>
        <c:axId val="48650112"/>
        <c:axId val="48672768"/>
      </c:areaChart>
      <c:lineChart>
        <c:grouping val="standard"/>
        <c:varyColors val="0"/>
        <c:ser>
          <c:idx val="2"/>
          <c:order val="2"/>
          <c:tx>
            <c:v>情景 A</c:v>
          </c:tx>
          <c:spPr>
            <a:solidFill>
              <a:srgbClr val="087F9A"/>
            </a:solidFill>
            <a:ln w="19050">
              <a:solidFill>
                <a:srgbClr val="087F9A"/>
              </a:solidFill>
              <a:prstDash val="solid"/>
            </a:ln>
          </c:spPr>
          <c:marker>
            <c:symbol val="circle"/>
            <c:size val="5"/>
            <c:spPr>
              <a:solidFill>
                <a:srgbClr val="087F9A"/>
              </a:solidFill>
              <a:ln w="8890">
                <a:solidFill>
                  <a:srgbClr val="087F9A"/>
                </a:solidFill>
              </a:ln>
            </c:spPr>
          </c:marker>
          <c:cat>
            <c:strRef>
              <c:f>'Chart Data'!$E$2:$E$13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Data'!$F$2:$F$13</c:f>
              <c:numCache>
                <c:formatCode>General</c:formatCode>
                <c:ptCount val="12"/>
                <c:pt idx="0">
                  <c:v>0.78</c:v>
                </c:pt>
                <c:pt idx="1">
                  <c:v>0.9</c:v>
                </c:pt>
                <c:pt idx="2">
                  <c:v>1.1</c:v>
                </c:pt>
                <c:pt idx="3">
                  <c:v>1.3</c:v>
                </c:pt>
                <c:pt idx="4">
                  <c:v>1.48</c:v>
                </c:pt>
                <c:pt idx="5">
                  <c:v>1.32</c:v>
                </c:pt>
                <c:pt idx="6">
                  <c:v>1.1</c:v>
                </c:pt>
                <c:pt idx="7">
                  <c:v>0.92</c:v>
                </c:pt>
                <c:pt idx="8">
                  <c:v>0.83</c:v>
                </c:pt>
                <c:pt idx="9">
                  <c:v>0.72</c:v>
                </c:pt>
                <c:pt idx="10">
                  <c:v>0.66</c:v>
                </c:pt>
                <c:pt idx="11">
                  <c:v>0.6</c:v>
                </c:pt>
              </c:numCache>
            </c:numRef>
          </c:val>
          <c:smooth val="0"/>
        </c:ser>
        <c:ser>
          <c:idx val="3"/>
          <c:order val="3"/>
          <c:tx>
            <c:v>情景 B</c:v>
          </c:tx>
          <c:spPr>
            <a:solidFill>
              <a:srgbClr val="D15B55"/>
            </a:solidFill>
            <a:ln w="19050">
              <a:solidFill>
                <a:srgbClr val="D15B55"/>
              </a:solidFill>
              <a:prstDash val="solid"/>
            </a:ln>
          </c:spPr>
          <c:marker>
            <c:symbol val="circle"/>
            <c:size val="5"/>
            <c:spPr>
              <a:solidFill>
                <a:srgbClr val="D15B55"/>
              </a:solidFill>
              <a:ln w="8890">
                <a:solidFill>
                  <a:srgbClr val="D15B55"/>
                </a:solidFill>
              </a:ln>
            </c:spPr>
          </c:marker>
          <c:cat>
            <c:strRef>
              <c:f>'Chart Data'!$G$2:$G$13</c:f>
              <c:strCach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strCache>
            </c:strRef>
          </c:cat>
          <c:val>
            <c:numRef>
              <c:f>'Chart Data'!$H$2:$H$13</c:f>
              <c:numCache>
                <c:formatCode>General</c:formatCode>
                <c:ptCount val="12"/>
                <c:pt idx="0">
                  <c:v>0.24</c:v>
                </c:pt>
                <c:pt idx="1">
                  <c:v>0.32</c:v>
                </c:pt>
                <c:pt idx="2">
                  <c:v>0.44</c:v>
                </c:pt>
                <c:pt idx="3">
                  <c:v>0.61</c:v>
                </c:pt>
                <c:pt idx="4">
                  <c:v>0.72</c:v>
                </c:pt>
                <c:pt idx="5">
                  <c:v>0.6</c:v>
                </c:pt>
                <c:pt idx="6">
                  <c:v>0.52</c:v>
                </c:pt>
                <c:pt idx="7">
                  <c:v>0.38</c:v>
                </c:pt>
                <c:pt idx="8">
                  <c:v>0.31</c:v>
                </c:pt>
                <c:pt idx="9">
                  <c:v>0.27</c:v>
                </c:pt>
                <c:pt idx="10">
                  <c:v>0.25</c:v>
                </c:pt>
                <c:pt idx="11">
                  <c:v>0.24</c:v>
                </c:pt>
              </c:numCache>
            </c:numRef>
          </c:val>
          <c:smooth val="0"/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tickLblSkip val="2"/>
        <c:tickMarkSkip val="2"/>
      </c:catAx>
      <c:valAx>
        <c:axId val="48672768"/>
        <c:scaling>
          <c:orientation val="minMax"/>
          <c:max val="2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125">
                    <a:latin typeface="Noto Sans CJK SC"/>
                    <a:ea typeface="Noto Sans CJK SC"/>
                    <a:cs typeface="Noto Sans CJK SC"/>
                  </a:rPr>
                  <a:t>相对活动指数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12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.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crossBetween val="between"/>
        <c:majorUnit val="0.5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24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27"/>
          <c:y val="0.05"/>
          <c:w val="0.69"/>
          <c:h val="0.69"/>
        </c:manualLayout>
      </c:layout>
      <c:scatterChart>
        <c:scatterStyle val="marker"/>
        <c:varyColors val="0"/>
        <c:ser>
          <c:idx val="0"/>
          <c:order val="0"/>
          <c:tx>
            <c:v>效应估计</c:v>
          </c:tx>
          <c:spPr>
            <a:noFill/>
            <a:ln>
              <a:noFill/>
            </a:ln>
          </c:spPr>
          <c:marker>
            <c:symbol val="circle"/>
            <c:size val="7"/>
            <c:spPr>
              <a:solidFill>
                <a:srgbClr val="087F9A"/>
              </a:solidFill>
              <a:ln w="8890">
                <a:solidFill>
                  <a:srgbClr val="087F9A"/>
                </a:solidFill>
              </a:ln>
            </c:spPr>
          </c:marker>
          <c:errBars>
            <c:errDir val="x"/>
            <c:errBarType val="both"/>
            <c:errValType val="cust"/>
            <c:noEndCap val="0"/>
            <c:plus>
              <c:numLit>
                <c:formatCode>General</c:formatCode>
                <c:ptCount val="4"/>
                <c:pt idx="0">
                  <c:v>0.23</c:v>
                </c:pt>
                <c:pt idx="1">
                  <c:v>0.17</c:v>
                </c:pt>
                <c:pt idx="2">
                  <c:v>0.22</c:v>
                </c:pt>
                <c:pt idx="3">
                  <c:v>0.2</c:v>
                </c:pt>
              </c:numLit>
            </c:plus>
            <c:minus>
              <c:numLit>
                <c:formatCode>General</c:formatCode>
                <c:ptCount val="4"/>
                <c:pt idx="0">
                  <c:v>0.23</c:v>
                </c:pt>
                <c:pt idx="1">
                  <c:v>0.17</c:v>
                </c:pt>
                <c:pt idx="2">
                  <c:v>0.21</c:v>
                </c:pt>
                <c:pt idx="3">
                  <c:v>0.18</c:v>
                </c:pt>
              </c:numLit>
            </c:minus>
            <c:spPr>
              <a:ln w="15240">
                <a:solidFill>
                  <a:srgbClr val="087F9A"/>
                </a:solidFill>
              </a:ln>
            </c:spPr>
          </c:errBars>
          <c:xVal>
            <c:numRef>
              <c:f>'Chart Data'!$A$2:$A$5</c:f>
              <c:numCache>
                <c:formatCode>General</c:formatCode>
                <c:ptCount val="4"/>
                <c:pt idx="0">
                  <c:v>0.42</c:v>
                </c:pt>
                <c:pt idx="1">
                  <c:v>-0.24</c:v>
                </c:pt>
                <c:pt idx="2">
                  <c:v>0.31</c:v>
                </c:pt>
                <c:pt idx="3">
                  <c:v>-0.44</c:v>
                </c:pt>
              </c:numCache>
            </c:numRef>
          </c:xVal>
          <c:yVal>
            <c:numRef>
              <c:f>'Chart Data'!$B$2:$B$5</c:f>
              <c:numCache>
                <c:formatCode>General</c:formatCode>
                <c:ptCount val="4"/>
                <c:pt idx="0">
                  <c:v>4</c:v>
                </c:pt>
                <c:pt idx="1">
                  <c:v>3</c:v>
                </c:pt>
                <c:pt idx="2">
                  <c:v>2</c:v>
                </c:pt>
                <c:pt idx="3">
                  <c:v>1</c:v>
                </c:pt>
              </c:numCache>
            </c:numRef>
          </c:y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5"/>
          <c:min val="0"/>
        </c:scaling>
        <c:delete val="0"/>
        <c:axPos val="l"/>
        <c:numFmt formatCode="&quot;&quot;" sourceLinked="0"/>
        <c:majorTickMark val="none"/>
        <c:minorTickMark val="none"/>
        <c:tickLblPos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majorUnit val="1"/>
      </c:valAx>
      <c:valAx>
        <c:axId val="48650112"/>
        <c:scaling>
          <c:orientation val="minMax"/>
          <c:max val="0.8"/>
          <c:min val="-0.8"/>
        </c:scaling>
        <c:delete val="0"/>
        <c:axPos val="b"/>
        <c:numFmt formatCode="0.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majorUnit val="0.4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notesMasters/_rels/notesMaster1.xml.rels><?xml version='1.0' encoding='utf-8'?>
<Relationships xmlns="http://schemas.openxmlformats.org/package/2006/relationships"><Relationship Type="http://schemas.openxmlformats.org/officeDocument/2006/relationships/theme" Target="/ppt/notesMasters/theme/theme3.xml" Id="R913960fe16274819" /></Relationships>
</file>

<file path=ppt/notesMasters/notesMaster1.xml><?xml version="1.0" encoding="utf-8"?>
<p:notesMaster xmlns:a="http://schemas.openxmlformats.org/drawingml/2006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/>
      </p:grpSpPr>
      <p:sp>
        <p:nvSpPr>
          <p:cNvPr id="2" name="Header Placeholder"/>
          <p:cNvSpPr/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Noto Sans CJK SC"/>
        <a:ea typeface=""/>
        <a:cs typeface=""/>
      </a:majorFont>
      <a:minorFont>
        <a:latin typeface="Noto Sans CJK S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?>
<Relationships xmlns="http://schemas.openxmlformats.org/package/2006/relationships"><Relationship Type="http://schemas.openxmlformats.org/officeDocument/2006/relationships/slide" Target="/ppt/slides/slide1.xml" Id="R4cf529f6e1c7487c" /><Relationship Type="http://schemas.openxmlformats.org/officeDocument/2006/relationships/notesMaster" Target="/ppt/notesMasters/notesMaster1.xml" Id="Rf4725e7255104779" /></Relationships>
</file>

<file path=ppt/notesSlides/_rels/notesSlide2.xml.rels><?xml version='1.0' encoding='utf-8'?>
<Relationships xmlns="http://schemas.openxmlformats.org/package/2006/relationships"><Relationship Type="http://schemas.openxmlformats.org/officeDocument/2006/relationships/slide" Target="/ppt/slides/slide2.xml" Id="R4cf529f6e1c7487c" /><Relationship Type="http://schemas.openxmlformats.org/officeDocument/2006/relationships/notesMaster" Target="/ppt/notesMasters/notesMaster1.xml" Id="Rf4725e7255104779" /></Relationships>
</file>

<file path=ppt/notesSlides/_rels/notesSlide3.xml.rels><?xml version='1.0' encoding='utf-8'?>
<Relationships xmlns="http://schemas.openxmlformats.org/package/2006/relationships"><Relationship Type="http://schemas.openxmlformats.org/officeDocument/2006/relationships/slide" Target="/ppt/slides/slide3.xml" Id="R4cf529f6e1c7487c" /><Relationship Type="http://schemas.openxmlformats.org/officeDocument/2006/relationships/notesMaster" Target="/ppt/notesMasters/notesMaster1.xml" Id="Rf4725e7255104779" /></Relationships>
</file>

<file path=ppt/notesSlides/_rels/notesSlide4.xml.rels><?xml version='1.0' encoding='utf-8'?>
<Relationships xmlns="http://schemas.openxmlformats.org/package/2006/relationships"><Relationship Type="http://schemas.openxmlformats.org/officeDocument/2006/relationships/slide" Target="/ppt/slides/slide4.xml" Id="R4cf529f6e1c7487c" /><Relationship Type="http://schemas.openxmlformats.org/officeDocument/2006/relationships/notesMaster" Target="/ppt/notesMasters/notesMaster1.xml" Id="Rf4725e7255104779" /></Relationships>
</file>

<file path=ppt/notesSlides/_rels/notesSlide5.xml.rels><?xml version='1.0' encoding='utf-8'?>
<Relationships xmlns="http://schemas.openxmlformats.org/package/2006/relationships"><Relationship Type="http://schemas.openxmlformats.org/officeDocument/2006/relationships/slide" Target="/ppt/slides/slide5.xml" Id="R4cf529f6e1c7487c" /><Relationship Type="http://schemas.openxmlformats.org/officeDocument/2006/relationships/notesMaster" Target="/ppt/notesMasters/notesMaster1.xml" Id="Rf4725e7255104779" /></Relationships>
</file>

<file path=ppt/notesSlides/_rels/notesSlide6.xml.rels><?xml version='1.0' encoding='utf-8'?>
<Relationships xmlns="http://schemas.openxmlformats.org/package/2006/relationships"><Relationship Type="http://schemas.openxmlformats.org/officeDocument/2006/relationships/slide" Target="/ppt/slides/slide6.xml" Id="R4cf529f6e1c7487c" /><Relationship Type="http://schemas.openxmlformats.org/officeDocument/2006/relationships/notesMaster" Target="/ppt/notesMasters/notesMaster1.xml" Id="Rf4725e7255104779" />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本样板人工构造的合成数据，仅测试版式与编辑功能，不代表真实研究。</a:t>
            </a:r>
            <a:endParaRPr/>
          </a:p>
          <a:p>
            <a:r>
              <a:rPr/>
              <a:t>Chart sources:</a:t>
            </a:r>
            <a:endParaRPr/>
          </a:p>
          <a:p>
            <a:r>
              <a:rPr/>
              <a:t>charts.0: 本样板人工构造的合成数据，仅测试版式与编辑功能，不代表真实研究。</a:t>
            </a:r>
            <a:endParaRPr/>
          </a:p>
          <a:p>
            <a:r>
              <a:rPr/>
              <a:t>charts.1: 本样板人工构造的合成数据，仅测试版式与编辑功能，不代表真实研究。</a:t>
            </a:r>
            <a:endParaRPr/>
          </a:p>
          <a:p>
            <a:r>
              <a:rPr/>
              <a:t>charts.2: 本样板人工构造的合成数据，仅测试版式与编辑功能，不代表真实研究。</a:t>
            </a:r>
            <a:endParaRPr/>
          </a:p>
          <a:p>
            <a:r>
              <a:rPr/>
              <a:t>charts.3: 本样板人工构造的合成数据，仅测试版式与编辑功能，不代表真实研究。</a:t>
            </a:r>
            <a:endParaRPr/>
          </a:p>
          <a:p>
            <a:r>
              <a:rPr/>
              <a:t>Layout: L11</a:t>
            </a:r>
            <a:endParaRPr/>
          </a:p>
          <a:p>
            <a:r>
              <a:rPr/>
              <a:t>Palette: P1</a:t>
            </a:r>
            <a:endParaRPr/>
          </a:p>
          <a:p>
            <a:r>
              <a:rPr/>
              <a:t>Scenario: academic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本样板人工构造的合成数据，仅测试版式与编辑功能，不代表真实研究。</a:t>
            </a:r>
            <a:endParaRPr/>
          </a:p>
          <a:p>
            <a:r>
              <a:rPr/>
              <a:t>Chart sources:</a:t>
            </a:r>
            <a:endParaRPr/>
          </a:p>
          <a:p>
            <a:r>
              <a:rPr/>
              <a:t>charts.0: 本样板人工构造的合成数据，仅测试版式与编辑功能，不代表真实研究。</a:t>
            </a:r>
            <a:endParaRPr/>
          </a:p>
          <a:p>
            <a:r>
              <a:rPr/>
              <a:t>charts.1: 本样板人工构造的合成数据，仅测试版式与编辑功能，不代表真实研究。</a:t>
            </a:r>
            <a:endParaRPr/>
          </a:p>
          <a:p>
            <a:r>
              <a:rPr/>
              <a:t>charts.2: 本样板人工构造的合成数据，仅测试版式与编辑功能，不代表真实研究。</a:t>
            </a:r>
            <a:endParaRPr/>
          </a:p>
          <a:p>
            <a:r>
              <a:rPr/>
              <a:t>charts.3: 本样板人工构造的合成数据，仅测试版式与编辑功能，不代表真实研究。</a:t>
            </a:r>
            <a:endParaRPr/>
          </a:p>
          <a:p>
            <a:r>
              <a:rPr/>
              <a:t>Layout: L11</a:t>
            </a:r>
            <a:endParaRPr/>
          </a:p>
          <a:p>
            <a:r>
              <a:rPr/>
              <a:t>Palette: P2</a:t>
            </a:r>
            <a:endParaRPr/>
          </a:p>
          <a:p>
            <a:r>
              <a:rPr/>
              <a:t>Scenario: academic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本样板人工构造的合成数据，仅测试版式与编辑功能，不代表真实研究。</a:t>
            </a:r>
            <a:endParaRPr/>
          </a:p>
          <a:p>
            <a:r>
              <a:rPr/>
              <a:t>Chart sources:</a:t>
            </a:r>
            <a:endParaRPr/>
          </a:p>
          <a:p>
            <a:r>
              <a:rPr/>
              <a:t>charts.0: 本样板人工构造的合成数据，仅测试版式与编辑功能，不代表真实研究。</a:t>
            </a:r>
            <a:endParaRPr/>
          </a:p>
          <a:p>
            <a:r>
              <a:rPr/>
              <a:t>charts.1: 本样板人工构造的合成数据，仅测试版式与编辑功能，不代表真实研究。</a:t>
            </a:r>
            <a:endParaRPr/>
          </a:p>
          <a:p>
            <a:r>
              <a:rPr/>
              <a:t>charts.2: 本样板人工构造的合成数据，仅测试版式与编辑功能，不代表真实研究。</a:t>
            </a:r>
            <a:endParaRPr/>
          </a:p>
          <a:p>
            <a:r>
              <a:rPr/>
              <a:t>charts.3: 本样板人工构造的合成数据，仅测试版式与编辑功能，不代表真实研究。</a:t>
            </a:r>
            <a:endParaRPr/>
          </a:p>
          <a:p>
            <a:r>
              <a:rPr/>
              <a:t>Layout: L11</a:t>
            </a:r>
            <a:endParaRPr/>
          </a:p>
          <a:p>
            <a:r>
              <a:rPr/>
              <a:t>Palette: P3</a:t>
            </a:r>
            <a:endParaRPr/>
          </a:p>
          <a:p>
            <a:r>
              <a:rPr/>
              <a:t>Scenario: academic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本样板人工构造的合成数据，仅测试版式与编辑功能，不代表真实研究。</a:t>
            </a:r>
            <a:endParaRPr/>
          </a:p>
          <a:p>
            <a:r>
              <a:rPr/>
              <a:t>Chart sources:</a:t>
            </a:r>
            <a:endParaRPr/>
          </a:p>
          <a:p>
            <a:r>
              <a:rPr/>
              <a:t>charts.0: 本样板人工构造的合成数据，仅测试版式与编辑功能，不代表真实研究。</a:t>
            </a:r>
            <a:endParaRPr/>
          </a:p>
          <a:p>
            <a:r>
              <a:rPr/>
              <a:t>charts.1: 本样板人工构造的合成数据，仅测试版式与编辑功能，不代表真实研究。</a:t>
            </a:r>
            <a:endParaRPr/>
          </a:p>
          <a:p>
            <a:r>
              <a:rPr/>
              <a:t>charts.2: 本样板人工构造的合成数据，仅测试版式与编辑功能，不代表真实研究。</a:t>
            </a:r>
            <a:endParaRPr/>
          </a:p>
          <a:p>
            <a:r>
              <a:rPr/>
              <a:t>charts.3: 本样板人工构造的合成数据，仅测试版式与编辑功能，不代表真实研究。</a:t>
            </a:r>
            <a:endParaRPr/>
          </a:p>
          <a:p>
            <a:r>
              <a:rPr/>
              <a:t>Layout: L11</a:t>
            </a:r>
            <a:endParaRPr/>
          </a:p>
          <a:p>
            <a:r>
              <a:rPr/>
              <a:t>Palette: P4</a:t>
            </a:r>
            <a:endParaRPr/>
          </a:p>
          <a:p>
            <a:r>
              <a:rPr/>
              <a:t>Scenario: academic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本样板人工构造的合成数据，仅测试版式与编辑功能，不代表真实研究。</a:t>
            </a:r>
            <a:endParaRPr/>
          </a:p>
          <a:p>
            <a:r>
              <a:rPr/>
              <a:t>Chart sources:</a:t>
            </a:r>
            <a:endParaRPr/>
          </a:p>
          <a:p>
            <a:r>
              <a:rPr/>
              <a:t>charts.0: 本样板人工构造的合成数据，仅测试版式与编辑功能，不代表真实研究。</a:t>
            </a:r>
            <a:endParaRPr/>
          </a:p>
          <a:p>
            <a:r>
              <a:rPr/>
              <a:t>charts.1: 本样板人工构造的合成数据，仅测试版式与编辑功能，不代表真实研究。</a:t>
            </a:r>
            <a:endParaRPr/>
          </a:p>
          <a:p>
            <a:r>
              <a:rPr/>
              <a:t>charts.2: 本样板人工构造的合成数据，仅测试版式与编辑功能，不代表真实研究。</a:t>
            </a:r>
            <a:endParaRPr/>
          </a:p>
          <a:p>
            <a:r>
              <a:rPr/>
              <a:t>charts.3: 本样板人工构造的合成数据，仅测试版式与编辑功能，不代表真实研究。</a:t>
            </a:r>
            <a:endParaRPr/>
          </a:p>
          <a:p>
            <a:r>
              <a:rPr/>
              <a:t>Layout: L11</a:t>
            </a:r>
            <a:endParaRPr/>
          </a:p>
          <a:p>
            <a:r>
              <a:rPr/>
              <a:t>Palette: P5</a:t>
            </a:r>
            <a:endParaRPr/>
          </a:p>
          <a:p>
            <a:r>
              <a:rPr/>
              <a:t>Scenario: academic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本样板人工构造的合成数据，仅测试版式与编辑功能，不代表真实研究。</a:t>
            </a:r>
            <a:endParaRPr/>
          </a:p>
          <a:p>
            <a:r>
              <a:rPr/>
              <a:t>Chart sources:</a:t>
            </a:r>
            <a:endParaRPr/>
          </a:p>
          <a:p>
            <a:r>
              <a:rPr/>
              <a:t>charts.0: 本样板人工构造的合成数据，仅测试版式与编辑功能，不代表真实研究。</a:t>
            </a:r>
            <a:endParaRPr/>
          </a:p>
          <a:p>
            <a:r>
              <a:rPr/>
              <a:t>charts.1: 本样板人工构造的合成数据，仅测试版式与编辑功能，不代表真实研究。</a:t>
            </a:r>
            <a:endParaRPr/>
          </a:p>
          <a:p>
            <a:r>
              <a:rPr/>
              <a:t>charts.2: 本样板人工构造的合成数据，仅测试版式与编辑功能，不代表真实研究。</a:t>
            </a:r>
            <a:endParaRPr/>
          </a:p>
          <a:p>
            <a:r>
              <a:rPr/>
              <a:t>charts.3: 本样板人工构造的合成数据，仅测试版式与编辑功能，不代表真实研究。</a:t>
            </a:r>
            <a:endParaRPr/>
          </a:p>
          <a:p>
            <a:r>
              <a:rPr/>
              <a:t>Layout: L11</a:t>
            </a:r>
            <a:endParaRPr/>
          </a:p>
          <a:p>
            <a:r>
              <a:rPr/>
              <a:t>Palette: P6</a:t>
            </a:r>
            <a:endParaRPr/>
          </a:p>
          <a:p>
            <a:r>
              <a:rPr/>
              <a:t>Scenario: academic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baf52e31fc704bdc" /></Relationships>
</file>

<file path=ppt/slideLayouts/_rels/slideLayout2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cc99deef56624ca4" /></Relationships>
</file>

<file path=ppt/slideLayouts/_rels/slideLayout3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4e39dd14fa8a4888" /></Relationships>
</file>

<file path=ppt/slideLayouts/_rels/slideLayout4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a2019ee27f334608" /></Relationships>
</file>

<file path=ppt/slideLayouts/_rels/slideLayout5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5d4efeff5946454b" /></Relationships>
</file>

<file path=ppt/slideLayouts/_rels/slideLayout6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8f0a95e591e2447b" /></Relationships>
</file>

<file path=ppt/slideLayouts/slideLayout1.xml><?xml version="1.0" encoding="utf-8"?>
<p:sldLayout xmlns:a="http://schemas.openxmlformats.org/drawingml/2006/main" xmlns:ns2="http://schemas.microsoft.com/office/drawing/2014/main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/>
      </p:grpSpPr>
      <p:sp>
        <p:nvSpPr>
          <p:cNvPr id="3" name="Title">
            <a:extLst>
              <a:ext uri="{FF2B5EF4-FFF2-40B4-BE49-F238E27FC236}">
                <ns2:creationId id="{E21DDFB4-60E9-4420-837B-4EAFB84C7F8A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  <p:sp>
        <p:nvSpPr>
          <p:cNvPr id="2" name="Subtitle">
            <a:extLst>
              <a:ext uri="{FF2B5EF4-FFF2-40B4-BE49-F238E27FC236}">
                <ns2:creationId id="{BA6D5EBE-242C-4508-A254-68F0361F2C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</p:spTree>
  </p:cSld>
</p:sldLayout>
</file>

<file path=ppt/slideLayouts/slideLayout2.xml><?xml version="1.0" encoding="utf-8"?>
<p:sldLayout xmlns:a="http://schemas.openxmlformats.org/drawingml/2006/main" xmlns:ns2="http://schemas.microsoft.com/office/drawing/2014/main" xmlns:p="http://schemas.openxmlformats.org/presentationml/2006/main">
  <p:cSld name="Section Header">
    <p:spTree>
      <p:nvGrpSpPr>
        <p:cNvPr id="1" name=""/>
        <p:cNvGrpSpPr/>
        <p:nvPr/>
      </p:nvGrpSpPr>
      <p:grpSpPr>
        <a:xfrm/>
      </p:grpSpPr>
      <p:sp>
        <p:nvSpPr>
          <p:cNvPr id="2" name="Section title">
            <a:extLst>
              <a:ext uri="{FF2B5EF4-FFF2-40B4-BE49-F238E27FC236}">
                <ns2:creationId id="{F3991E54-819B-4ED6-9326-19572329AD9C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</p:spTree>
  </p:cSld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>
  <p:cSld name="Title and Body">
    <p:spTree>
      <p:nvGrpSpPr>
        <p:cNvPr id="1" name=""/>
        <p:cNvGrpSpPr/>
        <p:nvPr/>
      </p:nvGrpSpPr>
      <p:grpSpPr>
        <a:xfrm/>
      </p:grpSpPr>
      <p:sp>
        <p:nvSpPr>
          <p:cNvPr id="3" name="Title">
            <a:extLst>
              <a:ext uri="{FF2B5EF4-FFF2-40B4-BE49-F238E27FC236}">
                <ns2:creationId id="{4A5A72E8-86C1-46ED-A1BC-F369108CD320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  <p:sp>
        <p:nvSpPr>
          <p:cNvPr id="2" name="Body">
            <a:extLst>
              <a:ext uri="{FF2B5EF4-FFF2-40B4-BE49-F238E27FC236}">
                <ns2:creationId id="{8031CA3D-0D23-4984-9215-673B4A1B64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</p:spTree>
  </p:cSld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>
  <p:cSld name="Title and Two Column">
    <p:spTree>
      <p:nvGrpSpPr>
        <p:cNvPr id="1" name=""/>
        <p:cNvGrpSpPr/>
        <p:nvPr/>
      </p:nvGrpSpPr>
      <p:grpSpPr>
        <a:xfrm/>
      </p:grpSpPr>
      <p:sp>
        <p:nvSpPr>
          <p:cNvPr id="4" name="Title">
            <a:extLst>
              <a:ext uri="{FF2B5EF4-FFF2-40B4-BE49-F238E27FC236}">
                <ns2:creationId id="{922F6E40-86FA-4835-B28B-BF278BD475D9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  <p:sp>
        <p:nvSpPr>
          <p:cNvPr id="2" name="Left column">
            <a:extLst>
              <a:ext uri="{FF2B5EF4-FFF2-40B4-BE49-F238E27FC236}">
                <ns2:creationId id="{FD9AD838-E562-4A78-B4FE-FD51C23729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  <p:sp>
        <p:nvSpPr>
          <p:cNvPr id="3" name="Right column">
            <a:extLst>
              <a:ext uri="{FF2B5EF4-FFF2-40B4-BE49-F238E27FC236}">
                <ns2:creationId id="{C0491689-BA57-479D-8DBB-64C3F430271E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</p:spTree>
  </p:cSld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>
  <p:cSld name="Title and One Column">
    <p:spTree>
      <p:nvGrpSpPr>
        <p:cNvPr id="1" name=""/>
        <p:cNvGrpSpPr/>
        <p:nvPr/>
      </p:nvGrpSpPr>
      <p:grpSpPr>
        <a:xfrm/>
      </p:grpSpPr>
      <p:sp>
        <p:nvSpPr>
          <p:cNvPr id="3" name="Title">
            <a:extLst>
              <a:ext uri="{FF2B5EF4-FFF2-40B4-BE49-F238E27FC236}">
                <ns2:creationId id="{492D91ED-15BC-40F7-81FF-B7D476EC4A02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  <p:sp>
        <p:nvSpPr>
          <p:cNvPr id="2" name="Left column">
            <a:extLst>
              <a:ext uri="{FF2B5EF4-FFF2-40B4-BE49-F238E27FC236}">
                <ns2:creationId id="{F6AFA915-A911-40E5-8450-F19F3270D7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type="blank">
  <p:cSld name="Blank">
    <p:spTree>
      <p:nvGrpSpPr>
        <p:cNvPr id="1" name=""/>
        <p:cNvGrpSpPr/>
        <p:nvPr/>
      </p:nvGrpSpPr>
      <p:grpSpPr>
        <a:xfrm/>
      </p:grpSpPr>
    </p:spTree>
  </p:cSld>
</p:sldLayout>
</file>

<file path=ppt/slideMasters/_rels/slideMaster1.xml.rels><?xml version='1.0' encoding='utf-8'?>
<Relationships xmlns="http://schemas.openxmlformats.org/package/2006/relationships"><Relationship Type="http://schemas.openxmlformats.org/officeDocument/2006/relationships/theme" Target="/ppt/slideMasters/theme/theme2.xml" Id="Rcc3513c773d440ab" /><Relationship Type="http://schemas.openxmlformats.org/officeDocument/2006/relationships/slideLayout" Target="/ppt/slideLayouts/slideLayout1.xml" Id="R26173e832a724c71" /><Relationship Type="http://schemas.openxmlformats.org/officeDocument/2006/relationships/slideLayout" Target="/ppt/slideLayouts/slideLayout2.xml" Id="R960f9b439dd84bd9" /><Relationship Type="http://schemas.openxmlformats.org/officeDocument/2006/relationships/slideLayout" Target="/ppt/slideLayouts/slideLayout3.xml" Id="Rd9ec3fb0d6e8413b" /><Relationship Type="http://schemas.openxmlformats.org/officeDocument/2006/relationships/slideLayout" Target="/ppt/slideLayouts/slideLayout4.xml" Id="R124ea3bf6ddc4914" /><Relationship Type="http://schemas.openxmlformats.org/officeDocument/2006/relationships/slideLayout" Target="/ppt/slideLayouts/slideLayout5.xml" Id="Rbf3e53cbc2464fbc" /><Relationship Type="http://schemas.openxmlformats.org/officeDocument/2006/relationships/slideLayout" Target="/ppt/slideLayouts/slideLayout6.xml" Id="Rd77528f4ddf74050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26173e832a724c71"/>
    <p:sldLayoutId id="2147483650" r:id="R960f9b439dd84bd9"/>
    <p:sldLayoutId id="2147483651" r:id="Rd9ec3fb0d6e8413b"/>
    <p:sldLayoutId id="2147483652" r:id="R124ea3bf6ddc4914"/>
    <p:sldLayoutId id="2147483653" r:id="Rbf3e53cbc2464fbc"/>
    <p:sldLayoutId id="2147483654" r:id="Rd77528f4ddf74050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Noto Sans CJK SC"/>
          <a:ea typeface="Noto Sans CJK SC"/>
          <a:cs typeface="Noto Sans CJK SC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Noto Sans CJK SC"/>
          <a:ea typeface="Noto Sans CJK SC"/>
          <a:cs typeface="Noto Sans CJK SC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Noto Sans CJK SC"/>
          <a:ea typeface="Noto Sans CJK SC"/>
          <a:cs typeface="Noto Sans CJK SC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Noto Sans CJK SC"/>
          <a:ea typeface="Noto Sans CJK SC"/>
          <a:cs typeface="Noto Sans CJK SC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1pPr>
      <a:lvl2pPr marL="4572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2pPr>
      <a:lvl3pPr marL="9144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3pPr>
      <a:lvl4pPr marL="13716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4pPr>
      <a:lvl5pPr marL="18288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5pPr>
      <a:lvl6pPr marL="22860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6pPr>
      <a:lvl7pPr marL="27432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7pPr>
      <a:lvl8pPr marL="32004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8pPr>
      <a:lvl9pPr marL="36576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Noto Sans CJK SC"/>
        <a:ea typeface=""/>
        <a:cs typeface=""/>
      </a:majorFont>
      <a:minorFont>
        <a:latin typeface="Noto Sans CJK S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12d5e8f858424d79" /><Relationship Type="http://schemas.openxmlformats.org/officeDocument/2006/relationships/chart" Target="/ppt/charts/chart1.xml" Id="R0f90f39fb5cf47f3" /><Relationship Type="http://schemas.openxmlformats.org/officeDocument/2006/relationships/chart" Target="/ppt/charts/chart2.xml" Id="R5ffc3bee95974730" /><Relationship Type="http://schemas.openxmlformats.org/officeDocument/2006/relationships/chart" Target="/ppt/charts/chart3.xml" Id="R5911ad34a6c7462d" /><Relationship Type="http://schemas.openxmlformats.org/officeDocument/2006/relationships/chart" Target="/ppt/charts/chart4.xml" Id="Rffaaf39a0267400e" /><Relationship Type="http://schemas.openxmlformats.org/officeDocument/2006/relationships/notesSlide" Target="/ppt/notesSlides/notesSlide1.xml" Id="R0674bcd17bcf4ba2" /></Relationships>
</file>

<file path=ppt/slides/_rels/slide2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12d5e8f858424d79" /><Relationship Type="http://schemas.openxmlformats.org/officeDocument/2006/relationships/chart" Target="/ppt/charts/chart5.xml" Id="R0f90f39fb5cf47f3" /><Relationship Type="http://schemas.openxmlformats.org/officeDocument/2006/relationships/chart" Target="/ppt/charts/chart6.xml" Id="R5ffc3bee95974730" /><Relationship Type="http://schemas.openxmlformats.org/officeDocument/2006/relationships/chart" Target="/ppt/charts/chart7.xml" Id="R5911ad34a6c7462d" /><Relationship Type="http://schemas.openxmlformats.org/officeDocument/2006/relationships/chart" Target="/ppt/charts/chart8.xml" Id="Rffaaf39a0267400e" /><Relationship Type="http://schemas.openxmlformats.org/officeDocument/2006/relationships/notesSlide" Target="/ppt/notesSlides/notesSlide2.xml" Id="R0674bcd17bcf4ba2" /></Relationships>
</file>

<file path=ppt/slides/_rels/slide3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12d5e8f858424d79" /><Relationship Type="http://schemas.openxmlformats.org/officeDocument/2006/relationships/chart" Target="/ppt/charts/chart9.xml" Id="R0f90f39fb5cf47f3" /><Relationship Type="http://schemas.openxmlformats.org/officeDocument/2006/relationships/chart" Target="/ppt/charts/chart10.xml" Id="R5ffc3bee95974730" /><Relationship Type="http://schemas.openxmlformats.org/officeDocument/2006/relationships/chart" Target="/ppt/charts/chart11.xml" Id="R5911ad34a6c7462d" /><Relationship Type="http://schemas.openxmlformats.org/officeDocument/2006/relationships/chart" Target="/ppt/charts/chart12.xml" Id="Rffaaf39a0267400e" /><Relationship Type="http://schemas.openxmlformats.org/officeDocument/2006/relationships/notesSlide" Target="/ppt/notesSlides/notesSlide3.xml" Id="R0674bcd17bcf4ba2" /></Relationships>
</file>

<file path=ppt/slides/_rels/slide4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12d5e8f858424d79" /><Relationship Type="http://schemas.openxmlformats.org/officeDocument/2006/relationships/chart" Target="/ppt/charts/chart13.xml" Id="R0f90f39fb5cf47f3" /><Relationship Type="http://schemas.openxmlformats.org/officeDocument/2006/relationships/chart" Target="/ppt/charts/chart14.xml" Id="R5ffc3bee95974730" /><Relationship Type="http://schemas.openxmlformats.org/officeDocument/2006/relationships/chart" Target="/ppt/charts/chart15.xml" Id="R5911ad34a6c7462d" /><Relationship Type="http://schemas.openxmlformats.org/officeDocument/2006/relationships/chart" Target="/ppt/charts/chart16.xml" Id="Rffaaf39a0267400e" /><Relationship Type="http://schemas.openxmlformats.org/officeDocument/2006/relationships/notesSlide" Target="/ppt/notesSlides/notesSlide4.xml" Id="R0674bcd17bcf4ba2" /></Relationships>
</file>

<file path=ppt/slides/_rels/slide5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12d5e8f858424d79" /><Relationship Type="http://schemas.openxmlformats.org/officeDocument/2006/relationships/chart" Target="/ppt/charts/chart17.xml" Id="R0f90f39fb5cf47f3" /><Relationship Type="http://schemas.openxmlformats.org/officeDocument/2006/relationships/chart" Target="/ppt/charts/chart18.xml" Id="R5ffc3bee95974730" /><Relationship Type="http://schemas.openxmlformats.org/officeDocument/2006/relationships/chart" Target="/ppt/charts/chart19.xml" Id="R5911ad34a6c7462d" /><Relationship Type="http://schemas.openxmlformats.org/officeDocument/2006/relationships/chart" Target="/ppt/charts/chart20.xml" Id="Rffaaf39a0267400e" /><Relationship Type="http://schemas.openxmlformats.org/officeDocument/2006/relationships/notesSlide" Target="/ppt/notesSlides/notesSlide5.xml" Id="R0674bcd17bcf4ba2" /></Relationships>
</file>

<file path=ppt/slides/_rels/slide6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12d5e8f858424d79" /><Relationship Type="http://schemas.openxmlformats.org/officeDocument/2006/relationships/chart" Target="/ppt/charts/chart21.xml" Id="R0f90f39fb5cf47f3" /><Relationship Type="http://schemas.openxmlformats.org/officeDocument/2006/relationships/chart" Target="/ppt/charts/chart22.xml" Id="R5ffc3bee95974730" /><Relationship Type="http://schemas.openxmlformats.org/officeDocument/2006/relationships/chart" Target="/ppt/charts/chart23.xml" Id="R5911ad34a6c7462d" /><Relationship Type="http://schemas.openxmlformats.org/officeDocument/2006/relationships/chart" Target="/ppt/charts/chart24.xml" Id="Rffaaf39a0267400e" /><Relationship Type="http://schemas.openxmlformats.org/officeDocument/2006/relationships/notesSlide" Target="/ppt/notesSlides/notesSlide6.xml" Id="R0674bcd17bcf4ba2" /></Relationships>
</file>

<file path=ppt/slides/slide1.xml><?xml version="1.0" encoding="utf-8"?>
<p:sld xmlns:a="http://schemas.openxmlformats.org/drawingml/2006/main" xmlns:c="http://schemas.openxmlformats.org/drawingml/2006/chart" xmlns:ns2="http://schemas.microsoft.com/office/drawing/2014/main" xmlns:ns5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42" name="text-774">
            <a:extLst>
              <a:ext uri="{FF2B5EF4-FFF2-40B4-BE49-F238E27FC236}">
                <ns2:creationId id="{870151DE-162C-4E36-9A2A-BDBE388A5215}"/>
              </a:ext>
            </a:extLst>
          </p:cNvPr>
          <p:cNvSpPr>
            <a:spLocks noGrp="1"/>
          </p:cNvSpPr>
          <p:nvPr/>
        </p:nvSpPr>
        <p:spPr>
          <a:xfrm>
            <a:off x="228600" y="152400"/>
            <a:ext cx="11734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配色样板｜蓝白朱红</a:t>
            </a:r>
            <a:endParaRPr/>
          </a:p>
        </p:txBody>
      </p:sp>
      <p:sp>
        <p:nvSpPr>
          <p:cNvPr id="2" name="line-775">
            <a:extLst>
              <a:ext uri="{FF2B5EF4-FFF2-40B4-BE49-F238E27FC236}">
                <ns2:creationId id="{623A8942-9983-4DAC-90FE-5824285F49AD}"/>
              </a:ext>
            </a:extLst>
          </p:cNvPr>
          <p:cNvSpPr>
            <a:spLocks noGrp="1"/>
          </p:cNvSpPr>
          <p:nvPr/>
        </p:nvSpPr>
        <p:spPr>
          <a:xfrm>
            <a:off x="228600" y="695325"/>
            <a:ext cx="11734800" cy="95"/>
          </a:xfrm>
          <a:prstGeom prst="line">
            <a:avLst/>
          </a:prstGeom>
          <a:noFill/>
          <a:ln w="16193">
            <a:solidFill>
              <a:srgbClr val="173D67"/>
            </a:solidFill>
            <a:prstDash val="solid"/>
          </a:ln>
        </p:spPr>
      </p:sp>
      <p:sp>
        <p:nvSpPr>
          <p:cNvPr id="3" name="shape-776">
            <a:extLst>
              <a:ext uri="{FF2B5EF4-FFF2-40B4-BE49-F238E27FC236}">
                <ns2:creationId id="{6238D9A9-05A6-4EA9-BFBE-DB3046E5407F}"/>
              </a:ext>
            </a:extLst>
          </p:cNvPr>
          <p:cNvSpPr>
            <a:spLocks noGrp="1"/>
          </p:cNvSpPr>
          <p:nvPr/>
        </p:nvSpPr>
        <p:spPr>
          <a:xfrm>
            <a:off x="228600" y="885825"/>
            <a:ext cx="5781675" cy="247650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D8DEE5"/>
            </a:solidFill>
            <a:prstDash val="solid"/>
          </a:ln>
        </p:spPr>
      </p:sp>
      <p:sp>
        <p:nvSpPr>
          <p:cNvPr id="4" name="shape-777">
            <a:extLst>
              <a:ext uri="{FF2B5EF4-FFF2-40B4-BE49-F238E27FC236}">
                <ns2:creationId id="{B09C51B1-8A13-401C-B166-4699434CCEFC}"/>
              </a:ext>
            </a:extLst>
          </p:cNvPr>
          <p:cNvSpPr>
            <a:spLocks noGrp="1"/>
          </p:cNvSpPr>
          <p:nvPr/>
        </p:nvSpPr>
        <p:spPr>
          <a:xfrm>
            <a:off x="238125" y="895350"/>
            <a:ext cx="5762625" cy="361950"/>
          </a:xfrm>
          <a:prstGeom prst="roundRect">
            <a:avLst>
              <a:gd name="adj" fmla="val 21053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5" name="shape-778">
            <a:extLst>
              <a:ext uri="{FF2B5EF4-FFF2-40B4-BE49-F238E27FC236}">
                <ns2:creationId id="{94701B7F-21F9-4E64-8428-0350248872A3}"/>
              </a:ext>
            </a:extLst>
          </p:cNvPr>
          <p:cNvSpPr>
            <a:spLocks noGrp="1"/>
          </p:cNvSpPr>
          <p:nvPr/>
        </p:nvSpPr>
        <p:spPr>
          <a:xfrm>
            <a:off x="323850" y="933450"/>
            <a:ext cx="276225" cy="276225"/>
          </a:xfrm>
          <a:prstGeom prst="ellipse">
            <a:avLst/>
          </a:prstGeom>
          <a:solidFill>
            <a:srgbClr val="173D67"/>
          </a:solidFill>
          <a:ln w="0">
            <a:noFill/>
            <a:prstDash val="solid"/>
          </a:ln>
        </p:spPr>
      </p:sp>
      <p:sp>
        <p:nvSpPr>
          <p:cNvPr id="6" name="text-779">
            <a:extLst>
              <a:ext uri="{FF2B5EF4-FFF2-40B4-BE49-F238E27FC236}">
                <ns2:creationId id="{B01030CA-E107-4642-B10D-7DD8AC610DDD}"/>
              </a:ext>
            </a:extLst>
          </p:cNvPr>
          <p:cNvSpPr>
            <a:spLocks noGrp="1"/>
          </p:cNvSpPr>
          <p:nvPr/>
        </p:nvSpPr>
        <p:spPr>
          <a:xfrm>
            <a:off x="323850" y="933450"/>
            <a:ext cx="27622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A</a:t>
            </a:r>
          </a:p>
        </p:txBody>
      </p:sp>
      <p:sp>
        <p:nvSpPr>
          <p:cNvPr id="7" name="text-780">
            <a:extLst>
              <a:ext uri="{FF2B5EF4-FFF2-40B4-BE49-F238E27FC236}">
                <ns2:creationId id="{D47D1E79-4C6E-499F-BB3E-8D46299274B6}"/>
              </a:ext>
            </a:extLst>
          </p:cNvPr>
          <p:cNvSpPr>
            <a:spLocks noGrp="1"/>
          </p:cNvSpPr>
          <p:nvPr/>
        </p:nvSpPr>
        <p:spPr>
          <a:xfrm>
            <a:off x="714375" y="942975"/>
            <a:ext cx="514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丰富度沿梯度变化</a:t>
            </a:r>
            <a:endParaRPr/>
          </a:p>
        </p:txBody>
      </p:sp>
      <p:graphicFrame>
        <p:nvGraphicFramePr>
          <p:cNvPr id="8" name="Chart">
            <a:extLst>
              <a:ext uri="{FF2B5EF4-FFF2-40B4-BE49-F238E27FC236}">
                <ns2:creationId id="{9456CB77-0FB2-4A66-BD08-7370CB22A5E3}"/>
              </a:ext>
            </a:extLst>
          </p:cNvPr>
          <p:cNvGraphicFramePr/>
          <p:nvPr/>
        </p:nvGraphicFramePr>
        <p:xfrm>
          <a:off x="304800" y="1314450"/>
          <a:ext cx="5619750" cy="1981200"/>
        </p:xfrm>
        <a:graphic>
          <a:graphicData uri="http://schemas.openxmlformats.org/drawingml/2006/chart">
            <c:chart r:id="R0f90f39fb5cf47f3"/>
          </a:graphicData>
        </a:graphic>
      </p:graphicFrame>
      <p:sp>
        <p:nvSpPr>
          <p:cNvPr id="9" name="text-781">
            <a:extLst>
              <a:ext uri="{FF2B5EF4-FFF2-40B4-BE49-F238E27FC236}">
                <ns2:creationId id="{A492B5C0-6C8E-476A-A0FF-2B8B824EFB96}"/>
              </a:ext>
            </a:extLst>
          </p:cNvPr>
          <p:cNvSpPr>
            <a:spLocks noGrp="1"/>
          </p:cNvSpPr>
          <p:nvPr/>
        </p:nvSpPr>
        <p:spPr>
          <a:xfrm>
            <a:off x="2103120" y="3105150"/>
            <a:ext cx="280987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干扰强度</a:t>
            </a:r>
            <a:endParaRPr/>
          </a:p>
        </p:txBody>
      </p:sp>
      <p:sp>
        <p:nvSpPr>
          <p:cNvPr id="10" name="shape-782">
            <a:extLst>
              <a:ext uri="{FF2B5EF4-FFF2-40B4-BE49-F238E27FC236}">
                <ns2:creationId id="{954A65F0-59E1-44F4-9F44-63E470FB03CB}"/>
              </a:ext>
            </a:extLst>
          </p:cNvPr>
          <p:cNvSpPr>
            <a:spLocks noGrp="1"/>
          </p:cNvSpPr>
          <p:nvPr/>
        </p:nvSpPr>
        <p:spPr>
          <a:xfrm>
            <a:off x="6181725" y="885825"/>
            <a:ext cx="5781675" cy="247650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D8DEE5"/>
            </a:solidFill>
            <a:prstDash val="solid"/>
          </a:ln>
        </p:spPr>
      </p:sp>
      <p:sp>
        <p:nvSpPr>
          <p:cNvPr id="11" name="shape-783">
            <a:extLst>
              <a:ext uri="{FF2B5EF4-FFF2-40B4-BE49-F238E27FC236}">
                <ns2:creationId id="{E91F6EEF-201E-45C6-ADFE-3A13A329382C}"/>
              </a:ext>
            </a:extLst>
          </p:cNvPr>
          <p:cNvSpPr>
            <a:spLocks noGrp="1"/>
          </p:cNvSpPr>
          <p:nvPr/>
        </p:nvSpPr>
        <p:spPr>
          <a:xfrm>
            <a:off x="6191250" y="895350"/>
            <a:ext cx="5762625" cy="361950"/>
          </a:xfrm>
          <a:prstGeom prst="roundRect">
            <a:avLst>
              <a:gd name="adj" fmla="val 21053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12" name="shape-784">
            <a:extLst>
              <a:ext uri="{FF2B5EF4-FFF2-40B4-BE49-F238E27FC236}">
                <ns2:creationId id="{9C37406F-6B5F-44F1-875A-02E2692E64C1}"/>
              </a:ext>
            </a:extLst>
          </p:cNvPr>
          <p:cNvSpPr>
            <a:spLocks noGrp="1"/>
          </p:cNvSpPr>
          <p:nvPr/>
        </p:nvSpPr>
        <p:spPr>
          <a:xfrm>
            <a:off x="6276975" y="933450"/>
            <a:ext cx="276225" cy="276225"/>
          </a:xfrm>
          <a:prstGeom prst="ellipse">
            <a:avLst/>
          </a:prstGeom>
          <a:solidFill>
            <a:srgbClr val="173D67"/>
          </a:solidFill>
          <a:ln w="0">
            <a:noFill/>
            <a:prstDash val="solid"/>
          </a:ln>
        </p:spPr>
      </p:sp>
      <p:sp>
        <p:nvSpPr>
          <p:cNvPr id="13" name="text-785">
            <a:extLst>
              <a:ext uri="{FF2B5EF4-FFF2-40B4-BE49-F238E27FC236}">
                <ns2:creationId id="{5B4A55DB-123D-4A99-A4B8-77B18A40F9C1}"/>
              </a:ext>
            </a:extLst>
          </p:cNvPr>
          <p:cNvSpPr>
            <a:spLocks noGrp="1"/>
          </p:cNvSpPr>
          <p:nvPr/>
        </p:nvSpPr>
        <p:spPr>
          <a:xfrm>
            <a:off x="6276975" y="933450"/>
            <a:ext cx="27622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B</a:t>
            </a:r>
          </a:p>
        </p:txBody>
      </p:sp>
      <p:sp>
        <p:nvSpPr>
          <p:cNvPr id="14" name="text-786">
            <a:extLst>
              <a:ext uri="{FF2B5EF4-FFF2-40B4-BE49-F238E27FC236}">
                <ns2:creationId id="{0731A0D9-0B00-4255-B368-C5548CD183E6}"/>
              </a:ext>
            </a:extLst>
          </p:cNvPr>
          <p:cNvSpPr>
            <a:spLocks noGrp="1"/>
          </p:cNvSpPr>
          <p:nvPr/>
        </p:nvSpPr>
        <p:spPr>
          <a:xfrm>
            <a:off x="6667500" y="942975"/>
            <a:ext cx="514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不同生境的群落差异</a:t>
            </a:r>
            <a:endParaRPr/>
          </a:p>
        </p:txBody>
      </p:sp>
      <p:graphicFrame>
        <p:nvGraphicFramePr>
          <p:cNvPr id="15" name="Chart">
            <a:extLst>
              <a:ext uri="{FF2B5EF4-FFF2-40B4-BE49-F238E27FC236}">
                <ns2:creationId id="{7F0206B9-6C09-457D-B465-33EE92A85635}"/>
              </a:ext>
            </a:extLst>
          </p:cNvPr>
          <p:cNvGraphicFramePr/>
          <p:nvPr/>
        </p:nvGraphicFramePr>
        <p:xfrm>
          <a:off x="6257925" y="1314450"/>
          <a:ext cx="5619750" cy="1981200"/>
        </p:xfrm>
        <a:graphic>
          <a:graphicData uri="http://schemas.openxmlformats.org/drawingml/2006/chart">
            <c:chart r:id="R5ffc3bee95974730"/>
          </a:graphicData>
        </a:graphic>
      </p:graphicFrame>
      <p:sp>
        <p:nvSpPr>
          <p:cNvPr id="16" name="shape-787">
            <a:extLst>
              <a:ext uri="{FF2B5EF4-FFF2-40B4-BE49-F238E27FC236}">
                <ns2:creationId id="{1AF9F0CC-C727-4FBF-8DC4-995AA1EF4A6D}"/>
              </a:ext>
            </a:extLst>
          </p:cNvPr>
          <p:cNvSpPr>
            <a:spLocks noGrp="1"/>
          </p:cNvSpPr>
          <p:nvPr/>
        </p:nvSpPr>
        <p:spPr>
          <a:xfrm>
            <a:off x="228600" y="3495675"/>
            <a:ext cx="5781675" cy="247650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D8DEE5"/>
            </a:solidFill>
            <a:prstDash val="solid"/>
          </a:ln>
        </p:spPr>
      </p:sp>
      <p:sp>
        <p:nvSpPr>
          <p:cNvPr id="17" name="shape-788">
            <a:extLst>
              <a:ext uri="{FF2B5EF4-FFF2-40B4-BE49-F238E27FC236}">
                <ns2:creationId id="{BD71EC20-B58A-469C-9E31-70D081983CD4}"/>
              </a:ext>
            </a:extLst>
          </p:cNvPr>
          <p:cNvSpPr>
            <a:spLocks noGrp="1"/>
          </p:cNvSpPr>
          <p:nvPr/>
        </p:nvSpPr>
        <p:spPr>
          <a:xfrm>
            <a:off x="238125" y="3505200"/>
            <a:ext cx="5762625" cy="361950"/>
          </a:xfrm>
          <a:prstGeom prst="roundRect">
            <a:avLst>
              <a:gd name="adj" fmla="val 21053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18" name="shape-789">
            <a:extLst>
              <a:ext uri="{FF2B5EF4-FFF2-40B4-BE49-F238E27FC236}">
                <ns2:creationId id="{8AA0545D-C63E-48FF-9919-6A3C912B1616}"/>
              </a:ext>
            </a:extLst>
          </p:cNvPr>
          <p:cNvSpPr>
            <a:spLocks noGrp="1"/>
          </p:cNvSpPr>
          <p:nvPr/>
        </p:nvSpPr>
        <p:spPr>
          <a:xfrm>
            <a:off x="323850" y="3543300"/>
            <a:ext cx="276225" cy="276225"/>
          </a:xfrm>
          <a:prstGeom prst="ellipse">
            <a:avLst/>
          </a:prstGeom>
          <a:solidFill>
            <a:srgbClr val="173D67"/>
          </a:solidFill>
          <a:ln w="0">
            <a:noFill/>
            <a:prstDash val="solid"/>
          </a:ln>
        </p:spPr>
      </p:sp>
      <p:sp>
        <p:nvSpPr>
          <p:cNvPr id="19" name="text-790">
            <a:extLst>
              <a:ext uri="{FF2B5EF4-FFF2-40B4-BE49-F238E27FC236}">
                <ns2:creationId id="{60A4A900-E79C-44C3-9DAE-47ED004E4723}"/>
              </a:ext>
            </a:extLst>
          </p:cNvPr>
          <p:cNvSpPr>
            <a:spLocks noGrp="1"/>
          </p:cNvSpPr>
          <p:nvPr/>
        </p:nvSpPr>
        <p:spPr>
          <a:xfrm>
            <a:off x="323850" y="3543300"/>
            <a:ext cx="27622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C</a:t>
            </a:r>
          </a:p>
        </p:txBody>
      </p:sp>
      <p:sp>
        <p:nvSpPr>
          <p:cNvPr id="20" name="text-791">
            <a:extLst>
              <a:ext uri="{FF2B5EF4-FFF2-40B4-BE49-F238E27FC236}">
                <ns2:creationId id="{BA801818-1268-4883-8A51-AECE03EE1DA0}"/>
              </a:ext>
            </a:extLst>
          </p:cNvPr>
          <p:cNvSpPr>
            <a:spLocks noGrp="1"/>
          </p:cNvSpPr>
          <p:nvPr/>
        </p:nvSpPr>
        <p:spPr>
          <a:xfrm>
            <a:off x="714375" y="3552825"/>
            <a:ext cx="514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季节动态</a:t>
            </a:r>
            <a:endParaRPr/>
          </a:p>
        </p:txBody>
      </p:sp>
      <p:graphicFrame>
        <p:nvGraphicFramePr>
          <p:cNvPr id="21" name="Chart">
            <a:extLst>
              <a:ext uri="{FF2B5EF4-FFF2-40B4-BE49-F238E27FC236}">
                <ns2:creationId id="{419FAEFB-A02A-4E65-BAF2-FB1C9B48BE22}"/>
              </a:ext>
            </a:extLst>
          </p:cNvPr>
          <p:cNvGraphicFramePr/>
          <p:nvPr/>
        </p:nvGraphicFramePr>
        <p:xfrm>
          <a:off x="304800" y="3924300"/>
          <a:ext cx="5619750" cy="1981200"/>
        </p:xfrm>
        <a:graphic>
          <a:graphicData uri="http://schemas.openxmlformats.org/drawingml/2006/chart">
            <c:chart r:id="R5911ad34a6c7462d"/>
          </a:graphicData>
        </a:graphic>
      </p:graphicFrame>
      <p:sp>
        <p:nvSpPr>
          <p:cNvPr id="22" name="line-792">
            <a:extLst>
              <a:ext uri="{FF2B5EF4-FFF2-40B4-BE49-F238E27FC236}">
                <ns2:creationId id="{88C43074-E8D9-46A6-9170-4D3647BF5914}"/>
              </a:ext>
            </a:extLst>
          </p:cNvPr>
          <p:cNvSpPr>
            <a:spLocks noGrp="1"/>
          </p:cNvSpPr>
          <p:nvPr/>
        </p:nvSpPr>
        <p:spPr>
          <a:xfrm>
            <a:off x="4781550" y="4124325"/>
            <a:ext cx="209550" cy="95"/>
          </a:xfrm>
          <a:prstGeom prst="line">
            <a:avLst/>
          </a:prstGeom>
          <a:noFill/>
          <a:ln w="19050">
            <a:solidFill>
              <a:srgbClr val="173D67"/>
            </a:solidFill>
            <a:prstDash val="solid"/>
          </a:ln>
        </p:spPr>
      </p:sp>
      <p:sp>
        <p:nvSpPr>
          <p:cNvPr id="23" name="text-793">
            <a:extLst>
              <a:ext uri="{FF2B5EF4-FFF2-40B4-BE49-F238E27FC236}">
                <ns2:creationId id="{A08CF5A4-363F-4B2B-907D-5754E7601F3B}"/>
              </a:ext>
            </a:extLst>
          </p:cNvPr>
          <p:cNvSpPr>
            <a:spLocks noGrp="1"/>
          </p:cNvSpPr>
          <p:nvPr/>
        </p:nvSpPr>
        <p:spPr>
          <a:xfrm>
            <a:off x="5057775" y="4038600"/>
            <a:ext cx="8382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0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0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0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0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0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0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0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0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0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0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情景 A</a:t>
            </a:r>
            <a:endParaRPr/>
          </a:p>
        </p:txBody>
      </p:sp>
      <p:sp>
        <p:nvSpPr>
          <p:cNvPr id="24" name="line-794">
            <a:extLst>
              <a:ext uri="{FF2B5EF4-FFF2-40B4-BE49-F238E27FC236}">
                <ns2:creationId id="{7CF895B8-1DD8-4639-886A-1C5A1D8C42E4}"/>
              </a:ext>
            </a:extLst>
          </p:cNvPr>
          <p:cNvSpPr>
            <a:spLocks noGrp="1"/>
          </p:cNvSpPr>
          <p:nvPr/>
        </p:nvSpPr>
        <p:spPr>
          <a:xfrm>
            <a:off x="4781550" y="4352925"/>
            <a:ext cx="209550" cy="95"/>
          </a:xfrm>
          <a:prstGeom prst="line">
            <a:avLst/>
          </a:prstGeom>
          <a:noFill/>
          <a:ln w="19050">
            <a:solidFill>
              <a:srgbClr val="AF3D3D"/>
            </a:solidFill>
            <a:prstDash val="solid"/>
          </a:ln>
        </p:spPr>
      </p:sp>
      <p:sp>
        <p:nvSpPr>
          <p:cNvPr id="25" name="text-795">
            <a:extLst>
              <a:ext uri="{FF2B5EF4-FFF2-40B4-BE49-F238E27FC236}">
                <ns2:creationId id="{44E96B68-8185-4A2E-B713-98197F5C6A79}"/>
              </a:ext>
            </a:extLst>
          </p:cNvPr>
          <p:cNvSpPr>
            <a:spLocks noGrp="1"/>
          </p:cNvSpPr>
          <p:nvPr/>
        </p:nvSpPr>
        <p:spPr>
          <a:xfrm>
            <a:off x="5057775" y="4267200"/>
            <a:ext cx="8382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050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050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050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050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050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050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050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050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050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050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AF3D3D"/>
                </a:solidFill>
                <a:latin typeface="Noto Sans CJK SC"/>
                <a:ea typeface="Noto Sans CJK SC"/>
                <a:cs typeface="Noto Sans CJK SC"/>
              </a:rPr>
              <a:t>情景 B</a:t>
            </a:r>
            <a:endParaRPr/>
          </a:p>
        </p:txBody>
      </p:sp>
      <p:sp>
        <p:nvSpPr>
          <p:cNvPr id="26" name="text-796">
            <a:extLst>
              <a:ext uri="{FF2B5EF4-FFF2-40B4-BE49-F238E27FC236}">
                <ns2:creationId id="{1E2CEC79-B67D-452A-B8F4-80AA0F87D6DD}"/>
              </a:ext>
            </a:extLst>
          </p:cNvPr>
          <p:cNvSpPr>
            <a:spLocks noGrp="1"/>
          </p:cNvSpPr>
          <p:nvPr/>
        </p:nvSpPr>
        <p:spPr>
          <a:xfrm>
            <a:off x="2103120" y="5715000"/>
            <a:ext cx="280987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月份</a:t>
            </a:r>
            <a:endParaRPr/>
          </a:p>
        </p:txBody>
      </p:sp>
      <p:sp>
        <p:nvSpPr>
          <p:cNvPr id="27" name="shape-797">
            <a:extLst>
              <a:ext uri="{FF2B5EF4-FFF2-40B4-BE49-F238E27FC236}">
                <ns2:creationId id="{24F3D4E5-E07C-4F4D-B936-98907F1AA144}"/>
              </a:ext>
            </a:extLst>
          </p:cNvPr>
          <p:cNvSpPr>
            <a:spLocks noGrp="1"/>
          </p:cNvSpPr>
          <p:nvPr/>
        </p:nvSpPr>
        <p:spPr>
          <a:xfrm>
            <a:off x="6181725" y="3495675"/>
            <a:ext cx="5781675" cy="247650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D8DEE5"/>
            </a:solidFill>
            <a:prstDash val="solid"/>
          </a:ln>
        </p:spPr>
      </p:sp>
      <p:sp>
        <p:nvSpPr>
          <p:cNvPr id="28" name="shape-798">
            <a:extLst>
              <a:ext uri="{FF2B5EF4-FFF2-40B4-BE49-F238E27FC236}">
                <ns2:creationId id="{4583CF5F-7439-475C-B649-91E04F05FEB7}"/>
              </a:ext>
            </a:extLst>
          </p:cNvPr>
          <p:cNvSpPr>
            <a:spLocks noGrp="1"/>
          </p:cNvSpPr>
          <p:nvPr/>
        </p:nvSpPr>
        <p:spPr>
          <a:xfrm>
            <a:off x="6191250" y="3505200"/>
            <a:ext cx="5762625" cy="361950"/>
          </a:xfrm>
          <a:prstGeom prst="roundRect">
            <a:avLst>
              <a:gd name="adj" fmla="val 21053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29" name="shape-799">
            <a:extLst>
              <a:ext uri="{FF2B5EF4-FFF2-40B4-BE49-F238E27FC236}">
                <ns2:creationId id="{62E7BFA5-0730-4B90-9E5A-A032A486B7EE}"/>
              </a:ext>
            </a:extLst>
          </p:cNvPr>
          <p:cNvSpPr>
            <a:spLocks noGrp="1"/>
          </p:cNvSpPr>
          <p:nvPr/>
        </p:nvSpPr>
        <p:spPr>
          <a:xfrm>
            <a:off x="6276975" y="3543300"/>
            <a:ext cx="276225" cy="276225"/>
          </a:xfrm>
          <a:prstGeom prst="ellipse">
            <a:avLst/>
          </a:prstGeom>
          <a:solidFill>
            <a:srgbClr val="173D67"/>
          </a:solidFill>
          <a:ln w="0">
            <a:noFill/>
            <a:prstDash val="solid"/>
          </a:ln>
        </p:spPr>
      </p:sp>
      <p:sp>
        <p:nvSpPr>
          <p:cNvPr id="30" name="text-800">
            <a:extLst>
              <a:ext uri="{FF2B5EF4-FFF2-40B4-BE49-F238E27FC236}">
                <ns2:creationId id="{D586D7AE-2088-4455-ADC9-B1A8F2AA4EA0}"/>
              </a:ext>
            </a:extLst>
          </p:cNvPr>
          <p:cNvSpPr>
            <a:spLocks noGrp="1"/>
          </p:cNvSpPr>
          <p:nvPr/>
        </p:nvSpPr>
        <p:spPr>
          <a:xfrm>
            <a:off x="6276975" y="3543300"/>
            <a:ext cx="27622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D</a:t>
            </a:r>
          </a:p>
        </p:txBody>
      </p:sp>
      <p:sp>
        <p:nvSpPr>
          <p:cNvPr id="31" name="text-801">
            <a:extLst>
              <a:ext uri="{FF2B5EF4-FFF2-40B4-BE49-F238E27FC236}">
                <ns2:creationId id="{3E4B1D25-FCEC-41E1-9BEC-B2C2A1076C4E}"/>
              </a:ext>
            </a:extLst>
          </p:cNvPr>
          <p:cNvSpPr>
            <a:spLocks noGrp="1"/>
          </p:cNvSpPr>
          <p:nvPr/>
        </p:nvSpPr>
        <p:spPr>
          <a:xfrm>
            <a:off x="6667500" y="3552825"/>
            <a:ext cx="514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效应与不确定性</a:t>
            </a:r>
            <a:endParaRPr/>
          </a:p>
        </p:txBody>
      </p:sp>
      <p:graphicFrame>
        <p:nvGraphicFramePr>
          <p:cNvPr id="32" name="Chart">
            <a:extLst>
              <a:ext uri="{FF2B5EF4-FFF2-40B4-BE49-F238E27FC236}">
                <ns2:creationId id="{C76A89B5-85B0-4F52-808E-076BF3306AA8}"/>
              </a:ext>
            </a:extLst>
          </p:cNvPr>
          <p:cNvGraphicFramePr/>
          <p:nvPr/>
        </p:nvGraphicFramePr>
        <p:xfrm>
          <a:off x="6257925" y="3924300"/>
          <a:ext cx="5619750" cy="1981200"/>
        </p:xfrm>
        <a:graphic>
          <a:graphicData uri="http://schemas.openxmlformats.org/drawingml/2006/chart">
            <c:chart r:id="Rffaaf39a0267400e"/>
          </a:graphicData>
        </a:graphic>
      </p:graphicFrame>
      <p:sp>
        <p:nvSpPr>
          <p:cNvPr id="33" name="text-802">
            <a:extLst>
              <a:ext uri="{FF2B5EF4-FFF2-40B4-BE49-F238E27FC236}">
                <ns2:creationId id="{A0C8B234-E2E9-4D15-BDF3-746365A32BA6}"/>
              </a:ext>
            </a:extLst>
          </p:cNvPr>
          <p:cNvSpPr>
            <a:spLocks noGrp="1"/>
          </p:cNvSpPr>
          <p:nvPr/>
        </p:nvSpPr>
        <p:spPr>
          <a:xfrm>
            <a:off x="6257925" y="4201516"/>
            <a:ext cx="1404938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生境面积</a:t>
            </a:r>
            <a:endParaRPr/>
          </a:p>
        </p:txBody>
      </p:sp>
      <p:sp>
        <p:nvSpPr>
          <p:cNvPr id="34" name="text-803">
            <a:extLst>
              <a:ext uri="{FF2B5EF4-FFF2-40B4-BE49-F238E27FC236}">
                <ns2:creationId id="{526EEFD3-E9DB-4FD5-ACFA-CEF106A3C4FD}"/>
              </a:ext>
            </a:extLst>
          </p:cNvPr>
          <p:cNvSpPr>
            <a:spLocks noGrp="1"/>
          </p:cNvSpPr>
          <p:nvPr/>
        </p:nvSpPr>
        <p:spPr>
          <a:xfrm>
            <a:off x="6257925" y="4474921"/>
            <a:ext cx="1404938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隔离程度</a:t>
            </a:r>
            <a:endParaRPr/>
          </a:p>
        </p:txBody>
      </p:sp>
      <p:sp>
        <p:nvSpPr>
          <p:cNvPr id="35" name="text-804">
            <a:extLst>
              <a:ext uri="{FF2B5EF4-FFF2-40B4-BE49-F238E27FC236}">
                <ns2:creationId id="{46F62FE8-8F48-4548-A387-C5DFEE87C019}"/>
              </a:ext>
            </a:extLst>
          </p:cNvPr>
          <p:cNvSpPr>
            <a:spLocks noGrp="1"/>
          </p:cNvSpPr>
          <p:nvPr/>
        </p:nvSpPr>
        <p:spPr>
          <a:xfrm>
            <a:off x="6257925" y="4748327"/>
            <a:ext cx="1404938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植被覆盖</a:t>
            </a:r>
            <a:endParaRPr/>
          </a:p>
        </p:txBody>
      </p:sp>
      <p:sp>
        <p:nvSpPr>
          <p:cNvPr id="36" name="text-805">
            <a:extLst>
              <a:ext uri="{FF2B5EF4-FFF2-40B4-BE49-F238E27FC236}">
                <ns2:creationId id="{CAA911A2-F636-492E-B874-1CBE6C41426B}"/>
              </a:ext>
            </a:extLst>
          </p:cNvPr>
          <p:cNvSpPr>
            <a:spLocks noGrp="1"/>
          </p:cNvSpPr>
          <p:nvPr/>
        </p:nvSpPr>
        <p:spPr>
          <a:xfrm>
            <a:off x="6257925" y="5021732"/>
            <a:ext cx="1404938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人为干扰</a:t>
            </a:r>
            <a:endParaRPr/>
          </a:p>
        </p:txBody>
      </p:sp>
      <p:sp>
        <p:nvSpPr>
          <p:cNvPr id="37" name="text-806">
            <a:extLst>
              <a:ext uri="{FF2B5EF4-FFF2-40B4-BE49-F238E27FC236}">
                <ns2:creationId id="{7A5BDBF0-3C36-41B2-BF5D-AA4A48C59BB3}"/>
              </a:ext>
            </a:extLst>
          </p:cNvPr>
          <p:cNvSpPr>
            <a:spLocks noGrp="1"/>
          </p:cNvSpPr>
          <p:nvPr/>
        </p:nvSpPr>
        <p:spPr>
          <a:xfrm>
            <a:off x="8056245" y="5715000"/>
            <a:ext cx="280987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标准化效应值</a:t>
            </a:r>
            <a:endParaRPr/>
          </a:p>
        </p:txBody>
      </p:sp>
      <p:sp>
        <p:nvSpPr>
          <p:cNvPr id="38" name="shape-807">
            <a:extLst>
              <a:ext uri="{FF2B5EF4-FFF2-40B4-BE49-F238E27FC236}">
                <ns2:creationId id="{B5D12D88-A4B1-4758-A177-9F7FF6A82C92}"/>
              </a:ext>
            </a:extLst>
          </p:cNvPr>
          <p:cNvSpPr>
            <a:spLocks noGrp="1"/>
          </p:cNvSpPr>
          <p:nvPr/>
        </p:nvSpPr>
        <p:spPr>
          <a:xfrm>
            <a:off x="228600" y="6219825"/>
            <a:ext cx="11734800" cy="323850"/>
          </a:xfrm>
          <a:prstGeom prst="roundRect">
            <a:avLst>
              <a:gd name="adj" fmla="val 23529"/>
            </a:avLst>
          </a:prstGeom>
          <a:solidFill>
            <a:srgbClr val="EEF3F8"/>
          </a:solidFill>
          <a:ln w="0">
            <a:noFill/>
            <a:prstDash val="solid"/>
          </a:ln>
        </p:spPr>
      </p:sp>
      <p:sp>
        <p:nvSpPr>
          <p:cNvPr id="39" name="text-808">
            <a:extLst>
              <a:ext uri="{FF2B5EF4-FFF2-40B4-BE49-F238E27FC236}">
                <ns2:creationId id="{1DED5E77-6EB0-4AE7-B0A4-2D6AF34EC779}"/>
              </a:ext>
            </a:extLst>
          </p:cNvPr>
          <p:cNvSpPr>
            <a:spLocks noGrp="1"/>
          </p:cNvSpPr>
          <p:nvPr/>
        </p:nvSpPr>
        <p:spPr>
          <a:xfrm>
            <a:off x="361950" y="6257925"/>
            <a:ext cx="114681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173D67"/>
                </a:solidFill>
                <a:latin typeface="Noto Sans CJK SC"/>
                <a:ea typeface="Noto Sans CJK SC"/>
                <a:cs typeface="Noto Sans CJK SC"/>
              </a:rPr>
              <a:t>读图顺序：趋势 → 组间差异 → 动态 → 不确定性</a:t>
            </a:r>
            <a:endParaRPr/>
          </a:p>
        </p:txBody>
      </p:sp>
      <p:sp>
        <p:nvSpPr>
          <p:cNvPr id="40" name="text-809">
            <a:extLst>
              <a:ext uri="{FF2B5EF4-FFF2-40B4-BE49-F238E27FC236}">
                <ns2:creationId id="{1DA97AB6-8004-4A38-A338-5803F862D2D7}"/>
              </a:ext>
            </a:extLst>
          </p:cNvPr>
          <p:cNvSpPr>
            <a:spLocks noGrp="1"/>
          </p:cNvSpPr>
          <p:nvPr/>
        </p:nvSpPr>
        <p:spPr>
          <a:xfrm>
            <a:off x="228600" y="6619875"/>
            <a:ext cx="1057275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00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41" name="text-810">
            <a:extLst>
              <a:ext uri="{FF2B5EF4-FFF2-40B4-BE49-F238E27FC236}">
                <ns2:creationId id="{DA94209C-B64C-43A7-849E-88E3A32FD531}"/>
              </a:ext>
            </a:extLst>
          </p:cNvPr>
          <p:cNvSpPr>
            <a:spLocks noGrp="1"/>
          </p:cNvSpPr>
          <p:nvPr/>
        </p:nvSpPr>
        <p:spPr>
          <a:xfrm>
            <a:off x="11525250" y="6591300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 b="0">
                <a:solidFill>
                  <a:srgbClr val="718EAA"/>
                </a:solidFill>
                <a:latin typeface="Noto Sans CJK SC"/>
                <a:ea typeface="Noto Sans CJK SC"/>
                <a:cs typeface="Noto Sans CJK SC"/>
              </a:rPr>
              <a:t>01</a:t>
            </a:r>
            <a:endParaRPr/>
          </a:p>
        </p:txBody>
      </p:sp>
    </p:spTree>
    <p:extLst>
      <p:ext uri="{BB962C8B-B14F-4D97-AF65-F5344CB8AC3E}">
        <ns5:creationId val="563918454"/>
      </p:ext>
    </p:extLst>
  </p:cSld>
</p:sld>
</file>

<file path=ppt/slides/slide2.xml><?xml version="1.0" encoding="utf-8"?>
<p:sld xmlns:a="http://schemas.openxmlformats.org/drawingml/2006/main" xmlns:c="http://schemas.openxmlformats.org/drawingml/2006/chart" xmlns:ns2="http://schemas.microsoft.com/office/drawing/2014/main" xmlns:ns5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AF9F4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42" name="text-774">
            <a:extLst>
              <a:ext uri="{FF2B5EF4-FFF2-40B4-BE49-F238E27FC236}">
                <ns2:creationId id="{870151DE-162C-4E36-9A2A-BDBE388A5215}"/>
              </a:ext>
            </a:extLst>
          </p:cNvPr>
          <p:cNvSpPr>
            <a:spLocks noGrp="1"/>
          </p:cNvSpPr>
          <p:nvPr/>
        </p:nvSpPr>
        <p:spPr>
          <a:xfrm>
            <a:off x="228600" y="152400"/>
            <a:ext cx="11734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7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7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7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7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7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7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7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7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7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7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7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rPr>
              <a:t>配色样板｜松绿米白</a:t>
            </a:r>
            <a:endParaRPr/>
          </a:p>
        </p:txBody>
      </p:sp>
      <p:sp>
        <p:nvSpPr>
          <p:cNvPr id="2" name="line-775">
            <a:extLst>
              <a:ext uri="{FF2B5EF4-FFF2-40B4-BE49-F238E27FC236}">
                <ns2:creationId id="{623A8942-9983-4DAC-90FE-5824285F49AD}"/>
              </a:ext>
            </a:extLst>
          </p:cNvPr>
          <p:cNvSpPr>
            <a:spLocks noGrp="1"/>
          </p:cNvSpPr>
          <p:nvPr/>
        </p:nvSpPr>
        <p:spPr>
          <a:xfrm>
            <a:off x="228600" y="695325"/>
            <a:ext cx="11734800" cy="95"/>
          </a:xfrm>
          <a:prstGeom prst="line">
            <a:avLst/>
          </a:prstGeom>
          <a:noFill/>
          <a:ln w="16193">
            <a:solidFill>
              <a:srgbClr val="28463A"/>
            </a:solidFill>
            <a:prstDash val="solid"/>
          </a:ln>
        </p:spPr>
      </p:sp>
      <p:sp>
        <p:nvSpPr>
          <p:cNvPr id="3" name="shape-776">
            <a:extLst>
              <a:ext uri="{FF2B5EF4-FFF2-40B4-BE49-F238E27FC236}">
                <ns2:creationId id="{6238D9A9-05A6-4EA9-BFBE-DB3046E5407F}"/>
              </a:ext>
            </a:extLst>
          </p:cNvPr>
          <p:cNvSpPr>
            <a:spLocks noGrp="1"/>
          </p:cNvSpPr>
          <p:nvPr/>
        </p:nvSpPr>
        <p:spPr>
          <a:xfrm>
            <a:off x="228600" y="885825"/>
            <a:ext cx="5781675" cy="247650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DAE0DE"/>
            </a:solidFill>
            <a:prstDash val="solid"/>
          </a:ln>
        </p:spPr>
      </p:sp>
      <p:sp>
        <p:nvSpPr>
          <p:cNvPr id="4" name="shape-777">
            <a:extLst>
              <a:ext uri="{FF2B5EF4-FFF2-40B4-BE49-F238E27FC236}">
                <ns2:creationId id="{B09C51B1-8A13-401C-B166-4699434CCEFC}"/>
              </a:ext>
            </a:extLst>
          </p:cNvPr>
          <p:cNvSpPr>
            <a:spLocks noGrp="1"/>
          </p:cNvSpPr>
          <p:nvPr/>
        </p:nvSpPr>
        <p:spPr>
          <a:xfrm>
            <a:off x="238125" y="895350"/>
            <a:ext cx="5762625" cy="361950"/>
          </a:xfrm>
          <a:prstGeom prst="roundRect">
            <a:avLst>
              <a:gd name="adj" fmla="val 21053"/>
            </a:avLst>
          </a:prstGeom>
          <a:solidFill>
            <a:srgbClr val="EAF0E8"/>
          </a:solidFill>
          <a:ln w="0">
            <a:noFill/>
            <a:prstDash val="solid"/>
          </a:ln>
        </p:spPr>
      </p:sp>
      <p:sp>
        <p:nvSpPr>
          <p:cNvPr id="5" name="shape-778">
            <a:extLst>
              <a:ext uri="{FF2B5EF4-FFF2-40B4-BE49-F238E27FC236}">
                <ns2:creationId id="{94701B7F-21F9-4E64-8428-0350248872A3}"/>
              </a:ext>
            </a:extLst>
          </p:cNvPr>
          <p:cNvSpPr>
            <a:spLocks noGrp="1"/>
          </p:cNvSpPr>
          <p:nvPr/>
        </p:nvSpPr>
        <p:spPr>
          <a:xfrm>
            <a:off x="323850" y="933450"/>
            <a:ext cx="276225" cy="276225"/>
          </a:xfrm>
          <a:prstGeom prst="ellipse">
            <a:avLst/>
          </a:prstGeom>
          <a:solidFill>
            <a:srgbClr val="28463A"/>
          </a:solidFill>
          <a:ln w="0">
            <a:noFill/>
            <a:prstDash val="solid"/>
          </a:ln>
        </p:spPr>
      </p:sp>
      <p:sp>
        <p:nvSpPr>
          <p:cNvPr id="6" name="text-779">
            <a:extLst>
              <a:ext uri="{FF2B5EF4-FFF2-40B4-BE49-F238E27FC236}">
                <ns2:creationId id="{B01030CA-E107-4642-B10D-7DD8AC610DDD}"/>
              </a:ext>
            </a:extLst>
          </p:cNvPr>
          <p:cNvSpPr>
            <a:spLocks noGrp="1"/>
          </p:cNvSpPr>
          <p:nvPr/>
        </p:nvSpPr>
        <p:spPr>
          <a:xfrm>
            <a:off x="323850" y="933450"/>
            <a:ext cx="27622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A</a:t>
            </a:r>
          </a:p>
        </p:txBody>
      </p:sp>
      <p:sp>
        <p:nvSpPr>
          <p:cNvPr id="7" name="text-780">
            <a:extLst>
              <a:ext uri="{FF2B5EF4-FFF2-40B4-BE49-F238E27FC236}">
                <ns2:creationId id="{D47D1E79-4C6E-499F-BB3E-8D46299274B6}"/>
              </a:ext>
            </a:extLst>
          </p:cNvPr>
          <p:cNvSpPr>
            <a:spLocks noGrp="1"/>
          </p:cNvSpPr>
          <p:nvPr/>
        </p:nvSpPr>
        <p:spPr>
          <a:xfrm>
            <a:off x="714375" y="942975"/>
            <a:ext cx="514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rPr>
              <a:t>丰富度沿梯度变化</a:t>
            </a:r>
            <a:endParaRPr/>
          </a:p>
        </p:txBody>
      </p:sp>
      <p:graphicFrame>
        <p:nvGraphicFramePr>
          <p:cNvPr id="8" name="Chart">
            <a:extLst>
              <a:ext uri="{FF2B5EF4-FFF2-40B4-BE49-F238E27FC236}">
                <ns2:creationId id="{9456CB77-0FB2-4A66-BD08-7370CB22A5E3}"/>
              </a:ext>
            </a:extLst>
          </p:cNvPr>
          <p:cNvGraphicFramePr/>
          <p:nvPr/>
        </p:nvGraphicFramePr>
        <p:xfrm>
          <a:off x="304800" y="1314450"/>
          <a:ext cx="5619750" cy="1981200"/>
        </p:xfrm>
        <a:graphic>
          <a:graphicData uri="http://schemas.openxmlformats.org/drawingml/2006/chart">
            <c:chart r:id="R0f90f39fb5cf47f3"/>
          </a:graphicData>
        </a:graphic>
      </p:graphicFrame>
      <p:sp>
        <p:nvSpPr>
          <p:cNvPr id="9" name="text-781">
            <a:extLst>
              <a:ext uri="{FF2B5EF4-FFF2-40B4-BE49-F238E27FC236}">
                <ns2:creationId id="{A492B5C0-6C8E-476A-A0FF-2B8B824EFB96}"/>
              </a:ext>
            </a:extLst>
          </p:cNvPr>
          <p:cNvSpPr>
            <a:spLocks noGrp="1"/>
          </p:cNvSpPr>
          <p:nvPr/>
        </p:nvSpPr>
        <p:spPr>
          <a:xfrm>
            <a:off x="2103120" y="3105150"/>
            <a:ext cx="280987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干扰强度</a:t>
            </a:r>
            <a:endParaRPr/>
          </a:p>
        </p:txBody>
      </p:sp>
      <p:sp>
        <p:nvSpPr>
          <p:cNvPr id="10" name="shape-782">
            <a:extLst>
              <a:ext uri="{FF2B5EF4-FFF2-40B4-BE49-F238E27FC236}">
                <ns2:creationId id="{954A65F0-59E1-44F4-9F44-63E470FB03CB}"/>
              </a:ext>
            </a:extLst>
          </p:cNvPr>
          <p:cNvSpPr>
            <a:spLocks noGrp="1"/>
          </p:cNvSpPr>
          <p:nvPr/>
        </p:nvSpPr>
        <p:spPr>
          <a:xfrm>
            <a:off x="6181725" y="885825"/>
            <a:ext cx="5781675" cy="247650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DAE0DE"/>
            </a:solidFill>
            <a:prstDash val="solid"/>
          </a:ln>
        </p:spPr>
      </p:sp>
      <p:sp>
        <p:nvSpPr>
          <p:cNvPr id="11" name="shape-783">
            <a:extLst>
              <a:ext uri="{FF2B5EF4-FFF2-40B4-BE49-F238E27FC236}">
                <ns2:creationId id="{E91F6EEF-201E-45C6-ADFE-3A13A329382C}"/>
              </a:ext>
            </a:extLst>
          </p:cNvPr>
          <p:cNvSpPr>
            <a:spLocks noGrp="1"/>
          </p:cNvSpPr>
          <p:nvPr/>
        </p:nvSpPr>
        <p:spPr>
          <a:xfrm>
            <a:off x="6191250" y="895350"/>
            <a:ext cx="5762625" cy="361950"/>
          </a:xfrm>
          <a:prstGeom prst="roundRect">
            <a:avLst>
              <a:gd name="adj" fmla="val 21053"/>
            </a:avLst>
          </a:prstGeom>
          <a:solidFill>
            <a:srgbClr val="EAF0E8"/>
          </a:solidFill>
          <a:ln w="0">
            <a:noFill/>
            <a:prstDash val="solid"/>
          </a:ln>
        </p:spPr>
      </p:sp>
      <p:sp>
        <p:nvSpPr>
          <p:cNvPr id="12" name="shape-784">
            <a:extLst>
              <a:ext uri="{FF2B5EF4-FFF2-40B4-BE49-F238E27FC236}">
                <ns2:creationId id="{9C37406F-6B5F-44F1-875A-02E2692E64C1}"/>
              </a:ext>
            </a:extLst>
          </p:cNvPr>
          <p:cNvSpPr>
            <a:spLocks noGrp="1"/>
          </p:cNvSpPr>
          <p:nvPr/>
        </p:nvSpPr>
        <p:spPr>
          <a:xfrm>
            <a:off x="6276975" y="933450"/>
            <a:ext cx="276225" cy="276225"/>
          </a:xfrm>
          <a:prstGeom prst="ellipse">
            <a:avLst/>
          </a:prstGeom>
          <a:solidFill>
            <a:srgbClr val="28463A"/>
          </a:solidFill>
          <a:ln w="0">
            <a:noFill/>
            <a:prstDash val="solid"/>
          </a:ln>
        </p:spPr>
      </p:sp>
      <p:sp>
        <p:nvSpPr>
          <p:cNvPr id="13" name="text-785">
            <a:extLst>
              <a:ext uri="{FF2B5EF4-FFF2-40B4-BE49-F238E27FC236}">
                <ns2:creationId id="{5B4A55DB-123D-4A99-A4B8-77B18A40F9C1}"/>
              </a:ext>
            </a:extLst>
          </p:cNvPr>
          <p:cNvSpPr>
            <a:spLocks noGrp="1"/>
          </p:cNvSpPr>
          <p:nvPr/>
        </p:nvSpPr>
        <p:spPr>
          <a:xfrm>
            <a:off x="6276975" y="933450"/>
            <a:ext cx="27622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B</a:t>
            </a:r>
          </a:p>
        </p:txBody>
      </p:sp>
      <p:sp>
        <p:nvSpPr>
          <p:cNvPr id="14" name="text-786">
            <a:extLst>
              <a:ext uri="{FF2B5EF4-FFF2-40B4-BE49-F238E27FC236}">
                <ns2:creationId id="{0731A0D9-0B00-4255-B368-C5548CD183E6}"/>
              </a:ext>
            </a:extLst>
          </p:cNvPr>
          <p:cNvSpPr>
            <a:spLocks noGrp="1"/>
          </p:cNvSpPr>
          <p:nvPr/>
        </p:nvSpPr>
        <p:spPr>
          <a:xfrm>
            <a:off x="6667500" y="942975"/>
            <a:ext cx="514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rPr>
              <a:t>不同生境的群落差异</a:t>
            </a:r>
            <a:endParaRPr/>
          </a:p>
        </p:txBody>
      </p:sp>
      <p:graphicFrame>
        <p:nvGraphicFramePr>
          <p:cNvPr id="15" name="Chart">
            <a:extLst>
              <a:ext uri="{FF2B5EF4-FFF2-40B4-BE49-F238E27FC236}">
                <ns2:creationId id="{7F0206B9-6C09-457D-B465-33EE92A85635}"/>
              </a:ext>
            </a:extLst>
          </p:cNvPr>
          <p:cNvGraphicFramePr/>
          <p:nvPr/>
        </p:nvGraphicFramePr>
        <p:xfrm>
          <a:off x="6257925" y="1314450"/>
          <a:ext cx="5619750" cy="1981200"/>
        </p:xfrm>
        <a:graphic>
          <a:graphicData uri="http://schemas.openxmlformats.org/drawingml/2006/chart">
            <c:chart r:id="R5ffc3bee95974730"/>
          </a:graphicData>
        </a:graphic>
      </p:graphicFrame>
      <p:sp>
        <p:nvSpPr>
          <p:cNvPr id="16" name="shape-787">
            <a:extLst>
              <a:ext uri="{FF2B5EF4-FFF2-40B4-BE49-F238E27FC236}">
                <ns2:creationId id="{1AF9F0CC-C727-4FBF-8DC4-995AA1EF4A6D}"/>
              </a:ext>
            </a:extLst>
          </p:cNvPr>
          <p:cNvSpPr>
            <a:spLocks noGrp="1"/>
          </p:cNvSpPr>
          <p:nvPr/>
        </p:nvSpPr>
        <p:spPr>
          <a:xfrm>
            <a:off x="228600" y="3495675"/>
            <a:ext cx="5781675" cy="247650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DAE0DE"/>
            </a:solidFill>
            <a:prstDash val="solid"/>
          </a:ln>
        </p:spPr>
      </p:sp>
      <p:sp>
        <p:nvSpPr>
          <p:cNvPr id="17" name="shape-788">
            <a:extLst>
              <a:ext uri="{FF2B5EF4-FFF2-40B4-BE49-F238E27FC236}">
                <ns2:creationId id="{BD71EC20-B58A-469C-9E31-70D081983CD4}"/>
              </a:ext>
            </a:extLst>
          </p:cNvPr>
          <p:cNvSpPr>
            <a:spLocks noGrp="1"/>
          </p:cNvSpPr>
          <p:nvPr/>
        </p:nvSpPr>
        <p:spPr>
          <a:xfrm>
            <a:off x="238125" y="3505200"/>
            <a:ext cx="5762625" cy="361950"/>
          </a:xfrm>
          <a:prstGeom prst="roundRect">
            <a:avLst>
              <a:gd name="adj" fmla="val 21053"/>
            </a:avLst>
          </a:prstGeom>
          <a:solidFill>
            <a:srgbClr val="EAF0E8"/>
          </a:solidFill>
          <a:ln w="0">
            <a:noFill/>
            <a:prstDash val="solid"/>
          </a:ln>
        </p:spPr>
      </p:sp>
      <p:sp>
        <p:nvSpPr>
          <p:cNvPr id="18" name="shape-789">
            <a:extLst>
              <a:ext uri="{FF2B5EF4-FFF2-40B4-BE49-F238E27FC236}">
                <ns2:creationId id="{8AA0545D-C63E-48FF-9919-6A3C912B1616}"/>
              </a:ext>
            </a:extLst>
          </p:cNvPr>
          <p:cNvSpPr>
            <a:spLocks noGrp="1"/>
          </p:cNvSpPr>
          <p:nvPr/>
        </p:nvSpPr>
        <p:spPr>
          <a:xfrm>
            <a:off x="323850" y="3543300"/>
            <a:ext cx="276225" cy="276225"/>
          </a:xfrm>
          <a:prstGeom prst="ellipse">
            <a:avLst/>
          </a:prstGeom>
          <a:solidFill>
            <a:srgbClr val="28463A"/>
          </a:solidFill>
          <a:ln w="0">
            <a:noFill/>
            <a:prstDash val="solid"/>
          </a:ln>
        </p:spPr>
      </p:sp>
      <p:sp>
        <p:nvSpPr>
          <p:cNvPr id="19" name="text-790">
            <a:extLst>
              <a:ext uri="{FF2B5EF4-FFF2-40B4-BE49-F238E27FC236}">
                <ns2:creationId id="{60A4A900-E79C-44C3-9DAE-47ED004E4723}"/>
              </a:ext>
            </a:extLst>
          </p:cNvPr>
          <p:cNvSpPr>
            <a:spLocks noGrp="1"/>
          </p:cNvSpPr>
          <p:nvPr/>
        </p:nvSpPr>
        <p:spPr>
          <a:xfrm>
            <a:off x="323850" y="3543300"/>
            <a:ext cx="27622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C</a:t>
            </a:r>
          </a:p>
        </p:txBody>
      </p:sp>
      <p:sp>
        <p:nvSpPr>
          <p:cNvPr id="20" name="text-791">
            <a:extLst>
              <a:ext uri="{FF2B5EF4-FFF2-40B4-BE49-F238E27FC236}">
                <ns2:creationId id="{BA801818-1268-4883-8A51-AECE03EE1DA0}"/>
              </a:ext>
            </a:extLst>
          </p:cNvPr>
          <p:cNvSpPr>
            <a:spLocks noGrp="1"/>
          </p:cNvSpPr>
          <p:nvPr/>
        </p:nvSpPr>
        <p:spPr>
          <a:xfrm>
            <a:off x="714375" y="3552825"/>
            <a:ext cx="514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rPr>
              <a:t>季节动态</a:t>
            </a:r>
            <a:endParaRPr/>
          </a:p>
        </p:txBody>
      </p:sp>
      <p:graphicFrame>
        <p:nvGraphicFramePr>
          <p:cNvPr id="21" name="Chart">
            <a:extLst>
              <a:ext uri="{FF2B5EF4-FFF2-40B4-BE49-F238E27FC236}">
                <ns2:creationId id="{419FAEFB-A02A-4E65-BAF2-FB1C9B48BE22}"/>
              </a:ext>
            </a:extLst>
          </p:cNvPr>
          <p:cNvGraphicFramePr/>
          <p:nvPr/>
        </p:nvGraphicFramePr>
        <p:xfrm>
          <a:off x="304800" y="3924300"/>
          <a:ext cx="5619750" cy="1981200"/>
        </p:xfrm>
        <a:graphic>
          <a:graphicData uri="http://schemas.openxmlformats.org/drawingml/2006/chart">
            <c:chart r:id="R5911ad34a6c7462d"/>
          </a:graphicData>
        </a:graphic>
      </p:graphicFrame>
      <p:sp>
        <p:nvSpPr>
          <p:cNvPr id="22" name="line-792">
            <a:extLst>
              <a:ext uri="{FF2B5EF4-FFF2-40B4-BE49-F238E27FC236}">
                <ns2:creationId id="{88C43074-E8D9-46A6-9170-4D3647BF5914}"/>
              </a:ext>
            </a:extLst>
          </p:cNvPr>
          <p:cNvSpPr>
            <a:spLocks noGrp="1"/>
          </p:cNvSpPr>
          <p:nvPr/>
        </p:nvSpPr>
        <p:spPr>
          <a:xfrm>
            <a:off x="4781550" y="4124325"/>
            <a:ext cx="209550" cy="95"/>
          </a:xfrm>
          <a:prstGeom prst="line">
            <a:avLst/>
          </a:prstGeom>
          <a:noFill/>
          <a:ln w="19050">
            <a:solidFill>
              <a:srgbClr val="28463A"/>
            </a:solidFill>
            <a:prstDash val="solid"/>
          </a:ln>
        </p:spPr>
      </p:sp>
      <p:sp>
        <p:nvSpPr>
          <p:cNvPr id="23" name="text-793">
            <a:extLst>
              <a:ext uri="{FF2B5EF4-FFF2-40B4-BE49-F238E27FC236}">
                <ns2:creationId id="{A08CF5A4-363F-4B2B-907D-5754E7601F3B}"/>
              </a:ext>
            </a:extLst>
          </p:cNvPr>
          <p:cNvSpPr>
            <a:spLocks noGrp="1"/>
          </p:cNvSpPr>
          <p:nvPr/>
        </p:nvSpPr>
        <p:spPr>
          <a:xfrm>
            <a:off x="5057775" y="4038600"/>
            <a:ext cx="8382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050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050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050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050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050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050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050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050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050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050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rPr>
              <a:t>情景 A</a:t>
            </a:r>
            <a:endParaRPr/>
          </a:p>
        </p:txBody>
      </p:sp>
      <p:sp>
        <p:nvSpPr>
          <p:cNvPr id="24" name="line-794">
            <a:extLst>
              <a:ext uri="{FF2B5EF4-FFF2-40B4-BE49-F238E27FC236}">
                <ns2:creationId id="{7CF895B8-1DD8-4639-886A-1C5A1D8C42E4}"/>
              </a:ext>
            </a:extLst>
          </p:cNvPr>
          <p:cNvSpPr>
            <a:spLocks noGrp="1"/>
          </p:cNvSpPr>
          <p:nvPr/>
        </p:nvSpPr>
        <p:spPr>
          <a:xfrm>
            <a:off x="4781550" y="4352925"/>
            <a:ext cx="209550" cy="95"/>
          </a:xfrm>
          <a:prstGeom prst="line">
            <a:avLst/>
          </a:prstGeom>
          <a:noFill/>
          <a:ln w="19050">
            <a:solidFill>
              <a:srgbClr val="A8562F"/>
            </a:solidFill>
            <a:prstDash val="solid"/>
          </a:ln>
        </p:spPr>
      </p:sp>
      <p:sp>
        <p:nvSpPr>
          <p:cNvPr id="25" name="text-795">
            <a:extLst>
              <a:ext uri="{FF2B5EF4-FFF2-40B4-BE49-F238E27FC236}">
                <ns2:creationId id="{44E96B68-8185-4A2E-B713-98197F5C6A79}"/>
              </a:ext>
            </a:extLst>
          </p:cNvPr>
          <p:cNvSpPr>
            <a:spLocks noGrp="1"/>
          </p:cNvSpPr>
          <p:nvPr/>
        </p:nvSpPr>
        <p:spPr>
          <a:xfrm>
            <a:off x="5057775" y="4267200"/>
            <a:ext cx="8382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0">
                <a:solidFill>
                  <a:srgbClr val="A8562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050" b="0">
                <a:solidFill>
                  <a:srgbClr val="A8562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050" b="0">
                <a:solidFill>
                  <a:srgbClr val="A8562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050" b="0">
                <a:solidFill>
                  <a:srgbClr val="A8562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050" b="0">
                <a:solidFill>
                  <a:srgbClr val="A8562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050" b="0">
                <a:solidFill>
                  <a:srgbClr val="A8562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050" b="0">
                <a:solidFill>
                  <a:srgbClr val="A8562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050" b="0">
                <a:solidFill>
                  <a:srgbClr val="A8562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050" b="0">
                <a:solidFill>
                  <a:srgbClr val="A8562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050" b="0">
                <a:solidFill>
                  <a:srgbClr val="A8562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050" b="0">
                <a:solidFill>
                  <a:srgbClr val="A8562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A8562F"/>
                </a:solidFill>
                <a:latin typeface="Noto Sans CJK SC"/>
                <a:ea typeface="Noto Sans CJK SC"/>
                <a:cs typeface="Noto Sans CJK SC"/>
              </a:rPr>
              <a:t>情景 B</a:t>
            </a:r>
            <a:endParaRPr/>
          </a:p>
        </p:txBody>
      </p:sp>
      <p:sp>
        <p:nvSpPr>
          <p:cNvPr id="26" name="text-796">
            <a:extLst>
              <a:ext uri="{FF2B5EF4-FFF2-40B4-BE49-F238E27FC236}">
                <ns2:creationId id="{1E2CEC79-B67D-452A-B8F4-80AA0F87D6DD}"/>
              </a:ext>
            </a:extLst>
          </p:cNvPr>
          <p:cNvSpPr>
            <a:spLocks noGrp="1"/>
          </p:cNvSpPr>
          <p:nvPr/>
        </p:nvSpPr>
        <p:spPr>
          <a:xfrm>
            <a:off x="2103120" y="5715000"/>
            <a:ext cx="280987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月份</a:t>
            </a:r>
            <a:endParaRPr/>
          </a:p>
        </p:txBody>
      </p:sp>
      <p:sp>
        <p:nvSpPr>
          <p:cNvPr id="27" name="shape-797">
            <a:extLst>
              <a:ext uri="{FF2B5EF4-FFF2-40B4-BE49-F238E27FC236}">
                <ns2:creationId id="{24F3D4E5-E07C-4F4D-B936-98907F1AA144}"/>
              </a:ext>
            </a:extLst>
          </p:cNvPr>
          <p:cNvSpPr>
            <a:spLocks noGrp="1"/>
          </p:cNvSpPr>
          <p:nvPr/>
        </p:nvSpPr>
        <p:spPr>
          <a:xfrm>
            <a:off x="6181725" y="3495675"/>
            <a:ext cx="5781675" cy="247650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DAE0DE"/>
            </a:solidFill>
            <a:prstDash val="solid"/>
          </a:ln>
        </p:spPr>
      </p:sp>
      <p:sp>
        <p:nvSpPr>
          <p:cNvPr id="28" name="shape-798">
            <a:extLst>
              <a:ext uri="{FF2B5EF4-FFF2-40B4-BE49-F238E27FC236}">
                <ns2:creationId id="{4583CF5F-7439-475C-B649-91E04F05FEB7}"/>
              </a:ext>
            </a:extLst>
          </p:cNvPr>
          <p:cNvSpPr>
            <a:spLocks noGrp="1"/>
          </p:cNvSpPr>
          <p:nvPr/>
        </p:nvSpPr>
        <p:spPr>
          <a:xfrm>
            <a:off x="6191250" y="3505200"/>
            <a:ext cx="5762625" cy="361950"/>
          </a:xfrm>
          <a:prstGeom prst="roundRect">
            <a:avLst>
              <a:gd name="adj" fmla="val 21053"/>
            </a:avLst>
          </a:prstGeom>
          <a:solidFill>
            <a:srgbClr val="EAF0E8"/>
          </a:solidFill>
          <a:ln w="0">
            <a:noFill/>
            <a:prstDash val="solid"/>
          </a:ln>
        </p:spPr>
      </p:sp>
      <p:sp>
        <p:nvSpPr>
          <p:cNvPr id="29" name="shape-799">
            <a:extLst>
              <a:ext uri="{FF2B5EF4-FFF2-40B4-BE49-F238E27FC236}">
                <ns2:creationId id="{62E7BFA5-0730-4B90-9E5A-A032A486B7EE}"/>
              </a:ext>
            </a:extLst>
          </p:cNvPr>
          <p:cNvSpPr>
            <a:spLocks noGrp="1"/>
          </p:cNvSpPr>
          <p:nvPr/>
        </p:nvSpPr>
        <p:spPr>
          <a:xfrm>
            <a:off x="6276975" y="3543300"/>
            <a:ext cx="276225" cy="276225"/>
          </a:xfrm>
          <a:prstGeom prst="ellipse">
            <a:avLst/>
          </a:prstGeom>
          <a:solidFill>
            <a:srgbClr val="28463A"/>
          </a:solidFill>
          <a:ln w="0">
            <a:noFill/>
            <a:prstDash val="solid"/>
          </a:ln>
        </p:spPr>
      </p:sp>
      <p:sp>
        <p:nvSpPr>
          <p:cNvPr id="30" name="text-800">
            <a:extLst>
              <a:ext uri="{FF2B5EF4-FFF2-40B4-BE49-F238E27FC236}">
                <ns2:creationId id="{D586D7AE-2088-4455-ADC9-B1A8F2AA4EA0}"/>
              </a:ext>
            </a:extLst>
          </p:cNvPr>
          <p:cNvSpPr>
            <a:spLocks noGrp="1"/>
          </p:cNvSpPr>
          <p:nvPr/>
        </p:nvSpPr>
        <p:spPr>
          <a:xfrm>
            <a:off x="6276975" y="3543300"/>
            <a:ext cx="27622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D</a:t>
            </a:r>
          </a:p>
        </p:txBody>
      </p:sp>
      <p:sp>
        <p:nvSpPr>
          <p:cNvPr id="31" name="text-801">
            <a:extLst>
              <a:ext uri="{FF2B5EF4-FFF2-40B4-BE49-F238E27FC236}">
                <ns2:creationId id="{3E4B1D25-FCEC-41E1-9BEC-B2C2A1076C4E}"/>
              </a:ext>
            </a:extLst>
          </p:cNvPr>
          <p:cNvSpPr>
            <a:spLocks noGrp="1"/>
          </p:cNvSpPr>
          <p:nvPr/>
        </p:nvSpPr>
        <p:spPr>
          <a:xfrm>
            <a:off x="6667500" y="3552825"/>
            <a:ext cx="514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rPr>
              <a:t>效应与不确定性</a:t>
            </a:r>
            <a:endParaRPr/>
          </a:p>
        </p:txBody>
      </p:sp>
      <p:graphicFrame>
        <p:nvGraphicFramePr>
          <p:cNvPr id="32" name="Chart">
            <a:extLst>
              <a:ext uri="{FF2B5EF4-FFF2-40B4-BE49-F238E27FC236}">
                <ns2:creationId id="{C76A89B5-85B0-4F52-808E-076BF3306AA8}"/>
              </a:ext>
            </a:extLst>
          </p:cNvPr>
          <p:cNvGraphicFramePr/>
          <p:nvPr/>
        </p:nvGraphicFramePr>
        <p:xfrm>
          <a:off x="6257925" y="3924300"/>
          <a:ext cx="5619750" cy="1981200"/>
        </p:xfrm>
        <a:graphic>
          <a:graphicData uri="http://schemas.openxmlformats.org/drawingml/2006/chart">
            <c:chart r:id="Rffaaf39a0267400e"/>
          </a:graphicData>
        </a:graphic>
      </p:graphicFrame>
      <p:sp>
        <p:nvSpPr>
          <p:cNvPr id="33" name="text-802">
            <a:extLst>
              <a:ext uri="{FF2B5EF4-FFF2-40B4-BE49-F238E27FC236}">
                <ns2:creationId id="{A0C8B234-E2E9-4D15-BDF3-746365A32BA6}"/>
              </a:ext>
            </a:extLst>
          </p:cNvPr>
          <p:cNvSpPr>
            <a:spLocks noGrp="1"/>
          </p:cNvSpPr>
          <p:nvPr/>
        </p:nvSpPr>
        <p:spPr>
          <a:xfrm>
            <a:off x="6257925" y="4201516"/>
            <a:ext cx="1404938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生境面积</a:t>
            </a:r>
            <a:endParaRPr/>
          </a:p>
        </p:txBody>
      </p:sp>
      <p:sp>
        <p:nvSpPr>
          <p:cNvPr id="34" name="text-803">
            <a:extLst>
              <a:ext uri="{FF2B5EF4-FFF2-40B4-BE49-F238E27FC236}">
                <ns2:creationId id="{526EEFD3-E9DB-4FD5-ACFA-CEF106A3C4FD}"/>
              </a:ext>
            </a:extLst>
          </p:cNvPr>
          <p:cNvSpPr>
            <a:spLocks noGrp="1"/>
          </p:cNvSpPr>
          <p:nvPr/>
        </p:nvSpPr>
        <p:spPr>
          <a:xfrm>
            <a:off x="6257925" y="4474921"/>
            <a:ext cx="1404938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隔离程度</a:t>
            </a:r>
            <a:endParaRPr/>
          </a:p>
        </p:txBody>
      </p:sp>
      <p:sp>
        <p:nvSpPr>
          <p:cNvPr id="35" name="text-804">
            <a:extLst>
              <a:ext uri="{FF2B5EF4-FFF2-40B4-BE49-F238E27FC236}">
                <ns2:creationId id="{46F62FE8-8F48-4548-A387-C5DFEE87C019}"/>
              </a:ext>
            </a:extLst>
          </p:cNvPr>
          <p:cNvSpPr>
            <a:spLocks noGrp="1"/>
          </p:cNvSpPr>
          <p:nvPr/>
        </p:nvSpPr>
        <p:spPr>
          <a:xfrm>
            <a:off x="6257925" y="4748327"/>
            <a:ext cx="1404938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植被覆盖</a:t>
            </a:r>
            <a:endParaRPr/>
          </a:p>
        </p:txBody>
      </p:sp>
      <p:sp>
        <p:nvSpPr>
          <p:cNvPr id="36" name="text-805">
            <a:extLst>
              <a:ext uri="{FF2B5EF4-FFF2-40B4-BE49-F238E27FC236}">
                <ns2:creationId id="{CAA911A2-F636-492E-B874-1CBE6C41426B}"/>
              </a:ext>
            </a:extLst>
          </p:cNvPr>
          <p:cNvSpPr>
            <a:spLocks noGrp="1"/>
          </p:cNvSpPr>
          <p:nvPr/>
        </p:nvSpPr>
        <p:spPr>
          <a:xfrm>
            <a:off x="6257925" y="5021732"/>
            <a:ext cx="1404938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人为干扰</a:t>
            </a:r>
            <a:endParaRPr/>
          </a:p>
        </p:txBody>
      </p:sp>
      <p:sp>
        <p:nvSpPr>
          <p:cNvPr id="37" name="text-806">
            <a:extLst>
              <a:ext uri="{FF2B5EF4-FFF2-40B4-BE49-F238E27FC236}">
                <ns2:creationId id="{7A5BDBF0-3C36-41B2-BF5D-AA4A48C59BB3}"/>
              </a:ext>
            </a:extLst>
          </p:cNvPr>
          <p:cNvSpPr>
            <a:spLocks noGrp="1"/>
          </p:cNvSpPr>
          <p:nvPr/>
        </p:nvSpPr>
        <p:spPr>
          <a:xfrm>
            <a:off x="8056245" y="5715000"/>
            <a:ext cx="280987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标准化效应值</a:t>
            </a:r>
            <a:endParaRPr/>
          </a:p>
        </p:txBody>
      </p:sp>
      <p:sp>
        <p:nvSpPr>
          <p:cNvPr id="38" name="shape-807">
            <a:extLst>
              <a:ext uri="{FF2B5EF4-FFF2-40B4-BE49-F238E27FC236}">
                <ns2:creationId id="{B5D12D88-A4B1-4758-A177-9F7FF6A82C92}"/>
              </a:ext>
            </a:extLst>
          </p:cNvPr>
          <p:cNvSpPr>
            <a:spLocks noGrp="1"/>
          </p:cNvSpPr>
          <p:nvPr/>
        </p:nvSpPr>
        <p:spPr>
          <a:xfrm>
            <a:off x="228600" y="6219825"/>
            <a:ext cx="11734800" cy="323850"/>
          </a:xfrm>
          <a:prstGeom prst="roundRect">
            <a:avLst>
              <a:gd name="adj" fmla="val 23529"/>
            </a:avLst>
          </a:prstGeom>
          <a:solidFill>
            <a:srgbClr val="EAF0E8"/>
          </a:solidFill>
          <a:ln w="0">
            <a:noFill/>
            <a:prstDash val="solid"/>
          </a:ln>
        </p:spPr>
      </p:sp>
      <p:sp>
        <p:nvSpPr>
          <p:cNvPr id="39" name="text-808">
            <a:extLst>
              <a:ext uri="{FF2B5EF4-FFF2-40B4-BE49-F238E27FC236}">
                <ns2:creationId id="{1DED5E77-6EB0-4AE7-B0A4-2D6AF34EC779}"/>
              </a:ext>
            </a:extLst>
          </p:cNvPr>
          <p:cNvSpPr>
            <a:spLocks noGrp="1"/>
          </p:cNvSpPr>
          <p:nvPr/>
        </p:nvSpPr>
        <p:spPr>
          <a:xfrm>
            <a:off x="361950" y="6257925"/>
            <a:ext cx="114681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28463A"/>
                </a:solidFill>
                <a:latin typeface="Noto Sans CJK SC"/>
                <a:ea typeface="Noto Sans CJK SC"/>
                <a:cs typeface="Noto Sans CJK SC"/>
              </a:rPr>
              <a:t>读图顺序：趋势 → 组间差异 → 动态 → 不确定性</a:t>
            </a:r>
            <a:endParaRPr/>
          </a:p>
        </p:txBody>
      </p:sp>
      <p:sp>
        <p:nvSpPr>
          <p:cNvPr id="40" name="text-809">
            <a:extLst>
              <a:ext uri="{FF2B5EF4-FFF2-40B4-BE49-F238E27FC236}">
                <ns2:creationId id="{1DA97AB6-8004-4A38-A338-5803F862D2D7}"/>
              </a:ext>
            </a:extLst>
          </p:cNvPr>
          <p:cNvSpPr>
            <a:spLocks noGrp="1"/>
          </p:cNvSpPr>
          <p:nvPr/>
        </p:nvSpPr>
        <p:spPr>
          <a:xfrm>
            <a:off x="228600" y="6619875"/>
            <a:ext cx="1057275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00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41" name="text-810">
            <a:extLst>
              <a:ext uri="{FF2B5EF4-FFF2-40B4-BE49-F238E27FC236}">
                <ns2:creationId id="{DA94209C-B64C-43A7-849E-88E3A32FD531}"/>
              </a:ext>
            </a:extLst>
          </p:cNvPr>
          <p:cNvSpPr>
            <a:spLocks noGrp="1"/>
          </p:cNvSpPr>
          <p:nvPr/>
        </p:nvSpPr>
        <p:spPr>
          <a:xfrm>
            <a:off x="11525250" y="6591300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 b="0">
                <a:solidFill>
                  <a:srgbClr val="8A9B81"/>
                </a:solidFill>
                <a:latin typeface="Noto Sans CJK SC"/>
                <a:ea typeface="Noto Sans CJK SC"/>
                <a:cs typeface="Noto Sans CJK SC"/>
              </a:rPr>
              <a:t>02</a:t>
            </a:r>
            <a:endParaRPr/>
          </a:p>
        </p:txBody>
      </p:sp>
    </p:spTree>
    <p:extLst>
      <p:ext uri="{BB962C8B-B14F-4D97-AF65-F5344CB8AC3E}">
        <ns5:creationId val="563918454"/>
      </p:ext>
    </p:extLst>
  </p:cSld>
</p:sld>
</file>

<file path=ppt/slides/slide3.xml><?xml version="1.0" encoding="utf-8"?>
<p:sld xmlns:a="http://schemas.openxmlformats.org/drawingml/2006/main" xmlns:c="http://schemas.openxmlformats.org/drawingml/2006/chart" xmlns:ns2="http://schemas.microsoft.com/office/drawing/2014/main" xmlns:ns5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BFCFC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42" name="text-774">
            <a:extLst>
              <a:ext uri="{FF2B5EF4-FFF2-40B4-BE49-F238E27FC236}">
                <ns2:creationId id="{870151DE-162C-4E36-9A2A-BDBE388A5215}"/>
              </a:ext>
            </a:extLst>
          </p:cNvPr>
          <p:cNvSpPr>
            <a:spLocks noGrp="1"/>
          </p:cNvSpPr>
          <p:nvPr/>
        </p:nvSpPr>
        <p:spPr>
          <a:xfrm>
            <a:off x="228600" y="152400"/>
            <a:ext cx="11734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700" b="1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700" b="1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700" b="1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700" b="1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700" b="1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700" b="1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700" b="1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700" b="1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700" b="1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700" b="1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700" b="1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1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rPr>
              <a:t>配色样板｜石墨青金</a:t>
            </a:r>
            <a:endParaRPr/>
          </a:p>
        </p:txBody>
      </p:sp>
      <p:sp>
        <p:nvSpPr>
          <p:cNvPr id="2" name="line-775">
            <a:extLst>
              <a:ext uri="{FF2B5EF4-FFF2-40B4-BE49-F238E27FC236}">
                <ns2:creationId id="{623A8942-9983-4DAC-90FE-5824285F49AD}"/>
              </a:ext>
            </a:extLst>
          </p:cNvPr>
          <p:cNvSpPr>
            <a:spLocks noGrp="1"/>
          </p:cNvSpPr>
          <p:nvPr/>
        </p:nvSpPr>
        <p:spPr>
          <a:xfrm>
            <a:off x="228600" y="695325"/>
            <a:ext cx="11734800" cy="95"/>
          </a:xfrm>
          <a:prstGeom prst="line">
            <a:avLst/>
          </a:prstGeom>
          <a:noFill/>
          <a:ln w="16193">
            <a:solidFill>
              <a:srgbClr val="12303A"/>
            </a:solidFill>
            <a:prstDash val="solid"/>
          </a:ln>
        </p:spPr>
      </p:sp>
      <p:sp>
        <p:nvSpPr>
          <p:cNvPr id="3" name="shape-776">
            <a:extLst>
              <a:ext uri="{FF2B5EF4-FFF2-40B4-BE49-F238E27FC236}">
                <ns2:creationId id="{6238D9A9-05A6-4EA9-BFBE-DB3046E5407F}"/>
              </a:ext>
            </a:extLst>
          </p:cNvPr>
          <p:cNvSpPr>
            <a:spLocks noGrp="1"/>
          </p:cNvSpPr>
          <p:nvPr/>
        </p:nvSpPr>
        <p:spPr>
          <a:xfrm>
            <a:off x="228600" y="885825"/>
            <a:ext cx="5781675" cy="247650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D7DCDE"/>
            </a:solidFill>
            <a:prstDash val="solid"/>
          </a:ln>
        </p:spPr>
      </p:sp>
      <p:sp>
        <p:nvSpPr>
          <p:cNvPr id="4" name="shape-777">
            <a:extLst>
              <a:ext uri="{FF2B5EF4-FFF2-40B4-BE49-F238E27FC236}">
                <ns2:creationId id="{B09C51B1-8A13-401C-B166-4699434CCEFC}"/>
              </a:ext>
            </a:extLst>
          </p:cNvPr>
          <p:cNvSpPr>
            <a:spLocks noGrp="1"/>
          </p:cNvSpPr>
          <p:nvPr/>
        </p:nvSpPr>
        <p:spPr>
          <a:xfrm>
            <a:off x="238125" y="895350"/>
            <a:ext cx="5762625" cy="361950"/>
          </a:xfrm>
          <a:prstGeom prst="roundRect">
            <a:avLst>
              <a:gd name="adj" fmla="val 21053"/>
            </a:avLst>
          </a:prstGeom>
          <a:solidFill>
            <a:srgbClr val="EDF3F2"/>
          </a:solidFill>
          <a:ln w="0">
            <a:noFill/>
            <a:prstDash val="solid"/>
          </a:ln>
        </p:spPr>
      </p:sp>
      <p:sp>
        <p:nvSpPr>
          <p:cNvPr id="5" name="shape-778">
            <a:extLst>
              <a:ext uri="{FF2B5EF4-FFF2-40B4-BE49-F238E27FC236}">
                <ns2:creationId id="{94701B7F-21F9-4E64-8428-0350248872A3}"/>
              </a:ext>
            </a:extLst>
          </p:cNvPr>
          <p:cNvSpPr>
            <a:spLocks noGrp="1"/>
          </p:cNvSpPr>
          <p:nvPr/>
        </p:nvSpPr>
        <p:spPr>
          <a:xfrm>
            <a:off x="323850" y="933450"/>
            <a:ext cx="276225" cy="276225"/>
          </a:xfrm>
          <a:prstGeom prst="ellipse">
            <a:avLst/>
          </a:prstGeom>
          <a:solidFill>
            <a:srgbClr val="12303A"/>
          </a:solidFill>
          <a:ln w="0">
            <a:noFill/>
            <a:prstDash val="solid"/>
          </a:ln>
        </p:spPr>
      </p:sp>
      <p:sp>
        <p:nvSpPr>
          <p:cNvPr id="6" name="text-779">
            <a:extLst>
              <a:ext uri="{FF2B5EF4-FFF2-40B4-BE49-F238E27FC236}">
                <ns2:creationId id="{B01030CA-E107-4642-B10D-7DD8AC610DDD}"/>
              </a:ext>
            </a:extLst>
          </p:cNvPr>
          <p:cNvSpPr>
            <a:spLocks noGrp="1"/>
          </p:cNvSpPr>
          <p:nvPr/>
        </p:nvSpPr>
        <p:spPr>
          <a:xfrm>
            <a:off x="323850" y="933450"/>
            <a:ext cx="27622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A</a:t>
            </a:r>
          </a:p>
        </p:txBody>
      </p:sp>
      <p:sp>
        <p:nvSpPr>
          <p:cNvPr id="7" name="text-780">
            <a:extLst>
              <a:ext uri="{FF2B5EF4-FFF2-40B4-BE49-F238E27FC236}">
                <ns2:creationId id="{D47D1E79-4C6E-499F-BB3E-8D46299274B6}"/>
              </a:ext>
            </a:extLst>
          </p:cNvPr>
          <p:cNvSpPr>
            <a:spLocks noGrp="1"/>
          </p:cNvSpPr>
          <p:nvPr/>
        </p:nvSpPr>
        <p:spPr>
          <a:xfrm>
            <a:off x="714375" y="942975"/>
            <a:ext cx="514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rPr>
              <a:t>丰富度沿梯度变化</a:t>
            </a:r>
            <a:endParaRPr/>
          </a:p>
        </p:txBody>
      </p:sp>
      <p:graphicFrame>
        <p:nvGraphicFramePr>
          <p:cNvPr id="8" name="Chart">
            <a:extLst>
              <a:ext uri="{FF2B5EF4-FFF2-40B4-BE49-F238E27FC236}">
                <ns2:creationId id="{9456CB77-0FB2-4A66-BD08-7370CB22A5E3}"/>
              </a:ext>
            </a:extLst>
          </p:cNvPr>
          <p:cNvGraphicFramePr/>
          <p:nvPr/>
        </p:nvGraphicFramePr>
        <p:xfrm>
          <a:off x="304800" y="1314450"/>
          <a:ext cx="5619750" cy="1981200"/>
        </p:xfrm>
        <a:graphic>
          <a:graphicData uri="http://schemas.openxmlformats.org/drawingml/2006/chart">
            <c:chart r:id="R0f90f39fb5cf47f3"/>
          </a:graphicData>
        </a:graphic>
      </p:graphicFrame>
      <p:sp>
        <p:nvSpPr>
          <p:cNvPr id="9" name="text-781">
            <a:extLst>
              <a:ext uri="{FF2B5EF4-FFF2-40B4-BE49-F238E27FC236}">
                <ns2:creationId id="{A492B5C0-6C8E-476A-A0FF-2B8B824EFB96}"/>
              </a:ext>
            </a:extLst>
          </p:cNvPr>
          <p:cNvSpPr>
            <a:spLocks noGrp="1"/>
          </p:cNvSpPr>
          <p:nvPr/>
        </p:nvSpPr>
        <p:spPr>
          <a:xfrm>
            <a:off x="2103120" y="3105150"/>
            <a:ext cx="280987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干扰强度</a:t>
            </a:r>
            <a:endParaRPr/>
          </a:p>
        </p:txBody>
      </p:sp>
      <p:sp>
        <p:nvSpPr>
          <p:cNvPr id="10" name="shape-782">
            <a:extLst>
              <a:ext uri="{FF2B5EF4-FFF2-40B4-BE49-F238E27FC236}">
                <ns2:creationId id="{954A65F0-59E1-44F4-9F44-63E470FB03CB}"/>
              </a:ext>
            </a:extLst>
          </p:cNvPr>
          <p:cNvSpPr>
            <a:spLocks noGrp="1"/>
          </p:cNvSpPr>
          <p:nvPr/>
        </p:nvSpPr>
        <p:spPr>
          <a:xfrm>
            <a:off x="6181725" y="885825"/>
            <a:ext cx="5781675" cy="247650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D7DCDE"/>
            </a:solidFill>
            <a:prstDash val="solid"/>
          </a:ln>
        </p:spPr>
      </p:sp>
      <p:sp>
        <p:nvSpPr>
          <p:cNvPr id="11" name="shape-783">
            <a:extLst>
              <a:ext uri="{FF2B5EF4-FFF2-40B4-BE49-F238E27FC236}">
                <ns2:creationId id="{E91F6EEF-201E-45C6-ADFE-3A13A329382C}"/>
              </a:ext>
            </a:extLst>
          </p:cNvPr>
          <p:cNvSpPr>
            <a:spLocks noGrp="1"/>
          </p:cNvSpPr>
          <p:nvPr/>
        </p:nvSpPr>
        <p:spPr>
          <a:xfrm>
            <a:off x="6191250" y="895350"/>
            <a:ext cx="5762625" cy="361950"/>
          </a:xfrm>
          <a:prstGeom prst="roundRect">
            <a:avLst>
              <a:gd name="adj" fmla="val 21053"/>
            </a:avLst>
          </a:prstGeom>
          <a:solidFill>
            <a:srgbClr val="EDF3F2"/>
          </a:solidFill>
          <a:ln w="0">
            <a:noFill/>
            <a:prstDash val="solid"/>
          </a:ln>
        </p:spPr>
      </p:sp>
      <p:sp>
        <p:nvSpPr>
          <p:cNvPr id="12" name="shape-784">
            <a:extLst>
              <a:ext uri="{FF2B5EF4-FFF2-40B4-BE49-F238E27FC236}">
                <ns2:creationId id="{9C37406F-6B5F-44F1-875A-02E2692E64C1}"/>
              </a:ext>
            </a:extLst>
          </p:cNvPr>
          <p:cNvSpPr>
            <a:spLocks noGrp="1"/>
          </p:cNvSpPr>
          <p:nvPr/>
        </p:nvSpPr>
        <p:spPr>
          <a:xfrm>
            <a:off x="6276975" y="933450"/>
            <a:ext cx="276225" cy="276225"/>
          </a:xfrm>
          <a:prstGeom prst="ellipse">
            <a:avLst/>
          </a:prstGeom>
          <a:solidFill>
            <a:srgbClr val="12303A"/>
          </a:solidFill>
          <a:ln w="0">
            <a:noFill/>
            <a:prstDash val="solid"/>
          </a:ln>
        </p:spPr>
      </p:sp>
      <p:sp>
        <p:nvSpPr>
          <p:cNvPr id="13" name="text-785">
            <a:extLst>
              <a:ext uri="{FF2B5EF4-FFF2-40B4-BE49-F238E27FC236}">
                <ns2:creationId id="{5B4A55DB-123D-4A99-A4B8-77B18A40F9C1}"/>
              </a:ext>
            </a:extLst>
          </p:cNvPr>
          <p:cNvSpPr>
            <a:spLocks noGrp="1"/>
          </p:cNvSpPr>
          <p:nvPr/>
        </p:nvSpPr>
        <p:spPr>
          <a:xfrm>
            <a:off x="6276975" y="933450"/>
            <a:ext cx="27622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B</a:t>
            </a:r>
          </a:p>
        </p:txBody>
      </p:sp>
      <p:sp>
        <p:nvSpPr>
          <p:cNvPr id="14" name="text-786">
            <a:extLst>
              <a:ext uri="{FF2B5EF4-FFF2-40B4-BE49-F238E27FC236}">
                <ns2:creationId id="{0731A0D9-0B00-4255-B368-C5548CD183E6}"/>
              </a:ext>
            </a:extLst>
          </p:cNvPr>
          <p:cNvSpPr>
            <a:spLocks noGrp="1"/>
          </p:cNvSpPr>
          <p:nvPr/>
        </p:nvSpPr>
        <p:spPr>
          <a:xfrm>
            <a:off x="6667500" y="942975"/>
            <a:ext cx="514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rPr>
              <a:t>不同生境的群落差异</a:t>
            </a:r>
            <a:endParaRPr/>
          </a:p>
        </p:txBody>
      </p:sp>
      <p:graphicFrame>
        <p:nvGraphicFramePr>
          <p:cNvPr id="15" name="Chart">
            <a:extLst>
              <a:ext uri="{FF2B5EF4-FFF2-40B4-BE49-F238E27FC236}">
                <ns2:creationId id="{7F0206B9-6C09-457D-B465-33EE92A85635}"/>
              </a:ext>
            </a:extLst>
          </p:cNvPr>
          <p:cNvGraphicFramePr/>
          <p:nvPr/>
        </p:nvGraphicFramePr>
        <p:xfrm>
          <a:off x="6257925" y="1314450"/>
          <a:ext cx="5619750" cy="1981200"/>
        </p:xfrm>
        <a:graphic>
          <a:graphicData uri="http://schemas.openxmlformats.org/drawingml/2006/chart">
            <c:chart r:id="R5ffc3bee95974730"/>
          </a:graphicData>
        </a:graphic>
      </p:graphicFrame>
      <p:sp>
        <p:nvSpPr>
          <p:cNvPr id="16" name="shape-787">
            <a:extLst>
              <a:ext uri="{FF2B5EF4-FFF2-40B4-BE49-F238E27FC236}">
                <ns2:creationId id="{1AF9F0CC-C727-4FBF-8DC4-995AA1EF4A6D}"/>
              </a:ext>
            </a:extLst>
          </p:cNvPr>
          <p:cNvSpPr>
            <a:spLocks noGrp="1"/>
          </p:cNvSpPr>
          <p:nvPr/>
        </p:nvSpPr>
        <p:spPr>
          <a:xfrm>
            <a:off x="228600" y="3495675"/>
            <a:ext cx="5781675" cy="247650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D7DCDE"/>
            </a:solidFill>
            <a:prstDash val="solid"/>
          </a:ln>
        </p:spPr>
      </p:sp>
      <p:sp>
        <p:nvSpPr>
          <p:cNvPr id="17" name="shape-788">
            <a:extLst>
              <a:ext uri="{FF2B5EF4-FFF2-40B4-BE49-F238E27FC236}">
                <ns2:creationId id="{BD71EC20-B58A-469C-9E31-70D081983CD4}"/>
              </a:ext>
            </a:extLst>
          </p:cNvPr>
          <p:cNvSpPr>
            <a:spLocks noGrp="1"/>
          </p:cNvSpPr>
          <p:nvPr/>
        </p:nvSpPr>
        <p:spPr>
          <a:xfrm>
            <a:off x="238125" y="3505200"/>
            <a:ext cx="5762625" cy="361950"/>
          </a:xfrm>
          <a:prstGeom prst="roundRect">
            <a:avLst>
              <a:gd name="adj" fmla="val 21053"/>
            </a:avLst>
          </a:prstGeom>
          <a:solidFill>
            <a:srgbClr val="EDF3F2"/>
          </a:solidFill>
          <a:ln w="0">
            <a:noFill/>
            <a:prstDash val="solid"/>
          </a:ln>
        </p:spPr>
      </p:sp>
      <p:sp>
        <p:nvSpPr>
          <p:cNvPr id="18" name="shape-789">
            <a:extLst>
              <a:ext uri="{FF2B5EF4-FFF2-40B4-BE49-F238E27FC236}">
                <ns2:creationId id="{8AA0545D-C63E-48FF-9919-6A3C912B1616}"/>
              </a:ext>
            </a:extLst>
          </p:cNvPr>
          <p:cNvSpPr>
            <a:spLocks noGrp="1"/>
          </p:cNvSpPr>
          <p:nvPr/>
        </p:nvSpPr>
        <p:spPr>
          <a:xfrm>
            <a:off x="323850" y="3543300"/>
            <a:ext cx="276225" cy="276225"/>
          </a:xfrm>
          <a:prstGeom prst="ellipse">
            <a:avLst/>
          </a:prstGeom>
          <a:solidFill>
            <a:srgbClr val="12303A"/>
          </a:solidFill>
          <a:ln w="0">
            <a:noFill/>
            <a:prstDash val="solid"/>
          </a:ln>
        </p:spPr>
      </p:sp>
      <p:sp>
        <p:nvSpPr>
          <p:cNvPr id="19" name="text-790">
            <a:extLst>
              <a:ext uri="{FF2B5EF4-FFF2-40B4-BE49-F238E27FC236}">
                <ns2:creationId id="{60A4A900-E79C-44C3-9DAE-47ED004E4723}"/>
              </a:ext>
            </a:extLst>
          </p:cNvPr>
          <p:cNvSpPr>
            <a:spLocks noGrp="1"/>
          </p:cNvSpPr>
          <p:nvPr/>
        </p:nvSpPr>
        <p:spPr>
          <a:xfrm>
            <a:off x="323850" y="3543300"/>
            <a:ext cx="27622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C</a:t>
            </a:r>
          </a:p>
        </p:txBody>
      </p:sp>
      <p:sp>
        <p:nvSpPr>
          <p:cNvPr id="20" name="text-791">
            <a:extLst>
              <a:ext uri="{FF2B5EF4-FFF2-40B4-BE49-F238E27FC236}">
                <ns2:creationId id="{BA801818-1268-4883-8A51-AECE03EE1DA0}"/>
              </a:ext>
            </a:extLst>
          </p:cNvPr>
          <p:cNvSpPr>
            <a:spLocks noGrp="1"/>
          </p:cNvSpPr>
          <p:nvPr/>
        </p:nvSpPr>
        <p:spPr>
          <a:xfrm>
            <a:off x="714375" y="3552825"/>
            <a:ext cx="514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rPr>
              <a:t>季节动态</a:t>
            </a:r>
            <a:endParaRPr/>
          </a:p>
        </p:txBody>
      </p:sp>
      <p:graphicFrame>
        <p:nvGraphicFramePr>
          <p:cNvPr id="21" name="Chart">
            <a:extLst>
              <a:ext uri="{FF2B5EF4-FFF2-40B4-BE49-F238E27FC236}">
                <ns2:creationId id="{419FAEFB-A02A-4E65-BAF2-FB1C9B48BE22}"/>
              </a:ext>
            </a:extLst>
          </p:cNvPr>
          <p:cNvGraphicFramePr/>
          <p:nvPr/>
        </p:nvGraphicFramePr>
        <p:xfrm>
          <a:off x="304800" y="3924300"/>
          <a:ext cx="5619750" cy="1981200"/>
        </p:xfrm>
        <a:graphic>
          <a:graphicData uri="http://schemas.openxmlformats.org/drawingml/2006/chart">
            <c:chart r:id="R5911ad34a6c7462d"/>
          </a:graphicData>
        </a:graphic>
      </p:graphicFrame>
      <p:sp>
        <p:nvSpPr>
          <p:cNvPr id="22" name="line-792">
            <a:extLst>
              <a:ext uri="{FF2B5EF4-FFF2-40B4-BE49-F238E27FC236}">
                <ns2:creationId id="{88C43074-E8D9-46A6-9170-4D3647BF5914}"/>
              </a:ext>
            </a:extLst>
          </p:cNvPr>
          <p:cNvSpPr>
            <a:spLocks noGrp="1"/>
          </p:cNvSpPr>
          <p:nvPr/>
        </p:nvSpPr>
        <p:spPr>
          <a:xfrm>
            <a:off x="4781550" y="4124325"/>
            <a:ext cx="209550" cy="95"/>
          </a:xfrm>
          <a:prstGeom prst="line">
            <a:avLst/>
          </a:prstGeom>
          <a:noFill/>
          <a:ln w="19050">
            <a:solidFill>
              <a:srgbClr val="12303A"/>
            </a:solidFill>
            <a:prstDash val="solid"/>
          </a:ln>
        </p:spPr>
      </p:sp>
      <p:sp>
        <p:nvSpPr>
          <p:cNvPr id="23" name="text-793">
            <a:extLst>
              <a:ext uri="{FF2B5EF4-FFF2-40B4-BE49-F238E27FC236}">
                <ns2:creationId id="{A08CF5A4-363F-4B2B-907D-5754E7601F3B}"/>
              </a:ext>
            </a:extLst>
          </p:cNvPr>
          <p:cNvSpPr>
            <a:spLocks noGrp="1"/>
          </p:cNvSpPr>
          <p:nvPr/>
        </p:nvSpPr>
        <p:spPr>
          <a:xfrm>
            <a:off x="5057775" y="4038600"/>
            <a:ext cx="8382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0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050" b="0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050" b="0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050" b="0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050" b="0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050" b="0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050" b="0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050" b="0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050" b="0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050" b="0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050" b="0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rPr>
              <a:t>情景 A</a:t>
            </a:r>
            <a:endParaRPr/>
          </a:p>
        </p:txBody>
      </p:sp>
      <p:sp>
        <p:nvSpPr>
          <p:cNvPr id="24" name="line-794">
            <a:extLst>
              <a:ext uri="{FF2B5EF4-FFF2-40B4-BE49-F238E27FC236}">
                <ns2:creationId id="{7CF895B8-1DD8-4639-886A-1C5A1D8C42E4}"/>
              </a:ext>
            </a:extLst>
          </p:cNvPr>
          <p:cNvSpPr>
            <a:spLocks noGrp="1"/>
          </p:cNvSpPr>
          <p:nvPr/>
        </p:nvSpPr>
        <p:spPr>
          <a:xfrm>
            <a:off x="4781550" y="4352925"/>
            <a:ext cx="209550" cy="95"/>
          </a:xfrm>
          <a:prstGeom prst="line">
            <a:avLst/>
          </a:prstGeom>
          <a:noFill/>
          <a:ln w="19050">
            <a:solidFill>
              <a:srgbClr val="B08026"/>
            </a:solidFill>
            <a:prstDash val="solid"/>
          </a:ln>
        </p:spPr>
      </p:sp>
      <p:sp>
        <p:nvSpPr>
          <p:cNvPr id="25" name="text-795">
            <a:extLst>
              <a:ext uri="{FF2B5EF4-FFF2-40B4-BE49-F238E27FC236}">
                <ns2:creationId id="{44E96B68-8185-4A2E-B713-98197F5C6A79}"/>
              </a:ext>
            </a:extLst>
          </p:cNvPr>
          <p:cNvSpPr>
            <a:spLocks noGrp="1"/>
          </p:cNvSpPr>
          <p:nvPr/>
        </p:nvSpPr>
        <p:spPr>
          <a:xfrm>
            <a:off x="5057775" y="4267200"/>
            <a:ext cx="8382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0">
                <a:solidFill>
                  <a:srgbClr val="B08026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050" b="0">
                <a:solidFill>
                  <a:srgbClr val="B08026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050" b="0">
                <a:solidFill>
                  <a:srgbClr val="B08026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050" b="0">
                <a:solidFill>
                  <a:srgbClr val="B08026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050" b="0">
                <a:solidFill>
                  <a:srgbClr val="B08026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050" b="0">
                <a:solidFill>
                  <a:srgbClr val="B08026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050" b="0">
                <a:solidFill>
                  <a:srgbClr val="B08026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050" b="0">
                <a:solidFill>
                  <a:srgbClr val="B08026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050" b="0">
                <a:solidFill>
                  <a:srgbClr val="B08026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050" b="0">
                <a:solidFill>
                  <a:srgbClr val="B08026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050" b="0">
                <a:solidFill>
                  <a:srgbClr val="B0802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B08026"/>
                </a:solidFill>
                <a:latin typeface="Noto Sans CJK SC"/>
                <a:ea typeface="Noto Sans CJK SC"/>
                <a:cs typeface="Noto Sans CJK SC"/>
              </a:rPr>
              <a:t>情景 B</a:t>
            </a:r>
            <a:endParaRPr/>
          </a:p>
        </p:txBody>
      </p:sp>
      <p:sp>
        <p:nvSpPr>
          <p:cNvPr id="26" name="text-796">
            <a:extLst>
              <a:ext uri="{FF2B5EF4-FFF2-40B4-BE49-F238E27FC236}">
                <ns2:creationId id="{1E2CEC79-B67D-452A-B8F4-80AA0F87D6DD}"/>
              </a:ext>
            </a:extLst>
          </p:cNvPr>
          <p:cNvSpPr>
            <a:spLocks noGrp="1"/>
          </p:cNvSpPr>
          <p:nvPr/>
        </p:nvSpPr>
        <p:spPr>
          <a:xfrm>
            <a:off x="2103120" y="5715000"/>
            <a:ext cx="280987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月份</a:t>
            </a:r>
            <a:endParaRPr/>
          </a:p>
        </p:txBody>
      </p:sp>
      <p:sp>
        <p:nvSpPr>
          <p:cNvPr id="27" name="shape-797">
            <a:extLst>
              <a:ext uri="{FF2B5EF4-FFF2-40B4-BE49-F238E27FC236}">
                <ns2:creationId id="{24F3D4E5-E07C-4F4D-B936-98907F1AA144}"/>
              </a:ext>
            </a:extLst>
          </p:cNvPr>
          <p:cNvSpPr>
            <a:spLocks noGrp="1"/>
          </p:cNvSpPr>
          <p:nvPr/>
        </p:nvSpPr>
        <p:spPr>
          <a:xfrm>
            <a:off x="6181725" y="3495675"/>
            <a:ext cx="5781675" cy="247650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D7DCDE"/>
            </a:solidFill>
            <a:prstDash val="solid"/>
          </a:ln>
        </p:spPr>
      </p:sp>
      <p:sp>
        <p:nvSpPr>
          <p:cNvPr id="28" name="shape-798">
            <a:extLst>
              <a:ext uri="{FF2B5EF4-FFF2-40B4-BE49-F238E27FC236}">
                <ns2:creationId id="{4583CF5F-7439-475C-B649-91E04F05FEB7}"/>
              </a:ext>
            </a:extLst>
          </p:cNvPr>
          <p:cNvSpPr>
            <a:spLocks noGrp="1"/>
          </p:cNvSpPr>
          <p:nvPr/>
        </p:nvSpPr>
        <p:spPr>
          <a:xfrm>
            <a:off x="6191250" y="3505200"/>
            <a:ext cx="5762625" cy="361950"/>
          </a:xfrm>
          <a:prstGeom prst="roundRect">
            <a:avLst>
              <a:gd name="adj" fmla="val 21053"/>
            </a:avLst>
          </a:prstGeom>
          <a:solidFill>
            <a:srgbClr val="EDF3F2"/>
          </a:solidFill>
          <a:ln w="0">
            <a:noFill/>
            <a:prstDash val="solid"/>
          </a:ln>
        </p:spPr>
      </p:sp>
      <p:sp>
        <p:nvSpPr>
          <p:cNvPr id="29" name="shape-799">
            <a:extLst>
              <a:ext uri="{FF2B5EF4-FFF2-40B4-BE49-F238E27FC236}">
                <ns2:creationId id="{62E7BFA5-0730-4B90-9E5A-A032A486B7EE}"/>
              </a:ext>
            </a:extLst>
          </p:cNvPr>
          <p:cNvSpPr>
            <a:spLocks noGrp="1"/>
          </p:cNvSpPr>
          <p:nvPr/>
        </p:nvSpPr>
        <p:spPr>
          <a:xfrm>
            <a:off x="6276975" y="3543300"/>
            <a:ext cx="276225" cy="276225"/>
          </a:xfrm>
          <a:prstGeom prst="ellipse">
            <a:avLst/>
          </a:prstGeom>
          <a:solidFill>
            <a:srgbClr val="12303A"/>
          </a:solidFill>
          <a:ln w="0">
            <a:noFill/>
            <a:prstDash val="solid"/>
          </a:ln>
        </p:spPr>
      </p:sp>
      <p:sp>
        <p:nvSpPr>
          <p:cNvPr id="30" name="text-800">
            <a:extLst>
              <a:ext uri="{FF2B5EF4-FFF2-40B4-BE49-F238E27FC236}">
                <ns2:creationId id="{D586D7AE-2088-4455-ADC9-B1A8F2AA4EA0}"/>
              </a:ext>
            </a:extLst>
          </p:cNvPr>
          <p:cNvSpPr>
            <a:spLocks noGrp="1"/>
          </p:cNvSpPr>
          <p:nvPr/>
        </p:nvSpPr>
        <p:spPr>
          <a:xfrm>
            <a:off x="6276975" y="3543300"/>
            <a:ext cx="27622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D</a:t>
            </a:r>
          </a:p>
        </p:txBody>
      </p:sp>
      <p:sp>
        <p:nvSpPr>
          <p:cNvPr id="31" name="text-801">
            <a:extLst>
              <a:ext uri="{FF2B5EF4-FFF2-40B4-BE49-F238E27FC236}">
                <ns2:creationId id="{3E4B1D25-FCEC-41E1-9BEC-B2C2A1076C4E}"/>
              </a:ext>
            </a:extLst>
          </p:cNvPr>
          <p:cNvSpPr>
            <a:spLocks noGrp="1"/>
          </p:cNvSpPr>
          <p:nvPr/>
        </p:nvSpPr>
        <p:spPr>
          <a:xfrm>
            <a:off x="6667500" y="3552825"/>
            <a:ext cx="514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rPr>
              <a:t>效应与不确定性</a:t>
            </a:r>
            <a:endParaRPr/>
          </a:p>
        </p:txBody>
      </p:sp>
      <p:graphicFrame>
        <p:nvGraphicFramePr>
          <p:cNvPr id="32" name="Chart">
            <a:extLst>
              <a:ext uri="{FF2B5EF4-FFF2-40B4-BE49-F238E27FC236}">
                <ns2:creationId id="{C76A89B5-85B0-4F52-808E-076BF3306AA8}"/>
              </a:ext>
            </a:extLst>
          </p:cNvPr>
          <p:cNvGraphicFramePr/>
          <p:nvPr/>
        </p:nvGraphicFramePr>
        <p:xfrm>
          <a:off x="6257925" y="3924300"/>
          <a:ext cx="5619750" cy="1981200"/>
        </p:xfrm>
        <a:graphic>
          <a:graphicData uri="http://schemas.openxmlformats.org/drawingml/2006/chart">
            <c:chart r:id="Rffaaf39a0267400e"/>
          </a:graphicData>
        </a:graphic>
      </p:graphicFrame>
      <p:sp>
        <p:nvSpPr>
          <p:cNvPr id="33" name="text-802">
            <a:extLst>
              <a:ext uri="{FF2B5EF4-FFF2-40B4-BE49-F238E27FC236}">
                <ns2:creationId id="{A0C8B234-E2E9-4D15-BDF3-746365A32BA6}"/>
              </a:ext>
            </a:extLst>
          </p:cNvPr>
          <p:cNvSpPr>
            <a:spLocks noGrp="1"/>
          </p:cNvSpPr>
          <p:nvPr/>
        </p:nvSpPr>
        <p:spPr>
          <a:xfrm>
            <a:off x="6257925" y="4201516"/>
            <a:ext cx="1404938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生境面积</a:t>
            </a:r>
            <a:endParaRPr/>
          </a:p>
        </p:txBody>
      </p:sp>
      <p:sp>
        <p:nvSpPr>
          <p:cNvPr id="34" name="text-803">
            <a:extLst>
              <a:ext uri="{FF2B5EF4-FFF2-40B4-BE49-F238E27FC236}">
                <ns2:creationId id="{526EEFD3-E9DB-4FD5-ACFA-CEF106A3C4FD}"/>
              </a:ext>
            </a:extLst>
          </p:cNvPr>
          <p:cNvSpPr>
            <a:spLocks noGrp="1"/>
          </p:cNvSpPr>
          <p:nvPr/>
        </p:nvSpPr>
        <p:spPr>
          <a:xfrm>
            <a:off x="6257925" y="4474921"/>
            <a:ext cx="1404938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隔离程度</a:t>
            </a:r>
            <a:endParaRPr/>
          </a:p>
        </p:txBody>
      </p:sp>
      <p:sp>
        <p:nvSpPr>
          <p:cNvPr id="35" name="text-804">
            <a:extLst>
              <a:ext uri="{FF2B5EF4-FFF2-40B4-BE49-F238E27FC236}">
                <ns2:creationId id="{46F62FE8-8F48-4548-A387-C5DFEE87C019}"/>
              </a:ext>
            </a:extLst>
          </p:cNvPr>
          <p:cNvSpPr>
            <a:spLocks noGrp="1"/>
          </p:cNvSpPr>
          <p:nvPr/>
        </p:nvSpPr>
        <p:spPr>
          <a:xfrm>
            <a:off x="6257925" y="4748327"/>
            <a:ext cx="1404938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植被覆盖</a:t>
            </a:r>
            <a:endParaRPr/>
          </a:p>
        </p:txBody>
      </p:sp>
      <p:sp>
        <p:nvSpPr>
          <p:cNvPr id="36" name="text-805">
            <a:extLst>
              <a:ext uri="{FF2B5EF4-FFF2-40B4-BE49-F238E27FC236}">
                <ns2:creationId id="{CAA911A2-F636-492E-B874-1CBE6C41426B}"/>
              </a:ext>
            </a:extLst>
          </p:cNvPr>
          <p:cNvSpPr>
            <a:spLocks noGrp="1"/>
          </p:cNvSpPr>
          <p:nvPr/>
        </p:nvSpPr>
        <p:spPr>
          <a:xfrm>
            <a:off x="6257925" y="5021732"/>
            <a:ext cx="1404938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人为干扰</a:t>
            </a:r>
            <a:endParaRPr/>
          </a:p>
        </p:txBody>
      </p:sp>
      <p:sp>
        <p:nvSpPr>
          <p:cNvPr id="37" name="text-806">
            <a:extLst>
              <a:ext uri="{FF2B5EF4-FFF2-40B4-BE49-F238E27FC236}">
                <ns2:creationId id="{7A5BDBF0-3C36-41B2-BF5D-AA4A48C59BB3}"/>
              </a:ext>
            </a:extLst>
          </p:cNvPr>
          <p:cNvSpPr>
            <a:spLocks noGrp="1"/>
          </p:cNvSpPr>
          <p:nvPr/>
        </p:nvSpPr>
        <p:spPr>
          <a:xfrm>
            <a:off x="8056245" y="5715000"/>
            <a:ext cx="280987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标准化效应值</a:t>
            </a:r>
            <a:endParaRPr/>
          </a:p>
        </p:txBody>
      </p:sp>
      <p:sp>
        <p:nvSpPr>
          <p:cNvPr id="38" name="shape-807">
            <a:extLst>
              <a:ext uri="{FF2B5EF4-FFF2-40B4-BE49-F238E27FC236}">
                <ns2:creationId id="{B5D12D88-A4B1-4758-A177-9F7FF6A82C92}"/>
              </a:ext>
            </a:extLst>
          </p:cNvPr>
          <p:cNvSpPr>
            <a:spLocks noGrp="1"/>
          </p:cNvSpPr>
          <p:nvPr/>
        </p:nvSpPr>
        <p:spPr>
          <a:xfrm>
            <a:off x="228600" y="6219825"/>
            <a:ext cx="11734800" cy="323850"/>
          </a:xfrm>
          <a:prstGeom prst="roundRect">
            <a:avLst>
              <a:gd name="adj" fmla="val 23529"/>
            </a:avLst>
          </a:prstGeom>
          <a:solidFill>
            <a:srgbClr val="EDF3F2"/>
          </a:solidFill>
          <a:ln w="0">
            <a:noFill/>
            <a:prstDash val="solid"/>
          </a:ln>
        </p:spPr>
      </p:sp>
      <p:sp>
        <p:nvSpPr>
          <p:cNvPr id="39" name="text-808">
            <a:extLst>
              <a:ext uri="{FF2B5EF4-FFF2-40B4-BE49-F238E27FC236}">
                <ns2:creationId id="{1DED5E77-6EB0-4AE7-B0A4-2D6AF34EC779}"/>
              </a:ext>
            </a:extLst>
          </p:cNvPr>
          <p:cNvSpPr>
            <a:spLocks noGrp="1"/>
          </p:cNvSpPr>
          <p:nvPr/>
        </p:nvSpPr>
        <p:spPr>
          <a:xfrm>
            <a:off x="361950" y="6257925"/>
            <a:ext cx="114681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1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1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1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1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1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1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1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1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1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1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1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12303A"/>
                </a:solidFill>
                <a:latin typeface="Noto Sans CJK SC"/>
                <a:ea typeface="Noto Sans CJK SC"/>
                <a:cs typeface="Noto Sans CJK SC"/>
              </a:rPr>
              <a:t>读图顺序：趋势 → 组间差异 → 动态 → 不确定性</a:t>
            </a:r>
            <a:endParaRPr/>
          </a:p>
        </p:txBody>
      </p:sp>
      <p:sp>
        <p:nvSpPr>
          <p:cNvPr id="40" name="text-809">
            <a:extLst>
              <a:ext uri="{FF2B5EF4-FFF2-40B4-BE49-F238E27FC236}">
                <ns2:creationId id="{1DA97AB6-8004-4A38-A338-5803F862D2D7}"/>
              </a:ext>
            </a:extLst>
          </p:cNvPr>
          <p:cNvSpPr>
            <a:spLocks noGrp="1"/>
          </p:cNvSpPr>
          <p:nvPr/>
        </p:nvSpPr>
        <p:spPr>
          <a:xfrm>
            <a:off x="228600" y="6619875"/>
            <a:ext cx="1057275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900" b="0">
                <a:solidFill>
                  <a:srgbClr val="5D9298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900" b="0">
                <a:solidFill>
                  <a:srgbClr val="5D9298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900" b="0">
                <a:solidFill>
                  <a:srgbClr val="5D9298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900" b="0">
                <a:solidFill>
                  <a:srgbClr val="5D9298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900" b="0">
                <a:solidFill>
                  <a:srgbClr val="5D9298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900" b="0">
                <a:solidFill>
                  <a:srgbClr val="5D9298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900" b="0">
                <a:solidFill>
                  <a:srgbClr val="5D9298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900" b="0">
                <a:solidFill>
                  <a:srgbClr val="5D9298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900" b="0">
                <a:solidFill>
                  <a:srgbClr val="5D9298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900" b="0">
                <a:solidFill>
                  <a:srgbClr val="5D9298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900" b="0">
                <a:solidFill>
                  <a:srgbClr val="5D929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00" b="0">
                <a:solidFill>
                  <a:srgbClr val="5D9298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41" name="text-810">
            <a:extLst>
              <a:ext uri="{FF2B5EF4-FFF2-40B4-BE49-F238E27FC236}">
                <ns2:creationId id="{DA94209C-B64C-43A7-849E-88E3A32FD531}"/>
              </a:ext>
            </a:extLst>
          </p:cNvPr>
          <p:cNvSpPr>
            <a:spLocks noGrp="1"/>
          </p:cNvSpPr>
          <p:nvPr/>
        </p:nvSpPr>
        <p:spPr>
          <a:xfrm>
            <a:off x="11525250" y="6591300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975" b="0">
                <a:solidFill>
                  <a:srgbClr val="5D9298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975" b="0">
                <a:solidFill>
                  <a:srgbClr val="5D9298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975" b="0">
                <a:solidFill>
                  <a:srgbClr val="5D9298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975" b="0">
                <a:solidFill>
                  <a:srgbClr val="5D9298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975" b="0">
                <a:solidFill>
                  <a:srgbClr val="5D9298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975" b="0">
                <a:solidFill>
                  <a:srgbClr val="5D9298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975" b="0">
                <a:solidFill>
                  <a:srgbClr val="5D9298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975" b="0">
                <a:solidFill>
                  <a:srgbClr val="5D9298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975" b="0">
                <a:solidFill>
                  <a:srgbClr val="5D9298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975" b="0">
                <a:solidFill>
                  <a:srgbClr val="5D9298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975" b="0">
                <a:solidFill>
                  <a:srgbClr val="5D929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 b="0">
                <a:solidFill>
                  <a:srgbClr val="5D9298"/>
                </a:solidFill>
                <a:latin typeface="Noto Sans CJK SC"/>
                <a:ea typeface="Noto Sans CJK SC"/>
                <a:cs typeface="Noto Sans CJK SC"/>
              </a:rPr>
              <a:t>03</a:t>
            </a:r>
            <a:endParaRPr/>
          </a:p>
        </p:txBody>
      </p:sp>
    </p:spTree>
    <p:extLst>
      <p:ext uri="{BB962C8B-B14F-4D97-AF65-F5344CB8AC3E}">
        <ns5:creationId val="563918454"/>
      </p:ext>
    </p:extLst>
  </p:cSld>
</p:sld>
</file>

<file path=ppt/slides/slide4.xml><?xml version="1.0" encoding="utf-8"?>
<p:sld xmlns:a="http://schemas.openxmlformats.org/drawingml/2006/main" xmlns:c="http://schemas.openxmlformats.org/drawingml/2006/chart" xmlns:ns2="http://schemas.microsoft.com/office/drawing/2014/main" xmlns:ns5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FFDF9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42" name="text-774">
            <a:extLst>
              <a:ext uri="{FF2B5EF4-FFF2-40B4-BE49-F238E27FC236}">
                <ns2:creationId id="{870151DE-162C-4E36-9A2A-BDBE388A5215}"/>
              </a:ext>
            </a:extLst>
          </p:cNvPr>
          <p:cNvSpPr>
            <a:spLocks noGrp="1"/>
          </p:cNvSpPr>
          <p:nvPr/>
        </p:nvSpPr>
        <p:spPr>
          <a:xfrm>
            <a:off x="228600" y="152400"/>
            <a:ext cx="11734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700" b="1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700" b="1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700" b="1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700" b="1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700" b="1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700" b="1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700" b="1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700" b="1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700" b="1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700" b="1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700" b="1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1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rPr>
              <a:t>配色样板｜酒红灰蓝</a:t>
            </a:r>
            <a:endParaRPr/>
          </a:p>
        </p:txBody>
      </p:sp>
      <p:sp>
        <p:nvSpPr>
          <p:cNvPr id="2" name="line-775">
            <a:extLst>
              <a:ext uri="{FF2B5EF4-FFF2-40B4-BE49-F238E27FC236}">
                <ns2:creationId id="{623A8942-9983-4DAC-90FE-5824285F49AD}"/>
              </a:ext>
            </a:extLst>
          </p:cNvPr>
          <p:cNvSpPr>
            <a:spLocks noGrp="1"/>
          </p:cNvSpPr>
          <p:nvPr/>
        </p:nvSpPr>
        <p:spPr>
          <a:xfrm>
            <a:off x="228600" y="695325"/>
            <a:ext cx="11734800" cy="95"/>
          </a:xfrm>
          <a:prstGeom prst="line">
            <a:avLst/>
          </a:prstGeom>
          <a:noFill/>
          <a:ln w="16193">
            <a:solidFill>
              <a:srgbClr val="6E293C"/>
            </a:solidFill>
            <a:prstDash val="solid"/>
          </a:ln>
        </p:spPr>
      </p:sp>
      <p:sp>
        <p:nvSpPr>
          <p:cNvPr id="3" name="shape-776">
            <a:extLst>
              <a:ext uri="{FF2B5EF4-FFF2-40B4-BE49-F238E27FC236}">
                <ns2:creationId id="{6238D9A9-05A6-4EA9-BFBE-DB3046E5407F}"/>
              </a:ext>
            </a:extLst>
          </p:cNvPr>
          <p:cNvSpPr>
            <a:spLocks noGrp="1"/>
          </p:cNvSpPr>
          <p:nvPr/>
        </p:nvSpPr>
        <p:spPr>
          <a:xfrm>
            <a:off x="228600" y="885825"/>
            <a:ext cx="5781675" cy="247650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6DBDE"/>
            </a:solidFill>
            <a:prstDash val="solid"/>
          </a:ln>
        </p:spPr>
      </p:sp>
      <p:sp>
        <p:nvSpPr>
          <p:cNvPr id="4" name="shape-777">
            <a:extLst>
              <a:ext uri="{FF2B5EF4-FFF2-40B4-BE49-F238E27FC236}">
                <ns2:creationId id="{B09C51B1-8A13-401C-B166-4699434CCEFC}"/>
              </a:ext>
            </a:extLst>
          </p:cNvPr>
          <p:cNvSpPr>
            <a:spLocks noGrp="1"/>
          </p:cNvSpPr>
          <p:nvPr/>
        </p:nvSpPr>
        <p:spPr>
          <a:xfrm>
            <a:off x="238125" y="895350"/>
            <a:ext cx="5762625" cy="361950"/>
          </a:xfrm>
          <a:prstGeom prst="roundRect">
            <a:avLst>
              <a:gd name="adj" fmla="val 21053"/>
            </a:avLst>
          </a:prstGeom>
          <a:solidFill>
            <a:srgbClr val="F4ECEE"/>
          </a:solidFill>
          <a:ln w="0">
            <a:noFill/>
            <a:prstDash val="solid"/>
          </a:ln>
        </p:spPr>
      </p:sp>
      <p:sp>
        <p:nvSpPr>
          <p:cNvPr id="5" name="shape-778">
            <a:extLst>
              <a:ext uri="{FF2B5EF4-FFF2-40B4-BE49-F238E27FC236}">
                <ns2:creationId id="{94701B7F-21F9-4E64-8428-0350248872A3}"/>
              </a:ext>
            </a:extLst>
          </p:cNvPr>
          <p:cNvSpPr>
            <a:spLocks noGrp="1"/>
          </p:cNvSpPr>
          <p:nvPr/>
        </p:nvSpPr>
        <p:spPr>
          <a:xfrm>
            <a:off x="323850" y="933450"/>
            <a:ext cx="276225" cy="276225"/>
          </a:xfrm>
          <a:prstGeom prst="ellipse">
            <a:avLst/>
          </a:prstGeom>
          <a:solidFill>
            <a:srgbClr val="6E293C"/>
          </a:solidFill>
          <a:ln w="0">
            <a:noFill/>
            <a:prstDash val="solid"/>
          </a:ln>
        </p:spPr>
      </p:sp>
      <p:sp>
        <p:nvSpPr>
          <p:cNvPr id="6" name="text-779">
            <a:extLst>
              <a:ext uri="{FF2B5EF4-FFF2-40B4-BE49-F238E27FC236}">
                <ns2:creationId id="{B01030CA-E107-4642-B10D-7DD8AC610DDD}"/>
              </a:ext>
            </a:extLst>
          </p:cNvPr>
          <p:cNvSpPr>
            <a:spLocks noGrp="1"/>
          </p:cNvSpPr>
          <p:nvPr/>
        </p:nvSpPr>
        <p:spPr>
          <a:xfrm>
            <a:off x="323850" y="933450"/>
            <a:ext cx="27622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A</a:t>
            </a:r>
          </a:p>
        </p:txBody>
      </p:sp>
      <p:sp>
        <p:nvSpPr>
          <p:cNvPr id="7" name="text-780">
            <a:extLst>
              <a:ext uri="{FF2B5EF4-FFF2-40B4-BE49-F238E27FC236}">
                <ns2:creationId id="{D47D1E79-4C6E-499F-BB3E-8D46299274B6}"/>
              </a:ext>
            </a:extLst>
          </p:cNvPr>
          <p:cNvSpPr>
            <a:spLocks noGrp="1"/>
          </p:cNvSpPr>
          <p:nvPr/>
        </p:nvSpPr>
        <p:spPr>
          <a:xfrm>
            <a:off x="714375" y="942975"/>
            <a:ext cx="514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rPr>
              <a:t>丰富度沿梯度变化</a:t>
            </a:r>
            <a:endParaRPr/>
          </a:p>
        </p:txBody>
      </p:sp>
      <p:graphicFrame>
        <p:nvGraphicFramePr>
          <p:cNvPr id="8" name="Chart">
            <a:extLst>
              <a:ext uri="{FF2B5EF4-FFF2-40B4-BE49-F238E27FC236}">
                <ns2:creationId id="{9456CB77-0FB2-4A66-BD08-7370CB22A5E3}"/>
              </a:ext>
            </a:extLst>
          </p:cNvPr>
          <p:cNvGraphicFramePr/>
          <p:nvPr/>
        </p:nvGraphicFramePr>
        <p:xfrm>
          <a:off x="304800" y="1314450"/>
          <a:ext cx="5619750" cy="1981200"/>
        </p:xfrm>
        <a:graphic>
          <a:graphicData uri="http://schemas.openxmlformats.org/drawingml/2006/chart">
            <c:chart r:id="R0f90f39fb5cf47f3"/>
          </a:graphicData>
        </a:graphic>
      </p:graphicFrame>
      <p:sp>
        <p:nvSpPr>
          <p:cNvPr id="9" name="text-781">
            <a:extLst>
              <a:ext uri="{FF2B5EF4-FFF2-40B4-BE49-F238E27FC236}">
                <ns2:creationId id="{A492B5C0-6C8E-476A-A0FF-2B8B824EFB96}"/>
              </a:ext>
            </a:extLst>
          </p:cNvPr>
          <p:cNvSpPr>
            <a:spLocks noGrp="1"/>
          </p:cNvSpPr>
          <p:nvPr/>
        </p:nvSpPr>
        <p:spPr>
          <a:xfrm>
            <a:off x="2103120" y="3105150"/>
            <a:ext cx="280987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干扰强度</a:t>
            </a:r>
            <a:endParaRPr/>
          </a:p>
        </p:txBody>
      </p:sp>
      <p:sp>
        <p:nvSpPr>
          <p:cNvPr id="10" name="shape-782">
            <a:extLst>
              <a:ext uri="{FF2B5EF4-FFF2-40B4-BE49-F238E27FC236}">
                <ns2:creationId id="{954A65F0-59E1-44F4-9F44-63E470FB03CB}"/>
              </a:ext>
            </a:extLst>
          </p:cNvPr>
          <p:cNvSpPr>
            <a:spLocks noGrp="1"/>
          </p:cNvSpPr>
          <p:nvPr/>
        </p:nvSpPr>
        <p:spPr>
          <a:xfrm>
            <a:off x="6181725" y="885825"/>
            <a:ext cx="5781675" cy="247650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6DBDE"/>
            </a:solidFill>
            <a:prstDash val="solid"/>
          </a:ln>
        </p:spPr>
      </p:sp>
      <p:sp>
        <p:nvSpPr>
          <p:cNvPr id="11" name="shape-783">
            <a:extLst>
              <a:ext uri="{FF2B5EF4-FFF2-40B4-BE49-F238E27FC236}">
                <ns2:creationId id="{E91F6EEF-201E-45C6-ADFE-3A13A329382C}"/>
              </a:ext>
            </a:extLst>
          </p:cNvPr>
          <p:cNvSpPr>
            <a:spLocks noGrp="1"/>
          </p:cNvSpPr>
          <p:nvPr/>
        </p:nvSpPr>
        <p:spPr>
          <a:xfrm>
            <a:off x="6191250" y="895350"/>
            <a:ext cx="5762625" cy="361950"/>
          </a:xfrm>
          <a:prstGeom prst="roundRect">
            <a:avLst>
              <a:gd name="adj" fmla="val 21053"/>
            </a:avLst>
          </a:prstGeom>
          <a:solidFill>
            <a:srgbClr val="F4ECEE"/>
          </a:solidFill>
          <a:ln w="0">
            <a:noFill/>
            <a:prstDash val="solid"/>
          </a:ln>
        </p:spPr>
      </p:sp>
      <p:sp>
        <p:nvSpPr>
          <p:cNvPr id="12" name="shape-784">
            <a:extLst>
              <a:ext uri="{FF2B5EF4-FFF2-40B4-BE49-F238E27FC236}">
                <ns2:creationId id="{9C37406F-6B5F-44F1-875A-02E2692E64C1}"/>
              </a:ext>
            </a:extLst>
          </p:cNvPr>
          <p:cNvSpPr>
            <a:spLocks noGrp="1"/>
          </p:cNvSpPr>
          <p:nvPr/>
        </p:nvSpPr>
        <p:spPr>
          <a:xfrm>
            <a:off x="6276975" y="933450"/>
            <a:ext cx="276225" cy="276225"/>
          </a:xfrm>
          <a:prstGeom prst="ellipse">
            <a:avLst/>
          </a:prstGeom>
          <a:solidFill>
            <a:srgbClr val="6E293C"/>
          </a:solidFill>
          <a:ln w="0">
            <a:noFill/>
            <a:prstDash val="solid"/>
          </a:ln>
        </p:spPr>
      </p:sp>
      <p:sp>
        <p:nvSpPr>
          <p:cNvPr id="13" name="text-785">
            <a:extLst>
              <a:ext uri="{FF2B5EF4-FFF2-40B4-BE49-F238E27FC236}">
                <ns2:creationId id="{5B4A55DB-123D-4A99-A4B8-77B18A40F9C1}"/>
              </a:ext>
            </a:extLst>
          </p:cNvPr>
          <p:cNvSpPr>
            <a:spLocks noGrp="1"/>
          </p:cNvSpPr>
          <p:nvPr/>
        </p:nvSpPr>
        <p:spPr>
          <a:xfrm>
            <a:off x="6276975" y="933450"/>
            <a:ext cx="27622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B</a:t>
            </a:r>
          </a:p>
        </p:txBody>
      </p:sp>
      <p:sp>
        <p:nvSpPr>
          <p:cNvPr id="14" name="text-786">
            <a:extLst>
              <a:ext uri="{FF2B5EF4-FFF2-40B4-BE49-F238E27FC236}">
                <ns2:creationId id="{0731A0D9-0B00-4255-B368-C5548CD183E6}"/>
              </a:ext>
            </a:extLst>
          </p:cNvPr>
          <p:cNvSpPr>
            <a:spLocks noGrp="1"/>
          </p:cNvSpPr>
          <p:nvPr/>
        </p:nvSpPr>
        <p:spPr>
          <a:xfrm>
            <a:off x="6667500" y="942975"/>
            <a:ext cx="514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rPr>
              <a:t>不同生境的群落差异</a:t>
            </a:r>
            <a:endParaRPr/>
          </a:p>
        </p:txBody>
      </p:sp>
      <p:graphicFrame>
        <p:nvGraphicFramePr>
          <p:cNvPr id="15" name="Chart">
            <a:extLst>
              <a:ext uri="{FF2B5EF4-FFF2-40B4-BE49-F238E27FC236}">
                <ns2:creationId id="{7F0206B9-6C09-457D-B465-33EE92A85635}"/>
              </a:ext>
            </a:extLst>
          </p:cNvPr>
          <p:cNvGraphicFramePr/>
          <p:nvPr/>
        </p:nvGraphicFramePr>
        <p:xfrm>
          <a:off x="6257925" y="1314450"/>
          <a:ext cx="5619750" cy="1981200"/>
        </p:xfrm>
        <a:graphic>
          <a:graphicData uri="http://schemas.openxmlformats.org/drawingml/2006/chart">
            <c:chart r:id="R5ffc3bee95974730"/>
          </a:graphicData>
        </a:graphic>
      </p:graphicFrame>
      <p:sp>
        <p:nvSpPr>
          <p:cNvPr id="16" name="shape-787">
            <a:extLst>
              <a:ext uri="{FF2B5EF4-FFF2-40B4-BE49-F238E27FC236}">
                <ns2:creationId id="{1AF9F0CC-C727-4FBF-8DC4-995AA1EF4A6D}"/>
              </a:ext>
            </a:extLst>
          </p:cNvPr>
          <p:cNvSpPr>
            <a:spLocks noGrp="1"/>
          </p:cNvSpPr>
          <p:nvPr/>
        </p:nvSpPr>
        <p:spPr>
          <a:xfrm>
            <a:off x="228600" y="3495675"/>
            <a:ext cx="5781675" cy="247650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6DBDE"/>
            </a:solidFill>
            <a:prstDash val="solid"/>
          </a:ln>
        </p:spPr>
      </p:sp>
      <p:sp>
        <p:nvSpPr>
          <p:cNvPr id="17" name="shape-788">
            <a:extLst>
              <a:ext uri="{FF2B5EF4-FFF2-40B4-BE49-F238E27FC236}">
                <ns2:creationId id="{BD71EC20-B58A-469C-9E31-70D081983CD4}"/>
              </a:ext>
            </a:extLst>
          </p:cNvPr>
          <p:cNvSpPr>
            <a:spLocks noGrp="1"/>
          </p:cNvSpPr>
          <p:nvPr/>
        </p:nvSpPr>
        <p:spPr>
          <a:xfrm>
            <a:off x="238125" y="3505200"/>
            <a:ext cx="5762625" cy="361950"/>
          </a:xfrm>
          <a:prstGeom prst="roundRect">
            <a:avLst>
              <a:gd name="adj" fmla="val 21053"/>
            </a:avLst>
          </a:prstGeom>
          <a:solidFill>
            <a:srgbClr val="F4ECEE"/>
          </a:solidFill>
          <a:ln w="0">
            <a:noFill/>
            <a:prstDash val="solid"/>
          </a:ln>
        </p:spPr>
      </p:sp>
      <p:sp>
        <p:nvSpPr>
          <p:cNvPr id="18" name="shape-789">
            <a:extLst>
              <a:ext uri="{FF2B5EF4-FFF2-40B4-BE49-F238E27FC236}">
                <ns2:creationId id="{8AA0545D-C63E-48FF-9919-6A3C912B1616}"/>
              </a:ext>
            </a:extLst>
          </p:cNvPr>
          <p:cNvSpPr>
            <a:spLocks noGrp="1"/>
          </p:cNvSpPr>
          <p:nvPr/>
        </p:nvSpPr>
        <p:spPr>
          <a:xfrm>
            <a:off x="323850" y="3543300"/>
            <a:ext cx="276225" cy="276225"/>
          </a:xfrm>
          <a:prstGeom prst="ellipse">
            <a:avLst/>
          </a:prstGeom>
          <a:solidFill>
            <a:srgbClr val="6E293C"/>
          </a:solidFill>
          <a:ln w="0">
            <a:noFill/>
            <a:prstDash val="solid"/>
          </a:ln>
        </p:spPr>
      </p:sp>
      <p:sp>
        <p:nvSpPr>
          <p:cNvPr id="19" name="text-790">
            <a:extLst>
              <a:ext uri="{FF2B5EF4-FFF2-40B4-BE49-F238E27FC236}">
                <ns2:creationId id="{60A4A900-E79C-44C3-9DAE-47ED004E4723}"/>
              </a:ext>
            </a:extLst>
          </p:cNvPr>
          <p:cNvSpPr>
            <a:spLocks noGrp="1"/>
          </p:cNvSpPr>
          <p:nvPr/>
        </p:nvSpPr>
        <p:spPr>
          <a:xfrm>
            <a:off x="323850" y="3543300"/>
            <a:ext cx="27622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C</a:t>
            </a:r>
          </a:p>
        </p:txBody>
      </p:sp>
      <p:sp>
        <p:nvSpPr>
          <p:cNvPr id="20" name="text-791">
            <a:extLst>
              <a:ext uri="{FF2B5EF4-FFF2-40B4-BE49-F238E27FC236}">
                <ns2:creationId id="{BA801818-1268-4883-8A51-AECE03EE1DA0}"/>
              </a:ext>
            </a:extLst>
          </p:cNvPr>
          <p:cNvSpPr>
            <a:spLocks noGrp="1"/>
          </p:cNvSpPr>
          <p:nvPr/>
        </p:nvSpPr>
        <p:spPr>
          <a:xfrm>
            <a:off x="714375" y="3552825"/>
            <a:ext cx="514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rPr>
              <a:t>季节动态</a:t>
            </a:r>
            <a:endParaRPr/>
          </a:p>
        </p:txBody>
      </p:sp>
      <p:graphicFrame>
        <p:nvGraphicFramePr>
          <p:cNvPr id="21" name="Chart">
            <a:extLst>
              <a:ext uri="{FF2B5EF4-FFF2-40B4-BE49-F238E27FC236}">
                <ns2:creationId id="{419FAEFB-A02A-4E65-BAF2-FB1C9B48BE22}"/>
              </a:ext>
            </a:extLst>
          </p:cNvPr>
          <p:cNvGraphicFramePr/>
          <p:nvPr/>
        </p:nvGraphicFramePr>
        <p:xfrm>
          <a:off x="304800" y="3924300"/>
          <a:ext cx="5619750" cy="1981200"/>
        </p:xfrm>
        <a:graphic>
          <a:graphicData uri="http://schemas.openxmlformats.org/drawingml/2006/chart">
            <c:chart r:id="R5911ad34a6c7462d"/>
          </a:graphicData>
        </a:graphic>
      </p:graphicFrame>
      <p:sp>
        <p:nvSpPr>
          <p:cNvPr id="22" name="line-792">
            <a:extLst>
              <a:ext uri="{FF2B5EF4-FFF2-40B4-BE49-F238E27FC236}">
                <ns2:creationId id="{88C43074-E8D9-46A6-9170-4D3647BF5914}"/>
              </a:ext>
            </a:extLst>
          </p:cNvPr>
          <p:cNvSpPr>
            <a:spLocks noGrp="1"/>
          </p:cNvSpPr>
          <p:nvPr/>
        </p:nvSpPr>
        <p:spPr>
          <a:xfrm>
            <a:off x="4781550" y="4124325"/>
            <a:ext cx="209550" cy="95"/>
          </a:xfrm>
          <a:prstGeom prst="line">
            <a:avLst/>
          </a:prstGeom>
          <a:noFill/>
          <a:ln w="19050">
            <a:solidFill>
              <a:srgbClr val="6E293C"/>
            </a:solidFill>
            <a:prstDash val="solid"/>
          </a:ln>
        </p:spPr>
      </p:sp>
      <p:sp>
        <p:nvSpPr>
          <p:cNvPr id="23" name="text-793">
            <a:extLst>
              <a:ext uri="{FF2B5EF4-FFF2-40B4-BE49-F238E27FC236}">
                <ns2:creationId id="{A08CF5A4-363F-4B2B-907D-5754E7601F3B}"/>
              </a:ext>
            </a:extLst>
          </p:cNvPr>
          <p:cNvSpPr>
            <a:spLocks noGrp="1"/>
          </p:cNvSpPr>
          <p:nvPr/>
        </p:nvSpPr>
        <p:spPr>
          <a:xfrm>
            <a:off x="5057775" y="4038600"/>
            <a:ext cx="8382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0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050" b="0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050" b="0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050" b="0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050" b="0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050" b="0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050" b="0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050" b="0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050" b="0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050" b="0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050" b="0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rPr>
              <a:t>情景 A</a:t>
            </a:r>
            <a:endParaRPr/>
          </a:p>
        </p:txBody>
      </p:sp>
      <p:sp>
        <p:nvSpPr>
          <p:cNvPr id="24" name="line-794">
            <a:extLst>
              <a:ext uri="{FF2B5EF4-FFF2-40B4-BE49-F238E27FC236}">
                <ns2:creationId id="{7CF895B8-1DD8-4639-886A-1C5A1D8C42E4}"/>
              </a:ext>
            </a:extLst>
          </p:cNvPr>
          <p:cNvSpPr>
            <a:spLocks noGrp="1"/>
          </p:cNvSpPr>
          <p:nvPr/>
        </p:nvSpPr>
        <p:spPr>
          <a:xfrm>
            <a:off x="4781550" y="4352925"/>
            <a:ext cx="209550" cy="95"/>
          </a:xfrm>
          <a:prstGeom prst="line">
            <a:avLst/>
          </a:prstGeom>
          <a:noFill/>
          <a:ln w="19050">
            <a:solidFill>
              <a:srgbClr val="A97738"/>
            </a:solidFill>
            <a:prstDash val="solid"/>
          </a:ln>
        </p:spPr>
      </p:sp>
      <p:sp>
        <p:nvSpPr>
          <p:cNvPr id="25" name="text-795">
            <a:extLst>
              <a:ext uri="{FF2B5EF4-FFF2-40B4-BE49-F238E27FC236}">
                <ns2:creationId id="{44E96B68-8185-4A2E-B713-98197F5C6A79}"/>
              </a:ext>
            </a:extLst>
          </p:cNvPr>
          <p:cNvSpPr>
            <a:spLocks noGrp="1"/>
          </p:cNvSpPr>
          <p:nvPr/>
        </p:nvSpPr>
        <p:spPr>
          <a:xfrm>
            <a:off x="5057775" y="4267200"/>
            <a:ext cx="8382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0">
                <a:solidFill>
                  <a:srgbClr val="A97738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050" b="0">
                <a:solidFill>
                  <a:srgbClr val="A97738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050" b="0">
                <a:solidFill>
                  <a:srgbClr val="A97738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050" b="0">
                <a:solidFill>
                  <a:srgbClr val="A97738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050" b="0">
                <a:solidFill>
                  <a:srgbClr val="A97738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050" b="0">
                <a:solidFill>
                  <a:srgbClr val="A97738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050" b="0">
                <a:solidFill>
                  <a:srgbClr val="A97738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050" b="0">
                <a:solidFill>
                  <a:srgbClr val="A97738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050" b="0">
                <a:solidFill>
                  <a:srgbClr val="A97738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050" b="0">
                <a:solidFill>
                  <a:srgbClr val="A97738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050" b="0">
                <a:solidFill>
                  <a:srgbClr val="A9773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A97738"/>
                </a:solidFill>
                <a:latin typeface="Noto Sans CJK SC"/>
                <a:ea typeface="Noto Sans CJK SC"/>
                <a:cs typeface="Noto Sans CJK SC"/>
              </a:rPr>
              <a:t>情景 B</a:t>
            </a:r>
            <a:endParaRPr/>
          </a:p>
        </p:txBody>
      </p:sp>
      <p:sp>
        <p:nvSpPr>
          <p:cNvPr id="26" name="text-796">
            <a:extLst>
              <a:ext uri="{FF2B5EF4-FFF2-40B4-BE49-F238E27FC236}">
                <ns2:creationId id="{1E2CEC79-B67D-452A-B8F4-80AA0F87D6DD}"/>
              </a:ext>
            </a:extLst>
          </p:cNvPr>
          <p:cNvSpPr>
            <a:spLocks noGrp="1"/>
          </p:cNvSpPr>
          <p:nvPr/>
        </p:nvSpPr>
        <p:spPr>
          <a:xfrm>
            <a:off x="2103120" y="5715000"/>
            <a:ext cx="280987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月份</a:t>
            </a:r>
            <a:endParaRPr/>
          </a:p>
        </p:txBody>
      </p:sp>
      <p:sp>
        <p:nvSpPr>
          <p:cNvPr id="27" name="shape-797">
            <a:extLst>
              <a:ext uri="{FF2B5EF4-FFF2-40B4-BE49-F238E27FC236}">
                <ns2:creationId id="{24F3D4E5-E07C-4F4D-B936-98907F1AA144}"/>
              </a:ext>
            </a:extLst>
          </p:cNvPr>
          <p:cNvSpPr>
            <a:spLocks noGrp="1"/>
          </p:cNvSpPr>
          <p:nvPr/>
        </p:nvSpPr>
        <p:spPr>
          <a:xfrm>
            <a:off x="6181725" y="3495675"/>
            <a:ext cx="5781675" cy="247650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6DBDE"/>
            </a:solidFill>
            <a:prstDash val="solid"/>
          </a:ln>
        </p:spPr>
      </p:sp>
      <p:sp>
        <p:nvSpPr>
          <p:cNvPr id="28" name="shape-798">
            <a:extLst>
              <a:ext uri="{FF2B5EF4-FFF2-40B4-BE49-F238E27FC236}">
                <ns2:creationId id="{4583CF5F-7439-475C-B649-91E04F05FEB7}"/>
              </a:ext>
            </a:extLst>
          </p:cNvPr>
          <p:cNvSpPr>
            <a:spLocks noGrp="1"/>
          </p:cNvSpPr>
          <p:nvPr/>
        </p:nvSpPr>
        <p:spPr>
          <a:xfrm>
            <a:off x="6191250" y="3505200"/>
            <a:ext cx="5762625" cy="361950"/>
          </a:xfrm>
          <a:prstGeom prst="roundRect">
            <a:avLst>
              <a:gd name="adj" fmla="val 21053"/>
            </a:avLst>
          </a:prstGeom>
          <a:solidFill>
            <a:srgbClr val="F4ECEE"/>
          </a:solidFill>
          <a:ln w="0">
            <a:noFill/>
            <a:prstDash val="solid"/>
          </a:ln>
        </p:spPr>
      </p:sp>
      <p:sp>
        <p:nvSpPr>
          <p:cNvPr id="29" name="shape-799">
            <a:extLst>
              <a:ext uri="{FF2B5EF4-FFF2-40B4-BE49-F238E27FC236}">
                <ns2:creationId id="{62E7BFA5-0730-4B90-9E5A-A032A486B7EE}"/>
              </a:ext>
            </a:extLst>
          </p:cNvPr>
          <p:cNvSpPr>
            <a:spLocks noGrp="1"/>
          </p:cNvSpPr>
          <p:nvPr/>
        </p:nvSpPr>
        <p:spPr>
          <a:xfrm>
            <a:off x="6276975" y="3543300"/>
            <a:ext cx="276225" cy="276225"/>
          </a:xfrm>
          <a:prstGeom prst="ellipse">
            <a:avLst/>
          </a:prstGeom>
          <a:solidFill>
            <a:srgbClr val="6E293C"/>
          </a:solidFill>
          <a:ln w="0">
            <a:noFill/>
            <a:prstDash val="solid"/>
          </a:ln>
        </p:spPr>
      </p:sp>
      <p:sp>
        <p:nvSpPr>
          <p:cNvPr id="30" name="text-800">
            <a:extLst>
              <a:ext uri="{FF2B5EF4-FFF2-40B4-BE49-F238E27FC236}">
                <ns2:creationId id="{D586D7AE-2088-4455-ADC9-B1A8F2AA4EA0}"/>
              </a:ext>
            </a:extLst>
          </p:cNvPr>
          <p:cNvSpPr>
            <a:spLocks noGrp="1"/>
          </p:cNvSpPr>
          <p:nvPr/>
        </p:nvSpPr>
        <p:spPr>
          <a:xfrm>
            <a:off x="6276975" y="3543300"/>
            <a:ext cx="27622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D</a:t>
            </a:r>
          </a:p>
        </p:txBody>
      </p:sp>
      <p:sp>
        <p:nvSpPr>
          <p:cNvPr id="31" name="text-801">
            <a:extLst>
              <a:ext uri="{FF2B5EF4-FFF2-40B4-BE49-F238E27FC236}">
                <ns2:creationId id="{3E4B1D25-FCEC-41E1-9BEC-B2C2A1076C4E}"/>
              </a:ext>
            </a:extLst>
          </p:cNvPr>
          <p:cNvSpPr>
            <a:spLocks noGrp="1"/>
          </p:cNvSpPr>
          <p:nvPr/>
        </p:nvSpPr>
        <p:spPr>
          <a:xfrm>
            <a:off x="6667500" y="3552825"/>
            <a:ext cx="514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rPr>
              <a:t>效应与不确定性</a:t>
            </a:r>
            <a:endParaRPr/>
          </a:p>
        </p:txBody>
      </p:sp>
      <p:graphicFrame>
        <p:nvGraphicFramePr>
          <p:cNvPr id="32" name="Chart">
            <a:extLst>
              <a:ext uri="{FF2B5EF4-FFF2-40B4-BE49-F238E27FC236}">
                <ns2:creationId id="{C76A89B5-85B0-4F52-808E-076BF3306AA8}"/>
              </a:ext>
            </a:extLst>
          </p:cNvPr>
          <p:cNvGraphicFramePr/>
          <p:nvPr/>
        </p:nvGraphicFramePr>
        <p:xfrm>
          <a:off x="6257925" y="3924300"/>
          <a:ext cx="5619750" cy="1981200"/>
        </p:xfrm>
        <a:graphic>
          <a:graphicData uri="http://schemas.openxmlformats.org/drawingml/2006/chart">
            <c:chart r:id="Rffaaf39a0267400e"/>
          </a:graphicData>
        </a:graphic>
      </p:graphicFrame>
      <p:sp>
        <p:nvSpPr>
          <p:cNvPr id="33" name="text-802">
            <a:extLst>
              <a:ext uri="{FF2B5EF4-FFF2-40B4-BE49-F238E27FC236}">
                <ns2:creationId id="{A0C8B234-E2E9-4D15-BDF3-746365A32BA6}"/>
              </a:ext>
            </a:extLst>
          </p:cNvPr>
          <p:cNvSpPr>
            <a:spLocks noGrp="1"/>
          </p:cNvSpPr>
          <p:nvPr/>
        </p:nvSpPr>
        <p:spPr>
          <a:xfrm>
            <a:off x="6257925" y="4201516"/>
            <a:ext cx="1404938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生境面积</a:t>
            </a:r>
            <a:endParaRPr/>
          </a:p>
        </p:txBody>
      </p:sp>
      <p:sp>
        <p:nvSpPr>
          <p:cNvPr id="34" name="text-803">
            <a:extLst>
              <a:ext uri="{FF2B5EF4-FFF2-40B4-BE49-F238E27FC236}">
                <ns2:creationId id="{526EEFD3-E9DB-4FD5-ACFA-CEF106A3C4FD}"/>
              </a:ext>
            </a:extLst>
          </p:cNvPr>
          <p:cNvSpPr>
            <a:spLocks noGrp="1"/>
          </p:cNvSpPr>
          <p:nvPr/>
        </p:nvSpPr>
        <p:spPr>
          <a:xfrm>
            <a:off x="6257925" y="4474921"/>
            <a:ext cx="1404938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隔离程度</a:t>
            </a:r>
            <a:endParaRPr/>
          </a:p>
        </p:txBody>
      </p:sp>
      <p:sp>
        <p:nvSpPr>
          <p:cNvPr id="35" name="text-804">
            <a:extLst>
              <a:ext uri="{FF2B5EF4-FFF2-40B4-BE49-F238E27FC236}">
                <ns2:creationId id="{46F62FE8-8F48-4548-A387-C5DFEE87C019}"/>
              </a:ext>
            </a:extLst>
          </p:cNvPr>
          <p:cNvSpPr>
            <a:spLocks noGrp="1"/>
          </p:cNvSpPr>
          <p:nvPr/>
        </p:nvSpPr>
        <p:spPr>
          <a:xfrm>
            <a:off x="6257925" y="4748327"/>
            <a:ext cx="1404938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植被覆盖</a:t>
            </a:r>
            <a:endParaRPr/>
          </a:p>
        </p:txBody>
      </p:sp>
      <p:sp>
        <p:nvSpPr>
          <p:cNvPr id="36" name="text-805">
            <a:extLst>
              <a:ext uri="{FF2B5EF4-FFF2-40B4-BE49-F238E27FC236}">
                <ns2:creationId id="{CAA911A2-F636-492E-B874-1CBE6C41426B}"/>
              </a:ext>
            </a:extLst>
          </p:cNvPr>
          <p:cNvSpPr>
            <a:spLocks noGrp="1"/>
          </p:cNvSpPr>
          <p:nvPr/>
        </p:nvSpPr>
        <p:spPr>
          <a:xfrm>
            <a:off x="6257925" y="5021732"/>
            <a:ext cx="1404938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人为干扰</a:t>
            </a:r>
            <a:endParaRPr/>
          </a:p>
        </p:txBody>
      </p:sp>
      <p:sp>
        <p:nvSpPr>
          <p:cNvPr id="37" name="text-806">
            <a:extLst>
              <a:ext uri="{FF2B5EF4-FFF2-40B4-BE49-F238E27FC236}">
                <ns2:creationId id="{7A5BDBF0-3C36-41B2-BF5D-AA4A48C59BB3}"/>
              </a:ext>
            </a:extLst>
          </p:cNvPr>
          <p:cNvSpPr>
            <a:spLocks noGrp="1"/>
          </p:cNvSpPr>
          <p:nvPr/>
        </p:nvSpPr>
        <p:spPr>
          <a:xfrm>
            <a:off x="8056245" y="5715000"/>
            <a:ext cx="280987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标准化效应值</a:t>
            </a:r>
            <a:endParaRPr/>
          </a:p>
        </p:txBody>
      </p:sp>
      <p:sp>
        <p:nvSpPr>
          <p:cNvPr id="38" name="shape-807">
            <a:extLst>
              <a:ext uri="{FF2B5EF4-FFF2-40B4-BE49-F238E27FC236}">
                <ns2:creationId id="{B5D12D88-A4B1-4758-A177-9F7FF6A82C92}"/>
              </a:ext>
            </a:extLst>
          </p:cNvPr>
          <p:cNvSpPr>
            <a:spLocks noGrp="1"/>
          </p:cNvSpPr>
          <p:nvPr/>
        </p:nvSpPr>
        <p:spPr>
          <a:xfrm>
            <a:off x="228600" y="6219825"/>
            <a:ext cx="11734800" cy="323850"/>
          </a:xfrm>
          <a:prstGeom prst="roundRect">
            <a:avLst>
              <a:gd name="adj" fmla="val 23529"/>
            </a:avLst>
          </a:prstGeom>
          <a:solidFill>
            <a:srgbClr val="F4ECEE"/>
          </a:solidFill>
          <a:ln w="0">
            <a:noFill/>
            <a:prstDash val="solid"/>
          </a:ln>
        </p:spPr>
      </p:sp>
      <p:sp>
        <p:nvSpPr>
          <p:cNvPr id="39" name="text-808">
            <a:extLst>
              <a:ext uri="{FF2B5EF4-FFF2-40B4-BE49-F238E27FC236}">
                <ns2:creationId id="{1DED5E77-6EB0-4AE7-B0A4-2D6AF34EC779}"/>
              </a:ext>
            </a:extLst>
          </p:cNvPr>
          <p:cNvSpPr>
            <a:spLocks noGrp="1"/>
          </p:cNvSpPr>
          <p:nvPr/>
        </p:nvSpPr>
        <p:spPr>
          <a:xfrm>
            <a:off x="361950" y="6257925"/>
            <a:ext cx="114681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1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1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1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1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1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1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1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1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1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1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1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6E293C"/>
                </a:solidFill>
                <a:latin typeface="Noto Sans CJK SC"/>
                <a:ea typeface="Noto Sans CJK SC"/>
                <a:cs typeface="Noto Sans CJK SC"/>
              </a:rPr>
              <a:t>读图顺序：趋势 → 组间差异 → 动态 → 不确定性</a:t>
            </a:r>
            <a:endParaRPr/>
          </a:p>
        </p:txBody>
      </p:sp>
      <p:sp>
        <p:nvSpPr>
          <p:cNvPr id="40" name="text-809">
            <a:extLst>
              <a:ext uri="{FF2B5EF4-FFF2-40B4-BE49-F238E27FC236}">
                <ns2:creationId id="{1DA97AB6-8004-4A38-A338-5803F862D2D7}"/>
              </a:ext>
            </a:extLst>
          </p:cNvPr>
          <p:cNvSpPr>
            <a:spLocks noGrp="1"/>
          </p:cNvSpPr>
          <p:nvPr/>
        </p:nvSpPr>
        <p:spPr>
          <a:xfrm>
            <a:off x="228600" y="6619875"/>
            <a:ext cx="1057275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900" b="0">
                <a:solidFill>
                  <a:srgbClr val="66859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900" b="0">
                <a:solidFill>
                  <a:srgbClr val="66859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900" b="0">
                <a:solidFill>
                  <a:srgbClr val="66859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900" b="0">
                <a:solidFill>
                  <a:srgbClr val="66859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900" b="0">
                <a:solidFill>
                  <a:srgbClr val="66859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900" b="0">
                <a:solidFill>
                  <a:srgbClr val="66859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900" b="0">
                <a:solidFill>
                  <a:srgbClr val="66859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900" b="0">
                <a:solidFill>
                  <a:srgbClr val="66859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900" b="0">
                <a:solidFill>
                  <a:srgbClr val="66859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900" b="0">
                <a:solidFill>
                  <a:srgbClr val="66859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900" b="0">
                <a:solidFill>
                  <a:srgbClr val="66859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00" b="0">
                <a:solidFill>
                  <a:srgbClr val="66859A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41" name="text-810">
            <a:extLst>
              <a:ext uri="{FF2B5EF4-FFF2-40B4-BE49-F238E27FC236}">
                <ns2:creationId id="{DA94209C-B64C-43A7-849E-88E3A32FD531}"/>
              </a:ext>
            </a:extLst>
          </p:cNvPr>
          <p:cNvSpPr>
            <a:spLocks noGrp="1"/>
          </p:cNvSpPr>
          <p:nvPr/>
        </p:nvSpPr>
        <p:spPr>
          <a:xfrm>
            <a:off x="11525250" y="6591300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975" b="0">
                <a:solidFill>
                  <a:srgbClr val="66859A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975" b="0">
                <a:solidFill>
                  <a:srgbClr val="66859A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975" b="0">
                <a:solidFill>
                  <a:srgbClr val="66859A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975" b="0">
                <a:solidFill>
                  <a:srgbClr val="66859A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975" b="0">
                <a:solidFill>
                  <a:srgbClr val="66859A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975" b="0">
                <a:solidFill>
                  <a:srgbClr val="66859A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975" b="0">
                <a:solidFill>
                  <a:srgbClr val="66859A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975" b="0">
                <a:solidFill>
                  <a:srgbClr val="66859A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975" b="0">
                <a:solidFill>
                  <a:srgbClr val="66859A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975" b="0">
                <a:solidFill>
                  <a:srgbClr val="66859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975" b="0">
                <a:solidFill>
                  <a:srgbClr val="66859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 b="0">
                <a:solidFill>
                  <a:srgbClr val="66859A"/>
                </a:solidFill>
                <a:latin typeface="Noto Sans CJK SC"/>
                <a:ea typeface="Noto Sans CJK SC"/>
                <a:cs typeface="Noto Sans CJK SC"/>
              </a:rPr>
              <a:t>04</a:t>
            </a:r>
            <a:endParaRPr/>
          </a:p>
        </p:txBody>
      </p:sp>
    </p:spTree>
    <p:extLst>
      <p:ext uri="{BB962C8B-B14F-4D97-AF65-F5344CB8AC3E}">
        <ns5:creationId val="563918454"/>
      </p:ext>
    </p:extLst>
  </p:cSld>
</p:sld>
</file>

<file path=ppt/slides/slide5.xml><?xml version="1.0" encoding="utf-8"?>
<p:sld xmlns:a="http://schemas.openxmlformats.org/drawingml/2006/main" xmlns:c="http://schemas.openxmlformats.org/drawingml/2006/chart" xmlns:ns2="http://schemas.microsoft.com/office/drawing/2014/main" xmlns:ns5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CFCFE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42" name="text-774">
            <a:extLst>
              <a:ext uri="{FF2B5EF4-FFF2-40B4-BE49-F238E27FC236}">
                <ns2:creationId id="{870151DE-162C-4E36-9A2A-BDBE388A5215}"/>
              </a:ext>
            </a:extLst>
          </p:cNvPr>
          <p:cNvSpPr>
            <a:spLocks noGrp="1"/>
          </p:cNvSpPr>
          <p:nvPr/>
        </p:nvSpPr>
        <p:spPr>
          <a:xfrm>
            <a:off x="228600" y="152400"/>
            <a:ext cx="11734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7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7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7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7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7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7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7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7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7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7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7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rPr>
              <a:t>配色样板｜靛紫芥黄</a:t>
            </a:r>
            <a:endParaRPr/>
          </a:p>
        </p:txBody>
      </p:sp>
      <p:sp>
        <p:nvSpPr>
          <p:cNvPr id="2" name="line-775">
            <a:extLst>
              <a:ext uri="{FF2B5EF4-FFF2-40B4-BE49-F238E27FC236}">
                <ns2:creationId id="{623A8942-9983-4DAC-90FE-5824285F49AD}"/>
              </a:ext>
            </a:extLst>
          </p:cNvPr>
          <p:cNvSpPr>
            <a:spLocks noGrp="1"/>
          </p:cNvSpPr>
          <p:nvPr/>
        </p:nvSpPr>
        <p:spPr>
          <a:xfrm>
            <a:off x="228600" y="695325"/>
            <a:ext cx="11734800" cy="95"/>
          </a:xfrm>
          <a:prstGeom prst="line">
            <a:avLst/>
          </a:prstGeom>
          <a:noFill/>
          <a:ln w="16193">
            <a:solidFill>
              <a:srgbClr val="3F2F7A"/>
            </a:solidFill>
            <a:prstDash val="solid"/>
          </a:ln>
        </p:spPr>
      </p:sp>
      <p:sp>
        <p:nvSpPr>
          <p:cNvPr id="3" name="shape-776">
            <a:extLst>
              <a:ext uri="{FF2B5EF4-FFF2-40B4-BE49-F238E27FC236}">
                <ns2:creationId id="{6238D9A9-05A6-4EA9-BFBE-DB3046E5407F}"/>
              </a:ext>
            </a:extLst>
          </p:cNvPr>
          <p:cNvSpPr>
            <a:spLocks noGrp="1"/>
          </p:cNvSpPr>
          <p:nvPr/>
        </p:nvSpPr>
        <p:spPr>
          <a:xfrm>
            <a:off x="228600" y="885825"/>
            <a:ext cx="5781675" cy="247650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DEDCE8"/>
            </a:solidFill>
            <a:prstDash val="solid"/>
          </a:ln>
        </p:spPr>
      </p:sp>
      <p:sp>
        <p:nvSpPr>
          <p:cNvPr id="4" name="shape-777">
            <a:extLst>
              <a:ext uri="{FF2B5EF4-FFF2-40B4-BE49-F238E27FC236}">
                <ns2:creationId id="{B09C51B1-8A13-401C-B166-4699434CCEFC}"/>
              </a:ext>
            </a:extLst>
          </p:cNvPr>
          <p:cNvSpPr>
            <a:spLocks noGrp="1"/>
          </p:cNvSpPr>
          <p:nvPr/>
        </p:nvSpPr>
        <p:spPr>
          <a:xfrm>
            <a:off x="238125" y="895350"/>
            <a:ext cx="5762625" cy="361950"/>
          </a:xfrm>
          <a:prstGeom prst="roundRect">
            <a:avLst>
              <a:gd name="adj" fmla="val 21053"/>
            </a:avLst>
          </a:prstGeom>
          <a:solidFill>
            <a:srgbClr val="F0EEF7"/>
          </a:solidFill>
          <a:ln w="0">
            <a:noFill/>
            <a:prstDash val="solid"/>
          </a:ln>
        </p:spPr>
      </p:sp>
      <p:sp>
        <p:nvSpPr>
          <p:cNvPr id="5" name="shape-778">
            <a:extLst>
              <a:ext uri="{FF2B5EF4-FFF2-40B4-BE49-F238E27FC236}">
                <ns2:creationId id="{94701B7F-21F9-4E64-8428-0350248872A3}"/>
              </a:ext>
            </a:extLst>
          </p:cNvPr>
          <p:cNvSpPr>
            <a:spLocks noGrp="1"/>
          </p:cNvSpPr>
          <p:nvPr/>
        </p:nvSpPr>
        <p:spPr>
          <a:xfrm>
            <a:off x="323850" y="933450"/>
            <a:ext cx="276225" cy="276225"/>
          </a:xfrm>
          <a:prstGeom prst="ellipse">
            <a:avLst/>
          </a:prstGeom>
          <a:solidFill>
            <a:srgbClr val="3F2F7A"/>
          </a:solidFill>
          <a:ln w="0">
            <a:noFill/>
            <a:prstDash val="solid"/>
          </a:ln>
        </p:spPr>
      </p:sp>
      <p:sp>
        <p:nvSpPr>
          <p:cNvPr id="6" name="text-779">
            <a:extLst>
              <a:ext uri="{FF2B5EF4-FFF2-40B4-BE49-F238E27FC236}">
                <ns2:creationId id="{B01030CA-E107-4642-B10D-7DD8AC610DDD}"/>
              </a:ext>
            </a:extLst>
          </p:cNvPr>
          <p:cNvSpPr>
            <a:spLocks noGrp="1"/>
          </p:cNvSpPr>
          <p:nvPr/>
        </p:nvSpPr>
        <p:spPr>
          <a:xfrm>
            <a:off x="323850" y="933450"/>
            <a:ext cx="27622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A</a:t>
            </a:r>
          </a:p>
        </p:txBody>
      </p:sp>
      <p:sp>
        <p:nvSpPr>
          <p:cNvPr id="7" name="text-780">
            <a:extLst>
              <a:ext uri="{FF2B5EF4-FFF2-40B4-BE49-F238E27FC236}">
                <ns2:creationId id="{D47D1E79-4C6E-499F-BB3E-8D46299274B6}"/>
              </a:ext>
            </a:extLst>
          </p:cNvPr>
          <p:cNvSpPr>
            <a:spLocks noGrp="1"/>
          </p:cNvSpPr>
          <p:nvPr/>
        </p:nvSpPr>
        <p:spPr>
          <a:xfrm>
            <a:off x="714375" y="942975"/>
            <a:ext cx="514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rPr>
              <a:t>丰富度沿梯度变化</a:t>
            </a:r>
            <a:endParaRPr/>
          </a:p>
        </p:txBody>
      </p:sp>
      <p:graphicFrame>
        <p:nvGraphicFramePr>
          <p:cNvPr id="8" name="Chart">
            <a:extLst>
              <a:ext uri="{FF2B5EF4-FFF2-40B4-BE49-F238E27FC236}">
                <ns2:creationId id="{9456CB77-0FB2-4A66-BD08-7370CB22A5E3}"/>
              </a:ext>
            </a:extLst>
          </p:cNvPr>
          <p:cNvGraphicFramePr/>
          <p:nvPr/>
        </p:nvGraphicFramePr>
        <p:xfrm>
          <a:off x="304800" y="1314450"/>
          <a:ext cx="5619750" cy="1981200"/>
        </p:xfrm>
        <a:graphic>
          <a:graphicData uri="http://schemas.openxmlformats.org/drawingml/2006/chart">
            <c:chart r:id="R0f90f39fb5cf47f3"/>
          </a:graphicData>
        </a:graphic>
      </p:graphicFrame>
      <p:sp>
        <p:nvSpPr>
          <p:cNvPr id="9" name="text-781">
            <a:extLst>
              <a:ext uri="{FF2B5EF4-FFF2-40B4-BE49-F238E27FC236}">
                <ns2:creationId id="{A492B5C0-6C8E-476A-A0FF-2B8B824EFB96}"/>
              </a:ext>
            </a:extLst>
          </p:cNvPr>
          <p:cNvSpPr>
            <a:spLocks noGrp="1"/>
          </p:cNvSpPr>
          <p:nvPr/>
        </p:nvSpPr>
        <p:spPr>
          <a:xfrm>
            <a:off x="2103120" y="3105150"/>
            <a:ext cx="280987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干扰强度</a:t>
            </a:r>
            <a:endParaRPr/>
          </a:p>
        </p:txBody>
      </p:sp>
      <p:sp>
        <p:nvSpPr>
          <p:cNvPr id="10" name="shape-782">
            <a:extLst>
              <a:ext uri="{FF2B5EF4-FFF2-40B4-BE49-F238E27FC236}">
                <ns2:creationId id="{954A65F0-59E1-44F4-9F44-63E470FB03CB}"/>
              </a:ext>
            </a:extLst>
          </p:cNvPr>
          <p:cNvSpPr>
            <a:spLocks noGrp="1"/>
          </p:cNvSpPr>
          <p:nvPr/>
        </p:nvSpPr>
        <p:spPr>
          <a:xfrm>
            <a:off x="6181725" y="885825"/>
            <a:ext cx="5781675" cy="247650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DEDCE8"/>
            </a:solidFill>
            <a:prstDash val="solid"/>
          </a:ln>
        </p:spPr>
      </p:sp>
      <p:sp>
        <p:nvSpPr>
          <p:cNvPr id="11" name="shape-783">
            <a:extLst>
              <a:ext uri="{FF2B5EF4-FFF2-40B4-BE49-F238E27FC236}">
                <ns2:creationId id="{E91F6EEF-201E-45C6-ADFE-3A13A329382C}"/>
              </a:ext>
            </a:extLst>
          </p:cNvPr>
          <p:cNvSpPr>
            <a:spLocks noGrp="1"/>
          </p:cNvSpPr>
          <p:nvPr/>
        </p:nvSpPr>
        <p:spPr>
          <a:xfrm>
            <a:off x="6191250" y="895350"/>
            <a:ext cx="5762625" cy="361950"/>
          </a:xfrm>
          <a:prstGeom prst="roundRect">
            <a:avLst>
              <a:gd name="adj" fmla="val 21053"/>
            </a:avLst>
          </a:prstGeom>
          <a:solidFill>
            <a:srgbClr val="F0EEF7"/>
          </a:solidFill>
          <a:ln w="0">
            <a:noFill/>
            <a:prstDash val="solid"/>
          </a:ln>
        </p:spPr>
      </p:sp>
      <p:sp>
        <p:nvSpPr>
          <p:cNvPr id="12" name="shape-784">
            <a:extLst>
              <a:ext uri="{FF2B5EF4-FFF2-40B4-BE49-F238E27FC236}">
                <ns2:creationId id="{9C37406F-6B5F-44F1-875A-02E2692E64C1}"/>
              </a:ext>
            </a:extLst>
          </p:cNvPr>
          <p:cNvSpPr>
            <a:spLocks noGrp="1"/>
          </p:cNvSpPr>
          <p:nvPr/>
        </p:nvSpPr>
        <p:spPr>
          <a:xfrm>
            <a:off x="6276975" y="933450"/>
            <a:ext cx="276225" cy="276225"/>
          </a:xfrm>
          <a:prstGeom prst="ellipse">
            <a:avLst/>
          </a:prstGeom>
          <a:solidFill>
            <a:srgbClr val="3F2F7A"/>
          </a:solidFill>
          <a:ln w="0">
            <a:noFill/>
            <a:prstDash val="solid"/>
          </a:ln>
        </p:spPr>
      </p:sp>
      <p:sp>
        <p:nvSpPr>
          <p:cNvPr id="13" name="text-785">
            <a:extLst>
              <a:ext uri="{FF2B5EF4-FFF2-40B4-BE49-F238E27FC236}">
                <ns2:creationId id="{5B4A55DB-123D-4A99-A4B8-77B18A40F9C1}"/>
              </a:ext>
            </a:extLst>
          </p:cNvPr>
          <p:cNvSpPr>
            <a:spLocks noGrp="1"/>
          </p:cNvSpPr>
          <p:nvPr/>
        </p:nvSpPr>
        <p:spPr>
          <a:xfrm>
            <a:off x="6276975" y="933450"/>
            <a:ext cx="27622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B</a:t>
            </a:r>
          </a:p>
        </p:txBody>
      </p:sp>
      <p:sp>
        <p:nvSpPr>
          <p:cNvPr id="14" name="text-786">
            <a:extLst>
              <a:ext uri="{FF2B5EF4-FFF2-40B4-BE49-F238E27FC236}">
                <ns2:creationId id="{0731A0D9-0B00-4255-B368-C5548CD183E6}"/>
              </a:ext>
            </a:extLst>
          </p:cNvPr>
          <p:cNvSpPr>
            <a:spLocks noGrp="1"/>
          </p:cNvSpPr>
          <p:nvPr/>
        </p:nvSpPr>
        <p:spPr>
          <a:xfrm>
            <a:off x="6667500" y="942975"/>
            <a:ext cx="514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rPr>
              <a:t>不同生境的群落差异</a:t>
            </a:r>
            <a:endParaRPr/>
          </a:p>
        </p:txBody>
      </p:sp>
      <p:graphicFrame>
        <p:nvGraphicFramePr>
          <p:cNvPr id="15" name="Chart">
            <a:extLst>
              <a:ext uri="{FF2B5EF4-FFF2-40B4-BE49-F238E27FC236}">
                <ns2:creationId id="{7F0206B9-6C09-457D-B465-33EE92A85635}"/>
              </a:ext>
            </a:extLst>
          </p:cNvPr>
          <p:cNvGraphicFramePr/>
          <p:nvPr/>
        </p:nvGraphicFramePr>
        <p:xfrm>
          <a:off x="6257925" y="1314450"/>
          <a:ext cx="5619750" cy="1981200"/>
        </p:xfrm>
        <a:graphic>
          <a:graphicData uri="http://schemas.openxmlformats.org/drawingml/2006/chart">
            <c:chart r:id="R5ffc3bee95974730"/>
          </a:graphicData>
        </a:graphic>
      </p:graphicFrame>
      <p:sp>
        <p:nvSpPr>
          <p:cNvPr id="16" name="shape-787">
            <a:extLst>
              <a:ext uri="{FF2B5EF4-FFF2-40B4-BE49-F238E27FC236}">
                <ns2:creationId id="{1AF9F0CC-C727-4FBF-8DC4-995AA1EF4A6D}"/>
              </a:ext>
            </a:extLst>
          </p:cNvPr>
          <p:cNvSpPr>
            <a:spLocks noGrp="1"/>
          </p:cNvSpPr>
          <p:nvPr/>
        </p:nvSpPr>
        <p:spPr>
          <a:xfrm>
            <a:off x="228600" y="3495675"/>
            <a:ext cx="5781675" cy="247650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DEDCE8"/>
            </a:solidFill>
            <a:prstDash val="solid"/>
          </a:ln>
        </p:spPr>
      </p:sp>
      <p:sp>
        <p:nvSpPr>
          <p:cNvPr id="17" name="shape-788">
            <a:extLst>
              <a:ext uri="{FF2B5EF4-FFF2-40B4-BE49-F238E27FC236}">
                <ns2:creationId id="{BD71EC20-B58A-469C-9E31-70D081983CD4}"/>
              </a:ext>
            </a:extLst>
          </p:cNvPr>
          <p:cNvSpPr>
            <a:spLocks noGrp="1"/>
          </p:cNvSpPr>
          <p:nvPr/>
        </p:nvSpPr>
        <p:spPr>
          <a:xfrm>
            <a:off x="238125" y="3505200"/>
            <a:ext cx="5762625" cy="361950"/>
          </a:xfrm>
          <a:prstGeom prst="roundRect">
            <a:avLst>
              <a:gd name="adj" fmla="val 21053"/>
            </a:avLst>
          </a:prstGeom>
          <a:solidFill>
            <a:srgbClr val="F0EEF7"/>
          </a:solidFill>
          <a:ln w="0">
            <a:noFill/>
            <a:prstDash val="solid"/>
          </a:ln>
        </p:spPr>
      </p:sp>
      <p:sp>
        <p:nvSpPr>
          <p:cNvPr id="18" name="shape-789">
            <a:extLst>
              <a:ext uri="{FF2B5EF4-FFF2-40B4-BE49-F238E27FC236}">
                <ns2:creationId id="{8AA0545D-C63E-48FF-9919-6A3C912B1616}"/>
              </a:ext>
            </a:extLst>
          </p:cNvPr>
          <p:cNvSpPr>
            <a:spLocks noGrp="1"/>
          </p:cNvSpPr>
          <p:nvPr/>
        </p:nvSpPr>
        <p:spPr>
          <a:xfrm>
            <a:off x="323850" y="3543300"/>
            <a:ext cx="276225" cy="276225"/>
          </a:xfrm>
          <a:prstGeom prst="ellipse">
            <a:avLst/>
          </a:prstGeom>
          <a:solidFill>
            <a:srgbClr val="3F2F7A"/>
          </a:solidFill>
          <a:ln w="0">
            <a:noFill/>
            <a:prstDash val="solid"/>
          </a:ln>
        </p:spPr>
      </p:sp>
      <p:sp>
        <p:nvSpPr>
          <p:cNvPr id="19" name="text-790">
            <a:extLst>
              <a:ext uri="{FF2B5EF4-FFF2-40B4-BE49-F238E27FC236}">
                <ns2:creationId id="{60A4A900-E79C-44C3-9DAE-47ED004E4723}"/>
              </a:ext>
            </a:extLst>
          </p:cNvPr>
          <p:cNvSpPr>
            <a:spLocks noGrp="1"/>
          </p:cNvSpPr>
          <p:nvPr/>
        </p:nvSpPr>
        <p:spPr>
          <a:xfrm>
            <a:off x="323850" y="3543300"/>
            <a:ext cx="27622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C</a:t>
            </a:r>
          </a:p>
        </p:txBody>
      </p:sp>
      <p:sp>
        <p:nvSpPr>
          <p:cNvPr id="20" name="text-791">
            <a:extLst>
              <a:ext uri="{FF2B5EF4-FFF2-40B4-BE49-F238E27FC236}">
                <ns2:creationId id="{BA801818-1268-4883-8A51-AECE03EE1DA0}"/>
              </a:ext>
            </a:extLst>
          </p:cNvPr>
          <p:cNvSpPr>
            <a:spLocks noGrp="1"/>
          </p:cNvSpPr>
          <p:nvPr/>
        </p:nvSpPr>
        <p:spPr>
          <a:xfrm>
            <a:off x="714375" y="3552825"/>
            <a:ext cx="514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rPr>
              <a:t>季节动态</a:t>
            </a:r>
            <a:endParaRPr/>
          </a:p>
        </p:txBody>
      </p:sp>
      <p:graphicFrame>
        <p:nvGraphicFramePr>
          <p:cNvPr id="21" name="Chart">
            <a:extLst>
              <a:ext uri="{FF2B5EF4-FFF2-40B4-BE49-F238E27FC236}">
                <ns2:creationId id="{419FAEFB-A02A-4E65-BAF2-FB1C9B48BE22}"/>
              </a:ext>
            </a:extLst>
          </p:cNvPr>
          <p:cNvGraphicFramePr/>
          <p:nvPr/>
        </p:nvGraphicFramePr>
        <p:xfrm>
          <a:off x="304800" y="3924300"/>
          <a:ext cx="5619750" cy="1981200"/>
        </p:xfrm>
        <a:graphic>
          <a:graphicData uri="http://schemas.openxmlformats.org/drawingml/2006/chart">
            <c:chart r:id="R5911ad34a6c7462d"/>
          </a:graphicData>
        </a:graphic>
      </p:graphicFrame>
      <p:sp>
        <p:nvSpPr>
          <p:cNvPr id="22" name="line-792">
            <a:extLst>
              <a:ext uri="{FF2B5EF4-FFF2-40B4-BE49-F238E27FC236}">
                <ns2:creationId id="{88C43074-E8D9-46A6-9170-4D3647BF5914}"/>
              </a:ext>
            </a:extLst>
          </p:cNvPr>
          <p:cNvSpPr>
            <a:spLocks noGrp="1"/>
          </p:cNvSpPr>
          <p:nvPr/>
        </p:nvSpPr>
        <p:spPr>
          <a:xfrm>
            <a:off x="4781550" y="4124325"/>
            <a:ext cx="209550" cy="95"/>
          </a:xfrm>
          <a:prstGeom prst="line">
            <a:avLst/>
          </a:prstGeom>
          <a:noFill/>
          <a:ln w="19050">
            <a:solidFill>
              <a:srgbClr val="3F2F7A"/>
            </a:solidFill>
            <a:prstDash val="solid"/>
          </a:ln>
        </p:spPr>
      </p:sp>
      <p:sp>
        <p:nvSpPr>
          <p:cNvPr id="23" name="text-793">
            <a:extLst>
              <a:ext uri="{FF2B5EF4-FFF2-40B4-BE49-F238E27FC236}">
                <ns2:creationId id="{A08CF5A4-363F-4B2B-907D-5754E7601F3B}"/>
              </a:ext>
            </a:extLst>
          </p:cNvPr>
          <p:cNvSpPr>
            <a:spLocks noGrp="1"/>
          </p:cNvSpPr>
          <p:nvPr/>
        </p:nvSpPr>
        <p:spPr>
          <a:xfrm>
            <a:off x="5057775" y="4038600"/>
            <a:ext cx="8382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0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050" b="0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050" b="0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050" b="0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050" b="0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050" b="0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050" b="0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050" b="0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050" b="0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050" b="0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050" b="0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rPr>
              <a:t>情景 A</a:t>
            </a:r>
            <a:endParaRPr/>
          </a:p>
        </p:txBody>
      </p:sp>
      <p:sp>
        <p:nvSpPr>
          <p:cNvPr id="24" name="line-794">
            <a:extLst>
              <a:ext uri="{FF2B5EF4-FFF2-40B4-BE49-F238E27FC236}">
                <ns2:creationId id="{7CF895B8-1DD8-4639-886A-1C5A1D8C42E4}"/>
              </a:ext>
            </a:extLst>
          </p:cNvPr>
          <p:cNvSpPr>
            <a:spLocks noGrp="1"/>
          </p:cNvSpPr>
          <p:nvPr/>
        </p:nvSpPr>
        <p:spPr>
          <a:xfrm>
            <a:off x="4781550" y="4352925"/>
            <a:ext cx="209550" cy="95"/>
          </a:xfrm>
          <a:prstGeom prst="line">
            <a:avLst/>
          </a:prstGeom>
          <a:noFill/>
          <a:ln w="19050">
            <a:solidFill>
              <a:srgbClr val="A58116"/>
            </a:solidFill>
            <a:prstDash val="solid"/>
          </a:ln>
        </p:spPr>
      </p:sp>
      <p:sp>
        <p:nvSpPr>
          <p:cNvPr id="25" name="text-795">
            <a:extLst>
              <a:ext uri="{FF2B5EF4-FFF2-40B4-BE49-F238E27FC236}">
                <ns2:creationId id="{44E96B68-8185-4A2E-B713-98197F5C6A79}"/>
              </a:ext>
            </a:extLst>
          </p:cNvPr>
          <p:cNvSpPr>
            <a:spLocks noGrp="1"/>
          </p:cNvSpPr>
          <p:nvPr/>
        </p:nvSpPr>
        <p:spPr>
          <a:xfrm>
            <a:off x="5057775" y="4267200"/>
            <a:ext cx="8382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0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050" b="0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050" b="0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050" b="0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050" b="0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050" b="0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050" b="0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050" b="0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050" b="0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050" b="0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050" b="0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rPr>
              <a:t>情景 B</a:t>
            </a:r>
            <a:endParaRPr/>
          </a:p>
        </p:txBody>
      </p:sp>
      <p:sp>
        <p:nvSpPr>
          <p:cNvPr id="26" name="text-796">
            <a:extLst>
              <a:ext uri="{FF2B5EF4-FFF2-40B4-BE49-F238E27FC236}">
                <ns2:creationId id="{1E2CEC79-B67D-452A-B8F4-80AA0F87D6DD}"/>
              </a:ext>
            </a:extLst>
          </p:cNvPr>
          <p:cNvSpPr>
            <a:spLocks noGrp="1"/>
          </p:cNvSpPr>
          <p:nvPr/>
        </p:nvSpPr>
        <p:spPr>
          <a:xfrm>
            <a:off x="2103120" y="5715000"/>
            <a:ext cx="280987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月份</a:t>
            </a:r>
            <a:endParaRPr/>
          </a:p>
        </p:txBody>
      </p:sp>
      <p:sp>
        <p:nvSpPr>
          <p:cNvPr id="27" name="shape-797">
            <a:extLst>
              <a:ext uri="{FF2B5EF4-FFF2-40B4-BE49-F238E27FC236}">
                <ns2:creationId id="{24F3D4E5-E07C-4F4D-B936-98907F1AA144}"/>
              </a:ext>
            </a:extLst>
          </p:cNvPr>
          <p:cNvSpPr>
            <a:spLocks noGrp="1"/>
          </p:cNvSpPr>
          <p:nvPr/>
        </p:nvSpPr>
        <p:spPr>
          <a:xfrm>
            <a:off x="6181725" y="3495675"/>
            <a:ext cx="5781675" cy="247650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DEDCE8"/>
            </a:solidFill>
            <a:prstDash val="solid"/>
          </a:ln>
        </p:spPr>
      </p:sp>
      <p:sp>
        <p:nvSpPr>
          <p:cNvPr id="28" name="shape-798">
            <a:extLst>
              <a:ext uri="{FF2B5EF4-FFF2-40B4-BE49-F238E27FC236}">
                <ns2:creationId id="{4583CF5F-7439-475C-B649-91E04F05FEB7}"/>
              </a:ext>
            </a:extLst>
          </p:cNvPr>
          <p:cNvSpPr>
            <a:spLocks noGrp="1"/>
          </p:cNvSpPr>
          <p:nvPr/>
        </p:nvSpPr>
        <p:spPr>
          <a:xfrm>
            <a:off x="6191250" y="3505200"/>
            <a:ext cx="5762625" cy="361950"/>
          </a:xfrm>
          <a:prstGeom prst="roundRect">
            <a:avLst>
              <a:gd name="adj" fmla="val 21053"/>
            </a:avLst>
          </a:prstGeom>
          <a:solidFill>
            <a:srgbClr val="F0EEF7"/>
          </a:solidFill>
          <a:ln w="0">
            <a:noFill/>
            <a:prstDash val="solid"/>
          </a:ln>
        </p:spPr>
      </p:sp>
      <p:sp>
        <p:nvSpPr>
          <p:cNvPr id="29" name="shape-799">
            <a:extLst>
              <a:ext uri="{FF2B5EF4-FFF2-40B4-BE49-F238E27FC236}">
                <ns2:creationId id="{62E7BFA5-0730-4B90-9E5A-A032A486B7EE}"/>
              </a:ext>
            </a:extLst>
          </p:cNvPr>
          <p:cNvSpPr>
            <a:spLocks noGrp="1"/>
          </p:cNvSpPr>
          <p:nvPr/>
        </p:nvSpPr>
        <p:spPr>
          <a:xfrm>
            <a:off x="6276975" y="3543300"/>
            <a:ext cx="276225" cy="276225"/>
          </a:xfrm>
          <a:prstGeom prst="ellipse">
            <a:avLst/>
          </a:prstGeom>
          <a:solidFill>
            <a:srgbClr val="3F2F7A"/>
          </a:solidFill>
          <a:ln w="0">
            <a:noFill/>
            <a:prstDash val="solid"/>
          </a:ln>
        </p:spPr>
      </p:sp>
      <p:sp>
        <p:nvSpPr>
          <p:cNvPr id="30" name="text-800">
            <a:extLst>
              <a:ext uri="{FF2B5EF4-FFF2-40B4-BE49-F238E27FC236}">
                <ns2:creationId id="{D586D7AE-2088-4455-ADC9-B1A8F2AA4EA0}"/>
              </a:ext>
            </a:extLst>
          </p:cNvPr>
          <p:cNvSpPr>
            <a:spLocks noGrp="1"/>
          </p:cNvSpPr>
          <p:nvPr/>
        </p:nvSpPr>
        <p:spPr>
          <a:xfrm>
            <a:off x="6276975" y="3543300"/>
            <a:ext cx="27622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D</a:t>
            </a:r>
          </a:p>
        </p:txBody>
      </p:sp>
      <p:sp>
        <p:nvSpPr>
          <p:cNvPr id="31" name="text-801">
            <a:extLst>
              <a:ext uri="{FF2B5EF4-FFF2-40B4-BE49-F238E27FC236}">
                <ns2:creationId id="{3E4B1D25-FCEC-41E1-9BEC-B2C2A1076C4E}"/>
              </a:ext>
            </a:extLst>
          </p:cNvPr>
          <p:cNvSpPr>
            <a:spLocks noGrp="1"/>
          </p:cNvSpPr>
          <p:nvPr/>
        </p:nvSpPr>
        <p:spPr>
          <a:xfrm>
            <a:off x="6667500" y="3552825"/>
            <a:ext cx="514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rPr>
              <a:t>效应与不确定性</a:t>
            </a:r>
            <a:endParaRPr/>
          </a:p>
        </p:txBody>
      </p:sp>
      <p:graphicFrame>
        <p:nvGraphicFramePr>
          <p:cNvPr id="32" name="Chart">
            <a:extLst>
              <a:ext uri="{FF2B5EF4-FFF2-40B4-BE49-F238E27FC236}">
                <ns2:creationId id="{C76A89B5-85B0-4F52-808E-076BF3306AA8}"/>
              </a:ext>
            </a:extLst>
          </p:cNvPr>
          <p:cNvGraphicFramePr/>
          <p:nvPr/>
        </p:nvGraphicFramePr>
        <p:xfrm>
          <a:off x="6257925" y="3924300"/>
          <a:ext cx="5619750" cy="1981200"/>
        </p:xfrm>
        <a:graphic>
          <a:graphicData uri="http://schemas.openxmlformats.org/drawingml/2006/chart">
            <c:chart r:id="Rffaaf39a0267400e"/>
          </a:graphicData>
        </a:graphic>
      </p:graphicFrame>
      <p:sp>
        <p:nvSpPr>
          <p:cNvPr id="33" name="text-802">
            <a:extLst>
              <a:ext uri="{FF2B5EF4-FFF2-40B4-BE49-F238E27FC236}">
                <ns2:creationId id="{A0C8B234-E2E9-4D15-BDF3-746365A32BA6}"/>
              </a:ext>
            </a:extLst>
          </p:cNvPr>
          <p:cNvSpPr>
            <a:spLocks noGrp="1"/>
          </p:cNvSpPr>
          <p:nvPr/>
        </p:nvSpPr>
        <p:spPr>
          <a:xfrm>
            <a:off x="6257925" y="4201516"/>
            <a:ext cx="1404938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生境面积</a:t>
            </a:r>
            <a:endParaRPr/>
          </a:p>
        </p:txBody>
      </p:sp>
      <p:sp>
        <p:nvSpPr>
          <p:cNvPr id="34" name="text-803">
            <a:extLst>
              <a:ext uri="{FF2B5EF4-FFF2-40B4-BE49-F238E27FC236}">
                <ns2:creationId id="{526EEFD3-E9DB-4FD5-ACFA-CEF106A3C4FD}"/>
              </a:ext>
            </a:extLst>
          </p:cNvPr>
          <p:cNvSpPr>
            <a:spLocks noGrp="1"/>
          </p:cNvSpPr>
          <p:nvPr/>
        </p:nvSpPr>
        <p:spPr>
          <a:xfrm>
            <a:off x="6257925" y="4474921"/>
            <a:ext cx="1404938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隔离程度</a:t>
            </a:r>
            <a:endParaRPr/>
          </a:p>
        </p:txBody>
      </p:sp>
      <p:sp>
        <p:nvSpPr>
          <p:cNvPr id="35" name="text-804">
            <a:extLst>
              <a:ext uri="{FF2B5EF4-FFF2-40B4-BE49-F238E27FC236}">
                <ns2:creationId id="{46F62FE8-8F48-4548-A387-C5DFEE87C019}"/>
              </a:ext>
            </a:extLst>
          </p:cNvPr>
          <p:cNvSpPr>
            <a:spLocks noGrp="1"/>
          </p:cNvSpPr>
          <p:nvPr/>
        </p:nvSpPr>
        <p:spPr>
          <a:xfrm>
            <a:off x="6257925" y="4748327"/>
            <a:ext cx="1404938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植被覆盖</a:t>
            </a:r>
            <a:endParaRPr/>
          </a:p>
        </p:txBody>
      </p:sp>
      <p:sp>
        <p:nvSpPr>
          <p:cNvPr id="36" name="text-805">
            <a:extLst>
              <a:ext uri="{FF2B5EF4-FFF2-40B4-BE49-F238E27FC236}">
                <ns2:creationId id="{CAA911A2-F636-492E-B874-1CBE6C41426B}"/>
              </a:ext>
            </a:extLst>
          </p:cNvPr>
          <p:cNvSpPr>
            <a:spLocks noGrp="1"/>
          </p:cNvSpPr>
          <p:nvPr/>
        </p:nvSpPr>
        <p:spPr>
          <a:xfrm>
            <a:off x="6257925" y="5021732"/>
            <a:ext cx="1404938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人为干扰</a:t>
            </a:r>
            <a:endParaRPr/>
          </a:p>
        </p:txBody>
      </p:sp>
      <p:sp>
        <p:nvSpPr>
          <p:cNvPr id="37" name="text-806">
            <a:extLst>
              <a:ext uri="{FF2B5EF4-FFF2-40B4-BE49-F238E27FC236}">
                <ns2:creationId id="{7A5BDBF0-3C36-41B2-BF5D-AA4A48C59BB3}"/>
              </a:ext>
            </a:extLst>
          </p:cNvPr>
          <p:cNvSpPr>
            <a:spLocks noGrp="1"/>
          </p:cNvSpPr>
          <p:nvPr/>
        </p:nvSpPr>
        <p:spPr>
          <a:xfrm>
            <a:off x="8056245" y="5715000"/>
            <a:ext cx="280987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标准化效应值</a:t>
            </a:r>
            <a:endParaRPr/>
          </a:p>
        </p:txBody>
      </p:sp>
      <p:sp>
        <p:nvSpPr>
          <p:cNvPr id="38" name="shape-807">
            <a:extLst>
              <a:ext uri="{FF2B5EF4-FFF2-40B4-BE49-F238E27FC236}">
                <ns2:creationId id="{B5D12D88-A4B1-4758-A177-9F7FF6A82C92}"/>
              </a:ext>
            </a:extLst>
          </p:cNvPr>
          <p:cNvSpPr>
            <a:spLocks noGrp="1"/>
          </p:cNvSpPr>
          <p:nvPr/>
        </p:nvSpPr>
        <p:spPr>
          <a:xfrm>
            <a:off x="228600" y="6219825"/>
            <a:ext cx="11734800" cy="323850"/>
          </a:xfrm>
          <a:prstGeom prst="roundRect">
            <a:avLst>
              <a:gd name="adj" fmla="val 23529"/>
            </a:avLst>
          </a:prstGeom>
          <a:solidFill>
            <a:srgbClr val="F0EEF7"/>
          </a:solidFill>
          <a:ln w="0">
            <a:noFill/>
            <a:prstDash val="solid"/>
          </a:ln>
        </p:spPr>
      </p:sp>
      <p:sp>
        <p:nvSpPr>
          <p:cNvPr id="39" name="text-808">
            <a:extLst>
              <a:ext uri="{FF2B5EF4-FFF2-40B4-BE49-F238E27FC236}">
                <ns2:creationId id="{1DED5E77-6EB0-4AE7-B0A4-2D6AF34EC779}"/>
              </a:ext>
            </a:extLst>
          </p:cNvPr>
          <p:cNvSpPr>
            <a:spLocks noGrp="1"/>
          </p:cNvSpPr>
          <p:nvPr/>
        </p:nvSpPr>
        <p:spPr>
          <a:xfrm>
            <a:off x="361950" y="6257925"/>
            <a:ext cx="114681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rPr>
              <a:t>读图顺序：趋势 → 组间差异 → 动态 → 不确定性</a:t>
            </a:r>
            <a:endParaRPr/>
          </a:p>
        </p:txBody>
      </p:sp>
      <p:sp>
        <p:nvSpPr>
          <p:cNvPr id="40" name="text-809">
            <a:extLst>
              <a:ext uri="{FF2B5EF4-FFF2-40B4-BE49-F238E27FC236}">
                <ns2:creationId id="{1DA97AB6-8004-4A38-A338-5803F862D2D7}"/>
              </a:ext>
            </a:extLst>
          </p:cNvPr>
          <p:cNvSpPr>
            <a:spLocks noGrp="1"/>
          </p:cNvSpPr>
          <p:nvPr/>
        </p:nvSpPr>
        <p:spPr>
          <a:xfrm>
            <a:off x="228600" y="6619875"/>
            <a:ext cx="1057275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41" name="text-810">
            <a:extLst>
              <a:ext uri="{FF2B5EF4-FFF2-40B4-BE49-F238E27FC236}">
                <ns2:creationId id="{DA94209C-B64C-43A7-849E-88E3A32FD531}"/>
              </a:ext>
            </a:extLst>
          </p:cNvPr>
          <p:cNvSpPr>
            <a:spLocks noGrp="1"/>
          </p:cNvSpPr>
          <p:nvPr/>
        </p:nvSpPr>
        <p:spPr>
          <a:xfrm>
            <a:off x="11525250" y="6591300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rPr>
              <a:t>05</a:t>
            </a:r>
            <a:endParaRPr/>
          </a:p>
        </p:txBody>
      </p:sp>
    </p:spTree>
    <p:extLst>
      <p:ext uri="{BB962C8B-B14F-4D97-AF65-F5344CB8AC3E}">
        <ns5:creationId val="563918454"/>
      </p:ext>
    </p:extLst>
  </p:cSld>
</p:sld>
</file>

<file path=ppt/slides/slide6.xml><?xml version="1.0" encoding="utf-8"?>
<p:sld xmlns:a="http://schemas.openxmlformats.org/drawingml/2006/main" xmlns:c="http://schemas.openxmlformats.org/drawingml/2006/chart" xmlns:ns2="http://schemas.microsoft.com/office/drawing/2014/main" xmlns:ns5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42" name="text-774">
            <a:extLst>
              <a:ext uri="{FF2B5EF4-FFF2-40B4-BE49-F238E27FC236}">
                <ns2:creationId id="{870151DE-162C-4E36-9A2A-BDBE388A5215}"/>
              </a:ext>
            </a:extLst>
          </p:cNvPr>
          <p:cNvSpPr>
            <a:spLocks noGrp="1"/>
          </p:cNvSpPr>
          <p:nvPr/>
        </p:nvSpPr>
        <p:spPr>
          <a:xfrm>
            <a:off x="228600" y="152400"/>
            <a:ext cx="11734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700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700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700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700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700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700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700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700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700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700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700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rPr>
              <a:t>配色样板｜湖蓝珊瑚</a:t>
            </a:r>
            <a:endParaRPr/>
          </a:p>
        </p:txBody>
      </p:sp>
      <p:sp>
        <p:nvSpPr>
          <p:cNvPr id="2" name="line-775">
            <a:extLst>
              <a:ext uri="{FF2B5EF4-FFF2-40B4-BE49-F238E27FC236}">
                <ns2:creationId id="{623A8942-9983-4DAC-90FE-5824285F49AD}"/>
              </a:ext>
            </a:extLst>
          </p:cNvPr>
          <p:cNvSpPr>
            <a:spLocks noGrp="1"/>
          </p:cNvSpPr>
          <p:nvPr/>
        </p:nvSpPr>
        <p:spPr>
          <a:xfrm>
            <a:off x="228600" y="695325"/>
            <a:ext cx="11734800" cy="95"/>
          </a:xfrm>
          <a:prstGeom prst="line">
            <a:avLst/>
          </a:prstGeom>
          <a:noFill/>
          <a:ln w="16193">
            <a:solidFill>
              <a:srgbClr val="087F9A"/>
            </a:solidFill>
            <a:prstDash val="solid"/>
          </a:ln>
        </p:spPr>
      </p:sp>
      <p:sp>
        <p:nvSpPr>
          <p:cNvPr id="3" name="shape-776">
            <a:extLst>
              <a:ext uri="{FF2B5EF4-FFF2-40B4-BE49-F238E27FC236}">
                <ns2:creationId id="{6238D9A9-05A6-4EA9-BFBE-DB3046E5407F}"/>
              </a:ext>
            </a:extLst>
          </p:cNvPr>
          <p:cNvSpPr>
            <a:spLocks noGrp="1"/>
          </p:cNvSpPr>
          <p:nvPr/>
        </p:nvSpPr>
        <p:spPr>
          <a:xfrm>
            <a:off x="228600" y="885825"/>
            <a:ext cx="5781675" cy="247650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D5E9EE"/>
            </a:solidFill>
            <a:prstDash val="solid"/>
          </a:ln>
        </p:spPr>
      </p:sp>
      <p:sp>
        <p:nvSpPr>
          <p:cNvPr id="4" name="shape-777">
            <a:extLst>
              <a:ext uri="{FF2B5EF4-FFF2-40B4-BE49-F238E27FC236}">
                <ns2:creationId id="{B09C51B1-8A13-401C-B166-4699434CCEFC}"/>
              </a:ext>
            </a:extLst>
          </p:cNvPr>
          <p:cNvSpPr>
            <a:spLocks noGrp="1"/>
          </p:cNvSpPr>
          <p:nvPr/>
        </p:nvSpPr>
        <p:spPr>
          <a:xfrm>
            <a:off x="238125" y="895350"/>
            <a:ext cx="5762625" cy="361950"/>
          </a:xfrm>
          <a:prstGeom prst="roundRect">
            <a:avLst>
              <a:gd name="adj" fmla="val 21053"/>
            </a:avLst>
          </a:prstGeom>
          <a:solidFill>
            <a:srgbClr val="EFF8FB"/>
          </a:solidFill>
          <a:ln w="0">
            <a:noFill/>
            <a:prstDash val="solid"/>
          </a:ln>
        </p:spPr>
      </p:sp>
      <p:sp>
        <p:nvSpPr>
          <p:cNvPr id="5" name="shape-778">
            <a:extLst>
              <a:ext uri="{FF2B5EF4-FFF2-40B4-BE49-F238E27FC236}">
                <ns2:creationId id="{94701B7F-21F9-4E64-8428-0350248872A3}"/>
              </a:ext>
            </a:extLst>
          </p:cNvPr>
          <p:cNvSpPr>
            <a:spLocks noGrp="1"/>
          </p:cNvSpPr>
          <p:nvPr/>
        </p:nvSpPr>
        <p:spPr>
          <a:xfrm>
            <a:off x="323850" y="933450"/>
            <a:ext cx="276225" cy="276225"/>
          </a:xfrm>
          <a:prstGeom prst="ellipse">
            <a:avLst/>
          </a:prstGeom>
          <a:solidFill>
            <a:srgbClr val="087F9A"/>
          </a:solidFill>
          <a:ln w="0">
            <a:noFill/>
            <a:prstDash val="solid"/>
          </a:ln>
        </p:spPr>
      </p:sp>
      <p:sp>
        <p:nvSpPr>
          <p:cNvPr id="6" name="text-779">
            <a:extLst>
              <a:ext uri="{FF2B5EF4-FFF2-40B4-BE49-F238E27FC236}">
                <ns2:creationId id="{B01030CA-E107-4642-B10D-7DD8AC610DDD}"/>
              </a:ext>
            </a:extLst>
          </p:cNvPr>
          <p:cNvSpPr>
            <a:spLocks noGrp="1"/>
          </p:cNvSpPr>
          <p:nvPr/>
        </p:nvSpPr>
        <p:spPr>
          <a:xfrm>
            <a:off x="323850" y="933450"/>
            <a:ext cx="27622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A</a:t>
            </a:r>
          </a:p>
        </p:txBody>
      </p:sp>
      <p:sp>
        <p:nvSpPr>
          <p:cNvPr id="7" name="text-780">
            <a:extLst>
              <a:ext uri="{FF2B5EF4-FFF2-40B4-BE49-F238E27FC236}">
                <ns2:creationId id="{D47D1E79-4C6E-499F-BB3E-8D46299274B6}"/>
              </a:ext>
            </a:extLst>
          </p:cNvPr>
          <p:cNvSpPr>
            <a:spLocks noGrp="1"/>
          </p:cNvSpPr>
          <p:nvPr/>
        </p:nvSpPr>
        <p:spPr>
          <a:xfrm>
            <a:off x="714375" y="942975"/>
            <a:ext cx="514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rPr>
              <a:t>丰富度沿梯度变化</a:t>
            </a:r>
            <a:endParaRPr/>
          </a:p>
        </p:txBody>
      </p:sp>
      <p:graphicFrame>
        <p:nvGraphicFramePr>
          <p:cNvPr id="8" name="Chart">
            <a:extLst>
              <a:ext uri="{FF2B5EF4-FFF2-40B4-BE49-F238E27FC236}">
                <ns2:creationId id="{9456CB77-0FB2-4A66-BD08-7370CB22A5E3}"/>
              </a:ext>
            </a:extLst>
          </p:cNvPr>
          <p:cNvGraphicFramePr/>
          <p:nvPr/>
        </p:nvGraphicFramePr>
        <p:xfrm>
          <a:off x="304800" y="1314450"/>
          <a:ext cx="5619750" cy="1981200"/>
        </p:xfrm>
        <a:graphic>
          <a:graphicData uri="http://schemas.openxmlformats.org/drawingml/2006/chart">
            <c:chart r:id="R0f90f39fb5cf47f3"/>
          </a:graphicData>
        </a:graphic>
      </p:graphicFrame>
      <p:sp>
        <p:nvSpPr>
          <p:cNvPr id="9" name="text-781">
            <a:extLst>
              <a:ext uri="{FF2B5EF4-FFF2-40B4-BE49-F238E27FC236}">
                <ns2:creationId id="{A492B5C0-6C8E-476A-A0FF-2B8B824EFB96}"/>
              </a:ext>
            </a:extLst>
          </p:cNvPr>
          <p:cNvSpPr>
            <a:spLocks noGrp="1"/>
          </p:cNvSpPr>
          <p:nvPr/>
        </p:nvSpPr>
        <p:spPr>
          <a:xfrm>
            <a:off x="2103120" y="3105150"/>
            <a:ext cx="280987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干扰强度</a:t>
            </a:r>
            <a:endParaRPr/>
          </a:p>
        </p:txBody>
      </p:sp>
      <p:sp>
        <p:nvSpPr>
          <p:cNvPr id="10" name="shape-782">
            <a:extLst>
              <a:ext uri="{FF2B5EF4-FFF2-40B4-BE49-F238E27FC236}">
                <ns2:creationId id="{954A65F0-59E1-44F4-9F44-63E470FB03CB}"/>
              </a:ext>
            </a:extLst>
          </p:cNvPr>
          <p:cNvSpPr>
            <a:spLocks noGrp="1"/>
          </p:cNvSpPr>
          <p:nvPr/>
        </p:nvSpPr>
        <p:spPr>
          <a:xfrm>
            <a:off x="6181725" y="885825"/>
            <a:ext cx="5781675" cy="247650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D5E9EE"/>
            </a:solidFill>
            <a:prstDash val="solid"/>
          </a:ln>
        </p:spPr>
      </p:sp>
      <p:sp>
        <p:nvSpPr>
          <p:cNvPr id="11" name="shape-783">
            <a:extLst>
              <a:ext uri="{FF2B5EF4-FFF2-40B4-BE49-F238E27FC236}">
                <ns2:creationId id="{E91F6EEF-201E-45C6-ADFE-3A13A329382C}"/>
              </a:ext>
            </a:extLst>
          </p:cNvPr>
          <p:cNvSpPr>
            <a:spLocks noGrp="1"/>
          </p:cNvSpPr>
          <p:nvPr/>
        </p:nvSpPr>
        <p:spPr>
          <a:xfrm>
            <a:off x="6191250" y="895350"/>
            <a:ext cx="5762625" cy="361950"/>
          </a:xfrm>
          <a:prstGeom prst="roundRect">
            <a:avLst>
              <a:gd name="adj" fmla="val 21053"/>
            </a:avLst>
          </a:prstGeom>
          <a:solidFill>
            <a:srgbClr val="EFF8FB"/>
          </a:solidFill>
          <a:ln w="0">
            <a:noFill/>
            <a:prstDash val="solid"/>
          </a:ln>
        </p:spPr>
      </p:sp>
      <p:sp>
        <p:nvSpPr>
          <p:cNvPr id="12" name="shape-784">
            <a:extLst>
              <a:ext uri="{FF2B5EF4-FFF2-40B4-BE49-F238E27FC236}">
                <ns2:creationId id="{9C37406F-6B5F-44F1-875A-02E2692E64C1}"/>
              </a:ext>
            </a:extLst>
          </p:cNvPr>
          <p:cNvSpPr>
            <a:spLocks noGrp="1"/>
          </p:cNvSpPr>
          <p:nvPr/>
        </p:nvSpPr>
        <p:spPr>
          <a:xfrm>
            <a:off x="6276975" y="933450"/>
            <a:ext cx="276225" cy="276225"/>
          </a:xfrm>
          <a:prstGeom prst="ellipse">
            <a:avLst/>
          </a:prstGeom>
          <a:solidFill>
            <a:srgbClr val="087F9A"/>
          </a:solidFill>
          <a:ln w="0">
            <a:noFill/>
            <a:prstDash val="solid"/>
          </a:ln>
        </p:spPr>
      </p:sp>
      <p:sp>
        <p:nvSpPr>
          <p:cNvPr id="13" name="text-785">
            <a:extLst>
              <a:ext uri="{FF2B5EF4-FFF2-40B4-BE49-F238E27FC236}">
                <ns2:creationId id="{5B4A55DB-123D-4A99-A4B8-77B18A40F9C1}"/>
              </a:ext>
            </a:extLst>
          </p:cNvPr>
          <p:cNvSpPr>
            <a:spLocks noGrp="1"/>
          </p:cNvSpPr>
          <p:nvPr/>
        </p:nvSpPr>
        <p:spPr>
          <a:xfrm>
            <a:off x="6276975" y="933450"/>
            <a:ext cx="27622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B</a:t>
            </a:r>
          </a:p>
        </p:txBody>
      </p:sp>
      <p:sp>
        <p:nvSpPr>
          <p:cNvPr id="14" name="text-786">
            <a:extLst>
              <a:ext uri="{FF2B5EF4-FFF2-40B4-BE49-F238E27FC236}">
                <ns2:creationId id="{0731A0D9-0B00-4255-B368-C5548CD183E6}"/>
              </a:ext>
            </a:extLst>
          </p:cNvPr>
          <p:cNvSpPr>
            <a:spLocks noGrp="1"/>
          </p:cNvSpPr>
          <p:nvPr/>
        </p:nvSpPr>
        <p:spPr>
          <a:xfrm>
            <a:off x="6667500" y="942975"/>
            <a:ext cx="514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rPr>
              <a:t>不同生境的群落差异</a:t>
            </a:r>
            <a:endParaRPr/>
          </a:p>
        </p:txBody>
      </p:sp>
      <p:graphicFrame>
        <p:nvGraphicFramePr>
          <p:cNvPr id="15" name="Chart">
            <a:extLst>
              <a:ext uri="{FF2B5EF4-FFF2-40B4-BE49-F238E27FC236}">
                <ns2:creationId id="{7F0206B9-6C09-457D-B465-33EE92A85635}"/>
              </a:ext>
            </a:extLst>
          </p:cNvPr>
          <p:cNvGraphicFramePr/>
          <p:nvPr/>
        </p:nvGraphicFramePr>
        <p:xfrm>
          <a:off x="6257925" y="1314450"/>
          <a:ext cx="5619750" cy="1981200"/>
        </p:xfrm>
        <a:graphic>
          <a:graphicData uri="http://schemas.openxmlformats.org/drawingml/2006/chart">
            <c:chart r:id="R5ffc3bee95974730"/>
          </a:graphicData>
        </a:graphic>
      </p:graphicFrame>
      <p:sp>
        <p:nvSpPr>
          <p:cNvPr id="16" name="shape-787">
            <a:extLst>
              <a:ext uri="{FF2B5EF4-FFF2-40B4-BE49-F238E27FC236}">
                <ns2:creationId id="{1AF9F0CC-C727-4FBF-8DC4-995AA1EF4A6D}"/>
              </a:ext>
            </a:extLst>
          </p:cNvPr>
          <p:cNvSpPr>
            <a:spLocks noGrp="1"/>
          </p:cNvSpPr>
          <p:nvPr/>
        </p:nvSpPr>
        <p:spPr>
          <a:xfrm>
            <a:off x="228600" y="3495675"/>
            <a:ext cx="5781675" cy="247650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D5E9EE"/>
            </a:solidFill>
            <a:prstDash val="solid"/>
          </a:ln>
        </p:spPr>
      </p:sp>
      <p:sp>
        <p:nvSpPr>
          <p:cNvPr id="17" name="shape-788">
            <a:extLst>
              <a:ext uri="{FF2B5EF4-FFF2-40B4-BE49-F238E27FC236}">
                <ns2:creationId id="{BD71EC20-B58A-469C-9E31-70D081983CD4}"/>
              </a:ext>
            </a:extLst>
          </p:cNvPr>
          <p:cNvSpPr>
            <a:spLocks noGrp="1"/>
          </p:cNvSpPr>
          <p:nvPr/>
        </p:nvSpPr>
        <p:spPr>
          <a:xfrm>
            <a:off x="238125" y="3505200"/>
            <a:ext cx="5762625" cy="361950"/>
          </a:xfrm>
          <a:prstGeom prst="roundRect">
            <a:avLst>
              <a:gd name="adj" fmla="val 21053"/>
            </a:avLst>
          </a:prstGeom>
          <a:solidFill>
            <a:srgbClr val="EFF8FB"/>
          </a:solidFill>
          <a:ln w="0">
            <a:noFill/>
            <a:prstDash val="solid"/>
          </a:ln>
        </p:spPr>
      </p:sp>
      <p:sp>
        <p:nvSpPr>
          <p:cNvPr id="18" name="shape-789">
            <a:extLst>
              <a:ext uri="{FF2B5EF4-FFF2-40B4-BE49-F238E27FC236}">
                <ns2:creationId id="{8AA0545D-C63E-48FF-9919-6A3C912B1616}"/>
              </a:ext>
            </a:extLst>
          </p:cNvPr>
          <p:cNvSpPr>
            <a:spLocks noGrp="1"/>
          </p:cNvSpPr>
          <p:nvPr/>
        </p:nvSpPr>
        <p:spPr>
          <a:xfrm>
            <a:off x="323850" y="3543300"/>
            <a:ext cx="276225" cy="276225"/>
          </a:xfrm>
          <a:prstGeom prst="ellipse">
            <a:avLst/>
          </a:prstGeom>
          <a:solidFill>
            <a:srgbClr val="087F9A"/>
          </a:solidFill>
          <a:ln w="0">
            <a:noFill/>
            <a:prstDash val="solid"/>
          </a:ln>
        </p:spPr>
      </p:sp>
      <p:sp>
        <p:nvSpPr>
          <p:cNvPr id="19" name="text-790">
            <a:extLst>
              <a:ext uri="{FF2B5EF4-FFF2-40B4-BE49-F238E27FC236}">
                <ns2:creationId id="{60A4A900-E79C-44C3-9DAE-47ED004E4723}"/>
              </a:ext>
            </a:extLst>
          </p:cNvPr>
          <p:cNvSpPr>
            <a:spLocks noGrp="1"/>
          </p:cNvSpPr>
          <p:nvPr/>
        </p:nvSpPr>
        <p:spPr>
          <a:xfrm>
            <a:off x="323850" y="3543300"/>
            <a:ext cx="27622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C</a:t>
            </a:r>
          </a:p>
        </p:txBody>
      </p:sp>
      <p:sp>
        <p:nvSpPr>
          <p:cNvPr id="20" name="text-791">
            <a:extLst>
              <a:ext uri="{FF2B5EF4-FFF2-40B4-BE49-F238E27FC236}">
                <ns2:creationId id="{BA801818-1268-4883-8A51-AECE03EE1DA0}"/>
              </a:ext>
            </a:extLst>
          </p:cNvPr>
          <p:cNvSpPr>
            <a:spLocks noGrp="1"/>
          </p:cNvSpPr>
          <p:nvPr/>
        </p:nvSpPr>
        <p:spPr>
          <a:xfrm>
            <a:off x="714375" y="3552825"/>
            <a:ext cx="514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rPr>
              <a:t>季节动态</a:t>
            </a:r>
            <a:endParaRPr/>
          </a:p>
        </p:txBody>
      </p:sp>
      <p:graphicFrame>
        <p:nvGraphicFramePr>
          <p:cNvPr id="21" name="Chart">
            <a:extLst>
              <a:ext uri="{FF2B5EF4-FFF2-40B4-BE49-F238E27FC236}">
                <ns2:creationId id="{419FAEFB-A02A-4E65-BAF2-FB1C9B48BE22}"/>
              </a:ext>
            </a:extLst>
          </p:cNvPr>
          <p:cNvGraphicFramePr/>
          <p:nvPr/>
        </p:nvGraphicFramePr>
        <p:xfrm>
          <a:off x="304800" y="3924300"/>
          <a:ext cx="5619750" cy="1981200"/>
        </p:xfrm>
        <a:graphic>
          <a:graphicData uri="http://schemas.openxmlformats.org/drawingml/2006/chart">
            <c:chart r:id="R5911ad34a6c7462d"/>
          </a:graphicData>
        </a:graphic>
      </p:graphicFrame>
      <p:sp>
        <p:nvSpPr>
          <p:cNvPr id="22" name="line-792">
            <a:extLst>
              <a:ext uri="{FF2B5EF4-FFF2-40B4-BE49-F238E27FC236}">
                <ns2:creationId id="{88C43074-E8D9-46A6-9170-4D3647BF5914}"/>
              </a:ext>
            </a:extLst>
          </p:cNvPr>
          <p:cNvSpPr>
            <a:spLocks noGrp="1"/>
          </p:cNvSpPr>
          <p:nvPr/>
        </p:nvSpPr>
        <p:spPr>
          <a:xfrm>
            <a:off x="4781550" y="4124325"/>
            <a:ext cx="209550" cy="95"/>
          </a:xfrm>
          <a:prstGeom prst="line">
            <a:avLst/>
          </a:prstGeom>
          <a:noFill/>
          <a:ln w="19050">
            <a:solidFill>
              <a:srgbClr val="087F9A"/>
            </a:solidFill>
            <a:prstDash val="solid"/>
          </a:ln>
        </p:spPr>
      </p:sp>
      <p:sp>
        <p:nvSpPr>
          <p:cNvPr id="23" name="text-793">
            <a:extLst>
              <a:ext uri="{FF2B5EF4-FFF2-40B4-BE49-F238E27FC236}">
                <ns2:creationId id="{A08CF5A4-363F-4B2B-907D-5754E7601F3B}"/>
              </a:ext>
            </a:extLst>
          </p:cNvPr>
          <p:cNvSpPr>
            <a:spLocks noGrp="1"/>
          </p:cNvSpPr>
          <p:nvPr/>
        </p:nvSpPr>
        <p:spPr>
          <a:xfrm>
            <a:off x="5057775" y="4038600"/>
            <a:ext cx="8382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0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050" b="0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050" b="0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050" b="0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050" b="0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050" b="0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050" b="0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050" b="0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050" b="0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050" b="0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050" b="0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rPr>
              <a:t>情景 A</a:t>
            </a:r>
            <a:endParaRPr/>
          </a:p>
        </p:txBody>
      </p:sp>
      <p:sp>
        <p:nvSpPr>
          <p:cNvPr id="24" name="line-794">
            <a:extLst>
              <a:ext uri="{FF2B5EF4-FFF2-40B4-BE49-F238E27FC236}">
                <ns2:creationId id="{7CF895B8-1DD8-4639-886A-1C5A1D8C42E4}"/>
              </a:ext>
            </a:extLst>
          </p:cNvPr>
          <p:cNvSpPr>
            <a:spLocks noGrp="1"/>
          </p:cNvSpPr>
          <p:nvPr/>
        </p:nvSpPr>
        <p:spPr>
          <a:xfrm>
            <a:off x="4781550" y="4352925"/>
            <a:ext cx="209550" cy="95"/>
          </a:xfrm>
          <a:prstGeom prst="line">
            <a:avLst/>
          </a:prstGeom>
          <a:noFill/>
          <a:ln w="19050">
            <a:solidFill>
              <a:srgbClr val="D15B55"/>
            </a:solidFill>
            <a:prstDash val="solid"/>
          </a:ln>
        </p:spPr>
      </p:sp>
      <p:sp>
        <p:nvSpPr>
          <p:cNvPr id="25" name="text-795">
            <a:extLst>
              <a:ext uri="{FF2B5EF4-FFF2-40B4-BE49-F238E27FC236}">
                <ns2:creationId id="{44E96B68-8185-4A2E-B713-98197F5C6A79}"/>
              </a:ext>
            </a:extLst>
          </p:cNvPr>
          <p:cNvSpPr>
            <a:spLocks noGrp="1"/>
          </p:cNvSpPr>
          <p:nvPr/>
        </p:nvSpPr>
        <p:spPr>
          <a:xfrm>
            <a:off x="5057775" y="4267200"/>
            <a:ext cx="8382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050" b="0">
                <a:solidFill>
                  <a:srgbClr val="D15B55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050" b="0">
                <a:solidFill>
                  <a:srgbClr val="D15B55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050" b="0">
                <a:solidFill>
                  <a:srgbClr val="D15B55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050" b="0">
                <a:solidFill>
                  <a:srgbClr val="D15B55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050" b="0">
                <a:solidFill>
                  <a:srgbClr val="D15B55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050" b="0">
                <a:solidFill>
                  <a:srgbClr val="D15B55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050" b="0">
                <a:solidFill>
                  <a:srgbClr val="D15B55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050" b="0">
                <a:solidFill>
                  <a:srgbClr val="D15B55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050" b="0">
                <a:solidFill>
                  <a:srgbClr val="D15B55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050" b="0">
                <a:solidFill>
                  <a:srgbClr val="D15B55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050" b="0">
                <a:solidFill>
                  <a:srgbClr val="D15B5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D15B55"/>
                </a:solidFill>
                <a:latin typeface="Noto Sans CJK SC"/>
                <a:ea typeface="Noto Sans CJK SC"/>
                <a:cs typeface="Noto Sans CJK SC"/>
              </a:rPr>
              <a:t>情景 B</a:t>
            </a:r>
            <a:endParaRPr/>
          </a:p>
        </p:txBody>
      </p:sp>
      <p:sp>
        <p:nvSpPr>
          <p:cNvPr id="26" name="text-796">
            <a:extLst>
              <a:ext uri="{FF2B5EF4-FFF2-40B4-BE49-F238E27FC236}">
                <ns2:creationId id="{1E2CEC79-B67D-452A-B8F4-80AA0F87D6DD}"/>
              </a:ext>
            </a:extLst>
          </p:cNvPr>
          <p:cNvSpPr>
            <a:spLocks noGrp="1"/>
          </p:cNvSpPr>
          <p:nvPr/>
        </p:nvSpPr>
        <p:spPr>
          <a:xfrm>
            <a:off x="2103120" y="5715000"/>
            <a:ext cx="280987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月份</a:t>
            </a:r>
            <a:endParaRPr/>
          </a:p>
        </p:txBody>
      </p:sp>
      <p:sp>
        <p:nvSpPr>
          <p:cNvPr id="27" name="shape-797">
            <a:extLst>
              <a:ext uri="{FF2B5EF4-FFF2-40B4-BE49-F238E27FC236}">
                <ns2:creationId id="{24F3D4E5-E07C-4F4D-B936-98907F1AA144}"/>
              </a:ext>
            </a:extLst>
          </p:cNvPr>
          <p:cNvSpPr>
            <a:spLocks noGrp="1"/>
          </p:cNvSpPr>
          <p:nvPr/>
        </p:nvSpPr>
        <p:spPr>
          <a:xfrm>
            <a:off x="6181725" y="3495675"/>
            <a:ext cx="5781675" cy="247650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D5E9EE"/>
            </a:solidFill>
            <a:prstDash val="solid"/>
          </a:ln>
        </p:spPr>
      </p:sp>
      <p:sp>
        <p:nvSpPr>
          <p:cNvPr id="28" name="shape-798">
            <a:extLst>
              <a:ext uri="{FF2B5EF4-FFF2-40B4-BE49-F238E27FC236}">
                <ns2:creationId id="{4583CF5F-7439-475C-B649-91E04F05FEB7}"/>
              </a:ext>
            </a:extLst>
          </p:cNvPr>
          <p:cNvSpPr>
            <a:spLocks noGrp="1"/>
          </p:cNvSpPr>
          <p:nvPr/>
        </p:nvSpPr>
        <p:spPr>
          <a:xfrm>
            <a:off x="6191250" y="3505200"/>
            <a:ext cx="5762625" cy="361950"/>
          </a:xfrm>
          <a:prstGeom prst="roundRect">
            <a:avLst>
              <a:gd name="adj" fmla="val 21053"/>
            </a:avLst>
          </a:prstGeom>
          <a:solidFill>
            <a:srgbClr val="EFF8FB"/>
          </a:solidFill>
          <a:ln w="0">
            <a:noFill/>
            <a:prstDash val="solid"/>
          </a:ln>
        </p:spPr>
      </p:sp>
      <p:sp>
        <p:nvSpPr>
          <p:cNvPr id="29" name="shape-799">
            <a:extLst>
              <a:ext uri="{FF2B5EF4-FFF2-40B4-BE49-F238E27FC236}">
                <ns2:creationId id="{62E7BFA5-0730-4B90-9E5A-A032A486B7EE}"/>
              </a:ext>
            </a:extLst>
          </p:cNvPr>
          <p:cNvSpPr>
            <a:spLocks noGrp="1"/>
          </p:cNvSpPr>
          <p:nvPr/>
        </p:nvSpPr>
        <p:spPr>
          <a:xfrm>
            <a:off x="6276975" y="3543300"/>
            <a:ext cx="276225" cy="276225"/>
          </a:xfrm>
          <a:prstGeom prst="ellipse">
            <a:avLst/>
          </a:prstGeom>
          <a:solidFill>
            <a:srgbClr val="087F9A"/>
          </a:solidFill>
          <a:ln w="0">
            <a:noFill/>
            <a:prstDash val="solid"/>
          </a:ln>
        </p:spPr>
      </p:sp>
      <p:sp>
        <p:nvSpPr>
          <p:cNvPr id="30" name="text-800">
            <a:extLst>
              <a:ext uri="{FF2B5EF4-FFF2-40B4-BE49-F238E27FC236}">
                <ns2:creationId id="{D586D7AE-2088-4455-ADC9-B1A8F2AA4EA0}"/>
              </a:ext>
            </a:extLst>
          </p:cNvPr>
          <p:cNvSpPr>
            <a:spLocks noGrp="1"/>
          </p:cNvSpPr>
          <p:nvPr/>
        </p:nvSpPr>
        <p:spPr>
          <a:xfrm>
            <a:off x="6276975" y="3543300"/>
            <a:ext cx="276225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D</a:t>
            </a:r>
          </a:p>
        </p:txBody>
      </p:sp>
      <p:sp>
        <p:nvSpPr>
          <p:cNvPr id="31" name="text-801">
            <a:extLst>
              <a:ext uri="{FF2B5EF4-FFF2-40B4-BE49-F238E27FC236}">
                <ns2:creationId id="{3E4B1D25-FCEC-41E1-9BEC-B2C2A1076C4E}"/>
              </a:ext>
            </a:extLst>
          </p:cNvPr>
          <p:cNvSpPr>
            <a:spLocks noGrp="1"/>
          </p:cNvSpPr>
          <p:nvPr/>
        </p:nvSpPr>
        <p:spPr>
          <a:xfrm>
            <a:off x="6667500" y="3552825"/>
            <a:ext cx="514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rPr>
              <a:t>效应与不确定性</a:t>
            </a:r>
            <a:endParaRPr/>
          </a:p>
        </p:txBody>
      </p:sp>
      <p:graphicFrame>
        <p:nvGraphicFramePr>
          <p:cNvPr id="32" name="Chart">
            <a:extLst>
              <a:ext uri="{FF2B5EF4-FFF2-40B4-BE49-F238E27FC236}">
                <ns2:creationId id="{C76A89B5-85B0-4F52-808E-076BF3306AA8}"/>
              </a:ext>
            </a:extLst>
          </p:cNvPr>
          <p:cNvGraphicFramePr/>
          <p:nvPr/>
        </p:nvGraphicFramePr>
        <p:xfrm>
          <a:off x="6257925" y="3924300"/>
          <a:ext cx="5619750" cy="1981200"/>
        </p:xfrm>
        <a:graphic>
          <a:graphicData uri="http://schemas.openxmlformats.org/drawingml/2006/chart">
            <c:chart r:id="Rffaaf39a0267400e"/>
          </a:graphicData>
        </a:graphic>
      </p:graphicFrame>
      <p:sp>
        <p:nvSpPr>
          <p:cNvPr id="33" name="text-802">
            <a:extLst>
              <a:ext uri="{FF2B5EF4-FFF2-40B4-BE49-F238E27FC236}">
                <ns2:creationId id="{A0C8B234-E2E9-4D15-BDF3-746365A32BA6}"/>
              </a:ext>
            </a:extLst>
          </p:cNvPr>
          <p:cNvSpPr>
            <a:spLocks noGrp="1"/>
          </p:cNvSpPr>
          <p:nvPr/>
        </p:nvSpPr>
        <p:spPr>
          <a:xfrm>
            <a:off x="6257925" y="4201516"/>
            <a:ext cx="1404938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生境面积</a:t>
            </a:r>
            <a:endParaRPr/>
          </a:p>
        </p:txBody>
      </p:sp>
      <p:sp>
        <p:nvSpPr>
          <p:cNvPr id="34" name="text-803">
            <a:extLst>
              <a:ext uri="{FF2B5EF4-FFF2-40B4-BE49-F238E27FC236}">
                <ns2:creationId id="{526EEFD3-E9DB-4FD5-ACFA-CEF106A3C4FD}"/>
              </a:ext>
            </a:extLst>
          </p:cNvPr>
          <p:cNvSpPr>
            <a:spLocks noGrp="1"/>
          </p:cNvSpPr>
          <p:nvPr/>
        </p:nvSpPr>
        <p:spPr>
          <a:xfrm>
            <a:off x="6257925" y="4474921"/>
            <a:ext cx="1404938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隔离程度</a:t>
            </a:r>
            <a:endParaRPr/>
          </a:p>
        </p:txBody>
      </p:sp>
      <p:sp>
        <p:nvSpPr>
          <p:cNvPr id="35" name="text-804">
            <a:extLst>
              <a:ext uri="{FF2B5EF4-FFF2-40B4-BE49-F238E27FC236}">
                <ns2:creationId id="{46F62FE8-8F48-4548-A387-C5DFEE87C019}"/>
              </a:ext>
            </a:extLst>
          </p:cNvPr>
          <p:cNvSpPr>
            <a:spLocks noGrp="1"/>
          </p:cNvSpPr>
          <p:nvPr/>
        </p:nvSpPr>
        <p:spPr>
          <a:xfrm>
            <a:off x="6257925" y="4748327"/>
            <a:ext cx="1404938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植被覆盖</a:t>
            </a:r>
            <a:endParaRPr/>
          </a:p>
        </p:txBody>
      </p:sp>
      <p:sp>
        <p:nvSpPr>
          <p:cNvPr id="36" name="text-805">
            <a:extLst>
              <a:ext uri="{FF2B5EF4-FFF2-40B4-BE49-F238E27FC236}">
                <ns2:creationId id="{CAA911A2-F636-492E-B874-1CBE6C41426B}"/>
              </a:ext>
            </a:extLst>
          </p:cNvPr>
          <p:cNvSpPr>
            <a:spLocks noGrp="1"/>
          </p:cNvSpPr>
          <p:nvPr/>
        </p:nvSpPr>
        <p:spPr>
          <a:xfrm>
            <a:off x="6257925" y="5021732"/>
            <a:ext cx="1404938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人为干扰</a:t>
            </a:r>
            <a:endParaRPr/>
          </a:p>
        </p:txBody>
      </p:sp>
      <p:sp>
        <p:nvSpPr>
          <p:cNvPr id="37" name="text-806">
            <a:extLst>
              <a:ext uri="{FF2B5EF4-FFF2-40B4-BE49-F238E27FC236}">
                <ns2:creationId id="{7A5BDBF0-3C36-41B2-BF5D-AA4A48C59BB3}"/>
              </a:ext>
            </a:extLst>
          </p:cNvPr>
          <p:cNvSpPr>
            <a:spLocks noGrp="1"/>
          </p:cNvSpPr>
          <p:nvPr/>
        </p:nvSpPr>
        <p:spPr>
          <a:xfrm>
            <a:off x="8056245" y="5715000"/>
            <a:ext cx="280987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5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标准化效应值</a:t>
            </a:r>
            <a:endParaRPr/>
          </a:p>
        </p:txBody>
      </p:sp>
      <p:sp>
        <p:nvSpPr>
          <p:cNvPr id="38" name="shape-807">
            <a:extLst>
              <a:ext uri="{FF2B5EF4-FFF2-40B4-BE49-F238E27FC236}">
                <ns2:creationId id="{B5D12D88-A4B1-4758-A177-9F7FF6A82C92}"/>
              </a:ext>
            </a:extLst>
          </p:cNvPr>
          <p:cNvSpPr>
            <a:spLocks noGrp="1"/>
          </p:cNvSpPr>
          <p:nvPr/>
        </p:nvSpPr>
        <p:spPr>
          <a:xfrm>
            <a:off x="228600" y="6219825"/>
            <a:ext cx="11734800" cy="323850"/>
          </a:xfrm>
          <a:prstGeom prst="roundRect">
            <a:avLst>
              <a:gd name="adj" fmla="val 23529"/>
            </a:avLst>
          </a:prstGeom>
          <a:solidFill>
            <a:srgbClr val="EFF8FB"/>
          </a:solidFill>
          <a:ln w="0">
            <a:noFill/>
            <a:prstDash val="solid"/>
          </a:ln>
        </p:spPr>
      </p:sp>
      <p:sp>
        <p:nvSpPr>
          <p:cNvPr id="39" name="text-808">
            <a:extLst>
              <a:ext uri="{FF2B5EF4-FFF2-40B4-BE49-F238E27FC236}">
                <ns2:creationId id="{1DED5E77-6EB0-4AE7-B0A4-2D6AF34EC779}"/>
              </a:ext>
            </a:extLst>
          </p:cNvPr>
          <p:cNvSpPr>
            <a:spLocks noGrp="1"/>
          </p:cNvSpPr>
          <p:nvPr/>
        </p:nvSpPr>
        <p:spPr>
          <a:xfrm>
            <a:off x="361950" y="6257925"/>
            <a:ext cx="114681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087F9A"/>
                </a:solidFill>
                <a:latin typeface="Noto Sans CJK SC"/>
                <a:ea typeface="Noto Sans CJK SC"/>
                <a:cs typeface="Noto Sans CJK SC"/>
              </a:rPr>
              <a:t>读图顺序：趋势 → 组间差异 → 动态 → 不确定性</a:t>
            </a:r>
            <a:endParaRPr/>
          </a:p>
        </p:txBody>
      </p:sp>
      <p:sp>
        <p:nvSpPr>
          <p:cNvPr id="40" name="text-809">
            <a:extLst>
              <a:ext uri="{FF2B5EF4-FFF2-40B4-BE49-F238E27FC236}">
                <ns2:creationId id="{1DA97AB6-8004-4A38-A338-5803F862D2D7}"/>
              </a:ext>
            </a:extLst>
          </p:cNvPr>
          <p:cNvSpPr>
            <a:spLocks noGrp="1"/>
          </p:cNvSpPr>
          <p:nvPr/>
        </p:nvSpPr>
        <p:spPr>
          <a:xfrm>
            <a:off x="228600" y="6619875"/>
            <a:ext cx="1057275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900" b="0">
                <a:solidFill>
                  <a:srgbClr val="6A9DA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900" b="0">
                <a:solidFill>
                  <a:srgbClr val="6A9DA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900" b="0">
                <a:solidFill>
                  <a:srgbClr val="6A9DA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900" b="0">
                <a:solidFill>
                  <a:srgbClr val="6A9DA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900" b="0">
                <a:solidFill>
                  <a:srgbClr val="6A9DA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900" b="0">
                <a:solidFill>
                  <a:srgbClr val="6A9DA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900" b="0">
                <a:solidFill>
                  <a:srgbClr val="6A9DA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900" b="0">
                <a:solidFill>
                  <a:srgbClr val="6A9DA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900" b="0">
                <a:solidFill>
                  <a:srgbClr val="6A9DA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900" b="0">
                <a:solidFill>
                  <a:srgbClr val="6A9D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900" b="0">
                <a:solidFill>
                  <a:srgbClr val="6A9D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00" b="0">
                <a:solidFill>
                  <a:srgbClr val="6A9DAA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41" name="text-810">
            <a:extLst>
              <a:ext uri="{FF2B5EF4-FFF2-40B4-BE49-F238E27FC236}">
                <ns2:creationId id="{DA94209C-B64C-43A7-849E-88E3A32FD531}"/>
              </a:ext>
            </a:extLst>
          </p:cNvPr>
          <p:cNvSpPr>
            <a:spLocks noGrp="1"/>
          </p:cNvSpPr>
          <p:nvPr/>
        </p:nvSpPr>
        <p:spPr>
          <a:xfrm>
            <a:off x="11525250" y="6591300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975" b="0">
                <a:solidFill>
                  <a:srgbClr val="6A9DAA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975" b="0">
                <a:solidFill>
                  <a:srgbClr val="6A9DAA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975" b="0">
                <a:solidFill>
                  <a:srgbClr val="6A9DAA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975" b="0">
                <a:solidFill>
                  <a:srgbClr val="6A9DAA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975" b="0">
                <a:solidFill>
                  <a:srgbClr val="6A9DAA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975" b="0">
                <a:solidFill>
                  <a:srgbClr val="6A9DAA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975" b="0">
                <a:solidFill>
                  <a:srgbClr val="6A9DAA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975" b="0">
                <a:solidFill>
                  <a:srgbClr val="6A9DAA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975" b="0">
                <a:solidFill>
                  <a:srgbClr val="6A9DAA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975" b="0">
                <a:solidFill>
                  <a:srgbClr val="6A9DA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975" b="0">
                <a:solidFill>
                  <a:srgbClr val="6A9DA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 b="0">
                <a:solidFill>
                  <a:srgbClr val="6A9DAA"/>
                </a:solidFill>
                <a:latin typeface="Noto Sans CJK SC"/>
                <a:ea typeface="Noto Sans CJK SC"/>
                <a:cs typeface="Noto Sans CJK SC"/>
              </a:rPr>
              <a:t>06</a:t>
            </a:r>
            <a:endParaRPr/>
          </a:p>
        </p:txBody>
      </p:sp>
    </p:spTree>
    <p:extLst>
      <p:ext uri="{BB962C8B-B14F-4D97-AF65-F5344CB8AC3E}">
        <ns5:creationId val="56391845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Noto Sans CJK SC"/>
        <a:ea typeface=""/>
        <a:cs typeface=""/>
      </a:majorFont>
      <a:minorFont>
        <a:latin typeface="Noto Sans CJK S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ns0:Properties xmlns:ns0="http://schemas.openxmlformats.org/officeDocument/2006/extended-properties">
  <ns0:Application>Walnut Exporter</ns0:Application>
  <ns0:PresentationFormat>Converted Presentation</ns0:PresentationFormat>
  <ns0:Slides>6</ns0:Slides>
  <ns0:Notes>0</ns0:Notes>
  <ns0:HiddenSlides>0</ns0:HiddenSlides>
  <ns0:SharedDoc>false</ns0:SharedDoc>
  <ns0:DocSecurity>0</ns0:DocSecurity>
</ns0:Properties>
</file>

<file path=docProps/core.xml><?xml version="1.0" encoding="utf-8"?>
<ns0:coreProperties xmlns:dc="http://purl.org/dc/elements/1.1/" xmlns:dcterms="http://purl.org/dc/terms/" xmlns:ns0="http://schemas.openxmlformats.org/package/2006/metadata/core-properties" xmlns:xsi="http://www.w3.org/2001/XMLSchema-instance">
  <dc:creator>ScholarFlow contributors</dc:creator>
  <ns0:lastModifiedBy>ScholarFlow contributors</ns0:lastModifiedBy>
  <dc:title>Presentation</dc:title>
  <dcterms:created xsi:type="dcterms:W3CDTF">2026-10-19T12:24:09.8680000Z</dcterms:created>
  <dcterms:modified xsi:type="dcterms:W3CDTF">2026-10-19T12:24:09.8680000Z</dcterms:modified>
</ns0:coreProperties>
</file>