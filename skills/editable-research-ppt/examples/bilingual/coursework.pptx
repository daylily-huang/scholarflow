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8"/>
          <c:w val="0.81"/>
          <c:h val="0.515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4D319F"/>
              </a:solidFill>
              <a:ln w="8890">
                <a:solidFill>
                  <a:srgbClr val="4D319F"/>
                </a:solidFill>
              </a:ln>
            </c:spPr>
          </c:marker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b8ecb1a0f4c347b8" /><Relationship Type="http://schemas.openxmlformats.org/officeDocument/2006/relationships/notesMaster" Target="/ppt/notesMasters/notesMaster1.xml" Id="R1f9ddf8ce2e948fd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1567c83f4b6a4b74" /><Relationship Type="http://schemas.openxmlformats.org/officeDocument/2006/relationships/notesMaster" Target="/ppt/notesMasters/notesMaster1.xml" Id="R0926ce8f21de4b1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本页为合成版式容量与双语测试，不代表真实论文、研究或实验结果。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chart: 本样板人工构造的合成数据，仅测试版式与编辑功能，不代表真实研究。</a:t>
            </a:r>
            <a:endParaRPr/>
          </a:p>
          <a:p>
            <a:r>
              <a:rPr/>
              <a:t>Layout: L1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coursework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本页为合成版式容量与双语测试，不代表真实论文、研究或实验结果。</a:t>
            </a:r>
            <a:endParaRPr/>
          </a:p>
          <a:p>
            <a:r>
              <a:rPr/>
              <a:t>Layout: L4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coursework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0f69ec925464b98" /><Relationship Type="http://schemas.openxmlformats.org/officeDocument/2006/relationships/chart" Target="/ppt/charts/chart1.xml" Id="Rd3976b09d88d407c" /><Relationship Type="http://schemas.openxmlformats.org/officeDocument/2006/relationships/notesSlide" Target="/ppt/notesSlides/notesSlide1.xml" Id="R731d6414eb1540d5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3495a616070428b" /><Relationship Type="http://schemas.openxmlformats.org/officeDocument/2006/relationships/notesSlide" Target="/ppt/notesSlides/notesSlide2.xml" Id="Rece6f4e963464ce2" /></Relationships>
</file>

<file path=ppt/slides/slide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2" name="text-1">
            <a:extLst>
              <a:ext uri="{FF2B5EF4-FFF2-40B4-BE49-F238E27FC236}">
                <ns2:creationId id="{009F0CF5-DB8E-44A1-B702-A1E76773DCAA}"/>
              </a:ext>
            </a:extLst>
          </p:cNvPr>
          <p:cNvSpPr>
            <a:spLocks noGrp="1"/>
          </p:cNvSpPr>
          <p:nvPr/>
        </p:nvSpPr>
        <p:spPr>
          <a:xfrm>
            <a:off x="304800" y="2476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rPr>
              <a:t>从观测记录到模型检验</a:t>
            </a:r>
            <a:endParaRPr/>
          </a:p>
        </p:txBody>
      </p:sp>
      <p:sp>
        <p:nvSpPr>
          <p:cNvPr id="2" name="line-2">
            <a:extLst>
              <a:ext uri="{FF2B5EF4-FFF2-40B4-BE49-F238E27FC236}">
                <ns2:creationId id="{D0558291-98A9-48CE-A150-8887031C1E9A}"/>
              </a:ext>
            </a:extLst>
          </p:cNvPr>
          <p:cNvSpPr>
            <a:spLocks noGrp="1"/>
          </p:cNvSpPr>
          <p:nvPr/>
        </p:nvSpPr>
        <p:spPr>
          <a:xfrm>
            <a:off x="304800" y="819150"/>
            <a:ext cx="11582400" cy="95"/>
          </a:xfrm>
          <a:prstGeom prst="line">
            <a:avLst/>
          </a:prstGeom>
          <a:noFill/>
          <a:ln w="16193">
            <a:solidFill>
              <a:srgbClr val="4D319F"/>
            </a:solidFill>
            <a:prstDash val="solid"/>
          </a:ln>
        </p:spPr>
      </p:sp>
      <p:sp>
        <p:nvSpPr>
          <p:cNvPr id="3" name="panel-3">
            <a:extLst>
              <a:ext uri="{FF2B5EF4-FFF2-40B4-BE49-F238E27FC236}">
                <ns2:creationId id="{CF7E6846-0973-420B-BDFD-FD5DED5F40CE}"/>
              </a:ext>
            </a:extLst>
          </p:cNvPr>
          <p:cNvSpPr>
            <a:spLocks noGrp="1"/>
          </p:cNvSpPr>
          <p:nvPr/>
        </p:nvSpPr>
        <p:spPr>
          <a:xfrm>
            <a:off x="304800" y="971550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4D319F"/>
            </a:solidFill>
            <a:prstDash val="solid"/>
          </a:ln>
        </p:spPr>
      </p:sp>
      <p:sp>
        <p:nvSpPr>
          <p:cNvPr id="4" name="shape-4">
            <a:extLst>
              <a:ext uri="{FF2B5EF4-FFF2-40B4-BE49-F238E27FC236}">
                <ns2:creationId id="{5BE4B42B-7715-4DA8-B5AB-D2B4BD5C7032}"/>
              </a:ext>
            </a:extLst>
          </p:cNvPr>
          <p:cNvSpPr>
            <a:spLocks noGrp="1"/>
          </p:cNvSpPr>
          <p:nvPr/>
        </p:nvSpPr>
        <p:spPr>
          <a:xfrm>
            <a:off x="314201" y="981075"/>
            <a:ext cx="3854532" cy="400050"/>
          </a:xfrm>
          <a:prstGeom prst="rect">
            <a:avLst>
              <a:gd name="adj" fmla="val 19048"/>
            </a:avLst>
          </a:prstGeom>
          <a:solidFill>
            <a:srgbClr val="4D319F"/>
          </a:solidFill>
          <a:ln w="14288" cap="rnd">
            <a:solidFill>
              <a:srgbClr val="4D319F"/>
            </a:solidFill>
            <a:prstDash val="solid"/>
          </a:ln>
        </p:spPr>
      </p:sp>
      <p:sp>
        <p:nvSpPr>
          <p:cNvPr id="152" name="icon-camera-body-152"/>
          <p:cNvSpPr/>
          <p:nvPr/>
        </p:nvSpPr>
        <p:spPr>
          <a:xfrm>
            <a:off x="455221" y="1057275"/>
            <a:ext cx="244434" cy="2476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80"/>
                </a:lnTo>
                <a:lnTo>
                  <a:pt x="200" y="880"/>
                </a:lnTo>
                <a:close/>
              </a:path>
              <a:path w="1000" h="1000">
                <a:moveTo>
                  <a:pt x="320" y="80"/>
                </a:moveTo>
                <a:lnTo>
                  <a:pt x="680" y="80"/>
                </a:lnTo>
                <a:lnTo>
                  <a:pt x="680" y="160"/>
                </a:lnTo>
                <a:lnTo>
                  <a:pt x="320" y="160"/>
                </a:lnTo>
              </a:path>
            </a:pathLst>
          </a:custGeom>
          <a:noFill/>
          <a:ln w="14364" cap="rnd">
            <a:solidFill>
              <a:srgbClr val="FFFFFF"/>
            </a:solidFill>
          </a:ln>
        </p:spPr>
      </p:sp>
      <p:sp>
        <p:nvSpPr>
          <p:cNvPr id="153" name="icon-camera-lens-153"/>
          <p:cNvSpPr/>
          <p:nvPr/>
        </p:nvSpPr>
        <p:spPr>
          <a:xfrm>
            <a:off x="533440" y="1131570"/>
            <a:ext cx="87996" cy="89154"/>
          </a:xfrm>
          <a:prstGeom prst="ellipse">
            <a:avLst/>
          </a:prstGeom>
          <a:noFill/>
          <a:ln w="14364" cap="rnd">
            <a:solidFill>
              <a:srgbClr val="FFFFFF"/>
            </a:solidFill>
          </a:ln>
        </p:spPr>
      </p:sp>
      <p:sp>
        <p:nvSpPr>
          <p:cNvPr id="154" name="icon-camera-lens-154"/>
          <p:cNvSpPr/>
          <p:nvPr/>
        </p:nvSpPr>
        <p:spPr>
          <a:xfrm>
            <a:off x="557883" y="1225677"/>
            <a:ext cx="39109" cy="39624"/>
          </a:xfrm>
          <a:prstGeom prst="ellipse">
            <a:avLst/>
          </a:prstGeom>
          <a:noFill/>
          <a:ln w="14364" cap="rnd">
            <a:solidFill>
              <a:srgbClr val="FFFFFF"/>
            </a:solidFill>
          </a:ln>
        </p:spPr>
      </p:sp>
      <p:sp>
        <p:nvSpPr>
          <p:cNvPr id="9" name="text-9">
            <a:extLst>
              <a:ext uri="{FF2B5EF4-FFF2-40B4-BE49-F238E27FC236}">
                <ns2:creationId id="{D86F1824-E9F3-4194-A361-5DF393AF64F0}"/>
              </a:ext>
            </a:extLst>
          </p:cNvPr>
          <p:cNvSpPr>
            <a:spLocks noGrp="1"/>
          </p:cNvSpPr>
          <p:nvPr/>
        </p:nvSpPr>
        <p:spPr>
          <a:xfrm>
            <a:off x="756062" y="1038225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数据获取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-10">
            <a:extLst>
              <a:ext uri="{FF2B5EF4-FFF2-40B4-BE49-F238E27FC236}">
                <ns2:creationId id="{291BB742-B408-4CD2-958C-8F40779B21F9}"/>
              </a:ext>
            </a:extLst>
          </p:cNvPr>
          <p:cNvSpPr>
            <a:spLocks noGrp="1"/>
          </p:cNvSpPr>
          <p:nvPr/>
        </p:nvSpPr>
        <p:spPr>
          <a:xfrm>
            <a:off x="474023" y="1447800"/>
            <a:ext cx="355369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采集记录 · Records</a:t>
            </a:r>
            <a:endParaRPr/>
          </a:p>
        </p:txBody>
      </p:sp>
      <p:graphicFrame>
        <p:nvGraphicFramePr>
          <p:cNvPr id="19" name="">
            <a:extLst>
              <a:ext uri="{FF2B5EF4-FFF2-40B4-BE49-F238E27FC236}">
                <ns2:creationId id="{8458677B-EE92-4571-B2B2-DB00806FD411}"/>
              </a:ext>
            </a:extLst>
          </p:cNvPr>
          <p:cNvGraphicFramePr/>
          <p:nvPr/>
        </p:nvGraphicFramePr>
        <p:xfrm>
          <a:off x="455221" y="2019300"/>
          <a:ext cx="3572494" cy="685800"/>
        </p:xfrm>
        <a:graphic>
          <a:graphicData uri="http://schemas.openxmlformats.org/drawingml/2006/table">
            <a:tbl>
              <a:tblPr/>
              <a:tblGrid>
                <a:gridCol w="916971"/>
                <a:gridCol w="1804361"/>
                <a:gridCol w="916971"/>
              </a:tblGrid>
              <a:tr h="34290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E1DCEF"/>
                      </a:solidFill>
                      <a:prstDash val="solid"/>
                    </a:lnL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</a:tr>
              <a:tr h="34290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相机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E1DCEF"/>
                      </a:solidFill>
                      <a:prstDash val="solid"/>
                    </a:lnL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物种与位置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panel-19">
            <a:extLst>
              <a:ext uri="{FF2B5EF4-FFF2-40B4-BE49-F238E27FC236}">
                <ns2:creationId id="{A5A83482-C219-47CD-A498-1F10CD443571}"/>
              </a:ext>
            </a:extLst>
          </p:cNvPr>
          <p:cNvSpPr>
            <a:spLocks noGrp="1"/>
          </p:cNvSpPr>
          <p:nvPr/>
        </p:nvSpPr>
        <p:spPr>
          <a:xfrm>
            <a:off x="8013865" y="971550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4D319F"/>
            </a:solidFill>
            <a:prstDash val="solid"/>
          </a:ln>
        </p:spPr>
      </p:sp>
      <p:sp>
        <p:nvSpPr>
          <p:cNvPr id="21" name="shape-20">
            <a:extLst>
              <a:ext uri="{FF2B5EF4-FFF2-40B4-BE49-F238E27FC236}">
                <ns2:creationId id="{AACBB65B-8972-4E49-9417-6A7E008E8774}"/>
              </a:ext>
            </a:extLst>
          </p:cNvPr>
          <p:cNvSpPr>
            <a:spLocks noGrp="1"/>
          </p:cNvSpPr>
          <p:nvPr/>
        </p:nvSpPr>
        <p:spPr>
          <a:xfrm>
            <a:off x="8023266" y="981075"/>
            <a:ext cx="3854532" cy="400050"/>
          </a:xfrm>
          <a:prstGeom prst="rect">
            <a:avLst>
              <a:gd name="adj" fmla="val 19048"/>
            </a:avLst>
          </a:prstGeom>
          <a:solidFill>
            <a:srgbClr val="4D319F"/>
          </a:solidFill>
          <a:ln w="14288" cap="rnd">
            <a:solidFill>
              <a:srgbClr val="4D319F"/>
            </a:solidFill>
            <a:prstDash val="solid"/>
          </a:ln>
        </p:spPr>
      </p:sp>
      <p:sp>
        <p:nvSpPr>
          <p:cNvPr id="158" name="icon-wf-1-158"/>
          <p:cNvSpPr/>
          <p:nvPr/>
        </p:nvSpPr>
        <p:spPr>
          <a:xfrm>
            <a:off x="8156013" y="1096899"/>
            <a:ext cx="63553" cy="64389"/>
          </a:xfrm>
          <a:prstGeom prst="ellipse">
            <a:avLst/>
          </a:prstGeom>
          <a:noFill/>
          <a:ln w="14364" cap="rnd">
            <a:solidFill>
              <a:srgbClr val="FFFFFF"/>
            </a:solidFill>
          </a:ln>
        </p:spPr>
      </p:sp>
      <p:sp>
        <p:nvSpPr>
          <p:cNvPr id="159" name="icon-wf-2-159"/>
          <p:cNvSpPr/>
          <p:nvPr/>
        </p:nvSpPr>
        <p:spPr>
          <a:xfrm>
            <a:off x="8278229" y="1096899"/>
            <a:ext cx="63553" cy="64389"/>
          </a:xfrm>
          <a:prstGeom prst="ellipse">
            <a:avLst/>
          </a:prstGeom>
          <a:noFill/>
          <a:ln w="14364" cap="rnd">
            <a:solidFill>
              <a:srgbClr val="FFFFFF"/>
            </a:solidFill>
          </a:ln>
        </p:spPr>
      </p:sp>
      <p:sp>
        <p:nvSpPr>
          <p:cNvPr id="160" name="icon-wf-3-160"/>
          <p:cNvSpPr/>
          <p:nvPr/>
        </p:nvSpPr>
        <p:spPr>
          <a:xfrm>
            <a:off x="8217121" y="1205865"/>
            <a:ext cx="63553" cy="64389"/>
          </a:xfrm>
          <a:prstGeom prst="ellipse">
            <a:avLst/>
          </a:prstGeom>
          <a:noFill/>
          <a:ln w="14364" cap="rnd">
            <a:solidFill>
              <a:srgbClr val="FFFFFF"/>
            </a:solidFill>
          </a:ln>
        </p:spPr>
      </p:sp>
      <p:sp>
        <p:nvSpPr>
          <p:cNvPr id="161" name="icon-wf-edges-161"/>
          <p:cNvSpPr/>
          <p:nvPr/>
        </p:nvSpPr>
        <p:spPr>
          <a:xfrm>
            <a:off x="8126681" y="1057275"/>
            <a:ext cx="244434" cy="2476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80" y="290"/>
                </a:moveTo>
                <a:lnTo>
                  <a:pt x="620" y="290"/>
                </a:lnTo>
              </a:path>
              <a:path w="1000" h="1000">
                <a:moveTo>
                  <a:pt x="310" y="400"/>
                </a:moveTo>
                <a:lnTo>
                  <a:pt x="430" y="620"/>
                </a:lnTo>
              </a:path>
              <a:path w="1000" h="1000">
                <a:moveTo>
                  <a:pt x="690" y="400"/>
                </a:moveTo>
                <a:lnTo>
                  <a:pt x="570" y="620"/>
                </a:lnTo>
              </a:path>
            </a:pathLst>
          </a:custGeom>
          <a:noFill/>
          <a:ln w="12927" cap="rnd">
            <a:solidFill>
              <a:srgbClr val="FFFFFF"/>
            </a:solidFill>
          </a:ln>
        </p:spPr>
      </p:sp>
      <p:sp>
        <p:nvSpPr>
          <p:cNvPr id="34" name="text-33">
            <a:extLst>
              <a:ext uri="{FF2B5EF4-FFF2-40B4-BE49-F238E27FC236}">
                <ns2:creationId id="{6038650F-23E7-4D5A-88A3-BBF352D72FE6}"/>
              </a:ext>
            </a:extLst>
          </p:cNvPr>
          <p:cNvSpPr>
            <a:spLocks noGrp="1"/>
          </p:cNvSpPr>
          <p:nvPr/>
        </p:nvSpPr>
        <p:spPr>
          <a:xfrm>
            <a:off x="8465127" y="1038225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模型分析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" name="text-34">
            <a:extLst>
              <a:ext uri="{FF2B5EF4-FFF2-40B4-BE49-F238E27FC236}">
                <ns2:creationId id="{710C4843-9125-49EE-80B4-C821E97CFDEB}"/>
              </a:ext>
            </a:extLst>
          </p:cNvPr>
          <p:cNvSpPr>
            <a:spLocks noGrp="1"/>
          </p:cNvSpPr>
          <p:nvPr/>
        </p:nvSpPr>
        <p:spPr>
          <a:xfrm>
            <a:off x="8183088" y="1447800"/>
            <a:ext cx="3553691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拟合模型 · Models</a:t>
            </a:r>
            <a:endParaRPr/>
          </a:p>
        </p:txBody>
      </p:sp>
      <p:graphicFrame>
        <p:nvGraphicFramePr>
          <p:cNvPr id="48" name="Chart">
            <a:extLst>
              <a:ext uri="{FF2B5EF4-FFF2-40B4-BE49-F238E27FC236}">
                <ns2:creationId id="{54661598-96C5-4A59-B24C-B7C1BF6E452D}"/>
              </a:ext>
            </a:extLst>
          </p:cNvPr>
          <p:cNvGraphicFramePr/>
          <p:nvPr/>
        </p:nvGraphicFramePr>
        <p:xfrm>
          <a:off x="8164286" y="1981200"/>
          <a:ext cx="3591296" cy="1123950"/>
        </p:xfrm>
        <a:graphic>
          <a:graphicData uri="http://schemas.openxmlformats.org/drawingml/2006/chart">
            <c:chart r:id="Rd3976b09d88d407c"/>
          </a:graphicData>
        </a:graphic>
      </p:graphicFrame>
      <p:sp>
        <p:nvSpPr>
          <p:cNvPr id="49" name="text-47">
            <a:extLst>
              <a:ext uri="{FF2B5EF4-FFF2-40B4-BE49-F238E27FC236}">
                <ns2:creationId id="{EE2126A8-D609-4900-9EAB-BEB68BD27349}"/>
              </a:ext>
            </a:extLst>
          </p:cNvPr>
          <p:cNvSpPr>
            <a:spLocks noGrp="1"/>
          </p:cNvSpPr>
          <p:nvPr/>
        </p:nvSpPr>
        <p:spPr>
          <a:xfrm>
            <a:off x="9292442" y="3114675"/>
            <a:ext cx="1598221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预测值</a:t>
            </a:r>
            <a:endParaRPr/>
          </a:p>
        </p:txBody>
      </p:sp>
      <p:sp>
        <p:nvSpPr>
          <p:cNvPr id="50" name="text-48">
            <a:extLst>
              <a:ext uri="{FF2B5EF4-FFF2-40B4-BE49-F238E27FC236}">
                <ns2:creationId id="{6EBCC3F8-5D4B-46BD-8BCE-03D37E198924}"/>
              </a:ext>
            </a:extLst>
          </p:cNvPr>
          <p:cNvSpPr>
            <a:spLocks noGrp="1"/>
          </p:cNvSpPr>
          <p:nvPr/>
        </p:nvSpPr>
        <p:spPr>
          <a:xfrm>
            <a:off x="8183088" y="1828800"/>
            <a:ext cx="141019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观测值</a:t>
            </a:r>
            <a:endParaRPr/>
          </a:p>
        </p:txBody>
      </p:sp>
      <p:sp>
        <p:nvSpPr>
          <p:cNvPr id="51" name="panel-49">
            <a:extLst>
              <a:ext uri="{FF2B5EF4-FFF2-40B4-BE49-F238E27FC236}">
                <ns2:creationId id="{302EBCF8-3653-4B27-B81E-6AF93841C6EA}"/>
              </a:ext>
            </a:extLst>
          </p:cNvPr>
          <p:cNvSpPr>
            <a:spLocks noGrp="1"/>
          </p:cNvSpPr>
          <p:nvPr/>
        </p:nvSpPr>
        <p:spPr>
          <a:xfrm>
            <a:off x="8013865" y="3705225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4D319F"/>
            </a:solidFill>
            <a:prstDash val="solid"/>
          </a:ln>
        </p:spPr>
      </p:sp>
      <p:sp>
        <p:nvSpPr>
          <p:cNvPr id="52" name="shape-50">
            <a:extLst>
              <a:ext uri="{FF2B5EF4-FFF2-40B4-BE49-F238E27FC236}">
                <ns2:creationId id="{11E54686-F990-4F77-BF79-7BCBC5477B7E}"/>
              </a:ext>
            </a:extLst>
          </p:cNvPr>
          <p:cNvSpPr>
            <a:spLocks noGrp="1"/>
          </p:cNvSpPr>
          <p:nvPr/>
        </p:nvSpPr>
        <p:spPr>
          <a:xfrm>
            <a:off x="8023266" y="3714750"/>
            <a:ext cx="3854532" cy="400050"/>
          </a:xfrm>
          <a:prstGeom prst="rect">
            <a:avLst>
              <a:gd name="adj" fmla="val 19048"/>
            </a:avLst>
          </a:prstGeom>
          <a:solidFill>
            <a:srgbClr val="4D319F"/>
          </a:solidFill>
          <a:ln w="14288" cap="rnd">
            <a:solidFill>
              <a:srgbClr val="4D319F"/>
            </a:solidFill>
            <a:prstDash val="solid"/>
          </a:ln>
        </p:spPr>
      </p:sp>
      <p:sp>
        <p:nvSpPr>
          <p:cNvPr id="166" name="icon-check-ring-166"/>
          <p:cNvSpPr/>
          <p:nvPr/>
        </p:nvSpPr>
        <p:spPr>
          <a:xfrm>
            <a:off x="8156013" y="3820668"/>
            <a:ext cx="185770" cy="188214"/>
          </a:xfrm>
          <a:prstGeom prst="ellipse">
            <a:avLst/>
          </a:prstGeom>
          <a:noFill/>
          <a:ln w="14364" cap="rnd">
            <a:solidFill>
              <a:srgbClr val="FFFFFF"/>
            </a:solidFill>
          </a:ln>
        </p:spPr>
      </p:sp>
      <p:sp>
        <p:nvSpPr>
          <p:cNvPr id="167" name="icon-check-mark-167"/>
          <p:cNvSpPr/>
          <p:nvPr/>
        </p:nvSpPr>
        <p:spPr>
          <a:xfrm>
            <a:off x="8126681" y="3790950"/>
            <a:ext cx="244434" cy="2476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16518" cap="rnd">
            <a:solidFill>
              <a:srgbClr val="FFFFFF"/>
            </a:solidFill>
          </a:ln>
        </p:spPr>
      </p:sp>
      <p:sp>
        <p:nvSpPr>
          <p:cNvPr id="56" name="text-54">
            <a:extLst>
              <a:ext uri="{FF2B5EF4-FFF2-40B4-BE49-F238E27FC236}">
                <ns2:creationId id="{495DD67C-F78A-43FB-BD39-F15B922C0505}"/>
              </a:ext>
            </a:extLst>
          </p:cNvPr>
          <p:cNvSpPr>
            <a:spLocks noGrp="1"/>
          </p:cNvSpPr>
          <p:nvPr/>
        </p:nvSpPr>
        <p:spPr>
          <a:xfrm>
            <a:off x="8465127" y="3771900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现场验证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" name="text-55">
            <a:extLst>
              <a:ext uri="{FF2B5EF4-FFF2-40B4-BE49-F238E27FC236}">
                <ns2:creationId id="{3C57777D-BF80-4562-83E8-6C6B1E8D994C}"/>
              </a:ext>
            </a:extLst>
          </p:cNvPr>
          <p:cNvSpPr>
            <a:spLocks noGrp="1"/>
          </p:cNvSpPr>
          <p:nvPr/>
        </p:nvSpPr>
        <p:spPr>
          <a:xfrm>
            <a:off x="8183088" y="4191000"/>
            <a:ext cx="3553691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重复核验 · Checks</a:t>
            </a:r>
            <a:endParaRPr/>
          </a:p>
        </p:txBody>
      </p:sp>
      <p:sp>
        <p:nvSpPr>
          <p:cNvPr id="61" name="shape-59">
            <a:extLst>
              <a:ext uri="{FF2B5EF4-FFF2-40B4-BE49-F238E27FC236}">
                <ns2:creationId id="{B7A63363-4881-44DB-8F20-5F3B22769E38}"/>
              </a:ext>
            </a:extLst>
          </p:cNvPr>
          <p:cNvSpPr>
            <a:spLocks noGrp="1"/>
          </p:cNvSpPr>
          <p:nvPr/>
        </p:nvSpPr>
        <p:spPr>
          <a:xfrm>
            <a:off x="8220694" y="4905375"/>
            <a:ext cx="56408" cy="57150"/>
          </a:xfrm>
          <a:prstGeom prst="rect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62" name="text-60">
            <a:extLst>
              <a:ext uri="{FF2B5EF4-FFF2-40B4-BE49-F238E27FC236}">
                <ns2:creationId id="{DFFF3C4C-439B-413A-8FC4-48D511EBAC25}"/>
              </a:ext>
            </a:extLst>
          </p:cNvPr>
          <p:cNvSpPr>
            <a:spLocks noGrp="1"/>
          </p:cNvSpPr>
          <p:nvPr/>
        </p:nvSpPr>
        <p:spPr>
          <a:xfrm>
            <a:off x="8371114" y="4800600"/>
            <a:ext cx="334686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样地复测</a:t>
            </a:r>
            <a:endParaRPr/>
          </a:p>
        </p:txBody>
      </p:sp>
      <p:sp>
        <p:nvSpPr>
          <p:cNvPr id="63" name="shape-61">
            <a:extLst>
              <a:ext uri="{FF2B5EF4-FFF2-40B4-BE49-F238E27FC236}">
                <ns2:creationId id="{B7AFF510-FAFC-4168-972C-C848C8D64628}"/>
              </a:ext>
            </a:extLst>
          </p:cNvPr>
          <p:cNvSpPr>
            <a:spLocks noGrp="1"/>
          </p:cNvSpPr>
          <p:nvPr/>
        </p:nvSpPr>
        <p:spPr>
          <a:xfrm>
            <a:off x="8220694" y="5267325"/>
            <a:ext cx="56408" cy="57150"/>
          </a:xfrm>
          <a:prstGeom prst="rect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64" name="text-62">
            <a:extLst>
              <a:ext uri="{FF2B5EF4-FFF2-40B4-BE49-F238E27FC236}">
                <ns2:creationId id="{34F8A7C4-2B06-4300-980C-DE26084B5F46}"/>
              </a:ext>
            </a:extLst>
          </p:cNvPr>
          <p:cNvSpPr>
            <a:spLocks noGrp="1"/>
          </p:cNvSpPr>
          <p:nvPr/>
        </p:nvSpPr>
        <p:spPr>
          <a:xfrm>
            <a:off x="8371114" y="5162550"/>
            <a:ext cx="334686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保留差异记录</a:t>
            </a:r>
            <a:endParaRPr/>
          </a:p>
        </p:txBody>
      </p:sp>
      <p:sp>
        <p:nvSpPr>
          <p:cNvPr id="65" name="shape-63">
            <a:extLst>
              <a:ext uri="{FF2B5EF4-FFF2-40B4-BE49-F238E27FC236}">
                <ns2:creationId id="{A7DE66B6-DFEA-4757-BDC7-ED7CF332CA49}"/>
              </a:ext>
            </a:extLst>
          </p:cNvPr>
          <p:cNvSpPr>
            <a:spLocks noGrp="1"/>
          </p:cNvSpPr>
          <p:nvPr/>
        </p:nvSpPr>
        <p:spPr>
          <a:xfrm>
            <a:off x="8220694" y="5629275"/>
            <a:ext cx="56408" cy="57150"/>
          </a:xfrm>
          <a:prstGeom prst="rect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66" name="text-64">
            <a:extLst>
              <a:ext uri="{FF2B5EF4-FFF2-40B4-BE49-F238E27FC236}">
                <ns2:creationId id="{B2D059F4-63B5-4C80-92ED-D6926EB1F01B}"/>
              </a:ext>
            </a:extLst>
          </p:cNvPr>
          <p:cNvSpPr>
            <a:spLocks noGrp="1"/>
          </p:cNvSpPr>
          <p:nvPr/>
        </p:nvSpPr>
        <p:spPr>
          <a:xfrm>
            <a:off x="8371114" y="5524500"/>
            <a:ext cx="334686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核对检测过程</a:t>
            </a:r>
            <a:endParaRPr/>
          </a:p>
        </p:txBody>
      </p:sp>
      <p:sp>
        <p:nvSpPr>
          <p:cNvPr id="67" name="panel-65">
            <a:extLst>
              <a:ext uri="{FF2B5EF4-FFF2-40B4-BE49-F238E27FC236}">
                <ns2:creationId id="{DFD29F82-4215-4480-8DEE-18EC4786A24F}"/>
              </a:ext>
            </a:extLst>
          </p:cNvPr>
          <p:cNvSpPr>
            <a:spLocks noGrp="1"/>
          </p:cNvSpPr>
          <p:nvPr/>
        </p:nvSpPr>
        <p:spPr>
          <a:xfrm>
            <a:off x="304800" y="3705225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4D319F"/>
            </a:solidFill>
            <a:prstDash val="solid"/>
          </a:ln>
        </p:spPr>
      </p:sp>
      <p:sp>
        <p:nvSpPr>
          <p:cNvPr id="68" name="shape-66">
            <a:extLst>
              <a:ext uri="{FF2B5EF4-FFF2-40B4-BE49-F238E27FC236}">
                <ns2:creationId id="{8FA50A07-31FE-46B1-A2BF-A91EFF0C3893}"/>
              </a:ext>
            </a:extLst>
          </p:cNvPr>
          <p:cNvSpPr>
            <a:spLocks noGrp="1"/>
          </p:cNvSpPr>
          <p:nvPr/>
        </p:nvSpPr>
        <p:spPr>
          <a:xfrm>
            <a:off x="314201" y="3714750"/>
            <a:ext cx="3854532" cy="400050"/>
          </a:xfrm>
          <a:prstGeom prst="rect">
            <a:avLst>
              <a:gd name="adj" fmla="val 19048"/>
            </a:avLst>
          </a:prstGeom>
          <a:solidFill>
            <a:srgbClr val="4D319F"/>
          </a:solidFill>
          <a:ln w="14288" cap="rnd">
            <a:solidFill>
              <a:srgbClr val="4D319F"/>
            </a:solidFill>
            <a:prstDash val="solid"/>
          </a:ln>
        </p:spPr>
      </p:sp>
      <p:sp>
        <p:nvSpPr>
          <p:cNvPr id="170" name="icon-doc-170"/>
          <p:cNvSpPr/>
          <p:nvPr/>
        </p:nvSpPr>
        <p:spPr>
          <a:xfrm>
            <a:off x="436418" y="3790950"/>
            <a:ext cx="244434" cy="2476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60"/>
                </a:lnTo>
                <a:lnTo>
                  <a:pt x="200" y="860"/>
                </a:lnTo>
                <a:close/>
              </a:path>
              <a:path w="1000" h="1000">
                <a:moveTo>
                  <a:pt x="320" y="360"/>
                </a:moveTo>
                <a:lnTo>
                  <a:pt x="680" y="360"/>
                </a:lnTo>
              </a:path>
              <a:path w="1000" h="1000">
                <a:moveTo>
                  <a:pt x="320" y="520"/>
                </a:moveTo>
                <a:lnTo>
                  <a:pt x="680" y="520"/>
                </a:lnTo>
              </a:path>
              <a:path w="1000" h="1000">
                <a:moveTo>
                  <a:pt x="320" y="680"/>
                </a:moveTo>
                <a:lnTo>
                  <a:pt x="560" y="680"/>
                </a:lnTo>
              </a:path>
            </a:pathLst>
          </a:custGeom>
          <a:noFill/>
          <a:ln w="14364" cap="rnd">
            <a:solidFill>
              <a:srgbClr val="FFFFFF"/>
            </a:solidFill>
          </a:ln>
        </p:spPr>
      </p:sp>
      <p:sp>
        <p:nvSpPr>
          <p:cNvPr id="80" name="text-78">
            <a:extLst>
              <a:ext uri="{FF2B5EF4-FFF2-40B4-BE49-F238E27FC236}">
                <ns2:creationId id="{256A5AD0-3321-4130-932C-0BC42FE64245}"/>
              </a:ext>
            </a:extLst>
          </p:cNvPr>
          <p:cNvSpPr>
            <a:spLocks noGrp="1"/>
          </p:cNvSpPr>
          <p:nvPr/>
        </p:nvSpPr>
        <p:spPr>
          <a:xfrm>
            <a:off x="756062" y="3771900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反馈修订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1" name="text-79">
            <a:extLst>
              <a:ext uri="{FF2B5EF4-FFF2-40B4-BE49-F238E27FC236}">
                <ns2:creationId id="{AC3D61C5-8052-46B4-9AE5-2C0500D9803B}"/>
              </a:ext>
            </a:extLst>
          </p:cNvPr>
          <p:cNvSpPr>
            <a:spLocks noGrp="1"/>
          </p:cNvSpPr>
          <p:nvPr/>
        </p:nvSpPr>
        <p:spPr>
          <a:xfrm>
            <a:off x="474023" y="4191000"/>
            <a:ext cx="3553691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修订设计 · Design</a:t>
            </a:r>
            <a:endParaRPr/>
          </a:p>
        </p:txBody>
      </p:sp>
      <p:sp>
        <p:nvSpPr>
          <p:cNvPr id="93" name="shape-91">
            <a:extLst>
              <a:ext uri="{FF2B5EF4-FFF2-40B4-BE49-F238E27FC236}">
                <ns2:creationId id="{C5E190D2-357A-41C6-9238-F065F8F4EF2C}"/>
              </a:ext>
            </a:extLst>
          </p:cNvPr>
          <p:cNvSpPr>
            <a:spLocks noGrp="1"/>
          </p:cNvSpPr>
          <p:nvPr/>
        </p:nvSpPr>
        <p:spPr>
          <a:xfrm>
            <a:off x="511629" y="4905375"/>
            <a:ext cx="56408" cy="57150"/>
          </a:xfrm>
          <a:prstGeom prst="rect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94" name="text-92">
            <a:extLst>
              <a:ext uri="{FF2B5EF4-FFF2-40B4-BE49-F238E27FC236}">
                <ns2:creationId id="{E21A2C38-31E5-4F06-BA17-A0BDCF476379}"/>
              </a:ext>
            </a:extLst>
          </p:cNvPr>
          <p:cNvSpPr>
            <a:spLocks noGrp="1"/>
          </p:cNvSpPr>
          <p:nvPr/>
        </p:nvSpPr>
        <p:spPr>
          <a:xfrm>
            <a:off x="662049" y="4800600"/>
            <a:ext cx="334686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优化采样设计</a:t>
            </a:r>
            <a:endParaRPr/>
          </a:p>
        </p:txBody>
      </p:sp>
      <p:sp>
        <p:nvSpPr>
          <p:cNvPr id="95" name="shape-93">
            <a:extLst>
              <a:ext uri="{FF2B5EF4-FFF2-40B4-BE49-F238E27FC236}">
                <ns2:creationId id="{455CB8E3-05BA-4C50-9A96-660607911637}"/>
              </a:ext>
            </a:extLst>
          </p:cNvPr>
          <p:cNvSpPr>
            <a:spLocks noGrp="1"/>
          </p:cNvSpPr>
          <p:nvPr/>
        </p:nvSpPr>
        <p:spPr>
          <a:xfrm>
            <a:off x="511629" y="5267325"/>
            <a:ext cx="56408" cy="57150"/>
          </a:xfrm>
          <a:prstGeom prst="rect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96" name="text-94">
            <a:extLst>
              <a:ext uri="{FF2B5EF4-FFF2-40B4-BE49-F238E27FC236}">
                <ns2:creationId id="{4E2DE427-6C32-45DC-B151-623046FD1CE3}"/>
              </a:ext>
            </a:extLst>
          </p:cNvPr>
          <p:cNvSpPr>
            <a:spLocks noGrp="1"/>
          </p:cNvSpPr>
          <p:nvPr/>
        </p:nvSpPr>
        <p:spPr>
          <a:xfrm>
            <a:off x="662049" y="5162550"/>
            <a:ext cx="334686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补充关键样点</a:t>
            </a:r>
            <a:endParaRPr/>
          </a:p>
        </p:txBody>
      </p:sp>
      <p:sp>
        <p:nvSpPr>
          <p:cNvPr id="97" name="shape-95">
            <a:extLst>
              <a:ext uri="{FF2B5EF4-FFF2-40B4-BE49-F238E27FC236}">
                <ns2:creationId id="{29EEB060-ADA6-46D0-BA13-52E6BF4C20CB}"/>
              </a:ext>
            </a:extLst>
          </p:cNvPr>
          <p:cNvSpPr>
            <a:spLocks noGrp="1"/>
          </p:cNvSpPr>
          <p:nvPr/>
        </p:nvSpPr>
        <p:spPr>
          <a:xfrm>
            <a:off x="511629" y="5629275"/>
            <a:ext cx="56408" cy="57150"/>
          </a:xfrm>
          <a:prstGeom prst="rect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98" name="text-96">
            <a:extLst>
              <a:ext uri="{FF2B5EF4-FFF2-40B4-BE49-F238E27FC236}">
                <ns2:creationId id="{5FB95575-380A-4F0F-B52C-339D610B71E0}"/>
              </a:ext>
            </a:extLst>
          </p:cNvPr>
          <p:cNvSpPr>
            <a:spLocks noGrp="1"/>
          </p:cNvSpPr>
          <p:nvPr/>
        </p:nvSpPr>
        <p:spPr>
          <a:xfrm>
            <a:off x="662049" y="5524500"/>
            <a:ext cx="334686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更新模型设定</a:t>
            </a:r>
            <a:endParaRPr/>
          </a:p>
        </p:txBody>
      </p:sp>
      <p:sp>
        <p:nvSpPr>
          <p:cNvPr id="99" name="vector-97">
            <a:extLst>
              <a:ext uri="{FF2B5EF4-FFF2-40B4-BE49-F238E27FC236}">
                <ns2:creationId id="{C7BE0411-C219-4B72-9A06-D33C7DF345C6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139490" y="139490"/>
                </a:moveTo>
                <a:lnTo>
                  <a:pt x="168706" y="112615"/>
                </a:lnTo>
                <a:lnTo>
                  <a:pt x="200058" y="88265"/>
                </a:lnTo>
                <a:lnTo>
                  <a:pt x="233329" y="66612"/>
                </a:lnTo>
                <a:lnTo>
                  <a:pt x="268288" y="47804"/>
                </a:lnTo>
                <a:lnTo>
                  <a:pt x="304692" y="31973"/>
                </a:lnTo>
                <a:lnTo>
                  <a:pt x="342288" y="19229"/>
                </a:lnTo>
                <a:lnTo>
                  <a:pt x="380815" y="9660"/>
                </a:lnTo>
                <a:lnTo>
                  <a:pt x="420004" y="3333"/>
                </a:lnTo>
                <a:lnTo>
                  <a:pt x="459585" y="292"/>
                </a:lnTo>
                <a:lnTo>
                  <a:pt x="499281" y="557"/>
                </a:lnTo>
                <a:lnTo>
                  <a:pt x="538817" y="4128"/>
                </a:lnTo>
                <a:lnTo>
                  <a:pt x="577918" y="10978"/>
                </a:lnTo>
                <a:lnTo>
                  <a:pt x="616314" y="21062"/>
                </a:lnTo>
                <a:lnTo>
                  <a:pt x="653736" y="34308"/>
                </a:lnTo>
                <a:lnTo>
                  <a:pt x="689924" y="50624"/>
                </a:lnTo>
                <a:lnTo>
                  <a:pt x="724629" y="69898"/>
                </a:lnTo>
                <a:lnTo>
                  <a:pt x="757607" y="91995"/>
                </a:lnTo>
                <a:lnTo>
                  <a:pt x="788631" y="116761"/>
                </a:lnTo>
                <a:lnTo>
                  <a:pt x="843299" y="123597"/>
                </a:lnTo>
                <a:lnTo>
                  <a:pt x="646489" y="280338"/>
                </a:lnTo>
                <a:lnTo>
                  <a:pt x="629582" y="266841"/>
                </a:lnTo>
                <a:lnTo>
                  <a:pt x="611610" y="254799"/>
                </a:lnTo>
                <a:lnTo>
                  <a:pt x="592697" y="244295"/>
                </a:lnTo>
                <a:lnTo>
                  <a:pt x="572975" y="235403"/>
                </a:lnTo>
                <a:lnTo>
                  <a:pt x="552581" y="228184"/>
                </a:lnTo>
                <a:lnTo>
                  <a:pt x="531657" y="222689"/>
                </a:lnTo>
                <a:lnTo>
                  <a:pt x="510347" y="218956"/>
                </a:lnTo>
                <a:lnTo>
                  <a:pt x="488801" y="217010"/>
                </a:lnTo>
                <a:lnTo>
                  <a:pt x="467168" y="216865"/>
                </a:lnTo>
                <a:lnTo>
                  <a:pt x="445598" y="218523"/>
                </a:lnTo>
                <a:lnTo>
                  <a:pt x="424240" y="221971"/>
                </a:lnTo>
                <a:lnTo>
                  <a:pt x="403244" y="227186"/>
                </a:lnTo>
                <a:lnTo>
                  <a:pt x="382756" y="234131"/>
                </a:lnTo>
                <a:lnTo>
                  <a:pt x="362916" y="242758"/>
                </a:lnTo>
                <a:lnTo>
                  <a:pt x="343865" y="253008"/>
                </a:lnTo>
                <a:lnTo>
                  <a:pt x="325733" y="264809"/>
                </a:lnTo>
                <a:lnTo>
                  <a:pt x="308647" y="278078"/>
                </a:lnTo>
                <a:lnTo>
                  <a:pt x="292725" y="292725"/>
                </a:lnTo>
                <a:close/>
              </a:path>
            </a:pathLst>
          </a:custGeom>
          <a:solidFill>
            <a:srgbClr val="4D319F"/>
          </a:solidFill>
          <a:ln w="14288">
            <a:noFill/>
            <a:prstDash val="solid"/>
          </a:ln>
        </p:spPr>
      </p:sp>
      <p:sp>
        <p:nvSpPr>
          <p:cNvPr id="155" name="icon-camera-body-155"/>
          <p:cNvSpPr/>
          <p:nvPr/>
        </p:nvSpPr>
        <p:spPr>
          <a:xfrm>
            <a:off x="5917375" y="1962150"/>
            <a:ext cx="263236" cy="2667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80"/>
                </a:lnTo>
                <a:lnTo>
                  <a:pt x="200" y="880"/>
                </a:lnTo>
                <a:close/>
              </a:path>
              <a:path w="1000" h="1000">
                <a:moveTo>
                  <a:pt x="320" y="80"/>
                </a:moveTo>
                <a:lnTo>
                  <a:pt x="680" y="80"/>
                </a:lnTo>
                <a:lnTo>
                  <a:pt x="680" y="160"/>
                </a:lnTo>
                <a:lnTo>
                  <a:pt x="320" y="160"/>
                </a:lnTo>
              </a:path>
            </a:pathLst>
          </a:custGeom>
          <a:noFill/>
          <a:ln w="15469" cap="rnd">
            <a:solidFill>
              <a:srgbClr val="FFFFFF"/>
            </a:solidFill>
          </a:ln>
        </p:spPr>
      </p:sp>
      <p:sp>
        <p:nvSpPr>
          <p:cNvPr id="156" name="icon-camera-lens-156"/>
          <p:cNvSpPr/>
          <p:nvPr/>
        </p:nvSpPr>
        <p:spPr>
          <a:xfrm>
            <a:off x="6001611" y="2042160"/>
            <a:ext cx="94765" cy="96012"/>
          </a:xfrm>
          <a:prstGeom prst="ellipse">
            <a:avLst/>
          </a:prstGeom>
          <a:noFill/>
          <a:ln w="15469" cap="rnd">
            <a:solidFill>
              <a:srgbClr val="FFFFFF"/>
            </a:solidFill>
          </a:ln>
        </p:spPr>
      </p:sp>
      <p:sp>
        <p:nvSpPr>
          <p:cNvPr id="157" name="icon-camera-lens-157"/>
          <p:cNvSpPr/>
          <p:nvPr/>
        </p:nvSpPr>
        <p:spPr>
          <a:xfrm>
            <a:off x="6027935" y="2143506"/>
            <a:ext cx="42118" cy="42672"/>
          </a:xfrm>
          <a:prstGeom prst="ellipse">
            <a:avLst/>
          </a:prstGeom>
          <a:noFill/>
          <a:ln w="15469" cap="rnd">
            <a:solidFill>
              <a:srgbClr val="FFFFFF"/>
            </a:solidFill>
          </a:ln>
        </p:spPr>
      </p:sp>
      <p:sp>
        <p:nvSpPr>
          <p:cNvPr id="104" name="text-102">
            <a:extLst>
              <a:ext uri="{FF2B5EF4-FFF2-40B4-BE49-F238E27FC236}">
                <ns2:creationId id="{5FB1ECEC-D761-4CAA-9B22-43E354BF6BCB}"/>
              </a:ext>
            </a:extLst>
          </p:cNvPr>
          <p:cNvSpPr>
            <a:spLocks noGrp="1"/>
          </p:cNvSpPr>
          <p:nvPr/>
        </p:nvSpPr>
        <p:spPr>
          <a:xfrm>
            <a:off x="5484916" y="2286000"/>
            <a:ext cx="122216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数据获取</a:t>
            </a:r>
            <a:endParaRPr/>
          </a:p>
        </p:txBody>
      </p:sp>
      <p:sp>
        <p:nvSpPr>
          <p:cNvPr id="105" name="vector-103">
            <a:extLst>
              <a:ext uri="{FF2B5EF4-FFF2-40B4-BE49-F238E27FC236}">
                <ns2:creationId id="{A06194DA-712A-46A4-BF1E-682EC4A499C5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813010" y="139490"/>
                </a:moveTo>
                <a:lnTo>
                  <a:pt x="839885" y="168706"/>
                </a:lnTo>
                <a:lnTo>
                  <a:pt x="864235" y="200058"/>
                </a:lnTo>
                <a:lnTo>
                  <a:pt x="885888" y="233329"/>
                </a:lnTo>
                <a:lnTo>
                  <a:pt x="904696" y="268288"/>
                </a:lnTo>
                <a:lnTo>
                  <a:pt x="920527" y="304692"/>
                </a:lnTo>
                <a:lnTo>
                  <a:pt x="933271" y="342288"/>
                </a:lnTo>
                <a:lnTo>
                  <a:pt x="942840" y="380815"/>
                </a:lnTo>
                <a:lnTo>
                  <a:pt x="949167" y="420004"/>
                </a:lnTo>
                <a:lnTo>
                  <a:pt x="952208" y="459585"/>
                </a:lnTo>
                <a:lnTo>
                  <a:pt x="951943" y="499281"/>
                </a:lnTo>
                <a:lnTo>
                  <a:pt x="948372" y="538817"/>
                </a:lnTo>
                <a:lnTo>
                  <a:pt x="941522" y="577918"/>
                </a:lnTo>
                <a:lnTo>
                  <a:pt x="931438" y="616314"/>
                </a:lnTo>
                <a:lnTo>
                  <a:pt x="918192" y="653736"/>
                </a:lnTo>
                <a:lnTo>
                  <a:pt x="901876" y="689924"/>
                </a:lnTo>
                <a:lnTo>
                  <a:pt x="882602" y="724629"/>
                </a:lnTo>
                <a:lnTo>
                  <a:pt x="860505" y="757607"/>
                </a:lnTo>
                <a:lnTo>
                  <a:pt x="835739" y="788631"/>
                </a:lnTo>
                <a:lnTo>
                  <a:pt x="828903" y="843299"/>
                </a:lnTo>
                <a:lnTo>
                  <a:pt x="672162" y="646489"/>
                </a:lnTo>
                <a:lnTo>
                  <a:pt x="685659" y="629582"/>
                </a:lnTo>
                <a:lnTo>
                  <a:pt x="697701" y="611610"/>
                </a:lnTo>
                <a:lnTo>
                  <a:pt x="708205" y="592697"/>
                </a:lnTo>
                <a:lnTo>
                  <a:pt x="717097" y="572975"/>
                </a:lnTo>
                <a:lnTo>
                  <a:pt x="724316" y="552581"/>
                </a:lnTo>
                <a:lnTo>
                  <a:pt x="729811" y="531657"/>
                </a:lnTo>
                <a:lnTo>
                  <a:pt x="733544" y="510347"/>
                </a:lnTo>
                <a:lnTo>
                  <a:pt x="735490" y="488801"/>
                </a:lnTo>
                <a:lnTo>
                  <a:pt x="735635" y="467168"/>
                </a:lnTo>
                <a:lnTo>
                  <a:pt x="733977" y="445598"/>
                </a:lnTo>
                <a:lnTo>
                  <a:pt x="730529" y="424240"/>
                </a:lnTo>
                <a:lnTo>
                  <a:pt x="725314" y="403244"/>
                </a:lnTo>
                <a:lnTo>
                  <a:pt x="718369" y="382756"/>
                </a:lnTo>
                <a:lnTo>
                  <a:pt x="709742" y="362916"/>
                </a:lnTo>
                <a:lnTo>
                  <a:pt x="699492" y="343865"/>
                </a:lnTo>
                <a:lnTo>
                  <a:pt x="687691" y="325733"/>
                </a:lnTo>
                <a:lnTo>
                  <a:pt x="674422" y="308647"/>
                </a:lnTo>
                <a:lnTo>
                  <a:pt x="659775" y="292725"/>
                </a:lnTo>
                <a:close/>
              </a:path>
            </a:pathLst>
          </a:custGeom>
          <a:solidFill>
            <a:srgbClr val="6B54AF"/>
          </a:solidFill>
          <a:ln w="14288">
            <a:noFill/>
            <a:prstDash val="solid"/>
          </a:ln>
        </p:spPr>
      </p:sp>
      <p:sp>
        <p:nvSpPr>
          <p:cNvPr id="162" name="icon-wf-1-162"/>
          <p:cNvSpPr/>
          <p:nvPr/>
        </p:nvSpPr>
        <p:spPr>
          <a:xfrm>
            <a:off x="7295606" y="3322320"/>
            <a:ext cx="73330" cy="74295"/>
          </a:xfrm>
          <a:prstGeom prst="ellipse">
            <a:avLst/>
          </a:prstGeom>
          <a:noFill/>
          <a:ln w="16574" cap="rnd">
            <a:solidFill>
              <a:srgbClr val="FFFFFF"/>
            </a:solidFill>
          </a:ln>
        </p:spPr>
      </p:sp>
      <p:sp>
        <p:nvSpPr>
          <p:cNvPr id="163" name="icon-wf-2-163"/>
          <p:cNvSpPr/>
          <p:nvPr/>
        </p:nvSpPr>
        <p:spPr>
          <a:xfrm>
            <a:off x="7436625" y="3322320"/>
            <a:ext cx="73330" cy="74295"/>
          </a:xfrm>
          <a:prstGeom prst="ellipse">
            <a:avLst/>
          </a:prstGeom>
          <a:noFill/>
          <a:ln w="16574" cap="rnd">
            <a:solidFill>
              <a:srgbClr val="FFFFFF"/>
            </a:solidFill>
          </a:ln>
        </p:spPr>
      </p:sp>
      <p:sp>
        <p:nvSpPr>
          <p:cNvPr id="164" name="icon-wf-3-164"/>
          <p:cNvSpPr/>
          <p:nvPr/>
        </p:nvSpPr>
        <p:spPr>
          <a:xfrm>
            <a:off x="7366116" y="3448050"/>
            <a:ext cx="73330" cy="74295"/>
          </a:xfrm>
          <a:prstGeom prst="ellipse">
            <a:avLst/>
          </a:prstGeom>
          <a:noFill/>
          <a:ln w="16574" cap="rnd">
            <a:solidFill>
              <a:srgbClr val="FFFFFF"/>
            </a:solidFill>
          </a:ln>
        </p:spPr>
      </p:sp>
      <p:sp>
        <p:nvSpPr>
          <p:cNvPr id="165" name="icon-wf-edges-165"/>
          <p:cNvSpPr/>
          <p:nvPr/>
        </p:nvSpPr>
        <p:spPr>
          <a:xfrm>
            <a:off x="7261761" y="3276600"/>
            <a:ext cx="282039" cy="2857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80" y="290"/>
                </a:moveTo>
                <a:lnTo>
                  <a:pt x="620" y="290"/>
                </a:lnTo>
              </a:path>
              <a:path w="1000" h="1000">
                <a:moveTo>
                  <a:pt x="310" y="400"/>
                </a:moveTo>
                <a:lnTo>
                  <a:pt x="430" y="620"/>
                </a:lnTo>
              </a:path>
              <a:path w="1000" h="1000">
                <a:moveTo>
                  <a:pt x="690" y="400"/>
                </a:moveTo>
                <a:lnTo>
                  <a:pt x="570" y="620"/>
                </a:lnTo>
              </a:path>
            </a:pathLst>
          </a:custGeom>
          <a:noFill/>
          <a:ln w="14916" cap="rnd">
            <a:solidFill>
              <a:srgbClr val="FFFFFF"/>
            </a:solidFill>
          </a:ln>
        </p:spPr>
      </p:sp>
      <p:sp>
        <p:nvSpPr>
          <p:cNvPr id="118" name="text-116">
            <a:extLst>
              <a:ext uri="{FF2B5EF4-FFF2-40B4-BE49-F238E27FC236}">
                <ns2:creationId id="{799E5964-98B5-4636-A8B3-4A10371F1315}"/>
              </a:ext>
            </a:extLst>
          </p:cNvPr>
          <p:cNvSpPr>
            <a:spLocks noGrp="1"/>
          </p:cNvSpPr>
          <p:nvPr/>
        </p:nvSpPr>
        <p:spPr>
          <a:xfrm>
            <a:off x="7177149" y="3562350"/>
            <a:ext cx="451262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模型分析</a:t>
            </a:r>
            <a:endParaRPr/>
          </a:p>
        </p:txBody>
      </p:sp>
      <p:sp>
        <p:nvSpPr>
          <p:cNvPr id="119" name="vector-117">
            <a:extLst>
              <a:ext uri="{FF2B5EF4-FFF2-40B4-BE49-F238E27FC236}">
                <ns2:creationId id="{0BF875E0-041A-4650-AB69-AB2EFFB8B1EA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813010" y="813010"/>
                </a:moveTo>
                <a:lnTo>
                  <a:pt x="783794" y="839885"/>
                </a:lnTo>
                <a:lnTo>
                  <a:pt x="752442" y="864235"/>
                </a:lnTo>
                <a:lnTo>
                  <a:pt x="719171" y="885888"/>
                </a:lnTo>
                <a:lnTo>
                  <a:pt x="684212" y="904696"/>
                </a:lnTo>
                <a:lnTo>
                  <a:pt x="647808" y="920527"/>
                </a:lnTo>
                <a:lnTo>
                  <a:pt x="610212" y="933271"/>
                </a:lnTo>
                <a:lnTo>
                  <a:pt x="571685" y="942840"/>
                </a:lnTo>
                <a:lnTo>
                  <a:pt x="532496" y="949167"/>
                </a:lnTo>
                <a:lnTo>
                  <a:pt x="492915" y="952208"/>
                </a:lnTo>
                <a:lnTo>
                  <a:pt x="453219" y="951943"/>
                </a:lnTo>
                <a:lnTo>
                  <a:pt x="413683" y="948372"/>
                </a:lnTo>
                <a:lnTo>
                  <a:pt x="374582" y="941522"/>
                </a:lnTo>
                <a:lnTo>
                  <a:pt x="336186" y="931438"/>
                </a:lnTo>
                <a:lnTo>
                  <a:pt x="298764" y="918192"/>
                </a:lnTo>
                <a:lnTo>
                  <a:pt x="262576" y="901876"/>
                </a:lnTo>
                <a:lnTo>
                  <a:pt x="227871" y="882602"/>
                </a:lnTo>
                <a:lnTo>
                  <a:pt x="194893" y="860505"/>
                </a:lnTo>
                <a:lnTo>
                  <a:pt x="163869" y="835739"/>
                </a:lnTo>
                <a:lnTo>
                  <a:pt x="109201" y="828903"/>
                </a:lnTo>
                <a:lnTo>
                  <a:pt x="306011" y="672162"/>
                </a:lnTo>
                <a:lnTo>
                  <a:pt x="322918" y="685659"/>
                </a:lnTo>
                <a:lnTo>
                  <a:pt x="340890" y="697701"/>
                </a:lnTo>
                <a:lnTo>
                  <a:pt x="359803" y="708205"/>
                </a:lnTo>
                <a:lnTo>
                  <a:pt x="379525" y="717097"/>
                </a:lnTo>
                <a:lnTo>
                  <a:pt x="399919" y="724316"/>
                </a:lnTo>
                <a:lnTo>
                  <a:pt x="420843" y="729811"/>
                </a:lnTo>
                <a:lnTo>
                  <a:pt x="442153" y="733544"/>
                </a:lnTo>
                <a:lnTo>
                  <a:pt x="463699" y="735490"/>
                </a:lnTo>
                <a:lnTo>
                  <a:pt x="485332" y="735635"/>
                </a:lnTo>
                <a:lnTo>
                  <a:pt x="506902" y="733977"/>
                </a:lnTo>
                <a:lnTo>
                  <a:pt x="528260" y="730529"/>
                </a:lnTo>
                <a:lnTo>
                  <a:pt x="549256" y="725314"/>
                </a:lnTo>
                <a:lnTo>
                  <a:pt x="569744" y="718369"/>
                </a:lnTo>
                <a:lnTo>
                  <a:pt x="589584" y="709742"/>
                </a:lnTo>
                <a:lnTo>
                  <a:pt x="608635" y="699492"/>
                </a:lnTo>
                <a:lnTo>
                  <a:pt x="626767" y="687691"/>
                </a:lnTo>
                <a:lnTo>
                  <a:pt x="643853" y="674422"/>
                </a:lnTo>
                <a:lnTo>
                  <a:pt x="659775" y="659775"/>
                </a:lnTo>
                <a:close/>
              </a:path>
            </a:pathLst>
          </a:custGeom>
          <a:solidFill>
            <a:srgbClr val="8A77C0"/>
          </a:solidFill>
          <a:ln w="14288">
            <a:noFill/>
            <a:prstDash val="solid"/>
          </a:ln>
        </p:spPr>
      </p:sp>
      <p:sp>
        <p:nvSpPr>
          <p:cNvPr id="168" name="icon-check-ring-168"/>
          <p:cNvSpPr/>
          <p:nvPr/>
        </p:nvSpPr>
        <p:spPr>
          <a:xfrm>
            <a:off x="5988825" y="4701540"/>
            <a:ext cx="214350" cy="217170"/>
          </a:xfrm>
          <a:prstGeom prst="ellipse">
            <a:avLst/>
          </a:prstGeom>
          <a:noFill/>
          <a:ln w="16574" cap="rnd">
            <a:solidFill>
              <a:srgbClr val="FFFFFF"/>
            </a:solidFill>
          </a:ln>
        </p:spPr>
      </p:sp>
      <p:sp>
        <p:nvSpPr>
          <p:cNvPr id="169" name="icon-check-mark-169"/>
          <p:cNvSpPr/>
          <p:nvPr/>
        </p:nvSpPr>
        <p:spPr>
          <a:xfrm>
            <a:off x="5954981" y="4667250"/>
            <a:ext cx="282039" cy="2857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19060" cap="rnd">
            <a:solidFill>
              <a:srgbClr val="FFFFFF"/>
            </a:solidFill>
          </a:ln>
        </p:spPr>
      </p:sp>
      <p:sp>
        <p:nvSpPr>
          <p:cNvPr id="123" name="text-121">
            <a:extLst>
              <a:ext uri="{FF2B5EF4-FFF2-40B4-BE49-F238E27FC236}">
                <ns2:creationId id="{67E76804-A1AE-4C2D-A4CE-D6D546C00C25}"/>
              </a:ext>
            </a:extLst>
          </p:cNvPr>
          <p:cNvSpPr>
            <a:spLocks noGrp="1"/>
          </p:cNvSpPr>
          <p:nvPr/>
        </p:nvSpPr>
        <p:spPr>
          <a:xfrm>
            <a:off x="5484916" y="4953000"/>
            <a:ext cx="122216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现场验证</a:t>
            </a:r>
            <a:endParaRPr/>
          </a:p>
        </p:txBody>
      </p:sp>
      <p:sp>
        <p:nvSpPr>
          <p:cNvPr id="124" name="vector-122">
            <a:extLst>
              <a:ext uri="{FF2B5EF4-FFF2-40B4-BE49-F238E27FC236}">
                <ns2:creationId id="{83ECFBD5-8846-4592-978F-D7401D0DBEA6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139490" y="813010"/>
                </a:moveTo>
                <a:lnTo>
                  <a:pt x="112615" y="783794"/>
                </a:lnTo>
                <a:lnTo>
                  <a:pt x="88265" y="752442"/>
                </a:lnTo>
                <a:lnTo>
                  <a:pt x="66612" y="719171"/>
                </a:lnTo>
                <a:lnTo>
                  <a:pt x="47804" y="684212"/>
                </a:lnTo>
                <a:lnTo>
                  <a:pt x="31973" y="647808"/>
                </a:lnTo>
                <a:lnTo>
                  <a:pt x="19229" y="610212"/>
                </a:lnTo>
                <a:lnTo>
                  <a:pt x="9660" y="571685"/>
                </a:lnTo>
                <a:lnTo>
                  <a:pt x="3333" y="532496"/>
                </a:lnTo>
                <a:lnTo>
                  <a:pt x="292" y="492915"/>
                </a:lnTo>
                <a:lnTo>
                  <a:pt x="557" y="453219"/>
                </a:lnTo>
                <a:lnTo>
                  <a:pt x="4128" y="413683"/>
                </a:lnTo>
                <a:lnTo>
                  <a:pt x="10978" y="374582"/>
                </a:lnTo>
                <a:lnTo>
                  <a:pt x="21062" y="336186"/>
                </a:lnTo>
                <a:lnTo>
                  <a:pt x="34308" y="298764"/>
                </a:lnTo>
                <a:lnTo>
                  <a:pt x="50624" y="262576"/>
                </a:lnTo>
                <a:lnTo>
                  <a:pt x="69898" y="227871"/>
                </a:lnTo>
                <a:lnTo>
                  <a:pt x="91995" y="194893"/>
                </a:lnTo>
                <a:lnTo>
                  <a:pt x="116761" y="163869"/>
                </a:lnTo>
                <a:lnTo>
                  <a:pt x="123597" y="109201"/>
                </a:lnTo>
                <a:lnTo>
                  <a:pt x="280338" y="306011"/>
                </a:lnTo>
                <a:lnTo>
                  <a:pt x="266841" y="322918"/>
                </a:lnTo>
                <a:lnTo>
                  <a:pt x="254799" y="340890"/>
                </a:lnTo>
                <a:lnTo>
                  <a:pt x="244295" y="359803"/>
                </a:lnTo>
                <a:lnTo>
                  <a:pt x="235403" y="379525"/>
                </a:lnTo>
                <a:lnTo>
                  <a:pt x="228184" y="399919"/>
                </a:lnTo>
                <a:lnTo>
                  <a:pt x="222689" y="420843"/>
                </a:lnTo>
                <a:lnTo>
                  <a:pt x="218956" y="442153"/>
                </a:lnTo>
                <a:lnTo>
                  <a:pt x="217010" y="463699"/>
                </a:lnTo>
                <a:lnTo>
                  <a:pt x="216865" y="485332"/>
                </a:lnTo>
                <a:lnTo>
                  <a:pt x="218523" y="506902"/>
                </a:lnTo>
                <a:lnTo>
                  <a:pt x="221971" y="528260"/>
                </a:lnTo>
                <a:lnTo>
                  <a:pt x="227186" y="549256"/>
                </a:lnTo>
                <a:lnTo>
                  <a:pt x="234131" y="569744"/>
                </a:lnTo>
                <a:lnTo>
                  <a:pt x="242758" y="589584"/>
                </a:lnTo>
                <a:lnTo>
                  <a:pt x="253008" y="608635"/>
                </a:lnTo>
                <a:lnTo>
                  <a:pt x="264809" y="626767"/>
                </a:lnTo>
                <a:lnTo>
                  <a:pt x="278078" y="643853"/>
                </a:lnTo>
                <a:lnTo>
                  <a:pt x="292725" y="659775"/>
                </a:lnTo>
                <a:close/>
              </a:path>
            </a:pathLst>
          </a:custGeom>
          <a:solidFill>
            <a:srgbClr val="A89AD0"/>
          </a:solidFill>
          <a:ln w="14288">
            <a:noFill/>
            <a:prstDash val="solid"/>
          </a:ln>
        </p:spPr>
      </p:sp>
      <p:sp>
        <p:nvSpPr>
          <p:cNvPr id="171" name="icon-doc-171"/>
          <p:cNvSpPr/>
          <p:nvPr/>
        </p:nvSpPr>
        <p:spPr>
          <a:xfrm>
            <a:off x="4591792" y="3352800"/>
            <a:ext cx="282039" cy="2857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60"/>
                </a:lnTo>
                <a:lnTo>
                  <a:pt x="200" y="860"/>
                </a:lnTo>
                <a:close/>
              </a:path>
              <a:path w="1000" h="1000">
                <a:moveTo>
                  <a:pt x="320" y="360"/>
                </a:moveTo>
                <a:lnTo>
                  <a:pt x="680" y="360"/>
                </a:lnTo>
              </a:path>
              <a:path w="1000" h="1000">
                <a:moveTo>
                  <a:pt x="320" y="520"/>
                </a:moveTo>
                <a:lnTo>
                  <a:pt x="680" y="520"/>
                </a:lnTo>
              </a:path>
              <a:path w="1000" h="1000">
                <a:moveTo>
                  <a:pt x="320" y="680"/>
                </a:moveTo>
                <a:lnTo>
                  <a:pt x="560" y="680"/>
                </a:lnTo>
              </a:path>
            </a:pathLst>
          </a:custGeom>
          <a:noFill/>
          <a:ln w="16574" cap="rnd">
            <a:solidFill>
              <a:srgbClr val="FFFFFF"/>
            </a:solidFill>
          </a:ln>
        </p:spPr>
      </p:sp>
      <p:sp>
        <p:nvSpPr>
          <p:cNvPr id="136" name="text-134">
            <a:extLst>
              <a:ext uri="{FF2B5EF4-FFF2-40B4-BE49-F238E27FC236}">
                <ns2:creationId id="{CF0CB36C-724A-43DB-A6CA-CB7FB893EBD1}"/>
              </a:ext>
            </a:extLst>
          </p:cNvPr>
          <p:cNvSpPr>
            <a:spLocks noGrp="1"/>
          </p:cNvSpPr>
          <p:nvPr/>
        </p:nvSpPr>
        <p:spPr>
          <a:xfrm>
            <a:off x="4563588" y="3562350"/>
            <a:ext cx="451262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反馈修订</a:t>
            </a:r>
            <a:endParaRPr/>
          </a:p>
        </p:txBody>
      </p:sp>
      <p:sp>
        <p:nvSpPr>
          <p:cNvPr id="137" name="text-135">
            <a:extLst>
              <a:ext uri="{FF2B5EF4-FFF2-40B4-BE49-F238E27FC236}">
                <ns2:creationId id="{4766E747-6417-4007-ACB1-AFD8C87A5C15}"/>
              </a:ext>
            </a:extLst>
          </p:cNvPr>
          <p:cNvSpPr>
            <a:spLocks noGrp="1"/>
          </p:cNvSpPr>
          <p:nvPr/>
        </p:nvSpPr>
        <p:spPr>
          <a:xfrm>
            <a:off x="5165271" y="3095625"/>
            <a:ext cx="1861457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2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2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rPr>
              <a:t>持续监测</a:t>
            </a:r>
            <a:endParaRPr/>
          </a:p>
          <a:p>
            <a:pPr algn="ctr">
              <a:defRPr sz="22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rPr>
              <a:t>迭代验证</a:t>
            </a:r>
            <a:endParaRPr/>
          </a:p>
        </p:txBody>
      </p:sp>
      <p:sp>
        <p:nvSpPr>
          <p:cNvPr id="138" name="shape-136">
            <a:extLst>
              <a:ext uri="{FF2B5EF4-FFF2-40B4-BE49-F238E27FC236}">
                <ns2:creationId id="{E73D0620-9613-44ED-AB8C-CFA2A60CFB65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4D319F"/>
          </a:solidFill>
          <a:ln w="14288" cap="rnd">
            <a:solidFill>
              <a:srgbClr val="4D319F"/>
            </a:solidFill>
            <a:prstDash val="solid"/>
          </a:ln>
        </p:spPr>
      </p:sp>
      <p:sp>
        <p:nvSpPr>
          <p:cNvPr id="139" name="text-137">
            <a:extLst>
              <a:ext uri="{FF2B5EF4-FFF2-40B4-BE49-F238E27FC236}">
                <ns2:creationId id="{98B96263-F017-4A2A-B139-1B25B128270B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研究重点：用</a:t>
            </a: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修订下一轮观测与分析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0" name="text-138">
            <a:extLst>
              <a:ext uri="{FF2B5EF4-FFF2-40B4-BE49-F238E27FC236}">
                <ns2:creationId id="{D227AC01-9582-420B-A934-313262E927A0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rPr>
              <a:t>科研模板 · 内容与数据均为示意</a:t>
            </a:r>
            <a:endParaRPr/>
          </a:p>
        </p:txBody>
      </p:sp>
      <p:sp>
        <p:nvSpPr>
          <p:cNvPr id="141" name="text-139">
            <a:extLst>
              <a:ext uri="{FF2B5EF4-FFF2-40B4-BE49-F238E27FC236}">
                <ns2:creationId id="{5FC6F965-C9A5-4238-B566-E48ACEC9820C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/>
          </a:p>
        </p:txBody>
      </p:sp>
      <p:sp>
        <p:nvSpPr>
          <p:cNvPr id="172" name="title-translation-172"/>
          <p:cNvSpPr txBox="1"/>
          <p:nvPr/>
        </p:nvSpPr>
        <p:spPr>
          <a:xfrm>
            <a:off x="304800" y="19050"/>
            <a:ext cx="11582400" cy="2190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rPr>
              <a:t>From field records to model checks</a:t>
            </a:r>
            <a:endParaRPr lang="zh-CN" sz="1275"/>
          </a:p>
        </p:txBody>
      </p:sp>
    </p:spTree>
    <p:extLst>
      <p:ext uri="{BB962C8B-B14F-4D97-AF65-F5344CB8AC3E}">
        <ns5:creationId val="1485256309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3" name="text-312">
            <a:extLst>
              <a:ext uri="{FF2B5EF4-FFF2-40B4-BE49-F238E27FC236}">
                <ns2:creationId id="{DB74890F-FA42-414A-897E-CCB303FA2F13}"/>
              </a:ext>
            </a:extLst>
          </p:cNvPr>
          <p:cNvSpPr>
            <a:spLocks noGrp="1"/>
          </p:cNvSpPr>
          <p:nvPr/>
        </p:nvSpPr>
        <p:spPr>
          <a:xfrm>
            <a:off x="304800" y="2476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rPr>
              <a:t>实验数据准备与分析进度</a:t>
            </a:r>
            <a:endParaRPr/>
          </a:p>
        </p:txBody>
      </p:sp>
      <p:sp>
        <p:nvSpPr>
          <p:cNvPr id="2" name="line-313">
            <a:extLst>
              <a:ext uri="{FF2B5EF4-FFF2-40B4-BE49-F238E27FC236}">
                <ns2:creationId id="{AFAB16AE-3C42-42C8-91A9-84D743EA424C}"/>
              </a:ext>
            </a:extLst>
          </p:cNvPr>
          <p:cNvSpPr>
            <a:spLocks noGrp="1"/>
          </p:cNvSpPr>
          <p:nvPr/>
        </p:nvSpPr>
        <p:spPr>
          <a:xfrm>
            <a:off x="304800" y="819150"/>
            <a:ext cx="11582400" cy="95"/>
          </a:xfrm>
          <a:prstGeom prst="line">
            <a:avLst/>
          </a:prstGeom>
          <a:noFill/>
          <a:ln w="16193">
            <a:solidFill>
              <a:srgbClr val="4D319F"/>
            </a:solidFill>
            <a:prstDash val="solid"/>
          </a:ln>
        </p:spPr>
      </p:sp>
      <p:sp>
        <p:nvSpPr>
          <p:cNvPr id="83" name="icon-table-83"/>
          <p:cNvSpPr/>
          <p:nvPr/>
        </p:nvSpPr>
        <p:spPr>
          <a:xfrm>
            <a:off x="549234" y="1095375"/>
            <a:ext cx="413657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160"/>
                </a:moveTo>
                <a:lnTo>
                  <a:pt x="860" y="160"/>
                </a:lnTo>
                <a:lnTo>
                  <a:pt x="860" y="840"/>
                </a:lnTo>
                <a:lnTo>
                  <a:pt x="140" y="840"/>
                </a:lnTo>
                <a:close/>
              </a:path>
              <a:path w="1000" h="1000">
                <a:moveTo>
                  <a:pt x="140" y="380"/>
                </a:moveTo>
                <a:lnTo>
                  <a:pt x="860" y="380"/>
                </a:lnTo>
              </a:path>
              <a:path w="1000" h="1000">
                <a:moveTo>
                  <a:pt x="140" y="610"/>
                </a:moveTo>
                <a:lnTo>
                  <a:pt x="860" y="610"/>
                </a:lnTo>
              </a:path>
              <a:path w="1000" h="1000">
                <a:moveTo>
                  <a:pt x="460" y="160"/>
                </a:moveTo>
                <a:lnTo>
                  <a:pt x="460" y="840"/>
                </a:lnTo>
              </a:path>
            </a:pathLst>
          </a:custGeom>
          <a:noFill/>
          <a:ln w="19050" cap="rnd">
            <a:solidFill>
              <a:srgbClr val="4D319F"/>
            </a:solidFill>
          </a:ln>
        </p:spPr>
      </p:sp>
      <p:sp>
        <p:nvSpPr>
          <p:cNvPr id="7" name="text-318">
            <a:extLst>
              <a:ext uri="{FF2B5EF4-FFF2-40B4-BE49-F238E27FC236}">
                <ns2:creationId id="{E8E5C932-982B-49A4-A5FA-BE990A1777E5}"/>
              </a:ext>
            </a:extLst>
          </p:cNvPr>
          <p:cNvSpPr>
            <a:spLocks noGrp="1"/>
          </p:cNvSpPr>
          <p:nvPr/>
        </p:nvSpPr>
        <p:spPr>
          <a:xfrm>
            <a:off x="1150917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rPr>
              <a:t>样地建档</a:t>
            </a:r>
            <a:endParaRPr/>
          </a:p>
        </p:txBody>
      </p:sp>
      <p:sp>
        <p:nvSpPr>
          <p:cNvPr id="8" name="text-319">
            <a:extLst>
              <a:ext uri="{FF2B5EF4-FFF2-40B4-BE49-F238E27FC236}">
                <ns2:creationId id="{4D118A3A-C8BF-41B1-96CE-C05AF2730C3E}"/>
              </a:ext>
            </a:extLst>
          </p:cNvPr>
          <p:cNvSpPr>
            <a:spLocks noGrp="1"/>
          </p:cNvSpPr>
          <p:nvPr/>
        </p:nvSpPr>
        <p:spPr>
          <a:xfrm>
            <a:off x="1150917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编号与位置</a:t>
            </a:r>
            <a:endParaRPr/>
          </a:p>
        </p:txBody>
      </p:sp>
      <p:sp>
        <p:nvSpPr>
          <p:cNvPr id="9" name="arrow-320">
            <a:extLst>
              <a:ext uri="{FF2B5EF4-FFF2-40B4-BE49-F238E27FC236}">
                <ns2:creationId id="{D46EBAAB-3E7B-43F4-839F-CD502FD1AA2E}"/>
              </a:ext>
            </a:extLst>
          </p:cNvPr>
          <p:cNvSpPr>
            <a:spLocks noGrp="1"/>
          </p:cNvSpPr>
          <p:nvPr/>
        </p:nvSpPr>
        <p:spPr>
          <a:xfrm>
            <a:off x="1508166" y="1828800"/>
            <a:ext cx="2848594" cy="95250"/>
          </a:xfrm>
          <a:prstGeom prst="rightArrow">
            <a:avLst/>
          </a:prstGeom>
          <a:solidFill>
            <a:srgbClr val="7960D0"/>
          </a:solidFill>
          <a:ln w="0">
            <a:noFill/>
            <a:prstDash val="solid"/>
          </a:ln>
        </p:spPr>
      </p:sp>
      <p:sp>
        <p:nvSpPr>
          <p:cNvPr id="84" name="icon-camera-body-84"/>
          <p:cNvSpPr/>
          <p:nvPr/>
        </p:nvSpPr>
        <p:spPr>
          <a:xfrm>
            <a:off x="4403766" y="1095375"/>
            <a:ext cx="413657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80"/>
                </a:lnTo>
                <a:lnTo>
                  <a:pt x="200" y="880"/>
                </a:lnTo>
                <a:close/>
              </a:path>
              <a:path w="1000" h="1000">
                <a:moveTo>
                  <a:pt x="320" y="80"/>
                </a:moveTo>
                <a:lnTo>
                  <a:pt x="680" y="80"/>
                </a:lnTo>
                <a:lnTo>
                  <a:pt x="680" y="160"/>
                </a:lnTo>
                <a:lnTo>
                  <a:pt x="320" y="160"/>
                </a:lnTo>
              </a:path>
            </a:pathLst>
          </a:custGeom>
          <a:noFill/>
          <a:ln w="19050" cap="rnd">
            <a:solidFill>
              <a:srgbClr val="4D319F"/>
            </a:solidFill>
          </a:ln>
        </p:spPr>
      </p:sp>
      <p:sp>
        <p:nvSpPr>
          <p:cNvPr id="85" name="icon-camera-lens-85"/>
          <p:cNvSpPr/>
          <p:nvPr/>
        </p:nvSpPr>
        <p:spPr>
          <a:xfrm>
            <a:off x="4536137" y="1221105"/>
            <a:ext cx="148917" cy="150876"/>
          </a:xfrm>
          <a:prstGeom prst="ellipse">
            <a:avLst/>
          </a:prstGeom>
          <a:noFill/>
          <a:ln w="19050" cap="rnd">
            <a:solidFill>
              <a:srgbClr val="4D319F"/>
            </a:solidFill>
          </a:ln>
        </p:spPr>
      </p:sp>
      <p:sp>
        <p:nvSpPr>
          <p:cNvPr id="86" name="icon-camera-lens-86"/>
          <p:cNvSpPr/>
          <p:nvPr/>
        </p:nvSpPr>
        <p:spPr>
          <a:xfrm>
            <a:off x="4577502" y="1380363"/>
            <a:ext cx="66185" cy="67056"/>
          </a:xfrm>
          <a:prstGeom prst="ellipse">
            <a:avLst/>
          </a:prstGeom>
          <a:noFill/>
          <a:ln w="19050" cap="rnd">
            <a:solidFill>
              <a:srgbClr val="4D319F"/>
            </a:solidFill>
          </a:ln>
        </p:spPr>
      </p:sp>
      <p:sp>
        <p:nvSpPr>
          <p:cNvPr id="14" name="text-325">
            <a:extLst>
              <a:ext uri="{FF2B5EF4-FFF2-40B4-BE49-F238E27FC236}">
                <ns2:creationId id="{AD1BC031-20F8-4103-95C5-560AA605D2EA}"/>
              </a:ext>
            </a:extLst>
          </p:cNvPr>
          <p:cNvSpPr>
            <a:spLocks noGrp="1"/>
          </p:cNvSpPr>
          <p:nvPr/>
        </p:nvSpPr>
        <p:spPr>
          <a:xfrm>
            <a:off x="5005449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rPr>
              <a:t>三轮复测</a:t>
            </a:r>
            <a:endParaRPr/>
          </a:p>
        </p:txBody>
      </p:sp>
      <p:sp>
        <p:nvSpPr>
          <p:cNvPr id="15" name="text-326">
            <a:extLst>
              <a:ext uri="{FF2B5EF4-FFF2-40B4-BE49-F238E27FC236}">
                <ns2:creationId id="{FA30E6F8-E7FA-4FA8-8817-95DAA6DFE2D6}"/>
              </a:ext>
            </a:extLst>
          </p:cNvPr>
          <p:cNvSpPr>
            <a:spLocks noGrp="1"/>
          </p:cNvSpPr>
          <p:nvPr/>
        </p:nvSpPr>
        <p:spPr>
          <a:xfrm>
            <a:off x="5005449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同步观测</a:t>
            </a:r>
            <a:endParaRPr/>
          </a:p>
        </p:txBody>
      </p:sp>
      <p:sp>
        <p:nvSpPr>
          <p:cNvPr id="16" name="arrow-327">
            <a:extLst>
              <a:ext uri="{FF2B5EF4-FFF2-40B4-BE49-F238E27FC236}">
                <ns2:creationId id="{BD23A9D3-97CD-49F3-B660-0BD76BAFC663}"/>
              </a:ext>
            </a:extLst>
          </p:cNvPr>
          <p:cNvSpPr>
            <a:spLocks noGrp="1"/>
          </p:cNvSpPr>
          <p:nvPr/>
        </p:nvSpPr>
        <p:spPr>
          <a:xfrm>
            <a:off x="5362699" y="1828800"/>
            <a:ext cx="2848594" cy="95250"/>
          </a:xfrm>
          <a:prstGeom prst="rightArrow">
            <a:avLst/>
          </a:prstGeom>
          <a:solidFill>
            <a:srgbClr val="7960D0"/>
          </a:solidFill>
          <a:ln w="0">
            <a:noFill/>
            <a:prstDash val="solid"/>
          </a:ln>
        </p:spPr>
      </p:sp>
      <p:sp>
        <p:nvSpPr>
          <p:cNvPr id="87" name="icon-check-ring-87"/>
          <p:cNvSpPr/>
          <p:nvPr/>
        </p:nvSpPr>
        <p:spPr>
          <a:xfrm>
            <a:off x="8307938" y="1145667"/>
            <a:ext cx="314379" cy="318516"/>
          </a:xfrm>
          <a:prstGeom prst="ellipse">
            <a:avLst/>
          </a:prstGeom>
          <a:noFill/>
          <a:ln w="19050" cap="rnd">
            <a:solidFill>
              <a:srgbClr val="4D319F"/>
            </a:solidFill>
          </a:ln>
        </p:spPr>
      </p:sp>
      <p:sp>
        <p:nvSpPr>
          <p:cNvPr id="88" name="icon-check-mark-88"/>
          <p:cNvSpPr/>
          <p:nvPr/>
        </p:nvSpPr>
        <p:spPr>
          <a:xfrm>
            <a:off x="8258299" y="1095375"/>
            <a:ext cx="413657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21908" cap="rnd">
            <a:solidFill>
              <a:srgbClr val="4D319F"/>
            </a:solidFill>
          </a:ln>
        </p:spPr>
      </p:sp>
      <p:sp>
        <p:nvSpPr>
          <p:cNvPr id="28" name="text-339">
            <a:extLst>
              <a:ext uri="{FF2B5EF4-FFF2-40B4-BE49-F238E27FC236}">
                <ns2:creationId id="{37A98DA2-A76D-4CC9-9604-4431A4A2BA97}"/>
              </a:ext>
            </a:extLst>
          </p:cNvPr>
          <p:cNvSpPr>
            <a:spLocks noGrp="1"/>
          </p:cNvSpPr>
          <p:nvPr/>
        </p:nvSpPr>
        <p:spPr>
          <a:xfrm>
            <a:off x="8859982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rPr>
              <a:t>记录核对</a:t>
            </a:r>
            <a:endParaRPr/>
          </a:p>
        </p:txBody>
      </p:sp>
      <p:sp>
        <p:nvSpPr>
          <p:cNvPr id="29" name="text-340">
            <a:extLst>
              <a:ext uri="{FF2B5EF4-FFF2-40B4-BE49-F238E27FC236}">
                <ns2:creationId id="{00AB248B-3768-4D42-86E1-354998AFFD2F}"/>
              </a:ext>
            </a:extLst>
          </p:cNvPr>
          <p:cNvSpPr>
            <a:spLocks noGrp="1"/>
          </p:cNvSpPr>
          <p:nvPr/>
        </p:nvSpPr>
        <p:spPr>
          <a:xfrm>
            <a:off x="8859982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疑点回查</a:t>
            </a:r>
            <a:endParaRPr/>
          </a:p>
        </p:txBody>
      </p:sp>
      <p:sp>
        <p:nvSpPr>
          <p:cNvPr id="30" name="panel-341">
            <a:extLst>
              <a:ext uri="{FF2B5EF4-FFF2-40B4-BE49-F238E27FC236}">
                <ns2:creationId id="{6182B024-5923-4D09-9F91-7E985D66EFEF}"/>
              </a:ext>
            </a:extLst>
          </p:cNvPr>
          <p:cNvSpPr>
            <a:spLocks noGrp="1"/>
          </p:cNvSpPr>
          <p:nvPr/>
        </p:nvSpPr>
        <p:spPr>
          <a:xfrm>
            <a:off x="304800" y="2190750"/>
            <a:ext cx="7380019" cy="3876675"/>
          </a:xfrm>
          <a:prstGeom prst="rect">
            <a:avLst>
              <a:gd name="adj" fmla="val 1966"/>
            </a:avLst>
          </a:prstGeom>
          <a:solidFill>
            <a:srgbClr val="FFFFFF"/>
          </a:solidFill>
          <a:ln w="11430" cap="rnd">
            <a:solidFill>
              <a:srgbClr val="4D319F"/>
            </a:solidFill>
            <a:prstDash val="solid"/>
          </a:ln>
        </p:spPr>
      </p:sp>
      <p:sp>
        <p:nvSpPr>
          <p:cNvPr id="31" name="shape-342">
            <a:extLst>
              <a:ext uri="{FF2B5EF4-FFF2-40B4-BE49-F238E27FC236}">
                <ns2:creationId id="{B556E456-E21A-4520-8EF1-17E07AD6812D}"/>
              </a:ext>
            </a:extLst>
          </p:cNvPr>
          <p:cNvSpPr>
            <a:spLocks noGrp="1"/>
          </p:cNvSpPr>
          <p:nvPr/>
        </p:nvSpPr>
        <p:spPr>
          <a:xfrm>
            <a:off x="314201" y="2200275"/>
            <a:ext cx="7361217" cy="400050"/>
          </a:xfrm>
          <a:prstGeom prst="rect">
            <a:avLst>
              <a:gd name="adj" fmla="val 19048"/>
            </a:avLst>
          </a:prstGeom>
          <a:solidFill>
            <a:srgbClr val="4D319F"/>
          </a:solidFill>
          <a:ln w="14288" cap="rnd">
            <a:solidFill>
              <a:srgbClr val="4D319F"/>
            </a:solidFill>
            <a:prstDash val="solid"/>
          </a:ln>
        </p:spPr>
      </p:sp>
      <p:sp>
        <p:nvSpPr>
          <p:cNvPr id="89" name="icon-table-89"/>
          <p:cNvSpPr/>
          <p:nvPr/>
        </p:nvSpPr>
        <p:spPr>
          <a:xfrm>
            <a:off x="436418" y="2276475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160"/>
                </a:moveTo>
                <a:lnTo>
                  <a:pt x="860" y="160"/>
                </a:lnTo>
                <a:lnTo>
                  <a:pt x="860" y="840"/>
                </a:lnTo>
                <a:lnTo>
                  <a:pt x="140" y="840"/>
                </a:lnTo>
                <a:close/>
              </a:path>
              <a:path w="1000" h="1000">
                <a:moveTo>
                  <a:pt x="140" y="380"/>
                </a:moveTo>
                <a:lnTo>
                  <a:pt x="860" y="380"/>
                </a:lnTo>
              </a:path>
              <a:path w="1000" h="1000">
                <a:moveTo>
                  <a:pt x="140" y="610"/>
                </a:moveTo>
                <a:lnTo>
                  <a:pt x="860" y="610"/>
                </a:lnTo>
              </a:path>
              <a:path w="1000" h="1000">
                <a:moveTo>
                  <a:pt x="460" y="160"/>
                </a:moveTo>
                <a:lnTo>
                  <a:pt x="460" y="840"/>
                </a:lnTo>
              </a:path>
            </a:pathLst>
          </a:custGeom>
          <a:noFill/>
          <a:ln w="14288" cap="rnd">
            <a:solidFill>
              <a:srgbClr val="FFFFFF"/>
            </a:solidFill>
          </a:ln>
        </p:spPr>
      </p:sp>
      <p:sp>
        <p:nvSpPr>
          <p:cNvPr id="37" name="text-348">
            <a:extLst>
              <a:ext uri="{FF2B5EF4-FFF2-40B4-BE49-F238E27FC236}">
                <ns2:creationId id="{5FF7D94F-085D-44E0-9CD8-1B116B8BF64C}"/>
              </a:ext>
            </a:extLst>
          </p:cNvPr>
          <p:cNvSpPr>
            <a:spLocks noGrp="1"/>
          </p:cNvSpPr>
          <p:nvPr/>
        </p:nvSpPr>
        <p:spPr>
          <a:xfrm>
            <a:off x="756062" y="2257425"/>
            <a:ext cx="681594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样地 × 工作环节</a:t>
            </a:r>
          </a:p>
        </p:txBody>
      </p:sp>
      <p:graphicFrame>
        <p:nvGraphicFramePr>
          <p:cNvPr id="38" name="">
            <a:extLst>
              <a:ext uri="{FF2B5EF4-FFF2-40B4-BE49-F238E27FC236}">
                <ns2:creationId id="{D28CF8D8-13E3-4C8E-ACF2-BCBD0DBB0961}"/>
              </a:ext>
            </a:extLst>
          </p:cNvPr>
          <p:cNvGraphicFramePr/>
          <p:nvPr/>
        </p:nvGraphicFramePr>
        <p:xfrm>
          <a:off x="436418" y="2686050"/>
          <a:ext cx="7116783" cy="2762250"/>
        </p:xfrm>
        <a:graphic>
          <a:graphicData uri="http://schemas.openxmlformats.org/drawingml/2006/table">
            <a:tbl>
              <a:tblPr/>
              <a:tblGrid>
                <a:gridCol w="1251396"/>
                <a:gridCol w="1055600"/>
                <a:gridCol w="1251396"/>
                <a:gridCol w="1251396"/>
                <a:gridCol w="1251396"/>
                <a:gridCol w="1055602"/>
              </a:tblGrid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样地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E1DCEF"/>
                      </a:solidFill>
                      <a:prstDash val="solid"/>
                    </a:lnL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建档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样地A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E1DCEF"/>
                      </a:solidFill>
                      <a:prstDash val="solid"/>
                    </a:lnL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样地B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E1DCEF"/>
                      </a:solidFill>
                      <a:prstDash val="solid"/>
                    </a:lnL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A87D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△</a:t>
                      </a:r>
                      <a:endParaRPr sz="1500" b="1">
                        <a:solidFill>
                          <a:srgbClr val="A87D05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7960D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○</a:t>
                      </a:r>
                      <a:endParaRPr sz="1500" b="1">
                        <a:solidFill>
                          <a:srgbClr val="7960D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样地C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E1DCEF"/>
                      </a:solidFill>
                      <a:prstDash val="solid"/>
                    </a:lnL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7960D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○</a:t>
                      </a:r>
                      <a:endParaRPr sz="1500" b="1">
                        <a:solidFill>
                          <a:srgbClr val="7960D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7960D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○</a:t>
                      </a:r>
                      <a:endParaRPr sz="1500" b="1">
                        <a:solidFill>
                          <a:srgbClr val="7960D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样地D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E1DCEF"/>
                      </a:solidFill>
                      <a:prstDash val="solid"/>
                    </a:lnL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D319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4D319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A87D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△</a:t>
                      </a:r>
                      <a:endParaRPr sz="1500" b="1">
                        <a:solidFill>
                          <a:srgbClr val="A87D05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</a:tr>
            </a:tbl>
          </a:graphicData>
        </a:graphic>
      </p:graphicFrame>
      <p:sp>
        <p:nvSpPr>
          <p:cNvPr id="39" name="text-349">
            <a:extLst>
              <a:ext uri="{FF2B5EF4-FFF2-40B4-BE49-F238E27FC236}">
                <ns2:creationId id="{5BCEDC70-14CA-4067-A9AC-2C0524306D59}"/>
              </a:ext>
            </a:extLst>
          </p:cNvPr>
          <p:cNvSpPr>
            <a:spLocks noGrp="1"/>
          </p:cNvSpPr>
          <p:nvPr/>
        </p:nvSpPr>
        <p:spPr>
          <a:xfrm>
            <a:off x="474023" y="5600700"/>
            <a:ext cx="695696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rPr>
              <a:t>● 完成     △ 待核对     ○ 待开展</a:t>
            </a:r>
          </a:p>
        </p:txBody>
      </p:sp>
      <p:sp>
        <p:nvSpPr>
          <p:cNvPr id="40" name="panel-350">
            <a:extLst>
              <a:ext uri="{FF2B5EF4-FFF2-40B4-BE49-F238E27FC236}">
                <ns2:creationId id="{D78B1662-5436-4AE9-90D5-0CEBD5B61840}"/>
              </a:ext>
            </a:extLst>
          </p:cNvPr>
          <p:cNvSpPr>
            <a:spLocks noGrp="1"/>
          </p:cNvSpPr>
          <p:nvPr/>
        </p:nvSpPr>
        <p:spPr>
          <a:xfrm>
            <a:off x="7872845" y="2190750"/>
            <a:ext cx="4014355" cy="1352550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11430" cap="rnd">
            <a:solidFill>
              <a:srgbClr val="4D319F"/>
            </a:solidFill>
            <a:prstDash val="solid"/>
          </a:ln>
        </p:spPr>
      </p:sp>
      <p:sp>
        <p:nvSpPr>
          <p:cNvPr id="41" name="shape-351">
            <a:extLst>
              <a:ext uri="{FF2B5EF4-FFF2-40B4-BE49-F238E27FC236}">
                <ns2:creationId id="{21341275-9869-4E29-BC8E-3E095876FA22}"/>
              </a:ext>
            </a:extLst>
          </p:cNvPr>
          <p:cNvSpPr>
            <a:spLocks noGrp="1"/>
          </p:cNvSpPr>
          <p:nvPr/>
        </p:nvSpPr>
        <p:spPr>
          <a:xfrm>
            <a:off x="7882247" y="2200275"/>
            <a:ext cx="3995552" cy="400050"/>
          </a:xfrm>
          <a:prstGeom prst="rect">
            <a:avLst>
              <a:gd name="adj" fmla="val 19048"/>
            </a:avLst>
          </a:prstGeom>
          <a:solidFill>
            <a:srgbClr val="4D319F"/>
          </a:solidFill>
          <a:ln w="14288" cap="rnd">
            <a:solidFill>
              <a:srgbClr val="4D319F"/>
            </a:solidFill>
            <a:prstDash val="solid"/>
          </a:ln>
        </p:spPr>
      </p:sp>
      <p:sp>
        <p:nvSpPr>
          <p:cNvPr id="90" name="icon-warning-90"/>
          <p:cNvSpPr/>
          <p:nvPr/>
        </p:nvSpPr>
        <p:spPr>
          <a:xfrm>
            <a:off x="7995062" y="2276475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40"/>
                </a:moveTo>
                <a:lnTo>
                  <a:pt x="880" y="820"/>
                </a:lnTo>
                <a:lnTo>
                  <a:pt x="120" y="820"/>
                </a:lnTo>
                <a:close/>
              </a:path>
              <a:path w="1000" h="1000">
                <a:moveTo>
                  <a:pt x="500" y="380"/>
                </a:moveTo>
                <a:lnTo>
                  <a:pt x="500" y="600"/>
                </a:lnTo>
              </a:path>
              <a:path w="1000" h="1000">
                <a:moveTo>
                  <a:pt x="485" y="700"/>
                </a:moveTo>
                <a:lnTo>
                  <a:pt x="515" y="700"/>
                </a:lnTo>
                <a:lnTo>
                  <a:pt x="515" y="730"/>
                </a:lnTo>
                <a:lnTo>
                  <a:pt x="485" y="730"/>
                </a:lnTo>
                <a:close/>
              </a:path>
            </a:pathLst>
          </a:custGeom>
          <a:noFill/>
          <a:ln w="14288" cap="rnd">
            <a:solidFill>
              <a:srgbClr val="FFFFFF"/>
            </a:solidFill>
          </a:ln>
        </p:spPr>
      </p:sp>
      <p:sp>
        <p:nvSpPr>
          <p:cNvPr id="44" name="text-354">
            <a:extLst>
              <a:ext uri="{FF2B5EF4-FFF2-40B4-BE49-F238E27FC236}">
                <ns2:creationId id="{A48B03CC-2483-4B5D-8DB0-6E55D6D79EAD}"/>
              </a:ext>
            </a:extLst>
          </p:cNvPr>
          <p:cNvSpPr>
            <a:spLocks noGrp="1"/>
          </p:cNvSpPr>
          <p:nvPr/>
        </p:nvSpPr>
        <p:spPr>
          <a:xfrm>
            <a:off x="8324108" y="2257425"/>
            <a:ext cx="345027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待核对事项</a:t>
            </a:r>
          </a:p>
        </p:txBody>
      </p:sp>
      <p:sp>
        <p:nvSpPr>
          <p:cNvPr id="45" name="text-355">
            <a:extLst>
              <a:ext uri="{FF2B5EF4-FFF2-40B4-BE49-F238E27FC236}">
                <ns2:creationId id="{AB7132A7-F650-46C0-9754-98EAAB2DD5D0}"/>
              </a:ext>
            </a:extLst>
          </p:cNvPr>
          <p:cNvSpPr>
            <a:spLocks noGrp="1"/>
          </p:cNvSpPr>
          <p:nvPr/>
        </p:nvSpPr>
        <p:spPr>
          <a:xfrm>
            <a:off x="8060871" y="2676525"/>
            <a:ext cx="364770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1  部分记录时间不一致</a:t>
            </a:r>
            <a:endParaRPr/>
          </a:p>
        </p:txBody>
      </p:sp>
      <p:sp>
        <p:nvSpPr>
          <p:cNvPr id="46" name="text-356">
            <a:extLst>
              <a:ext uri="{FF2B5EF4-FFF2-40B4-BE49-F238E27FC236}">
                <ns2:creationId id="{95F06569-D2A9-40BB-A226-D58A340A406A}"/>
              </a:ext>
            </a:extLst>
          </p:cNvPr>
          <p:cNvSpPr>
            <a:spLocks noGrp="1"/>
          </p:cNvSpPr>
          <p:nvPr/>
        </p:nvSpPr>
        <p:spPr>
          <a:xfrm>
            <a:off x="8060871" y="3019425"/>
            <a:ext cx="364770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2  失访与死亡标记混用</a:t>
            </a:r>
            <a:endParaRPr/>
          </a:p>
        </p:txBody>
      </p:sp>
      <p:sp>
        <p:nvSpPr>
          <p:cNvPr id="47" name="panel-357">
            <a:extLst>
              <a:ext uri="{FF2B5EF4-FFF2-40B4-BE49-F238E27FC236}">
                <ns2:creationId id="{86BC235E-D582-4415-AEB6-BB5F688634DC}"/>
              </a:ext>
            </a:extLst>
          </p:cNvPr>
          <p:cNvSpPr>
            <a:spLocks noGrp="1"/>
          </p:cNvSpPr>
          <p:nvPr/>
        </p:nvSpPr>
        <p:spPr>
          <a:xfrm>
            <a:off x="7872845" y="3686175"/>
            <a:ext cx="4014355" cy="238125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1430" cap="rnd">
            <a:solidFill>
              <a:srgbClr val="4D319F"/>
            </a:solidFill>
            <a:prstDash val="solid"/>
          </a:ln>
        </p:spPr>
      </p:sp>
      <p:sp>
        <p:nvSpPr>
          <p:cNvPr id="48" name="shape-358">
            <a:extLst>
              <a:ext uri="{FF2B5EF4-FFF2-40B4-BE49-F238E27FC236}">
                <ns2:creationId id="{9DCCAB6C-28AA-4825-8C19-E61C97BB8DE5}"/>
              </a:ext>
            </a:extLst>
          </p:cNvPr>
          <p:cNvSpPr>
            <a:spLocks noGrp="1"/>
          </p:cNvSpPr>
          <p:nvPr/>
        </p:nvSpPr>
        <p:spPr>
          <a:xfrm>
            <a:off x="7882247" y="3695700"/>
            <a:ext cx="3995552" cy="400050"/>
          </a:xfrm>
          <a:prstGeom prst="rect">
            <a:avLst>
              <a:gd name="adj" fmla="val 19048"/>
            </a:avLst>
          </a:prstGeom>
          <a:solidFill>
            <a:srgbClr val="4D319F"/>
          </a:solidFill>
          <a:ln w="14288" cap="rnd">
            <a:solidFill>
              <a:srgbClr val="4D319F"/>
            </a:solidFill>
            <a:prstDash val="solid"/>
          </a:ln>
        </p:spPr>
      </p:sp>
      <p:sp>
        <p:nvSpPr>
          <p:cNvPr id="91" name="icon-check-ring-91"/>
          <p:cNvSpPr/>
          <p:nvPr/>
        </p:nvSpPr>
        <p:spPr>
          <a:xfrm>
            <a:off x="8023266" y="3800475"/>
            <a:ext cx="178625" cy="180975"/>
          </a:xfrm>
          <a:prstGeom prst="ellipse">
            <a:avLst/>
          </a:prstGeom>
          <a:noFill/>
          <a:ln w="14288" cap="rnd">
            <a:solidFill>
              <a:srgbClr val="FFFFFF"/>
            </a:solidFill>
          </a:ln>
        </p:spPr>
      </p:sp>
      <p:sp>
        <p:nvSpPr>
          <p:cNvPr id="92" name="icon-check-mark-92"/>
          <p:cNvSpPr/>
          <p:nvPr/>
        </p:nvSpPr>
        <p:spPr>
          <a:xfrm>
            <a:off x="7995062" y="3771900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16431" cap="rnd">
            <a:solidFill>
              <a:srgbClr val="FFFFFF"/>
            </a:solidFill>
          </a:ln>
        </p:spPr>
      </p:sp>
      <p:sp>
        <p:nvSpPr>
          <p:cNvPr id="59" name="text-369">
            <a:extLst>
              <a:ext uri="{FF2B5EF4-FFF2-40B4-BE49-F238E27FC236}">
                <ns2:creationId id="{90DC611A-B021-4636-8233-2D2D5476F92A}"/>
              </a:ext>
            </a:extLst>
          </p:cNvPr>
          <p:cNvSpPr>
            <a:spLocks noGrp="1"/>
          </p:cNvSpPr>
          <p:nvPr/>
        </p:nvSpPr>
        <p:spPr>
          <a:xfrm>
            <a:off x="8324108" y="3752850"/>
            <a:ext cx="345027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下一步行动</a:t>
            </a:r>
          </a:p>
        </p:txBody>
      </p:sp>
      <p:sp>
        <p:nvSpPr>
          <p:cNvPr id="60" name="shape-370">
            <a:extLst>
              <a:ext uri="{FF2B5EF4-FFF2-40B4-BE49-F238E27FC236}">
                <ns2:creationId id="{4FB3C7EE-E394-4E0A-9DC8-FEC27B9F74D8}"/>
              </a:ext>
            </a:extLst>
          </p:cNvPr>
          <p:cNvSpPr>
            <a:spLocks noGrp="1"/>
          </p:cNvSpPr>
          <p:nvPr/>
        </p:nvSpPr>
        <p:spPr>
          <a:xfrm>
            <a:off x="8032668" y="4238625"/>
            <a:ext cx="272638" cy="276225"/>
          </a:xfrm>
          <a:prstGeom prst="ellipse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61" name="text-371">
            <a:extLst>
              <a:ext uri="{FF2B5EF4-FFF2-40B4-BE49-F238E27FC236}">
                <ns2:creationId id="{8F39CBB5-2812-439E-9E16-196354C8147C}"/>
              </a:ext>
            </a:extLst>
          </p:cNvPr>
          <p:cNvSpPr>
            <a:spLocks noGrp="1"/>
          </p:cNvSpPr>
          <p:nvPr/>
        </p:nvSpPr>
        <p:spPr>
          <a:xfrm>
            <a:off x="8032668" y="4238625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2" name="text-372">
            <a:extLst>
              <a:ext uri="{FF2B5EF4-FFF2-40B4-BE49-F238E27FC236}">
                <ns2:creationId id="{C0AEA6AB-D165-4BE2-93F2-1DAA05C22161}"/>
              </a:ext>
            </a:extLst>
          </p:cNvPr>
          <p:cNvSpPr>
            <a:spLocks noGrp="1"/>
          </p:cNvSpPr>
          <p:nvPr/>
        </p:nvSpPr>
        <p:spPr>
          <a:xfrm>
            <a:off x="8446325" y="4210050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rPr>
              <a:t>回查原始记录与事件标记</a:t>
            </a:r>
            <a:endParaRPr/>
          </a:p>
        </p:txBody>
      </p:sp>
      <p:sp>
        <p:nvSpPr>
          <p:cNvPr id="63" name="shape-373">
            <a:extLst>
              <a:ext uri="{FF2B5EF4-FFF2-40B4-BE49-F238E27FC236}">
                <ns2:creationId id="{CFD662D2-615F-4486-A0E0-F13FFF019EED}"/>
              </a:ext>
            </a:extLst>
          </p:cNvPr>
          <p:cNvSpPr>
            <a:spLocks noGrp="1"/>
          </p:cNvSpPr>
          <p:nvPr/>
        </p:nvSpPr>
        <p:spPr>
          <a:xfrm>
            <a:off x="8032668" y="4800600"/>
            <a:ext cx="272638" cy="276225"/>
          </a:xfrm>
          <a:prstGeom prst="ellipse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64" name="text-374">
            <a:extLst>
              <a:ext uri="{FF2B5EF4-FFF2-40B4-BE49-F238E27FC236}">
                <ns2:creationId id="{E5DEB7C9-CD44-419B-A012-164A5D3CBAA2}"/>
              </a:ext>
            </a:extLst>
          </p:cNvPr>
          <p:cNvSpPr>
            <a:spLocks noGrp="1"/>
          </p:cNvSpPr>
          <p:nvPr/>
        </p:nvSpPr>
        <p:spPr>
          <a:xfrm>
            <a:off x="8032668" y="48006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5" name="text-375">
            <a:extLst>
              <a:ext uri="{FF2B5EF4-FFF2-40B4-BE49-F238E27FC236}">
                <ns2:creationId id="{17B88C21-9C53-44EE-B6A7-923684183CEC}"/>
              </a:ext>
            </a:extLst>
          </p:cNvPr>
          <p:cNvSpPr>
            <a:spLocks noGrp="1"/>
          </p:cNvSpPr>
          <p:nvPr/>
        </p:nvSpPr>
        <p:spPr>
          <a:xfrm>
            <a:off x="8446325" y="4772025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rPr>
              <a:t>针对存疑样地补充现场复核</a:t>
            </a:r>
            <a:endParaRPr/>
          </a:p>
        </p:txBody>
      </p:sp>
      <p:sp>
        <p:nvSpPr>
          <p:cNvPr id="66" name="shape-376">
            <a:extLst>
              <a:ext uri="{FF2B5EF4-FFF2-40B4-BE49-F238E27FC236}">
                <ns2:creationId id="{5D766447-3BB4-4C73-B746-7A06259821A3}"/>
              </a:ext>
            </a:extLst>
          </p:cNvPr>
          <p:cNvSpPr>
            <a:spLocks noGrp="1"/>
          </p:cNvSpPr>
          <p:nvPr/>
        </p:nvSpPr>
        <p:spPr>
          <a:xfrm>
            <a:off x="8032668" y="5362575"/>
            <a:ext cx="272638" cy="276225"/>
          </a:xfrm>
          <a:prstGeom prst="ellipse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67" name="text-377">
            <a:extLst>
              <a:ext uri="{FF2B5EF4-FFF2-40B4-BE49-F238E27FC236}">
                <ns2:creationId id="{7687D4EF-9E24-4C9C-A3CA-1E57409329B0}"/>
              </a:ext>
            </a:extLst>
          </p:cNvPr>
          <p:cNvSpPr>
            <a:spLocks noGrp="1"/>
          </p:cNvSpPr>
          <p:nvPr/>
        </p:nvSpPr>
        <p:spPr>
          <a:xfrm>
            <a:off x="8032668" y="5362575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8" name="text-378">
            <a:extLst>
              <a:ext uri="{FF2B5EF4-FFF2-40B4-BE49-F238E27FC236}">
                <ns2:creationId id="{7E4F358F-61F6-44F6-9FEA-4FC20759F931}"/>
              </a:ext>
            </a:extLst>
          </p:cNvPr>
          <p:cNvSpPr>
            <a:spLocks noGrp="1"/>
          </p:cNvSpPr>
          <p:nvPr/>
        </p:nvSpPr>
        <p:spPr>
          <a:xfrm>
            <a:off x="8446325" y="5334000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rPr>
              <a:t>按核对结果更新分析输入</a:t>
            </a:r>
            <a:endParaRPr/>
          </a:p>
        </p:txBody>
      </p:sp>
      <p:sp>
        <p:nvSpPr>
          <p:cNvPr id="69" name="shape-379">
            <a:extLst>
              <a:ext uri="{FF2B5EF4-FFF2-40B4-BE49-F238E27FC236}">
                <ns2:creationId id="{92D443A4-76C5-4E89-8305-86C91D1AE95E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4D319F"/>
          </a:solidFill>
          <a:ln w="14288" cap="rnd">
            <a:solidFill>
              <a:srgbClr val="4D319F"/>
            </a:solidFill>
            <a:prstDash val="solid"/>
          </a:ln>
        </p:spPr>
      </p:sp>
      <p:sp>
        <p:nvSpPr>
          <p:cNvPr id="70" name="text-380">
            <a:extLst>
              <a:ext uri="{FF2B5EF4-FFF2-40B4-BE49-F238E27FC236}">
                <ns2:creationId id="{99CBED85-FC7E-4BD9-AE27-E694A12DC044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汇报重点：完成情况可核查，问题与下一步一一对应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1" name="text-381">
            <a:extLst>
              <a:ext uri="{FF2B5EF4-FFF2-40B4-BE49-F238E27FC236}">
                <ns2:creationId id="{CAA8E449-0DCD-49CB-BF4B-35E6EA811111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rPr>
              <a:t>科研模板 · 内容与数据均为示意</a:t>
            </a:r>
            <a:endParaRPr/>
          </a:p>
        </p:txBody>
      </p:sp>
      <p:sp>
        <p:nvSpPr>
          <p:cNvPr id="72" name="text-382">
            <a:extLst>
              <a:ext uri="{FF2B5EF4-FFF2-40B4-BE49-F238E27FC236}">
                <ns2:creationId id="{C75CE07C-53F3-4FCF-A77C-9DC86A82F4D5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960D0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/>
          </a:p>
        </p:txBody>
      </p:sp>
      <p:sp>
        <p:nvSpPr>
          <p:cNvPr id="93" name="title-translation-93"/>
          <p:cNvSpPr txBox="1"/>
          <p:nvPr/>
        </p:nvSpPr>
        <p:spPr>
          <a:xfrm>
            <a:off x="304800" y="19050"/>
            <a:ext cx="11582400" cy="2190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4D319F"/>
                </a:solidFill>
                <a:latin typeface="Microsoft YaHei"/>
                <a:ea typeface="Microsoft YaHei"/>
                <a:cs typeface="Microsoft YaHei"/>
              </a:rPr>
              <a:t>Data preparation and analysis progress</a:t>
            </a:r>
            <a:endParaRPr lang="zh-CN" sz="1275"/>
          </a:p>
        </p:txBody>
      </p:sp>
    </p:spTree>
    <p:extLst>
      <p:ext uri="{BB962C8B-B14F-4D97-AF65-F5344CB8AC3E}">
        <ns3:creationId val="2876907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2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ScholarFlow contributors</dc:creator>
  <ns0:lastModifiedBy>ScholarFlow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