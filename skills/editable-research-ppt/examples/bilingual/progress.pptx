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1567c83f4b6a4b74" /><Relationship Type="http://schemas.openxmlformats.org/officeDocument/2006/relationships/notesMaster" Target="/ppt/notesMasters/notesMaster1.xml" Id="R0926ce8f21de4b11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6e48b80e4b834772" /><Relationship Type="http://schemas.openxmlformats.org/officeDocument/2006/relationships/notesMaster" Target="/ppt/notesMasters/notesMaster1.xml" Id="R6ea7d8a4598a4ea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本页为合成版式容量与双语测试，不代表真实论文、研究或实验结果。</a:t>
            </a:r>
            <a:endParaRPr/>
          </a:p>
          <a:p>
            <a:r>
              <a:rPr/>
              <a:t>Layout: L4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本页为合成版式容量与双语测试，不代表真实论文、研究或实验结果。</a:t>
            </a:r>
            <a:endParaRPr/>
          </a:p>
          <a:p>
            <a:r>
              <a:rPr/>
              <a:t>Layout: L19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progress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457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914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371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18288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2860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7432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2004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657600" algn="l">
        <a:buNone/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3495a616070428b" /><Relationship Type="http://schemas.openxmlformats.org/officeDocument/2006/relationships/notesSlide" Target="/ppt/notesSlides/notesSlide1.xml" Id="Rece6f4e963464ce2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2.xml" Id="R42f6f6e0deef48f7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3" name="text-312">
            <a:extLst>
              <a:ext uri="{FF2B5EF4-FFF2-40B4-BE49-F238E27FC236}">
                <ns2:creationId id="{DB74890F-FA42-414A-897E-CCB303FA2F13}"/>
              </a:ext>
            </a:extLst>
          </p:cNvPr>
          <p:cNvSpPr>
            <a:spLocks noGrp="1"/>
          </p:cNvSpPr>
          <p:nvPr/>
        </p:nvSpPr>
        <p:spPr>
          <a:xfrm>
            <a:off x="304800" y="2476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数据整理与质量控制进展</a:t>
            </a:r>
            <a:endParaRPr/>
          </a:p>
        </p:txBody>
      </p:sp>
      <p:sp>
        <p:nvSpPr>
          <p:cNvPr id="2" name="line-313">
            <a:extLst>
              <a:ext uri="{FF2B5EF4-FFF2-40B4-BE49-F238E27FC236}">
                <ns2:creationId id="{AFAB16AE-3C42-42C8-91A9-84D743EA424C}"/>
              </a:ext>
            </a:extLst>
          </p:cNvPr>
          <p:cNvSpPr>
            <a:spLocks noGrp="1"/>
          </p:cNvSpPr>
          <p:nvPr/>
        </p:nvSpPr>
        <p:spPr>
          <a:xfrm>
            <a:off x="304800" y="819150"/>
            <a:ext cx="11582400" cy="95"/>
          </a:xfrm>
          <a:prstGeom prst="line">
            <a:avLst/>
          </a:prstGeom>
          <a:noFill/>
          <a:ln w="16193">
            <a:solidFill>
              <a:srgbClr val="136742"/>
            </a:solidFill>
            <a:prstDash val="solid"/>
          </a:ln>
        </p:spPr>
      </p:sp>
      <p:sp>
        <p:nvSpPr>
          <p:cNvPr id="83" name="icon-table-83"/>
          <p:cNvSpPr/>
          <p:nvPr/>
        </p:nvSpPr>
        <p:spPr>
          <a:xfrm>
            <a:off x="549234" y="1095375"/>
            <a:ext cx="413657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160"/>
                </a:moveTo>
                <a:lnTo>
                  <a:pt x="860" y="160"/>
                </a:lnTo>
                <a:lnTo>
                  <a:pt x="860" y="840"/>
                </a:lnTo>
                <a:lnTo>
                  <a:pt x="140" y="840"/>
                </a:lnTo>
                <a:close/>
              </a:path>
              <a:path w="1000" h="1000">
                <a:moveTo>
                  <a:pt x="140" y="380"/>
                </a:moveTo>
                <a:lnTo>
                  <a:pt x="860" y="380"/>
                </a:lnTo>
              </a:path>
              <a:path w="1000" h="1000">
                <a:moveTo>
                  <a:pt x="140" y="610"/>
                </a:moveTo>
                <a:lnTo>
                  <a:pt x="860" y="610"/>
                </a:lnTo>
              </a:path>
              <a:path w="1000" h="1000">
                <a:moveTo>
                  <a:pt x="460" y="160"/>
                </a:moveTo>
                <a:lnTo>
                  <a:pt x="460" y="840"/>
                </a:lnTo>
              </a:path>
            </a:pathLst>
          </a:custGeom>
          <a:noFill/>
          <a:ln w="19050" cap="rnd">
            <a:solidFill>
              <a:srgbClr val="136742"/>
            </a:solidFill>
          </a:ln>
        </p:spPr>
      </p:sp>
      <p:sp>
        <p:nvSpPr>
          <p:cNvPr id="7" name="text-318">
            <a:extLst>
              <a:ext uri="{FF2B5EF4-FFF2-40B4-BE49-F238E27FC236}">
                <ns2:creationId id="{E8E5C932-982B-49A4-A5FA-BE990A1777E5}"/>
              </a:ext>
            </a:extLst>
          </p:cNvPr>
          <p:cNvSpPr>
            <a:spLocks noGrp="1"/>
          </p:cNvSpPr>
          <p:nvPr/>
        </p:nvSpPr>
        <p:spPr>
          <a:xfrm>
            <a:off x="1150917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样地建档</a:t>
            </a:r>
            <a:endParaRPr/>
          </a:p>
        </p:txBody>
      </p:sp>
      <p:sp>
        <p:nvSpPr>
          <p:cNvPr id="8" name="text-319">
            <a:extLst>
              <a:ext uri="{FF2B5EF4-FFF2-40B4-BE49-F238E27FC236}">
                <ns2:creationId id="{4D118A3A-C8BF-41B1-96CE-C05AF2730C3E}"/>
              </a:ext>
            </a:extLst>
          </p:cNvPr>
          <p:cNvSpPr>
            <a:spLocks noGrp="1"/>
          </p:cNvSpPr>
          <p:nvPr/>
        </p:nvSpPr>
        <p:spPr>
          <a:xfrm>
            <a:off x="1150917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编号与位置</a:t>
            </a:r>
            <a:endParaRPr/>
          </a:p>
        </p:txBody>
      </p:sp>
      <p:sp>
        <p:nvSpPr>
          <p:cNvPr id="9" name="arrow-320">
            <a:extLst>
              <a:ext uri="{FF2B5EF4-FFF2-40B4-BE49-F238E27FC236}">
                <ns2:creationId id="{D46EBAAB-3E7B-43F4-839F-CD502FD1AA2E}"/>
              </a:ext>
            </a:extLst>
          </p:cNvPr>
          <p:cNvSpPr>
            <a:spLocks noGrp="1"/>
          </p:cNvSpPr>
          <p:nvPr/>
        </p:nvSpPr>
        <p:spPr>
          <a:xfrm>
            <a:off x="1508166" y="1828800"/>
            <a:ext cx="2848594" cy="95250"/>
          </a:xfrm>
          <a:prstGeom prst="rightArrow">
            <a:avLst/>
          </a:prstGeom>
          <a:solidFill>
            <a:srgbClr val="429C6B"/>
          </a:solidFill>
          <a:ln w="0">
            <a:noFill/>
            <a:prstDash val="solid"/>
          </a:ln>
        </p:spPr>
      </p:sp>
      <p:sp>
        <p:nvSpPr>
          <p:cNvPr id="84" name="icon-camera-body-84"/>
          <p:cNvSpPr/>
          <p:nvPr/>
        </p:nvSpPr>
        <p:spPr>
          <a:xfrm>
            <a:off x="4403766" y="1095375"/>
            <a:ext cx="413657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60"/>
                </a:moveTo>
                <a:lnTo>
                  <a:pt x="800" y="160"/>
                </a:lnTo>
                <a:lnTo>
                  <a:pt x="800" y="880"/>
                </a:lnTo>
                <a:lnTo>
                  <a:pt x="200" y="880"/>
                </a:lnTo>
                <a:close/>
              </a:path>
              <a:path w="1000" h="1000">
                <a:moveTo>
                  <a:pt x="320" y="80"/>
                </a:moveTo>
                <a:lnTo>
                  <a:pt x="680" y="80"/>
                </a:lnTo>
                <a:lnTo>
                  <a:pt x="680" y="160"/>
                </a:lnTo>
                <a:lnTo>
                  <a:pt x="320" y="160"/>
                </a:lnTo>
              </a:path>
            </a:pathLst>
          </a:custGeom>
          <a:noFill/>
          <a:ln w="19050" cap="rnd">
            <a:solidFill>
              <a:srgbClr val="136742"/>
            </a:solidFill>
          </a:ln>
        </p:spPr>
      </p:sp>
      <p:sp>
        <p:nvSpPr>
          <p:cNvPr id="85" name="icon-camera-lens-85"/>
          <p:cNvSpPr/>
          <p:nvPr/>
        </p:nvSpPr>
        <p:spPr>
          <a:xfrm>
            <a:off x="4536137" y="1221105"/>
            <a:ext cx="148917" cy="150876"/>
          </a:xfrm>
          <a:prstGeom prst="ellipse">
            <a:avLst/>
          </a:prstGeom>
          <a:noFill/>
          <a:ln w="19050" cap="rnd">
            <a:solidFill>
              <a:srgbClr val="136742"/>
            </a:solidFill>
          </a:ln>
        </p:spPr>
      </p:sp>
      <p:sp>
        <p:nvSpPr>
          <p:cNvPr id="86" name="icon-camera-lens-86"/>
          <p:cNvSpPr/>
          <p:nvPr/>
        </p:nvSpPr>
        <p:spPr>
          <a:xfrm>
            <a:off x="4577502" y="1380363"/>
            <a:ext cx="66185" cy="67056"/>
          </a:xfrm>
          <a:prstGeom prst="ellipse">
            <a:avLst/>
          </a:prstGeom>
          <a:noFill/>
          <a:ln w="19050" cap="rnd">
            <a:solidFill>
              <a:srgbClr val="136742"/>
            </a:solidFill>
          </a:ln>
        </p:spPr>
      </p:sp>
      <p:sp>
        <p:nvSpPr>
          <p:cNvPr id="14" name="text-325">
            <a:extLst>
              <a:ext uri="{FF2B5EF4-FFF2-40B4-BE49-F238E27FC236}">
                <ns2:creationId id="{AD1BC031-20F8-4103-95C5-560AA605D2EA}"/>
              </a:ext>
            </a:extLst>
          </p:cNvPr>
          <p:cNvSpPr>
            <a:spLocks noGrp="1"/>
          </p:cNvSpPr>
          <p:nvPr/>
        </p:nvSpPr>
        <p:spPr>
          <a:xfrm>
            <a:off x="5005449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三轮复测</a:t>
            </a:r>
            <a:endParaRPr/>
          </a:p>
        </p:txBody>
      </p:sp>
      <p:sp>
        <p:nvSpPr>
          <p:cNvPr id="15" name="text-326">
            <a:extLst>
              <a:ext uri="{FF2B5EF4-FFF2-40B4-BE49-F238E27FC236}">
                <ns2:creationId id="{FA30E6F8-E7FA-4FA8-8817-95DAA6DFE2D6}"/>
              </a:ext>
            </a:extLst>
          </p:cNvPr>
          <p:cNvSpPr>
            <a:spLocks noGrp="1"/>
          </p:cNvSpPr>
          <p:nvPr/>
        </p:nvSpPr>
        <p:spPr>
          <a:xfrm>
            <a:off x="5005449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同步观测</a:t>
            </a:r>
            <a:endParaRPr/>
          </a:p>
        </p:txBody>
      </p:sp>
      <p:sp>
        <p:nvSpPr>
          <p:cNvPr id="16" name="arrow-327">
            <a:extLst>
              <a:ext uri="{FF2B5EF4-FFF2-40B4-BE49-F238E27FC236}">
                <ns2:creationId id="{BD23A9D3-97CD-49F3-B660-0BD76BAFC663}"/>
              </a:ext>
            </a:extLst>
          </p:cNvPr>
          <p:cNvSpPr>
            <a:spLocks noGrp="1"/>
          </p:cNvSpPr>
          <p:nvPr/>
        </p:nvSpPr>
        <p:spPr>
          <a:xfrm>
            <a:off x="5362699" y="1828800"/>
            <a:ext cx="2848594" cy="95250"/>
          </a:xfrm>
          <a:prstGeom prst="rightArrow">
            <a:avLst/>
          </a:prstGeom>
          <a:solidFill>
            <a:srgbClr val="429C6B"/>
          </a:solidFill>
          <a:ln w="0">
            <a:noFill/>
            <a:prstDash val="solid"/>
          </a:ln>
        </p:spPr>
      </p:sp>
      <p:sp>
        <p:nvSpPr>
          <p:cNvPr id="87" name="icon-check-ring-87"/>
          <p:cNvSpPr/>
          <p:nvPr/>
        </p:nvSpPr>
        <p:spPr>
          <a:xfrm>
            <a:off x="8307938" y="1145667"/>
            <a:ext cx="314379" cy="318516"/>
          </a:xfrm>
          <a:prstGeom prst="ellipse">
            <a:avLst/>
          </a:prstGeom>
          <a:noFill/>
          <a:ln w="19050" cap="rnd">
            <a:solidFill>
              <a:srgbClr val="136742"/>
            </a:solidFill>
          </a:ln>
        </p:spPr>
      </p:sp>
      <p:sp>
        <p:nvSpPr>
          <p:cNvPr id="88" name="icon-check-mark-88"/>
          <p:cNvSpPr/>
          <p:nvPr/>
        </p:nvSpPr>
        <p:spPr>
          <a:xfrm>
            <a:off x="8258299" y="1095375"/>
            <a:ext cx="413657" cy="4191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21908" cap="rnd">
            <a:solidFill>
              <a:srgbClr val="136742"/>
            </a:solidFill>
          </a:ln>
        </p:spPr>
      </p:sp>
      <p:sp>
        <p:nvSpPr>
          <p:cNvPr id="28" name="text-339">
            <a:extLst>
              <a:ext uri="{FF2B5EF4-FFF2-40B4-BE49-F238E27FC236}">
                <ns2:creationId id="{37A98DA2-A76D-4CC9-9604-4431A4A2BA97}"/>
              </a:ext>
            </a:extLst>
          </p:cNvPr>
          <p:cNvSpPr>
            <a:spLocks noGrp="1"/>
          </p:cNvSpPr>
          <p:nvPr/>
        </p:nvSpPr>
        <p:spPr>
          <a:xfrm>
            <a:off x="8859982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记录核对</a:t>
            </a:r>
            <a:endParaRPr/>
          </a:p>
        </p:txBody>
      </p:sp>
      <p:sp>
        <p:nvSpPr>
          <p:cNvPr id="29" name="text-340">
            <a:extLst>
              <a:ext uri="{FF2B5EF4-FFF2-40B4-BE49-F238E27FC236}">
                <ns2:creationId id="{00AB248B-3768-4D42-86E1-354998AFFD2F}"/>
              </a:ext>
            </a:extLst>
          </p:cNvPr>
          <p:cNvSpPr>
            <a:spLocks noGrp="1"/>
          </p:cNvSpPr>
          <p:nvPr/>
        </p:nvSpPr>
        <p:spPr>
          <a:xfrm>
            <a:off x="8859982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疑点回查</a:t>
            </a:r>
            <a:endParaRPr/>
          </a:p>
        </p:txBody>
      </p:sp>
      <p:sp>
        <p:nvSpPr>
          <p:cNvPr id="30" name="panel-341">
            <a:extLst>
              <a:ext uri="{FF2B5EF4-FFF2-40B4-BE49-F238E27FC236}">
                <ns2:creationId id="{6182B024-5923-4D09-9F91-7E985D66EFEF}"/>
              </a:ext>
            </a:extLst>
          </p:cNvPr>
          <p:cNvSpPr>
            <a:spLocks noGrp="1"/>
          </p:cNvSpPr>
          <p:nvPr/>
        </p:nvSpPr>
        <p:spPr>
          <a:xfrm>
            <a:off x="304800" y="2190750"/>
            <a:ext cx="7380019" cy="3876675"/>
          </a:xfrm>
          <a:prstGeom prst="rect">
            <a:avLst>
              <a:gd name="adj" fmla="val 1966"/>
            </a:avLst>
          </a:prstGeom>
          <a:solidFill>
            <a:srgbClr val="FFFFFF"/>
          </a:solidFill>
          <a:ln w="11430" cap="rnd">
            <a:solidFill>
              <a:srgbClr val="136742"/>
            </a:solidFill>
            <a:prstDash val="solid"/>
          </a:ln>
        </p:spPr>
      </p:sp>
      <p:sp>
        <p:nvSpPr>
          <p:cNvPr id="31" name="shape-342">
            <a:extLst>
              <a:ext uri="{FF2B5EF4-FFF2-40B4-BE49-F238E27FC236}">
                <ns2:creationId id="{B556E456-E21A-4520-8EF1-17E07AD6812D}"/>
              </a:ext>
            </a:extLst>
          </p:cNvPr>
          <p:cNvSpPr>
            <a:spLocks noGrp="1"/>
          </p:cNvSpPr>
          <p:nvPr/>
        </p:nvSpPr>
        <p:spPr>
          <a:xfrm>
            <a:off x="314201" y="2200275"/>
            <a:ext cx="7361217" cy="400050"/>
          </a:xfrm>
          <a:prstGeom prst="rect">
            <a:avLst>
              <a:gd name="adj" fmla="val 19048"/>
            </a:avLst>
          </a:prstGeom>
          <a:solidFill>
            <a:srgbClr val="136742"/>
          </a:solidFill>
          <a:ln w="14288" cap="rnd">
            <a:solidFill>
              <a:srgbClr val="136742"/>
            </a:solidFill>
            <a:prstDash val="solid"/>
          </a:ln>
        </p:spPr>
      </p:sp>
      <p:sp>
        <p:nvSpPr>
          <p:cNvPr id="89" name="icon-table-89"/>
          <p:cNvSpPr/>
          <p:nvPr/>
        </p:nvSpPr>
        <p:spPr>
          <a:xfrm>
            <a:off x="436418" y="2276475"/>
            <a:ext cx="235032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40" y="160"/>
                </a:moveTo>
                <a:lnTo>
                  <a:pt x="860" y="160"/>
                </a:lnTo>
                <a:lnTo>
                  <a:pt x="860" y="840"/>
                </a:lnTo>
                <a:lnTo>
                  <a:pt x="140" y="840"/>
                </a:lnTo>
                <a:close/>
              </a:path>
              <a:path w="1000" h="1000">
                <a:moveTo>
                  <a:pt x="140" y="380"/>
                </a:moveTo>
                <a:lnTo>
                  <a:pt x="860" y="380"/>
                </a:lnTo>
              </a:path>
              <a:path w="1000" h="1000">
                <a:moveTo>
                  <a:pt x="140" y="610"/>
                </a:moveTo>
                <a:lnTo>
                  <a:pt x="860" y="610"/>
                </a:lnTo>
              </a:path>
              <a:path w="1000" h="1000">
                <a:moveTo>
                  <a:pt x="460" y="160"/>
                </a:moveTo>
                <a:lnTo>
                  <a:pt x="460" y="840"/>
                </a:lnTo>
              </a:path>
            </a:pathLst>
          </a:custGeom>
          <a:noFill/>
          <a:ln w="14288" cap="rnd">
            <a:solidFill>
              <a:srgbClr val="FFFFFF"/>
            </a:solidFill>
          </a:ln>
        </p:spPr>
      </p:sp>
      <p:sp>
        <p:nvSpPr>
          <p:cNvPr id="37" name="text-348">
            <a:extLst>
              <a:ext uri="{FF2B5EF4-FFF2-40B4-BE49-F238E27FC236}">
                <ns2:creationId id="{5FF7D94F-085D-44E0-9CD8-1B116B8BF64C}"/>
              </a:ext>
            </a:extLst>
          </p:cNvPr>
          <p:cNvSpPr>
            <a:spLocks noGrp="1"/>
          </p:cNvSpPr>
          <p:nvPr/>
        </p:nvSpPr>
        <p:spPr>
          <a:xfrm>
            <a:off x="756062" y="2257425"/>
            <a:ext cx="681594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样地 × 工作环节</a:t>
            </a:r>
          </a:p>
        </p:txBody>
      </p:sp>
      <p:graphicFrame>
        <p:nvGraphicFramePr>
          <p:cNvPr id="38" name="">
            <a:extLst>
              <a:ext uri="{FF2B5EF4-FFF2-40B4-BE49-F238E27FC236}">
                <ns2:creationId id="{D28CF8D8-13E3-4C8E-ACF2-BCBD0DBB0961}"/>
              </a:ext>
            </a:extLst>
          </p:cNvPr>
          <p:cNvGraphicFramePr/>
          <p:nvPr/>
        </p:nvGraphicFramePr>
        <p:xfrm>
          <a:off x="436418" y="2686050"/>
          <a:ext cx="7116783" cy="2762250"/>
        </p:xfrm>
        <a:graphic>
          <a:graphicData uri="http://schemas.openxmlformats.org/drawingml/2006/table">
            <a:tbl>
              <a:tblPr/>
              <a:tblGrid>
                <a:gridCol w="1251396"/>
                <a:gridCol w="1055600"/>
                <a:gridCol w="1251396"/>
                <a:gridCol w="1251396"/>
                <a:gridCol w="1251396"/>
                <a:gridCol w="1055602"/>
              </a:tblGrid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样地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5DF"/>
                      </a:solidFill>
                      <a:prstDash val="solid"/>
                    </a:lnL>
                    <a:lnR w="5715">
                      <a:solidFill>
                        <a:srgbClr val="D7E5DF"/>
                      </a:solidFill>
                      <a:prstDash val="solid"/>
                    </a:lnR>
                    <a:lnT w="5715">
                      <a:solidFill>
                        <a:srgbClr val="D7E5DF"/>
                      </a:solidFill>
                      <a:prstDash val="solid"/>
                    </a:lnT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13674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建档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T w="5715">
                      <a:solidFill>
                        <a:srgbClr val="D7E5DF"/>
                      </a:solidFill>
                      <a:prstDash val="solid"/>
                    </a:lnT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13674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第1轮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T w="5715">
                      <a:solidFill>
                        <a:srgbClr val="D7E5DF"/>
                      </a:solidFill>
                      <a:prstDash val="solid"/>
                    </a:lnT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13674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第2轮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T w="5715">
                      <a:solidFill>
                        <a:srgbClr val="D7E5DF"/>
                      </a:solidFill>
                      <a:prstDash val="solid"/>
                    </a:lnT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13674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第3轮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T w="5715">
                      <a:solidFill>
                        <a:srgbClr val="D7E5DF"/>
                      </a:solidFill>
                      <a:prstDash val="solid"/>
                    </a:lnT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13674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</a:t>
                      </a:r>
                      <a:endParaRPr sz="1575" b="1">
                        <a:solidFill>
                          <a:srgbClr val="FFFFFF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T w="5715">
                      <a:solidFill>
                        <a:srgbClr val="D7E5DF"/>
                      </a:solidFill>
                      <a:prstDash val="solid"/>
                    </a:lnT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136742"/>
                    </a:solidFill>
                  </a:tcPr>
                </a:tc>
              </a:tr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样地A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5DF"/>
                      </a:solidFill>
                      <a:prstDash val="solid"/>
                    </a:lnL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67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13674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67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13674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67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13674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67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13674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67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13674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样地B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5DF"/>
                      </a:solidFill>
                      <a:prstDash val="solid"/>
                    </a:lnL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EFF9F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67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13674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EFF9F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67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13674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EFF9F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67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13674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EFF9F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BD4F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△</a:t>
                      </a:r>
                      <a:endParaRPr sz="1500" b="1">
                        <a:solidFill>
                          <a:srgbClr val="BD4F2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EFF9F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29C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○</a:t>
                      </a:r>
                      <a:endParaRPr sz="1500" b="1">
                        <a:solidFill>
                          <a:srgbClr val="429C6B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EFF9F2"/>
                    </a:solidFill>
                  </a:tcPr>
                </a:tc>
              </a:tr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样地C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5DF"/>
                      </a:solidFill>
                      <a:prstDash val="solid"/>
                    </a:lnL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67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13674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67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13674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67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13674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29C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○</a:t>
                      </a:r>
                      <a:endParaRPr sz="1500" b="1">
                        <a:solidFill>
                          <a:srgbClr val="429C6B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429C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○</a:t>
                      </a:r>
                      <a:endParaRPr sz="1500" b="1">
                        <a:solidFill>
                          <a:srgbClr val="429C6B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38100" tIns="19050" rIns="38100" bIns="19050"/>
                    <a:lstStyle/>
                    <a:p>
                      <a:pPr algn="l"/>
                      <a:r>
                        <a:rPr sz="1500" b="1">
                          <a:solidFill>
                            <a:srgbClr val="1C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样地D</a:t>
                      </a:r>
                      <a:endParaRPr sz="1500" b="1">
                        <a:solidFill>
                          <a:srgbClr val="1C2733"/>
                        </a:solidFill>
                      </a:endParaRPr>
                    </a:p>
                  </a:txBody>
                  <a:tcPr marL="68580" marR="68580" marT="38100" marB="38100" anchor="ctr">
                    <a:lnL w="5715">
                      <a:solidFill>
                        <a:srgbClr val="D7E5DF"/>
                      </a:solidFill>
                      <a:prstDash val="solid"/>
                    </a:lnL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EFF9F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67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13674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EFF9F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67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13674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EFF9F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67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13674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EFF9F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1367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  <a:endParaRPr sz="1500" b="1">
                        <a:solidFill>
                          <a:srgbClr val="13674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EFF9F2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BD4F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△</a:t>
                      </a:r>
                      <a:endParaRPr sz="1500" b="1">
                        <a:solidFill>
                          <a:srgbClr val="BD4F22"/>
                        </a:solidFill>
                      </a:endParaRPr>
                    </a:p>
                  </a:txBody>
                  <a:tcPr marL="68580" marR="68580" marT="38100" marB="38100" anchor="ctr">
                    <a:lnR w="5715">
                      <a:solidFill>
                        <a:srgbClr val="D7E5DF"/>
                      </a:solidFill>
                      <a:prstDash val="solid"/>
                    </a:lnR>
                    <a:lnB w="5715">
                      <a:solidFill>
                        <a:srgbClr val="D7E5DF"/>
                      </a:solidFill>
                      <a:prstDash val="solid"/>
                    </a:lnB>
                    <a:solidFill>
                      <a:srgbClr val="EFF9F2"/>
                    </a:solidFill>
                  </a:tcPr>
                </a:tc>
              </a:tr>
            </a:tbl>
          </a:graphicData>
        </a:graphic>
      </p:graphicFrame>
      <p:sp>
        <p:nvSpPr>
          <p:cNvPr id="39" name="text-349">
            <a:extLst>
              <a:ext uri="{FF2B5EF4-FFF2-40B4-BE49-F238E27FC236}">
                <ns2:creationId id="{5BCEDC70-14CA-4067-A9AC-2C0524306D59}"/>
              </a:ext>
            </a:extLst>
          </p:cNvPr>
          <p:cNvSpPr>
            <a:spLocks noGrp="1"/>
          </p:cNvSpPr>
          <p:nvPr/>
        </p:nvSpPr>
        <p:spPr>
          <a:xfrm>
            <a:off x="474023" y="5600700"/>
            <a:ext cx="695696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rPr>
              <a:t>● 完成     △ 待核对     ○ 待开展</a:t>
            </a:r>
          </a:p>
        </p:txBody>
      </p:sp>
      <p:sp>
        <p:nvSpPr>
          <p:cNvPr id="40" name="panel-350">
            <a:extLst>
              <a:ext uri="{FF2B5EF4-FFF2-40B4-BE49-F238E27FC236}">
                <ns2:creationId id="{D78B1662-5436-4AE9-90D5-0CEBD5B61840}"/>
              </a:ext>
            </a:extLst>
          </p:cNvPr>
          <p:cNvSpPr>
            <a:spLocks noGrp="1"/>
          </p:cNvSpPr>
          <p:nvPr/>
        </p:nvSpPr>
        <p:spPr>
          <a:xfrm>
            <a:off x="7872845" y="2190750"/>
            <a:ext cx="4014355" cy="1352550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11430" cap="rnd">
            <a:solidFill>
              <a:srgbClr val="136742"/>
            </a:solidFill>
            <a:prstDash val="solid"/>
          </a:ln>
        </p:spPr>
      </p:sp>
      <p:sp>
        <p:nvSpPr>
          <p:cNvPr id="41" name="shape-351">
            <a:extLst>
              <a:ext uri="{FF2B5EF4-FFF2-40B4-BE49-F238E27FC236}">
                <ns2:creationId id="{21341275-9869-4E29-BC8E-3E095876FA22}"/>
              </a:ext>
            </a:extLst>
          </p:cNvPr>
          <p:cNvSpPr>
            <a:spLocks noGrp="1"/>
          </p:cNvSpPr>
          <p:nvPr/>
        </p:nvSpPr>
        <p:spPr>
          <a:xfrm>
            <a:off x="7882247" y="2200275"/>
            <a:ext cx="3995552" cy="400050"/>
          </a:xfrm>
          <a:prstGeom prst="rect">
            <a:avLst>
              <a:gd name="adj" fmla="val 19048"/>
            </a:avLst>
          </a:prstGeom>
          <a:solidFill>
            <a:srgbClr val="136742"/>
          </a:solidFill>
          <a:ln w="14288" cap="rnd">
            <a:solidFill>
              <a:srgbClr val="136742"/>
            </a:solidFill>
            <a:prstDash val="solid"/>
          </a:ln>
        </p:spPr>
      </p:sp>
      <p:sp>
        <p:nvSpPr>
          <p:cNvPr id="90" name="icon-warning-90"/>
          <p:cNvSpPr/>
          <p:nvPr/>
        </p:nvSpPr>
        <p:spPr>
          <a:xfrm>
            <a:off x="7995062" y="2276475"/>
            <a:ext cx="235032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140"/>
                </a:moveTo>
                <a:lnTo>
                  <a:pt x="880" y="820"/>
                </a:lnTo>
                <a:lnTo>
                  <a:pt x="120" y="820"/>
                </a:lnTo>
                <a:close/>
              </a:path>
              <a:path w="1000" h="1000">
                <a:moveTo>
                  <a:pt x="500" y="380"/>
                </a:moveTo>
                <a:lnTo>
                  <a:pt x="500" y="600"/>
                </a:lnTo>
              </a:path>
              <a:path w="1000" h="1000">
                <a:moveTo>
                  <a:pt x="485" y="700"/>
                </a:moveTo>
                <a:lnTo>
                  <a:pt x="515" y="700"/>
                </a:lnTo>
                <a:lnTo>
                  <a:pt x="515" y="730"/>
                </a:lnTo>
                <a:lnTo>
                  <a:pt x="485" y="730"/>
                </a:lnTo>
                <a:close/>
              </a:path>
            </a:pathLst>
          </a:custGeom>
          <a:noFill/>
          <a:ln w="14288" cap="rnd">
            <a:solidFill>
              <a:srgbClr val="FFFFFF"/>
            </a:solidFill>
          </a:ln>
        </p:spPr>
      </p:sp>
      <p:sp>
        <p:nvSpPr>
          <p:cNvPr id="44" name="text-354">
            <a:extLst>
              <a:ext uri="{FF2B5EF4-FFF2-40B4-BE49-F238E27FC236}">
                <ns2:creationId id="{A48B03CC-2483-4B5D-8DB0-6E55D6D79EAD}"/>
              </a:ext>
            </a:extLst>
          </p:cNvPr>
          <p:cNvSpPr>
            <a:spLocks noGrp="1"/>
          </p:cNvSpPr>
          <p:nvPr/>
        </p:nvSpPr>
        <p:spPr>
          <a:xfrm>
            <a:off x="8324108" y="2257425"/>
            <a:ext cx="345027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待核对事项</a:t>
            </a:r>
          </a:p>
        </p:txBody>
      </p:sp>
      <p:sp>
        <p:nvSpPr>
          <p:cNvPr id="45" name="text-355">
            <a:extLst>
              <a:ext uri="{FF2B5EF4-FFF2-40B4-BE49-F238E27FC236}">
                <ns2:creationId id="{AB7132A7-F650-46C0-9754-98EAAB2DD5D0}"/>
              </a:ext>
            </a:extLst>
          </p:cNvPr>
          <p:cNvSpPr>
            <a:spLocks noGrp="1"/>
          </p:cNvSpPr>
          <p:nvPr/>
        </p:nvSpPr>
        <p:spPr>
          <a:xfrm>
            <a:off x="8060871" y="2676525"/>
            <a:ext cx="3647704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1  部分记录时间不一致</a:t>
            </a:r>
            <a:endParaRPr/>
          </a:p>
        </p:txBody>
      </p:sp>
      <p:sp>
        <p:nvSpPr>
          <p:cNvPr id="46" name="text-356">
            <a:extLst>
              <a:ext uri="{FF2B5EF4-FFF2-40B4-BE49-F238E27FC236}">
                <ns2:creationId id="{95F06569-D2A9-40BB-A226-D58A340A406A}"/>
              </a:ext>
            </a:extLst>
          </p:cNvPr>
          <p:cNvSpPr>
            <a:spLocks noGrp="1"/>
          </p:cNvSpPr>
          <p:nvPr/>
        </p:nvSpPr>
        <p:spPr>
          <a:xfrm>
            <a:off x="8060871" y="3019425"/>
            <a:ext cx="3647704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D"/>
                </a:solidFill>
                <a:latin typeface="Microsoft YaHei"/>
                <a:ea typeface="Microsoft YaHei"/>
                <a:cs typeface="Microsoft YaHei"/>
              </a:rPr>
              <a:t>2  失访与死亡标记混用</a:t>
            </a:r>
            <a:endParaRPr/>
          </a:p>
        </p:txBody>
      </p:sp>
      <p:sp>
        <p:nvSpPr>
          <p:cNvPr id="47" name="panel-357">
            <a:extLst>
              <a:ext uri="{FF2B5EF4-FFF2-40B4-BE49-F238E27FC236}">
                <ns2:creationId id="{86BC235E-D582-4415-AEB6-BB5F688634DC}"/>
              </a:ext>
            </a:extLst>
          </p:cNvPr>
          <p:cNvSpPr>
            <a:spLocks noGrp="1"/>
          </p:cNvSpPr>
          <p:nvPr/>
        </p:nvSpPr>
        <p:spPr>
          <a:xfrm>
            <a:off x="7872845" y="3686175"/>
            <a:ext cx="4014355" cy="238125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1430" cap="rnd">
            <a:solidFill>
              <a:srgbClr val="136742"/>
            </a:solidFill>
            <a:prstDash val="solid"/>
          </a:ln>
        </p:spPr>
      </p:sp>
      <p:sp>
        <p:nvSpPr>
          <p:cNvPr id="48" name="shape-358">
            <a:extLst>
              <a:ext uri="{FF2B5EF4-FFF2-40B4-BE49-F238E27FC236}">
                <ns2:creationId id="{9DCCAB6C-28AA-4825-8C19-E61C97BB8DE5}"/>
              </a:ext>
            </a:extLst>
          </p:cNvPr>
          <p:cNvSpPr>
            <a:spLocks noGrp="1"/>
          </p:cNvSpPr>
          <p:nvPr/>
        </p:nvSpPr>
        <p:spPr>
          <a:xfrm>
            <a:off x="7882247" y="3695700"/>
            <a:ext cx="3995552" cy="400050"/>
          </a:xfrm>
          <a:prstGeom prst="rect">
            <a:avLst>
              <a:gd name="adj" fmla="val 19048"/>
            </a:avLst>
          </a:prstGeom>
          <a:solidFill>
            <a:srgbClr val="136742"/>
          </a:solidFill>
          <a:ln w="14288" cap="rnd">
            <a:solidFill>
              <a:srgbClr val="136742"/>
            </a:solidFill>
            <a:prstDash val="solid"/>
          </a:ln>
        </p:spPr>
      </p:sp>
      <p:sp>
        <p:nvSpPr>
          <p:cNvPr id="91" name="icon-check-ring-91"/>
          <p:cNvSpPr/>
          <p:nvPr/>
        </p:nvSpPr>
        <p:spPr>
          <a:xfrm>
            <a:off x="8023266" y="3800475"/>
            <a:ext cx="178625" cy="180975"/>
          </a:xfrm>
          <a:prstGeom prst="ellipse">
            <a:avLst/>
          </a:prstGeom>
          <a:noFill/>
          <a:ln w="14288" cap="rnd">
            <a:solidFill>
              <a:srgbClr val="FFFFFF"/>
            </a:solidFill>
          </a:ln>
        </p:spPr>
      </p:sp>
      <p:sp>
        <p:nvSpPr>
          <p:cNvPr id="92" name="icon-check-mark-92"/>
          <p:cNvSpPr/>
          <p:nvPr/>
        </p:nvSpPr>
        <p:spPr>
          <a:xfrm>
            <a:off x="7995062" y="3771900"/>
            <a:ext cx="235032" cy="2381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0" y="520"/>
                </a:moveTo>
                <a:lnTo>
                  <a:pt x="450" y="660"/>
                </a:lnTo>
                <a:lnTo>
                  <a:pt x="700" y="360"/>
                </a:lnTo>
              </a:path>
            </a:pathLst>
          </a:custGeom>
          <a:noFill/>
          <a:ln w="16431" cap="rnd">
            <a:solidFill>
              <a:srgbClr val="FFFFFF"/>
            </a:solidFill>
          </a:ln>
        </p:spPr>
      </p:sp>
      <p:sp>
        <p:nvSpPr>
          <p:cNvPr id="59" name="text-369">
            <a:extLst>
              <a:ext uri="{FF2B5EF4-FFF2-40B4-BE49-F238E27FC236}">
                <ns2:creationId id="{90DC611A-B021-4636-8233-2D2D5476F92A}"/>
              </a:ext>
            </a:extLst>
          </p:cNvPr>
          <p:cNvSpPr>
            <a:spLocks noGrp="1"/>
          </p:cNvSpPr>
          <p:nvPr/>
        </p:nvSpPr>
        <p:spPr>
          <a:xfrm>
            <a:off x="8324108" y="3752850"/>
            <a:ext cx="345027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下一步行动</a:t>
            </a:r>
          </a:p>
        </p:txBody>
      </p:sp>
      <p:sp>
        <p:nvSpPr>
          <p:cNvPr id="60" name="shape-370">
            <a:extLst>
              <a:ext uri="{FF2B5EF4-FFF2-40B4-BE49-F238E27FC236}">
                <ns2:creationId id="{4FB3C7EE-E394-4E0A-9DC8-FEC27B9F74D8}"/>
              </a:ext>
            </a:extLst>
          </p:cNvPr>
          <p:cNvSpPr>
            <a:spLocks noGrp="1"/>
          </p:cNvSpPr>
          <p:nvPr/>
        </p:nvSpPr>
        <p:spPr>
          <a:xfrm>
            <a:off x="8032668" y="4238625"/>
            <a:ext cx="272638" cy="276225"/>
          </a:xfrm>
          <a:prstGeom prst="ellipse">
            <a:avLst/>
          </a:prstGeom>
          <a:solidFill>
            <a:srgbClr val="136742"/>
          </a:solidFill>
          <a:ln w="0">
            <a:noFill/>
            <a:prstDash val="solid"/>
          </a:ln>
        </p:spPr>
      </p:sp>
      <p:sp>
        <p:nvSpPr>
          <p:cNvPr id="61" name="text-371">
            <a:extLst>
              <a:ext uri="{FF2B5EF4-FFF2-40B4-BE49-F238E27FC236}">
                <ns2:creationId id="{8F39CBB5-2812-439E-9E16-196354C8147C}"/>
              </a:ext>
            </a:extLst>
          </p:cNvPr>
          <p:cNvSpPr>
            <a:spLocks noGrp="1"/>
          </p:cNvSpPr>
          <p:nvPr/>
        </p:nvSpPr>
        <p:spPr>
          <a:xfrm>
            <a:off x="8032668" y="4238625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2" name="text-372">
            <a:extLst>
              <a:ext uri="{FF2B5EF4-FFF2-40B4-BE49-F238E27FC236}">
                <ns2:creationId id="{C0AEA6AB-D165-4BE2-93F2-1DAA05C22161}"/>
              </a:ext>
            </a:extLst>
          </p:cNvPr>
          <p:cNvSpPr>
            <a:spLocks noGrp="1"/>
          </p:cNvSpPr>
          <p:nvPr/>
        </p:nvSpPr>
        <p:spPr>
          <a:xfrm>
            <a:off x="8446325" y="4210050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回查原始记录与事件标记</a:t>
            </a:r>
            <a:endParaRPr/>
          </a:p>
        </p:txBody>
      </p:sp>
      <p:sp>
        <p:nvSpPr>
          <p:cNvPr id="63" name="shape-373">
            <a:extLst>
              <a:ext uri="{FF2B5EF4-FFF2-40B4-BE49-F238E27FC236}">
                <ns2:creationId id="{CFD662D2-615F-4486-A0E0-F13FFF019EED}"/>
              </a:ext>
            </a:extLst>
          </p:cNvPr>
          <p:cNvSpPr>
            <a:spLocks noGrp="1"/>
          </p:cNvSpPr>
          <p:nvPr/>
        </p:nvSpPr>
        <p:spPr>
          <a:xfrm>
            <a:off x="8032668" y="4800600"/>
            <a:ext cx="272638" cy="276225"/>
          </a:xfrm>
          <a:prstGeom prst="ellipse">
            <a:avLst/>
          </a:prstGeom>
          <a:solidFill>
            <a:srgbClr val="136742"/>
          </a:solidFill>
          <a:ln w="0">
            <a:noFill/>
            <a:prstDash val="solid"/>
          </a:ln>
        </p:spPr>
      </p:sp>
      <p:sp>
        <p:nvSpPr>
          <p:cNvPr id="64" name="text-374">
            <a:extLst>
              <a:ext uri="{FF2B5EF4-FFF2-40B4-BE49-F238E27FC236}">
                <ns2:creationId id="{E5DEB7C9-CD44-419B-A012-164A5D3CBAA2}"/>
              </a:ext>
            </a:extLst>
          </p:cNvPr>
          <p:cNvSpPr>
            <a:spLocks noGrp="1"/>
          </p:cNvSpPr>
          <p:nvPr/>
        </p:nvSpPr>
        <p:spPr>
          <a:xfrm>
            <a:off x="8032668" y="48006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5" name="text-375">
            <a:extLst>
              <a:ext uri="{FF2B5EF4-FFF2-40B4-BE49-F238E27FC236}">
                <ns2:creationId id="{17B88C21-9C53-44EE-B6A7-923684183CEC}"/>
              </a:ext>
            </a:extLst>
          </p:cNvPr>
          <p:cNvSpPr>
            <a:spLocks noGrp="1"/>
          </p:cNvSpPr>
          <p:nvPr/>
        </p:nvSpPr>
        <p:spPr>
          <a:xfrm>
            <a:off x="8446325" y="4772025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针对存疑样地补充现场复核</a:t>
            </a:r>
            <a:endParaRPr/>
          </a:p>
        </p:txBody>
      </p:sp>
      <p:sp>
        <p:nvSpPr>
          <p:cNvPr id="66" name="shape-376">
            <a:extLst>
              <a:ext uri="{FF2B5EF4-FFF2-40B4-BE49-F238E27FC236}">
                <ns2:creationId id="{5D766447-3BB4-4C73-B746-7A06259821A3}"/>
              </a:ext>
            </a:extLst>
          </p:cNvPr>
          <p:cNvSpPr>
            <a:spLocks noGrp="1"/>
          </p:cNvSpPr>
          <p:nvPr/>
        </p:nvSpPr>
        <p:spPr>
          <a:xfrm>
            <a:off x="8032668" y="5362575"/>
            <a:ext cx="272638" cy="276225"/>
          </a:xfrm>
          <a:prstGeom prst="ellipse">
            <a:avLst/>
          </a:prstGeom>
          <a:solidFill>
            <a:srgbClr val="136742"/>
          </a:solidFill>
          <a:ln w="0">
            <a:noFill/>
            <a:prstDash val="solid"/>
          </a:ln>
        </p:spPr>
      </p:sp>
      <p:sp>
        <p:nvSpPr>
          <p:cNvPr id="67" name="text-377">
            <a:extLst>
              <a:ext uri="{FF2B5EF4-FFF2-40B4-BE49-F238E27FC236}">
                <ns2:creationId id="{7687D4EF-9E24-4C9C-A3CA-1E57409329B0}"/>
              </a:ext>
            </a:extLst>
          </p:cNvPr>
          <p:cNvSpPr>
            <a:spLocks noGrp="1"/>
          </p:cNvSpPr>
          <p:nvPr/>
        </p:nvSpPr>
        <p:spPr>
          <a:xfrm>
            <a:off x="8032668" y="5362575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8" name="text-378">
            <a:extLst>
              <a:ext uri="{FF2B5EF4-FFF2-40B4-BE49-F238E27FC236}">
                <ns2:creationId id="{7E4F358F-61F6-44F6-9FEA-4FC20759F931}"/>
              </a:ext>
            </a:extLst>
          </p:cNvPr>
          <p:cNvSpPr>
            <a:spLocks noGrp="1"/>
          </p:cNvSpPr>
          <p:nvPr/>
        </p:nvSpPr>
        <p:spPr>
          <a:xfrm>
            <a:off x="8446325" y="5334000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按核对结果更新分析输入</a:t>
            </a:r>
            <a:endParaRPr/>
          </a:p>
        </p:txBody>
      </p:sp>
      <p:sp>
        <p:nvSpPr>
          <p:cNvPr id="69" name="shape-379">
            <a:extLst>
              <a:ext uri="{FF2B5EF4-FFF2-40B4-BE49-F238E27FC236}">
                <ns2:creationId id="{92D443A4-76C5-4E89-8305-86C91D1AE95E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6742"/>
          </a:solidFill>
          <a:ln w="14288" cap="rnd">
            <a:solidFill>
              <a:srgbClr val="136742"/>
            </a:solidFill>
            <a:prstDash val="solid"/>
          </a:ln>
        </p:spPr>
      </p:sp>
      <p:sp>
        <p:nvSpPr>
          <p:cNvPr id="70" name="text-380">
            <a:extLst>
              <a:ext uri="{FF2B5EF4-FFF2-40B4-BE49-F238E27FC236}">
                <ns2:creationId id="{99CBED85-FC7E-4BD9-AE27-E694A12DC044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汇报重点：完成情况可核查，问题与下一步一一对应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1" name="text-381">
            <a:extLst>
              <a:ext uri="{FF2B5EF4-FFF2-40B4-BE49-F238E27FC236}">
                <ns2:creationId id="{CAA8E449-0DCD-49CB-BF4B-35E6EA811111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rPr>
              <a:t>科研模板 · 内容与数据均为示意</a:t>
            </a:r>
            <a:endParaRPr/>
          </a:p>
        </p:txBody>
      </p:sp>
      <p:sp>
        <p:nvSpPr>
          <p:cNvPr id="72" name="text-382">
            <a:extLst>
              <a:ext uri="{FF2B5EF4-FFF2-40B4-BE49-F238E27FC236}">
                <ns2:creationId id="{C75CE07C-53F3-4FCF-A77C-9DC86A82F4D5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29C6B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/>
          </a:p>
        </p:txBody>
      </p:sp>
      <p:sp>
        <p:nvSpPr>
          <p:cNvPr id="93" name="title-translation-93"/>
          <p:cNvSpPr txBox="1"/>
          <p:nvPr/>
        </p:nvSpPr>
        <p:spPr>
          <a:xfrm>
            <a:off x="304800" y="19050"/>
            <a:ext cx="11582400" cy="2190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Data preparation and quality control</a:t>
            </a:r>
            <a:endParaRPr lang="zh-CN" sz="1275"/>
          </a:p>
        </p:txBody>
      </p:sp>
    </p:spTree>
    <p:extLst>
      <p:ext uri="{BB962C8B-B14F-4D97-AF65-F5344CB8AC3E}">
        <ns3:creationId val="287690732"/>
      </p:ext>
    </p:extLst>
  </p:cSld>
</p:sld>
</file>

<file path=ppt/slides/slide2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itle-12"/>
          <p:cNvSpPr txBox="1"/>
          <p:nvPr/>
        </p:nvSpPr>
        <p:spPr>
          <a:xfrm>
            <a:off x="304800" y="247650"/>
            <a:ext cx="1158240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监测安排与重复观测</a:t>
            </a:r>
            <a:endParaRPr lang="zh-CN" sz="3150"/>
          </a:p>
        </p:txBody>
      </p:sp>
      <p:sp>
        <p:nvSpPr>
          <p:cNvPr id="13" name="header-rule-13"/>
          <p:cNvSpPr/>
          <p:nvPr/>
        </p:nvSpPr>
        <p:spPr>
          <a:xfrm>
            <a:off x="304800" y="819150"/>
            <a:ext cx="11582400" cy="19050"/>
          </a:xfrm>
          <a:prstGeom prst="rect">
            <a:avLst/>
          </a:prstGeom>
          <a:solidFill>
            <a:srgbClr val="136742"/>
          </a:solidFill>
        </p:spPr>
      </p:sp>
      <p:sp>
        <p:nvSpPr>
          <p:cNvPr id="14" name="takeaway-14"/>
          <p:cNvSpPr txBox="1"/>
          <p:nvPr/>
        </p:nvSpPr>
        <p:spPr>
          <a:xfrm>
            <a:off x="457200" y="611505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版式示意：原图保持完整，解释紧邻证据。</a:t>
            </a:r>
            <a:endParaRPr lang="zh-CN" sz="1725"/>
          </a:p>
        </p:txBody>
      </p:sp>
      <p:sp>
        <p:nvSpPr>
          <p:cNvPr id="15" name="takeaway-rule-15"/>
          <p:cNvSpPr/>
          <p:nvPr/>
        </p:nvSpPr>
        <p:spPr>
          <a:xfrm>
            <a:off x="304800" y="6019800"/>
            <a:ext cx="11582400" cy="19050"/>
          </a:xfrm>
          <a:prstGeom prst="rect">
            <a:avLst/>
          </a:prstGeom>
          <a:solidFill>
            <a:srgbClr val="136742"/>
          </a:solidFill>
        </p:spPr>
      </p:sp>
      <p:sp>
        <p:nvSpPr>
          <p:cNvPr id="16" name="footer-16"/>
          <p:cNvSpPr txBox="1"/>
          <p:nvPr/>
        </p:nvSpPr>
        <p:spPr>
          <a:xfrm>
            <a:off x="304800" y="6572250"/>
            <a:ext cx="10668000" cy="209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模板示意 · 非真实研究数据</a:t>
            </a:r>
            <a:endParaRPr lang="zh-CN" sz="1050"/>
          </a:p>
        </p:txBody>
      </p:sp>
      <p:sp>
        <p:nvSpPr>
          <p:cNvPr id="17" name="page-number-17"/>
          <p:cNvSpPr txBox="1"/>
          <p:nvPr/>
        </p:nvSpPr>
        <p:spPr>
          <a:xfrm>
            <a:off x="11487150" y="6534150"/>
            <a:ext cx="4000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05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lang="zh-CN" sz="1050"/>
          </a:p>
        </p:txBody>
      </p:sp>
      <p:sp>
        <p:nvSpPr>
          <p:cNvPr id="18" name="time-label-18"/>
          <p:cNvSpPr txBox="1"/>
          <p:nvPr/>
        </p:nvSpPr>
        <p:spPr>
          <a:xfrm>
            <a:off x="2209800" y="10668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650" b="1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第 0 天</a:t>
            </a:r>
            <a:endParaRPr lang="zh-CN" sz="1650"/>
          </a:p>
        </p:txBody>
      </p:sp>
      <p:sp>
        <p:nvSpPr>
          <p:cNvPr id="19" name="time-label-19"/>
          <p:cNvSpPr txBox="1"/>
          <p:nvPr/>
        </p:nvSpPr>
        <p:spPr>
          <a:xfrm>
            <a:off x="4395788" y="10668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650" b="1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第 7 天</a:t>
            </a:r>
            <a:endParaRPr lang="zh-CN" sz="1650"/>
          </a:p>
        </p:txBody>
      </p:sp>
      <p:sp>
        <p:nvSpPr>
          <p:cNvPr id="20" name="time-label-20"/>
          <p:cNvSpPr txBox="1"/>
          <p:nvPr/>
        </p:nvSpPr>
        <p:spPr>
          <a:xfrm>
            <a:off x="6581775" y="10668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650" b="1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第 14 天</a:t>
            </a:r>
            <a:endParaRPr lang="zh-CN" sz="1650"/>
          </a:p>
        </p:txBody>
      </p:sp>
      <p:sp>
        <p:nvSpPr>
          <p:cNvPr id="21" name="time-label-21"/>
          <p:cNvSpPr txBox="1"/>
          <p:nvPr/>
        </p:nvSpPr>
        <p:spPr>
          <a:xfrm>
            <a:off x="8767762" y="10668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650" b="1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第 21 天</a:t>
            </a:r>
            <a:endParaRPr lang="zh-CN" sz="1650"/>
          </a:p>
        </p:txBody>
      </p:sp>
      <p:sp>
        <p:nvSpPr>
          <p:cNvPr id="22" name="time-label-22"/>
          <p:cNvSpPr txBox="1"/>
          <p:nvPr/>
        </p:nvSpPr>
        <p:spPr>
          <a:xfrm>
            <a:off x="10953750" y="10668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650" b="1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第 28 天</a:t>
            </a:r>
            <a:endParaRPr lang="zh-CN" sz="1650"/>
          </a:p>
        </p:txBody>
      </p:sp>
      <p:sp>
        <p:nvSpPr>
          <p:cNvPr id="23" name="timeline-lane-23"/>
          <p:cNvSpPr/>
          <p:nvPr/>
        </p:nvSpPr>
        <p:spPr>
          <a:xfrm>
            <a:off x="304800" y="1552575"/>
            <a:ext cx="11582400" cy="1073150"/>
          </a:xfrm>
          <a:prstGeom prst="rect">
            <a:avLst/>
          </a:prstGeom>
          <a:solidFill>
            <a:srgbClr val="EFF9F2"/>
          </a:solidFill>
        </p:spPr>
      </p:sp>
      <p:sp>
        <p:nvSpPr>
          <p:cNvPr id="24" name="group-fill-24"/>
          <p:cNvSpPr/>
          <p:nvPr/>
        </p:nvSpPr>
        <p:spPr>
          <a:xfrm>
            <a:off x="304800" y="1552575"/>
            <a:ext cx="1885950" cy="1073150"/>
          </a:xfrm>
          <a:prstGeom prst="rect">
            <a:avLst/>
          </a:prstGeom>
          <a:solidFill>
            <a:srgbClr val="136742"/>
          </a:solidFill>
        </p:spPr>
      </p:sp>
      <p:sp>
        <p:nvSpPr>
          <p:cNvPr id="25" name="group-label-25"/>
          <p:cNvSpPr txBox="1"/>
          <p:nvPr/>
        </p:nvSpPr>
        <p:spPr>
          <a:xfrm>
            <a:off x="457200" y="1724025"/>
            <a:ext cx="1543050" cy="3524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对照组</a:t>
            </a:r>
            <a:endParaRPr lang="zh-CN" sz="1950"/>
          </a:p>
        </p:txBody>
      </p:sp>
      <p:sp>
        <p:nvSpPr>
          <p:cNvPr id="26" name="group-sample-26"/>
          <p:cNvSpPr txBox="1"/>
          <p:nvPr/>
        </p:nvSpPr>
        <p:spPr>
          <a:xfrm>
            <a:off x="457200" y="2143125"/>
            <a:ext cx="15430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 = 12（示意）</a:t>
            </a:r>
            <a:endParaRPr lang="zh-CN" sz="1575"/>
          </a:p>
        </p:txBody>
      </p:sp>
      <p:sp>
        <p:nvSpPr>
          <p:cNvPr id="27" name="timeline-line-27"/>
          <p:cNvSpPr/>
          <p:nvPr/>
        </p:nvSpPr>
        <p:spPr>
          <a:xfrm>
            <a:off x="2686050" y="1838325"/>
            <a:ext cx="8743950" cy="19050"/>
          </a:xfrm>
          <a:prstGeom prst="rect">
            <a:avLst/>
          </a:prstGeom>
          <a:solidFill>
            <a:srgbClr val="136742"/>
          </a:solidFill>
        </p:spPr>
      </p:sp>
      <p:sp>
        <p:nvSpPr>
          <p:cNvPr id="28" name="time-node-28"/>
          <p:cNvSpPr/>
          <p:nvPr/>
        </p:nvSpPr>
        <p:spPr>
          <a:xfrm>
            <a:off x="2638425" y="1800225"/>
            <a:ext cx="95250" cy="95250"/>
          </a:xfrm>
          <a:prstGeom prst="ellipse">
            <a:avLst/>
          </a:prstGeom>
          <a:solidFill>
            <a:srgbClr val="136742"/>
          </a:solidFill>
        </p:spPr>
      </p:sp>
      <p:sp>
        <p:nvSpPr>
          <p:cNvPr id="29" name="event-label-29"/>
          <p:cNvSpPr txBox="1"/>
          <p:nvPr/>
        </p:nvSpPr>
        <p:spPr>
          <a:xfrm>
            <a:off x="2076450" y="2019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基线测量</a:t>
            </a:r>
            <a:endParaRPr lang="zh-CN" sz="1500"/>
          </a:p>
        </p:txBody>
      </p:sp>
      <p:sp>
        <p:nvSpPr>
          <p:cNvPr id="30" name="time-node-30"/>
          <p:cNvSpPr/>
          <p:nvPr/>
        </p:nvSpPr>
        <p:spPr>
          <a:xfrm>
            <a:off x="4824412" y="1800225"/>
            <a:ext cx="95250" cy="95250"/>
          </a:xfrm>
          <a:prstGeom prst="ellipse">
            <a:avLst/>
          </a:prstGeom>
          <a:solidFill>
            <a:srgbClr val="136742"/>
          </a:solidFill>
        </p:spPr>
      </p:sp>
      <p:sp>
        <p:nvSpPr>
          <p:cNvPr id="31" name="event-label-31"/>
          <p:cNvSpPr txBox="1"/>
          <p:nvPr/>
        </p:nvSpPr>
        <p:spPr>
          <a:xfrm>
            <a:off x="4262438" y="2019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同期观测</a:t>
            </a:r>
            <a:endParaRPr lang="zh-CN" sz="1500"/>
          </a:p>
        </p:txBody>
      </p:sp>
      <p:sp>
        <p:nvSpPr>
          <p:cNvPr id="32" name="time-node-32"/>
          <p:cNvSpPr/>
          <p:nvPr/>
        </p:nvSpPr>
        <p:spPr>
          <a:xfrm>
            <a:off x="7010400" y="1800225"/>
            <a:ext cx="95250" cy="95250"/>
          </a:xfrm>
          <a:prstGeom prst="ellipse">
            <a:avLst/>
          </a:prstGeom>
          <a:solidFill>
            <a:srgbClr val="136742"/>
          </a:solidFill>
        </p:spPr>
      </p:sp>
      <p:sp>
        <p:nvSpPr>
          <p:cNvPr id="33" name="event-label-33"/>
          <p:cNvSpPr txBox="1"/>
          <p:nvPr/>
        </p:nvSpPr>
        <p:spPr>
          <a:xfrm>
            <a:off x="6448425" y="2019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重复测量</a:t>
            </a:r>
            <a:endParaRPr lang="zh-CN" sz="1500"/>
          </a:p>
        </p:txBody>
      </p:sp>
      <p:sp>
        <p:nvSpPr>
          <p:cNvPr id="34" name="time-node-34"/>
          <p:cNvSpPr/>
          <p:nvPr/>
        </p:nvSpPr>
        <p:spPr>
          <a:xfrm>
            <a:off x="9196388" y="1800225"/>
            <a:ext cx="95250" cy="95250"/>
          </a:xfrm>
          <a:prstGeom prst="ellipse">
            <a:avLst/>
          </a:prstGeom>
          <a:solidFill>
            <a:srgbClr val="136742"/>
          </a:solidFill>
        </p:spPr>
      </p:sp>
      <p:sp>
        <p:nvSpPr>
          <p:cNvPr id="35" name="event-label-35"/>
          <p:cNvSpPr txBox="1"/>
          <p:nvPr/>
        </p:nvSpPr>
        <p:spPr>
          <a:xfrm>
            <a:off x="8634412" y="2019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同期观测</a:t>
            </a:r>
            <a:endParaRPr lang="zh-CN" sz="1500"/>
          </a:p>
        </p:txBody>
      </p:sp>
      <p:sp>
        <p:nvSpPr>
          <p:cNvPr id="36" name="time-node-36"/>
          <p:cNvSpPr/>
          <p:nvPr/>
        </p:nvSpPr>
        <p:spPr>
          <a:xfrm>
            <a:off x="11382375" y="1800225"/>
            <a:ext cx="95250" cy="95250"/>
          </a:xfrm>
          <a:prstGeom prst="ellipse">
            <a:avLst/>
          </a:prstGeom>
          <a:solidFill>
            <a:srgbClr val="136742"/>
          </a:solidFill>
        </p:spPr>
      </p:sp>
      <p:sp>
        <p:nvSpPr>
          <p:cNvPr id="37" name="event-label-37"/>
          <p:cNvSpPr txBox="1"/>
          <p:nvPr/>
        </p:nvSpPr>
        <p:spPr>
          <a:xfrm>
            <a:off x="10820400" y="2019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终点测量</a:t>
            </a:r>
            <a:endParaRPr lang="zh-CN" sz="1500"/>
          </a:p>
        </p:txBody>
      </p:sp>
      <p:sp>
        <p:nvSpPr>
          <p:cNvPr id="38" name="timeline-lane-38"/>
          <p:cNvSpPr/>
          <p:nvPr/>
        </p:nvSpPr>
        <p:spPr>
          <a:xfrm>
            <a:off x="304800" y="2759075"/>
            <a:ext cx="11582400" cy="1073150"/>
          </a:xfrm>
          <a:prstGeom prst="rect">
            <a:avLst/>
          </a:prstGeom>
          <a:solidFill>
            <a:srgbClr val="EFF9F2"/>
          </a:solidFill>
        </p:spPr>
      </p:sp>
      <p:sp>
        <p:nvSpPr>
          <p:cNvPr id="39" name="group-fill-39"/>
          <p:cNvSpPr/>
          <p:nvPr/>
        </p:nvSpPr>
        <p:spPr>
          <a:xfrm>
            <a:off x="304800" y="2759075"/>
            <a:ext cx="1885950" cy="1073150"/>
          </a:xfrm>
          <a:prstGeom prst="rect">
            <a:avLst/>
          </a:prstGeom>
          <a:solidFill>
            <a:srgbClr val="136742"/>
          </a:solidFill>
        </p:spPr>
      </p:sp>
      <p:sp>
        <p:nvSpPr>
          <p:cNvPr id="40" name="group-label-40"/>
          <p:cNvSpPr txBox="1"/>
          <p:nvPr/>
        </p:nvSpPr>
        <p:spPr>
          <a:xfrm>
            <a:off x="457200" y="2930525"/>
            <a:ext cx="1543050" cy="3524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低干扰组</a:t>
            </a:r>
            <a:endParaRPr lang="zh-CN" sz="1950"/>
          </a:p>
        </p:txBody>
      </p:sp>
      <p:sp>
        <p:nvSpPr>
          <p:cNvPr id="41" name="group-sample-41"/>
          <p:cNvSpPr txBox="1"/>
          <p:nvPr/>
        </p:nvSpPr>
        <p:spPr>
          <a:xfrm>
            <a:off x="457200" y="3349625"/>
            <a:ext cx="15430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 = 12（示意）</a:t>
            </a:r>
            <a:endParaRPr lang="zh-CN" sz="1575"/>
          </a:p>
        </p:txBody>
      </p:sp>
      <p:sp>
        <p:nvSpPr>
          <p:cNvPr id="42" name="timeline-line-42"/>
          <p:cNvSpPr/>
          <p:nvPr/>
        </p:nvSpPr>
        <p:spPr>
          <a:xfrm>
            <a:off x="2686050" y="3044825"/>
            <a:ext cx="8743950" cy="19050"/>
          </a:xfrm>
          <a:prstGeom prst="rect">
            <a:avLst/>
          </a:prstGeom>
          <a:solidFill>
            <a:srgbClr val="136742"/>
          </a:solidFill>
        </p:spPr>
      </p:sp>
      <p:sp>
        <p:nvSpPr>
          <p:cNvPr id="43" name="time-node-43"/>
          <p:cNvSpPr/>
          <p:nvPr/>
        </p:nvSpPr>
        <p:spPr>
          <a:xfrm>
            <a:off x="2638425" y="3006725"/>
            <a:ext cx="95250" cy="95250"/>
          </a:xfrm>
          <a:prstGeom prst="ellipse">
            <a:avLst/>
          </a:prstGeom>
          <a:solidFill>
            <a:srgbClr val="136742"/>
          </a:solidFill>
        </p:spPr>
      </p:sp>
      <p:sp>
        <p:nvSpPr>
          <p:cNvPr id="44" name="event-label-44"/>
          <p:cNvSpPr txBox="1"/>
          <p:nvPr/>
        </p:nvSpPr>
        <p:spPr>
          <a:xfrm>
            <a:off x="2076450" y="32258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基线测量</a:t>
            </a:r>
            <a:endParaRPr lang="zh-CN" sz="1500"/>
          </a:p>
        </p:txBody>
      </p:sp>
      <p:sp>
        <p:nvSpPr>
          <p:cNvPr id="45" name="time-node-45"/>
          <p:cNvSpPr/>
          <p:nvPr/>
        </p:nvSpPr>
        <p:spPr>
          <a:xfrm>
            <a:off x="4824412" y="3006725"/>
            <a:ext cx="95250" cy="95250"/>
          </a:xfrm>
          <a:prstGeom prst="ellipse">
            <a:avLst/>
          </a:prstGeom>
          <a:solidFill>
            <a:srgbClr val="136742"/>
          </a:solidFill>
        </p:spPr>
      </p:sp>
      <p:sp>
        <p:nvSpPr>
          <p:cNvPr id="46" name="event-label-46"/>
          <p:cNvSpPr txBox="1"/>
          <p:nvPr/>
        </p:nvSpPr>
        <p:spPr>
          <a:xfrm>
            <a:off x="4262438" y="32258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开始处理</a:t>
            </a:r>
            <a:endParaRPr lang="zh-CN" sz="1500"/>
          </a:p>
        </p:txBody>
      </p:sp>
      <p:sp>
        <p:nvSpPr>
          <p:cNvPr id="47" name="time-node-47"/>
          <p:cNvSpPr/>
          <p:nvPr/>
        </p:nvSpPr>
        <p:spPr>
          <a:xfrm>
            <a:off x="7010400" y="3006725"/>
            <a:ext cx="95250" cy="95250"/>
          </a:xfrm>
          <a:prstGeom prst="ellipse">
            <a:avLst/>
          </a:prstGeom>
          <a:solidFill>
            <a:srgbClr val="136742"/>
          </a:solidFill>
        </p:spPr>
      </p:sp>
      <p:sp>
        <p:nvSpPr>
          <p:cNvPr id="48" name="event-label-48"/>
          <p:cNvSpPr txBox="1"/>
          <p:nvPr/>
        </p:nvSpPr>
        <p:spPr>
          <a:xfrm>
            <a:off x="6448425" y="32258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重复测量</a:t>
            </a:r>
            <a:endParaRPr lang="zh-CN" sz="1500"/>
          </a:p>
        </p:txBody>
      </p:sp>
      <p:sp>
        <p:nvSpPr>
          <p:cNvPr id="49" name="time-node-49"/>
          <p:cNvSpPr/>
          <p:nvPr/>
        </p:nvSpPr>
        <p:spPr>
          <a:xfrm>
            <a:off x="9196388" y="3006725"/>
            <a:ext cx="95250" cy="95250"/>
          </a:xfrm>
          <a:prstGeom prst="ellipse">
            <a:avLst/>
          </a:prstGeom>
          <a:solidFill>
            <a:srgbClr val="136742"/>
          </a:solidFill>
        </p:spPr>
      </p:sp>
      <p:sp>
        <p:nvSpPr>
          <p:cNvPr id="50" name="event-label-50"/>
          <p:cNvSpPr txBox="1"/>
          <p:nvPr/>
        </p:nvSpPr>
        <p:spPr>
          <a:xfrm>
            <a:off x="8634412" y="32258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结束处理</a:t>
            </a:r>
            <a:endParaRPr lang="zh-CN" sz="1500"/>
          </a:p>
        </p:txBody>
      </p:sp>
      <p:sp>
        <p:nvSpPr>
          <p:cNvPr id="51" name="time-node-51"/>
          <p:cNvSpPr/>
          <p:nvPr/>
        </p:nvSpPr>
        <p:spPr>
          <a:xfrm>
            <a:off x="11382375" y="3006725"/>
            <a:ext cx="95250" cy="95250"/>
          </a:xfrm>
          <a:prstGeom prst="ellipse">
            <a:avLst/>
          </a:prstGeom>
          <a:solidFill>
            <a:srgbClr val="136742"/>
          </a:solidFill>
        </p:spPr>
      </p:sp>
      <p:sp>
        <p:nvSpPr>
          <p:cNvPr id="52" name="event-label-52"/>
          <p:cNvSpPr txBox="1"/>
          <p:nvPr/>
        </p:nvSpPr>
        <p:spPr>
          <a:xfrm>
            <a:off x="10820400" y="32258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终点测量</a:t>
            </a:r>
            <a:endParaRPr lang="zh-CN" sz="1500"/>
          </a:p>
        </p:txBody>
      </p:sp>
      <p:sp>
        <p:nvSpPr>
          <p:cNvPr id="53" name="timeline-lane-53"/>
          <p:cNvSpPr/>
          <p:nvPr/>
        </p:nvSpPr>
        <p:spPr>
          <a:xfrm>
            <a:off x="304800" y="3965575"/>
            <a:ext cx="11582400" cy="1073150"/>
          </a:xfrm>
          <a:prstGeom prst="rect">
            <a:avLst/>
          </a:prstGeom>
          <a:solidFill>
            <a:srgbClr val="EFF9F2"/>
          </a:solidFill>
        </p:spPr>
      </p:sp>
      <p:sp>
        <p:nvSpPr>
          <p:cNvPr id="54" name="group-fill-54"/>
          <p:cNvSpPr/>
          <p:nvPr/>
        </p:nvSpPr>
        <p:spPr>
          <a:xfrm>
            <a:off x="304800" y="3965575"/>
            <a:ext cx="1885950" cy="1073150"/>
          </a:xfrm>
          <a:prstGeom prst="rect">
            <a:avLst/>
          </a:prstGeom>
          <a:solidFill>
            <a:srgbClr val="BD4F22"/>
          </a:solidFill>
        </p:spPr>
      </p:sp>
      <p:sp>
        <p:nvSpPr>
          <p:cNvPr id="55" name="group-label-55"/>
          <p:cNvSpPr txBox="1"/>
          <p:nvPr/>
        </p:nvSpPr>
        <p:spPr>
          <a:xfrm>
            <a:off x="457200" y="4137025"/>
            <a:ext cx="1543050" cy="3524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9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高干扰组</a:t>
            </a:r>
            <a:endParaRPr lang="zh-CN" sz="1950"/>
          </a:p>
        </p:txBody>
      </p:sp>
      <p:sp>
        <p:nvSpPr>
          <p:cNvPr id="56" name="group-sample-56"/>
          <p:cNvSpPr txBox="1"/>
          <p:nvPr/>
        </p:nvSpPr>
        <p:spPr>
          <a:xfrm>
            <a:off x="457200" y="4556125"/>
            <a:ext cx="15430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 = 12（示意）</a:t>
            </a:r>
            <a:endParaRPr lang="zh-CN" sz="1575"/>
          </a:p>
        </p:txBody>
      </p:sp>
      <p:sp>
        <p:nvSpPr>
          <p:cNvPr id="57" name="timeline-line-57"/>
          <p:cNvSpPr/>
          <p:nvPr/>
        </p:nvSpPr>
        <p:spPr>
          <a:xfrm>
            <a:off x="2686050" y="4251325"/>
            <a:ext cx="8743950" cy="19050"/>
          </a:xfrm>
          <a:prstGeom prst="rect">
            <a:avLst/>
          </a:prstGeom>
          <a:solidFill>
            <a:srgbClr val="136742"/>
          </a:solidFill>
        </p:spPr>
      </p:sp>
      <p:sp>
        <p:nvSpPr>
          <p:cNvPr id="58" name="time-node-58"/>
          <p:cNvSpPr/>
          <p:nvPr/>
        </p:nvSpPr>
        <p:spPr>
          <a:xfrm>
            <a:off x="2638425" y="4213225"/>
            <a:ext cx="95250" cy="95250"/>
          </a:xfrm>
          <a:prstGeom prst="ellipse">
            <a:avLst/>
          </a:prstGeom>
          <a:solidFill>
            <a:srgbClr val="136742"/>
          </a:solidFill>
        </p:spPr>
      </p:sp>
      <p:sp>
        <p:nvSpPr>
          <p:cNvPr id="59" name="event-label-59"/>
          <p:cNvSpPr txBox="1"/>
          <p:nvPr/>
        </p:nvSpPr>
        <p:spPr>
          <a:xfrm>
            <a:off x="2076450" y="4432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基线测量</a:t>
            </a:r>
            <a:endParaRPr lang="zh-CN" sz="1500"/>
          </a:p>
        </p:txBody>
      </p:sp>
      <p:sp>
        <p:nvSpPr>
          <p:cNvPr id="60" name="time-node-60"/>
          <p:cNvSpPr/>
          <p:nvPr/>
        </p:nvSpPr>
        <p:spPr>
          <a:xfrm>
            <a:off x="4824412" y="4213225"/>
            <a:ext cx="95250" cy="95250"/>
          </a:xfrm>
          <a:prstGeom prst="ellipse">
            <a:avLst/>
          </a:prstGeom>
          <a:solidFill>
            <a:srgbClr val="136742"/>
          </a:solidFill>
        </p:spPr>
      </p:sp>
      <p:sp>
        <p:nvSpPr>
          <p:cNvPr id="61" name="event-label-61"/>
          <p:cNvSpPr txBox="1"/>
          <p:nvPr/>
        </p:nvSpPr>
        <p:spPr>
          <a:xfrm>
            <a:off x="4262438" y="4432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开始处理</a:t>
            </a:r>
            <a:endParaRPr lang="zh-CN" sz="1500"/>
          </a:p>
        </p:txBody>
      </p:sp>
      <p:sp>
        <p:nvSpPr>
          <p:cNvPr id="62" name="time-node-62"/>
          <p:cNvSpPr/>
          <p:nvPr/>
        </p:nvSpPr>
        <p:spPr>
          <a:xfrm>
            <a:off x="7010400" y="4213225"/>
            <a:ext cx="95250" cy="95250"/>
          </a:xfrm>
          <a:prstGeom prst="ellipse">
            <a:avLst/>
          </a:prstGeom>
          <a:solidFill>
            <a:srgbClr val="136742"/>
          </a:solidFill>
        </p:spPr>
      </p:sp>
      <p:sp>
        <p:nvSpPr>
          <p:cNvPr id="63" name="event-label-63"/>
          <p:cNvSpPr txBox="1"/>
          <p:nvPr/>
        </p:nvSpPr>
        <p:spPr>
          <a:xfrm>
            <a:off x="6448425" y="4432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重复测量</a:t>
            </a:r>
            <a:endParaRPr lang="zh-CN" sz="1500"/>
          </a:p>
        </p:txBody>
      </p:sp>
      <p:sp>
        <p:nvSpPr>
          <p:cNvPr id="64" name="time-node-64"/>
          <p:cNvSpPr/>
          <p:nvPr/>
        </p:nvSpPr>
        <p:spPr>
          <a:xfrm>
            <a:off x="9196388" y="4213225"/>
            <a:ext cx="95250" cy="95250"/>
          </a:xfrm>
          <a:prstGeom prst="ellipse">
            <a:avLst/>
          </a:prstGeom>
          <a:solidFill>
            <a:srgbClr val="136742"/>
          </a:solidFill>
        </p:spPr>
      </p:sp>
      <p:sp>
        <p:nvSpPr>
          <p:cNvPr id="65" name="event-label-65"/>
          <p:cNvSpPr txBox="1"/>
          <p:nvPr/>
        </p:nvSpPr>
        <p:spPr>
          <a:xfrm>
            <a:off x="8634412" y="4432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结束处理</a:t>
            </a:r>
            <a:endParaRPr lang="zh-CN" sz="1500"/>
          </a:p>
        </p:txBody>
      </p:sp>
      <p:sp>
        <p:nvSpPr>
          <p:cNvPr id="66" name="time-node-66"/>
          <p:cNvSpPr/>
          <p:nvPr/>
        </p:nvSpPr>
        <p:spPr>
          <a:xfrm>
            <a:off x="11382375" y="4213225"/>
            <a:ext cx="95250" cy="95250"/>
          </a:xfrm>
          <a:prstGeom prst="ellipse">
            <a:avLst/>
          </a:prstGeom>
          <a:solidFill>
            <a:srgbClr val="136742"/>
          </a:solidFill>
        </p:spPr>
      </p:sp>
      <p:sp>
        <p:nvSpPr>
          <p:cNvPr id="67" name="event-label-67"/>
          <p:cNvSpPr txBox="1"/>
          <p:nvPr/>
        </p:nvSpPr>
        <p:spPr>
          <a:xfrm>
            <a:off x="10820400" y="4432300"/>
            <a:ext cx="1219200" cy="539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终点测量</a:t>
            </a:r>
            <a:endParaRPr lang="zh-CN" sz="1500"/>
          </a:p>
        </p:txBody>
      </p:sp>
      <p:sp>
        <p:nvSpPr>
          <p:cNvPr id="68" name="measurement-68"/>
          <p:cNvSpPr txBox="1"/>
          <p:nvPr/>
        </p:nvSpPr>
        <p:spPr>
          <a:xfrm>
            <a:off x="304800" y="5391150"/>
            <a:ext cx="11582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测量指标：株高与叶片数重复测量；生物量仅在终点测量。</a:t>
            </a:r>
            <a:endParaRPr lang="zh-CN" sz="1725"/>
          </a:p>
        </p:txBody>
      </p:sp>
      <p:sp>
        <p:nvSpPr>
          <p:cNvPr id="69" name="title-translation-69"/>
          <p:cNvSpPr txBox="1"/>
          <p:nvPr/>
        </p:nvSpPr>
        <p:spPr>
          <a:xfrm>
            <a:off x="304800" y="19050"/>
            <a:ext cx="11582400" cy="2190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136742"/>
                </a:solidFill>
                <a:latin typeface="Microsoft YaHei"/>
                <a:ea typeface="Microsoft YaHei"/>
                <a:cs typeface="Microsoft YaHei"/>
              </a:rPr>
              <a:t>Monitoring schedule and repeated surveys</a:t>
            </a:r>
            <a:endParaRPr lang="zh-CN" sz="1275"/>
          </a:p>
        </p:txBody>
      </p:sp>
    </p:spTree>
    <p:extLst>
      <p:ext uri="{BB962C8B-B14F-4D97-AF65-F5344CB8AC3E}">
        <ns2:creationId val="71146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2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ScholarFlow contributors</dc:creator>
  <ns0:lastModifiedBy>ScholarFlow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