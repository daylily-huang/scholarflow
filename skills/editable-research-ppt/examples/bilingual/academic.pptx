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Microsoft YaHei"/>
                    <a:ea typeface="Microsoft YaHei"/>
                    <a:cs typeface="Microsoft YaHei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2685C9"/>
            </a:solidFill>
            <a:ln w="11430">
              <a:solidFill>
                <a:srgbClr val="1359A0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2685C9"/>
            </a:solidFill>
            <a:ln w="11430">
              <a:solidFill>
                <a:srgbClr val="1359A0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Microsoft YaHei"/>
                    <a:ea typeface="Microsoft YaHei"/>
                    <a:cs typeface="Microsoft YaHei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DF5FF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B82D32"/>
            </a:solidFill>
            <a:ln w="19050">
              <a:solidFill>
                <a:srgbClr val="B82D3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82D32"/>
              </a:solidFill>
              <a:ln w="8890">
                <a:solidFill>
                  <a:srgbClr val="B82D32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Microsoft YaHei"/>
                    <a:ea typeface="Microsoft YaHei"/>
                    <a:cs typeface="Microsoft YaHei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2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B82D32"/>
            </a:solidFill>
            <a:ln w="19050">
              <a:solidFill>
                <a:srgbClr val="B82D3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82D32"/>
              </a:solidFill>
              <a:ln w="8890">
                <a:solidFill>
                  <a:srgbClr val="B82D32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Microsoft YaHei"/>
                    <a:ea typeface="Microsoft YaHei"/>
                    <a:cs typeface="Microsoft YaHei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Microsoft YaHei"/>
                    <a:ea typeface="Microsoft YaHei"/>
                    <a:cs typeface="Microsoft YaHei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4cf529f6e1c7487c" /><Relationship Type="http://schemas.openxmlformats.org/officeDocument/2006/relationships/notesMaster" Target="/ppt/notesMasters/notesMaster1.xml" Id="Rf4725e7255104779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9a7bfe174d0e4ccf" /><Relationship Type="http://schemas.openxmlformats.org/officeDocument/2006/relationships/notesMaster" Target="/ppt/notesMasters/notesMaster1.xml" Id="R0c5b9a79d98d42ed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本页为合成版式容量与双语测试，不代表真实论文、研究或实验结果。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本页为合成版式容量与双语测试，不代表真实论文、研究或实验结果。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1.xml" Id="R0f90f39fb5cf47f3" /><Relationship Type="http://schemas.openxmlformats.org/officeDocument/2006/relationships/chart" Target="/ppt/charts/chart2.xml" Id="R5ffc3bee95974730" /><Relationship Type="http://schemas.openxmlformats.org/officeDocument/2006/relationships/chart" Target="/ppt/charts/chart3.xml" Id="R5911ad34a6c7462d" /><Relationship Type="http://schemas.openxmlformats.org/officeDocument/2006/relationships/chart" Target="/ppt/charts/chart4.xml" Id="Rffaaf39a0267400e" /><Relationship Type="http://schemas.openxmlformats.org/officeDocument/2006/relationships/notesSlide" Target="/ppt/notesSlides/notesSlide1.xml" Id="R0674bcd17bcf4ba2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5.xml" Id="Rd2fd00bda74e4d93" /><Relationship Type="http://schemas.openxmlformats.org/officeDocument/2006/relationships/chart" Target="/ppt/charts/chart6.xml" Id="Re728cd7a426649f7" /><Relationship Type="http://schemas.openxmlformats.org/officeDocument/2006/relationships/notesSlide" Target="/ppt/notesSlides/notesSlide2.xml" Id="R4c85476b41b04e9a" /></Relationships>
</file>

<file path=ppt/slides/slide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304800" y="2476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rPr>
              <a:t>栖息地梯度与群落响应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304800" y="819150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84266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80010" y="1314450"/>
          <a:ext cx="5546766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54976" y="310515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0612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0013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0078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不同生境的群落差异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5822" y="1314450"/>
          <a:ext cx="5546766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304800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314201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84266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季节动态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80010" y="3924300"/>
          <a:ext cx="5546766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98621" y="4124325"/>
            <a:ext cx="206829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71258" y="40386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98621" y="4352925"/>
            <a:ext cx="206829" cy="95"/>
          </a:xfrm>
          <a:prstGeom prst="line">
            <a:avLst/>
          </a:prstGeom>
          <a:noFill/>
          <a:ln w="19050">
            <a:solidFill>
              <a:srgbClr val="B82D32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71258" y="42672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54976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0612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0013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0078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效应与不确定性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5822" y="3924300"/>
          <a:ext cx="5546766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5822" y="4201516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5822" y="4474921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5822" y="4748327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5822" y="5021732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30787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读图顺序：趋势 → 组间差异 → 动态 → 不确定性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/>
          </a:p>
        </p:txBody>
      </p:sp>
      <p:sp>
        <p:nvSpPr>
          <p:cNvPr id="43" name="title-translation-43"/>
          <p:cNvSpPr txBox="1"/>
          <p:nvPr/>
        </p:nvSpPr>
        <p:spPr>
          <a:xfrm>
            <a:off x="304800" y="19050"/>
            <a:ext cx="11582400" cy="2190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rPr>
              <a:t>Habitat gradients and community responses</a:t>
            </a:r>
            <a:endParaRPr lang="zh-CN" sz="1275"/>
          </a:p>
        </p:txBody>
      </p:sp>
    </p:spTree>
    <p:extLst>
      <p:ext uri="{BB962C8B-B14F-4D97-AF65-F5344CB8AC3E}">
        <ns5:creationId val="563918454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304800" y="2476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rPr>
              <a:t>Connecting field observations with habitat models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304800" y="819150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304800" y="914400"/>
            <a:ext cx="338447" cy="1428750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333004" y="1009650"/>
            <a:ext cx="282039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</a:t>
            </a:r>
          </a:p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</a:t>
            </a:r>
          </a:p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304800" y="2571750"/>
            <a:ext cx="338447" cy="1190625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333004" y="2667000"/>
            <a:ext cx="28203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</a:t>
            </a:r>
          </a:p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析</a:t>
            </a:r>
          </a:p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338447" cy="2152650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333004" y="4057650"/>
            <a:ext cx="282039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</a:t>
            </a:r>
          </a:p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</a:t>
            </a:r>
          </a:p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93668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2" name="solid-title-band-112"/>
          <p:cNvSpPr/>
          <p:nvPr/>
        </p:nvSpPr>
        <p:spPr>
          <a:xfrm>
            <a:off x="793668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26" name="icon-camera-body-126"/>
          <p:cNvSpPr/>
          <p:nvPr/>
        </p:nvSpPr>
        <p:spPr>
          <a:xfrm>
            <a:off x="962891" y="1009650"/>
            <a:ext cx="300842" cy="304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80"/>
                </a:lnTo>
                <a:lnTo>
                  <a:pt x="200" y="880"/>
                </a:lnTo>
                <a:close/>
              </a:path>
              <a:path w="1000" h="1000">
                <a:moveTo>
                  <a:pt x="320" y="80"/>
                </a:moveTo>
                <a:lnTo>
                  <a:pt x="680" y="80"/>
                </a:lnTo>
                <a:lnTo>
                  <a:pt x="680" y="160"/>
                </a:lnTo>
                <a:lnTo>
                  <a:pt x="320" y="160"/>
                </a:lnTo>
              </a:path>
            </a:pathLst>
          </a:custGeom>
          <a:noFill/>
          <a:ln w="17678" cap="rnd">
            <a:solidFill>
              <a:srgbClr val="FFFFFF"/>
            </a:solidFill>
          </a:ln>
        </p:spPr>
      </p:sp>
      <p:sp>
        <p:nvSpPr>
          <p:cNvPr id="127" name="icon-camera-lens-127"/>
          <p:cNvSpPr/>
          <p:nvPr/>
        </p:nvSpPr>
        <p:spPr>
          <a:xfrm>
            <a:off x="1059160" y="1101090"/>
            <a:ext cx="108303" cy="109728"/>
          </a:xfrm>
          <a:prstGeom prst="ellipse">
            <a:avLst/>
          </a:prstGeom>
          <a:noFill/>
          <a:ln w="17678" cap="rnd">
            <a:solidFill>
              <a:srgbClr val="FFFFFF"/>
            </a:solidFill>
          </a:ln>
        </p:spPr>
      </p:sp>
      <p:sp>
        <p:nvSpPr>
          <p:cNvPr id="128" name="icon-camera-lens-128"/>
          <p:cNvSpPr/>
          <p:nvPr/>
        </p:nvSpPr>
        <p:spPr>
          <a:xfrm>
            <a:off x="1089244" y="1216914"/>
            <a:ext cx="48135" cy="48768"/>
          </a:xfrm>
          <a:prstGeom prst="ellipse">
            <a:avLst/>
          </a:prstGeom>
          <a:noFill/>
          <a:ln w="17678" cap="rnd">
            <a:solidFill>
              <a:srgbClr val="FFFFFF"/>
            </a:solidFill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395351" y="1000125"/>
            <a:ext cx="285799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相机记录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9" name="obs-accent-109"/>
          <p:cNvSpPr/>
          <p:nvPr/>
        </p:nvSpPr>
        <p:spPr>
          <a:xfrm>
            <a:off x="906483" y="1524000"/>
            <a:ext cx="37605" cy="6286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019299" y="1466850"/>
            <a:ext cx="3234047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物种 · 时间 · 样点</a:t>
            </a:r>
            <a:endParaRPr/>
          </a:p>
          <a:p>
            <a: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Species · time · site</a:t>
            </a:r>
            <a:endParaRPr/>
          </a:p>
        </p:txBody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25983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3" name="solid-title-band-113"/>
          <p:cNvSpPr/>
          <p:nvPr/>
        </p:nvSpPr>
        <p:spPr>
          <a:xfrm>
            <a:off x="4525983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29" name="icon-tree-129"/>
          <p:cNvSpPr/>
          <p:nvPr/>
        </p:nvSpPr>
        <p:spPr>
          <a:xfrm>
            <a:off x="4695206" y="1009650"/>
            <a:ext cx="300842" cy="304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80"/>
                </a:moveTo>
                <a:lnTo>
                  <a:pt x="220" y="410"/>
                </a:lnTo>
                <a:lnTo>
                  <a:pt x="350" y="410"/>
                </a:lnTo>
                <a:lnTo>
                  <a:pt x="130" y="680"/>
                </a:lnTo>
                <a:lnTo>
                  <a:pt x="440" y="680"/>
                </a:lnTo>
                <a:lnTo>
                  <a:pt x="440" y="920"/>
                </a:lnTo>
                <a:lnTo>
                  <a:pt x="560" y="920"/>
                </a:lnTo>
                <a:lnTo>
                  <a:pt x="560" y="680"/>
                </a:lnTo>
                <a:lnTo>
                  <a:pt x="870" y="680"/>
                </a:lnTo>
                <a:lnTo>
                  <a:pt x="650" y="410"/>
                </a:lnTo>
                <a:lnTo>
                  <a:pt x="780" y="410"/>
                </a:lnTo>
                <a:close/>
              </a:path>
            </a:pathLst>
          </a:custGeom>
          <a:noFill/>
          <a:ln w="17678" cap="rnd">
            <a:solidFill>
              <a:srgbClr val="FFFFFF"/>
            </a:solidFill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27666" y="1000125"/>
            <a:ext cx="285799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植被调查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0" name="obs-accent-110"/>
          <p:cNvSpPr/>
          <p:nvPr/>
        </p:nvSpPr>
        <p:spPr>
          <a:xfrm>
            <a:off x="4638799" y="1524000"/>
            <a:ext cx="37605" cy="6286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4751614" y="1466850"/>
            <a:ext cx="3234047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盖度 · 高度 · 结构</a:t>
            </a:r>
            <a:endParaRPr/>
          </a:p>
          <a:p>
            <a: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Cover · height · structure</a:t>
            </a:r>
            <a:endParaRPr/>
          </a:p>
        </p:txBody>
      </p:sp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58299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4" name="solid-title-band-114"/>
          <p:cNvSpPr/>
          <p:nvPr/>
        </p:nvSpPr>
        <p:spPr>
          <a:xfrm>
            <a:off x="8258299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30" name="icon-location-130"/>
          <p:cNvSpPr/>
          <p:nvPr/>
        </p:nvSpPr>
        <p:spPr>
          <a:xfrm>
            <a:off x="8427522" y="1009650"/>
            <a:ext cx="300842" cy="304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860"/>
                </a:moveTo>
                <a:lnTo>
                  <a:pt x="240" y="520"/>
                </a:lnTo>
                <a:lnTo>
                  <a:pt x="200" y="380"/>
                </a:lnTo>
                <a:lnTo>
                  <a:pt x="270" y="220"/>
                </a:lnTo>
                <a:lnTo>
                  <a:pt x="500" y="140"/>
                </a:lnTo>
                <a:lnTo>
                  <a:pt x="730" y="220"/>
                </a:lnTo>
                <a:lnTo>
                  <a:pt x="800" y="380"/>
                </a:lnTo>
                <a:lnTo>
                  <a:pt x="760" y="520"/>
                </a:lnTo>
                <a:close/>
              </a:path>
            </a:pathLst>
          </a:custGeom>
          <a:noFill/>
          <a:ln w="17678" cap="rnd">
            <a:solidFill>
              <a:srgbClr val="FFFFFF"/>
            </a:solidFill>
          </a:ln>
        </p:spPr>
      </p:sp>
      <p:sp>
        <p:nvSpPr>
          <p:cNvPr id="131" name="icon-location-dot-131"/>
          <p:cNvSpPr/>
          <p:nvPr/>
        </p:nvSpPr>
        <p:spPr>
          <a:xfrm>
            <a:off x="8541842" y="1091946"/>
            <a:ext cx="72202" cy="73152"/>
          </a:xfrm>
          <a:prstGeom prst="ellipse">
            <a:avLst/>
          </a:prstGeom>
          <a:noFill/>
          <a:ln w="15911" cap="rnd">
            <a:solidFill>
              <a:srgbClr val="FFFFFF"/>
            </a:solidFill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59982" y="1000125"/>
            <a:ext cx="285799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环境变量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1" name="obs-accent-111"/>
          <p:cNvSpPr/>
          <p:nvPr/>
        </p:nvSpPr>
        <p:spPr>
          <a:xfrm>
            <a:off x="8371114" y="1524000"/>
            <a:ext cx="37605" cy="6286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8483930" y="1466850"/>
            <a:ext cx="3234047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地形 · 道路 · 生境</a:t>
            </a:r>
            <a:endParaRPr/>
          </a:p>
          <a:p>
            <a: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Terrain · roads · habitat</a:t>
            </a:r>
            <a:endParaRPr/>
          </a:p>
        </p:txBody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812470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32" name="icon-check-ring-132"/>
          <p:cNvSpPr/>
          <p:nvPr/>
        </p:nvSpPr>
        <p:spPr>
          <a:xfrm>
            <a:off x="989215" y="2836545"/>
            <a:ext cx="285799" cy="289560"/>
          </a:xfrm>
          <a:prstGeom prst="ellipse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33" name="icon-check-mark-133"/>
          <p:cNvSpPr/>
          <p:nvPr/>
        </p:nvSpPr>
        <p:spPr>
          <a:xfrm>
            <a:off x="944088" y="2790825"/>
            <a:ext cx="376052" cy="381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21908" cap="rnd">
            <a:solidFill>
              <a:srgbClr val="FFFFFF"/>
            </a:solidFill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451758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数据核对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95255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34" name="icon-calendar-134"/>
          <p:cNvSpPr/>
          <p:nvPr/>
        </p:nvSpPr>
        <p:spPr>
          <a:xfrm>
            <a:off x="3726873" y="2790825"/>
            <a:ext cx="376052" cy="381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80"/>
                </a:moveTo>
                <a:lnTo>
                  <a:pt x="860" y="180"/>
                </a:lnTo>
                <a:lnTo>
                  <a:pt x="860" y="860"/>
                </a:lnTo>
                <a:lnTo>
                  <a:pt x="140" y="86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320" y="80"/>
                </a:moveTo>
                <a:lnTo>
                  <a:pt x="320" y="280"/>
                </a:lnTo>
              </a:path>
              <a:path w="1000" h="1000">
                <a:moveTo>
                  <a:pt x="680" y="80"/>
                </a:moveTo>
                <a:lnTo>
                  <a:pt x="680" y="280"/>
                </a:lnTo>
              </a:path>
            </a:pathLst>
          </a:custGeom>
          <a:noFill/>
          <a:ln w="19050" cap="rnd">
            <a:solidFill>
              <a:srgbClr val="FFFFFF"/>
            </a:solidFill>
          </a:ln>
        </p:spPr>
      </p:sp>
      <p:sp>
        <p:nvSpPr>
          <p:cNvPr id="135" name="icon-calendar-day-135"/>
          <p:cNvSpPr/>
          <p:nvPr/>
        </p:nvSpPr>
        <p:spPr>
          <a:xfrm>
            <a:off x="3832167" y="2977515"/>
            <a:ext cx="30084" cy="30480"/>
          </a:xfrm>
          <a:prstGeom prst="rect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36" name="icon-calendar-day-136"/>
          <p:cNvSpPr/>
          <p:nvPr/>
        </p:nvSpPr>
        <p:spPr>
          <a:xfrm>
            <a:off x="3832167" y="3053715"/>
            <a:ext cx="30084" cy="30480"/>
          </a:xfrm>
          <a:prstGeom prst="rect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37" name="icon-calendar-day-137"/>
          <p:cNvSpPr/>
          <p:nvPr/>
        </p:nvSpPr>
        <p:spPr>
          <a:xfrm>
            <a:off x="3907378" y="2977515"/>
            <a:ext cx="30084" cy="30480"/>
          </a:xfrm>
          <a:prstGeom prst="rect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38" name="icon-calendar-day-138"/>
          <p:cNvSpPr/>
          <p:nvPr/>
        </p:nvSpPr>
        <p:spPr>
          <a:xfrm>
            <a:off x="3907378" y="3053715"/>
            <a:ext cx="30084" cy="30480"/>
          </a:xfrm>
          <a:prstGeom prst="rect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39" name="icon-calendar-day-139"/>
          <p:cNvSpPr/>
          <p:nvPr/>
        </p:nvSpPr>
        <p:spPr>
          <a:xfrm>
            <a:off x="3982588" y="2977515"/>
            <a:ext cx="30084" cy="30480"/>
          </a:xfrm>
          <a:prstGeom prst="rect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40" name="icon-calendar-day-140"/>
          <p:cNvSpPr/>
          <p:nvPr/>
        </p:nvSpPr>
        <p:spPr>
          <a:xfrm>
            <a:off x="3982588" y="3053715"/>
            <a:ext cx="30084" cy="30480"/>
          </a:xfrm>
          <a:prstGeom prst="rect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34543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统一时间窗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78039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41" name="icon-wf-1-141"/>
          <p:cNvSpPr/>
          <p:nvPr/>
        </p:nvSpPr>
        <p:spPr>
          <a:xfrm>
            <a:off x="6554783" y="2851785"/>
            <a:ext cx="97774" cy="99060"/>
          </a:xfrm>
          <a:prstGeom prst="ellipse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42" name="icon-wf-2-142"/>
          <p:cNvSpPr/>
          <p:nvPr/>
        </p:nvSpPr>
        <p:spPr>
          <a:xfrm>
            <a:off x="6742809" y="2851785"/>
            <a:ext cx="97774" cy="99060"/>
          </a:xfrm>
          <a:prstGeom prst="ellipse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43" name="icon-wf-3-143"/>
          <p:cNvSpPr/>
          <p:nvPr/>
        </p:nvSpPr>
        <p:spPr>
          <a:xfrm>
            <a:off x="6648796" y="3019425"/>
            <a:ext cx="97774" cy="99060"/>
          </a:xfrm>
          <a:prstGeom prst="ellipse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44" name="icon-wf-edges-144"/>
          <p:cNvSpPr/>
          <p:nvPr/>
        </p:nvSpPr>
        <p:spPr>
          <a:xfrm>
            <a:off x="6509657" y="2790825"/>
            <a:ext cx="376052" cy="381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80" y="290"/>
                </a:moveTo>
                <a:lnTo>
                  <a:pt x="620" y="290"/>
                </a:lnTo>
              </a:path>
              <a:path w="1000" h="1000">
                <a:moveTo>
                  <a:pt x="310" y="400"/>
                </a:moveTo>
                <a:lnTo>
                  <a:pt x="430" y="620"/>
                </a:lnTo>
              </a:path>
              <a:path w="1000" h="1000">
                <a:moveTo>
                  <a:pt x="690" y="400"/>
                </a:moveTo>
                <a:lnTo>
                  <a:pt x="570" y="620"/>
                </a:lnTo>
              </a:path>
            </a:pathLst>
          </a:custGeom>
          <a:noFill/>
          <a:ln w="17145" cap="rnd">
            <a:solidFill>
              <a:srgbClr val="FFFFFF"/>
            </a:solidFill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17327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160823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45" name="icon-check-ring-145"/>
          <p:cNvSpPr/>
          <p:nvPr/>
        </p:nvSpPr>
        <p:spPr>
          <a:xfrm>
            <a:off x="9337568" y="2836545"/>
            <a:ext cx="285799" cy="289560"/>
          </a:xfrm>
          <a:prstGeom prst="ellipse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46" name="icon-check-mark-146"/>
          <p:cNvSpPr/>
          <p:nvPr/>
        </p:nvSpPr>
        <p:spPr>
          <a:xfrm>
            <a:off x="9292442" y="2790825"/>
            <a:ext cx="376052" cy="381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21908" cap="rnd">
            <a:solidFill>
              <a:srgbClr val="FFFFFF"/>
            </a:solidFill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00112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诊断与验证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50821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3605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16390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63636" y="3457575"/>
            <a:ext cx="5922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rPr>
              <a:t>异常回查：回到</a:t>
            </a:r>
            <a:r>
              <a:rPr sz="1875" b="1">
                <a:latin typeface="Microsoft YaHei"/>
                <a:ea typeface="Microsoft YaHei"/>
                <a:cs typeface="Microsoft YaHei"/>
                <a:solidFill>
                  <a:srgbClr val="B82D32"/>
                </a:solidFill>
              </a:rPr>
              <a:t>原始记录</a:t>
            </a:r>
            <a:r>
              <a:rPr sz="1875" b="1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rPr>
              <a:t>与采样过程</a:t>
            </a:r>
            <a:endParaRPr/>
          </a:p>
        </p:txBody>
      </p:sp>
      <p:sp>
        <p:nvSpPr>
          <p:cNvPr id="115" name="solid-title-band-115"/>
          <p:cNvSpPr/>
          <p:nvPr/>
        </p:nvSpPr>
        <p:spPr>
          <a:xfrm>
            <a:off x="793668" y="3924300"/>
            <a:ext cx="5396345" cy="3619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925286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观测记录的季节变化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812470" y="4305300"/>
          <a:ext cx="5396345" cy="1600200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80660" y="4524375"/>
            <a:ext cx="206829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53297" y="44386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80660" y="4752975"/>
            <a:ext cx="206829" cy="95"/>
          </a:xfrm>
          <a:prstGeom prst="line">
            <a:avLst/>
          </a:prstGeom>
          <a:noFill/>
          <a:ln w="19050">
            <a:solidFill>
              <a:srgbClr val="B82D32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53297" y="46672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82D32"/>
                </a:solidFill>
                <a:latin typeface="Microsoft YaHei"/>
                <a:ea typeface="Microsoft YaHei"/>
                <a:cs typeface="Microsoft YaHei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147455" y="5924550"/>
            <a:ext cx="2726377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月份</a:t>
            </a:r>
            <a:endParaRPr/>
          </a:p>
        </p:txBody>
      </p:sp>
      <p:sp>
        <p:nvSpPr>
          <p:cNvPr id="116" name="solid-title-band-116"/>
          <p:cNvSpPr/>
          <p:nvPr/>
        </p:nvSpPr>
        <p:spPr>
          <a:xfrm>
            <a:off x="6396842" y="3924300"/>
            <a:ext cx="5396345" cy="3619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528460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5644" y="4305300"/>
          <a:ext cx="5396345" cy="1600200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7750629" y="5924550"/>
            <a:ext cx="2726377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分析原则：保留</a:t>
            </a: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原始记录</a:t>
            </a: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，区分观测差异与模型解释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85C9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/>
          </a:p>
        </p:txBody>
      </p:sp>
      <p:sp>
        <p:nvSpPr>
          <p:cNvPr id="147" name="title-translation-147"/>
          <p:cNvSpPr txBox="1"/>
          <p:nvPr/>
        </p:nvSpPr>
        <p:spPr>
          <a:xfrm>
            <a:off x="304800" y="19050"/>
            <a:ext cx="11582400" cy="2190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359A0"/>
                </a:solidFill>
                <a:latin typeface="Microsoft YaHei"/>
                <a:ea typeface="Microsoft YaHei"/>
                <a:cs typeface="Microsoft YaHei"/>
              </a:rPr>
              <a:t>连接野外观测与栖息地模型</a:t>
            </a:r>
            <a:endParaRPr lang="zh-CN" sz="1275"/>
          </a:p>
        </p:txBody>
      </p:sp>
    </p:spTree>
    <p:extLst>
      <p:ext uri="{BB962C8B-B14F-4D97-AF65-F5344CB8AC3E}">
        <ns5:creationId val="942761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2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ScholarFlow contributors</dc:creator>
  <ns0:lastModifiedBy>ScholarFlow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