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林内样点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林缘样点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trendline>
            <c:spPr>
              <a:ln w="19050">
                <a:solidFill>
                  <a:srgbClr val="087F9A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0.042</c:v>
                </c:pt>
                <c:pt idx="2">
                  <c:v>0.083</c:v>
                </c:pt>
                <c:pt idx="3">
                  <c:v>0.125</c:v>
                </c:pt>
                <c:pt idx="4">
                  <c:v>0.167</c:v>
                </c:pt>
                <c:pt idx="5">
                  <c:v>0.208</c:v>
                </c:pt>
                <c:pt idx="6">
                  <c:v>0.25</c:v>
                </c:pt>
                <c:pt idx="7">
                  <c:v>0.292</c:v>
                </c:pt>
                <c:pt idx="8">
                  <c:v>0.333</c:v>
                </c:pt>
                <c:pt idx="9">
                  <c:v>0.375</c:v>
                </c:pt>
                <c:pt idx="10">
                  <c:v>0.417</c:v>
                </c:pt>
                <c:pt idx="11">
                  <c:v>0.458</c:v>
                </c:pt>
                <c:pt idx="12">
                  <c:v>0.5</c:v>
                </c:pt>
                <c:pt idx="13">
                  <c:v>0.542</c:v>
                </c:pt>
                <c:pt idx="14">
                  <c:v>0.583</c:v>
                </c:pt>
                <c:pt idx="15">
                  <c:v>0.625</c:v>
                </c:pt>
                <c:pt idx="16">
                  <c:v>0.667</c:v>
                </c:pt>
                <c:pt idx="17">
                  <c:v>0.708</c:v>
                </c:pt>
                <c:pt idx="18">
                  <c:v>0.75</c:v>
                </c:pt>
                <c:pt idx="19">
                  <c:v>0.792</c:v>
                </c:pt>
                <c:pt idx="20">
                  <c:v>0.833</c:v>
                </c:pt>
                <c:pt idx="21">
                  <c:v>0.875</c:v>
                </c:pt>
                <c:pt idx="22">
                  <c:v>0.917</c:v>
                </c:pt>
                <c:pt idx="23">
                  <c:v>0.958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30</c:v>
                </c:pt>
                <c:pt idx="1">
                  <c:v>37.27</c:v>
                </c:pt>
                <c:pt idx="2">
                  <c:v>29.48</c:v>
                </c:pt>
                <c:pt idx="3">
                  <c:v>31.45</c:v>
                </c:pt>
                <c:pt idx="4">
                  <c:v>42.15</c:v>
                </c:pt>
                <c:pt idx="5">
                  <c:v>37.45</c:v>
                </c:pt>
                <c:pt idx="6">
                  <c:v>33.98</c:v>
                </c:pt>
                <c:pt idx="7">
                  <c:v>45.11</c:v>
                </c:pt>
                <c:pt idx="8">
                  <c:v>45.57</c:v>
                </c:pt>
                <c:pt idx="9">
                  <c:v>38.35</c:v>
                </c:pt>
                <c:pt idx="10">
                  <c:v>46.75</c:v>
                </c:pt>
                <c:pt idx="11">
                  <c:v>52.73</c:v>
                </c:pt>
                <c:pt idx="12">
                  <c:v>44.66</c:v>
                </c:pt>
                <c:pt idx="13">
                  <c:v>48.08</c:v>
                </c:pt>
                <c:pt idx="14">
                  <c:v>58.12</c:v>
                </c:pt>
                <c:pt idx="15">
                  <c:v>52.41</c:v>
                </c:pt>
                <c:pt idx="16">
                  <c:v>50.25</c:v>
                </c:pt>
                <c:pt idx="17">
                  <c:v>61.54</c:v>
                </c:pt>
                <c:pt idx="18">
                  <c:v>60.6</c:v>
                </c:pt>
                <c:pt idx="19">
                  <c:v>54.1</c:v>
                </c:pt>
                <c:pt idx="20">
                  <c:v>63.43</c:v>
                </c:pt>
                <c:pt idx="21">
                  <c:v>68.1</c:v>
                </c:pt>
                <c:pt idx="22">
                  <c:v>59.93</c:v>
                </c:pt>
                <c:pt idx="23">
                  <c:v>64.73</c:v>
                </c:pt>
                <c:pt idx="24">
                  <c:v>73.99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独立记录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0.093</c:v>
                </c:pt>
                <c:pt idx="1">
                  <c:v>0.093</c:v>
                </c:pt>
                <c:pt idx="2">
                  <c:v>0.093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1.449</c:v>
                </c:pt>
                <c:pt idx="1">
                  <c:v>0.949</c:v>
                </c:pt>
                <c:pt idx="2">
                  <c:v>1.199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0A9BC"/>
            </a:solidFill>
            <a:ln w="11430">
              <a:solidFill>
                <a:srgbClr val="087F9A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0A9BC"/>
            </a:solidFill>
            <a:ln w="11430">
              <a:solidFill>
                <a:srgbClr val="087F9A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0.09375</c:v>
                </c:pt>
                <c:pt idx="1">
                  <c:v>0.09375</c:v>
                </c:pt>
                <c:pt idx="2">
                  <c:v>0.09375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林内</c:v>
                </c:pt>
                <c:pt idx="1">
                  <c:v>林缘</c:v>
                </c:pt>
                <c:pt idx="2">
                  <c:v>廊道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0.09825</c:v>
                </c:pt>
                <c:pt idx="1">
                  <c:v>0.09825</c:v>
                </c:pt>
                <c:pt idx="2">
                  <c:v>0.09825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1.07</c:v>
                </c:pt>
                <c:pt idx="1">
                  <c:v>1.05</c:v>
                </c:pt>
                <c:pt idx="2">
                  <c:v>0.96</c:v>
                </c:pt>
                <c:pt idx="3">
                  <c:v>0.83</c:v>
                </c:pt>
                <c:pt idx="4">
                  <c:v>0.7</c:v>
                </c:pt>
                <c:pt idx="5">
                  <c:v>0.61</c:v>
                </c:pt>
                <c:pt idx="6">
                  <c:v>0.59</c:v>
                </c:pt>
                <c:pt idx="7">
                  <c:v>0.65</c:v>
                </c:pt>
                <c:pt idx="8">
                  <c:v>0.78</c:v>
                </c:pt>
                <c:pt idx="9">
                  <c:v>0.95</c:v>
                </c:pt>
                <c:pt idx="10">
                  <c:v>1.12</c:v>
                </c:pt>
                <c:pt idx="11">
                  <c:v>1.25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FFB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0.26</c:v>
                </c:pt>
                <c:pt idx="1">
                  <c:v>0.26</c:v>
                </c:pt>
                <c:pt idx="2">
                  <c:v>0.26</c:v>
                </c:pt>
                <c:pt idx="3">
                  <c:v>0.26</c:v>
                </c:pt>
                <c:pt idx="4">
                  <c:v>0.26</c:v>
                </c:pt>
                <c:pt idx="5">
                  <c:v>0.26</c:v>
                </c:pt>
                <c:pt idx="6">
                  <c:v>0.26</c:v>
                </c:pt>
                <c:pt idx="7">
                  <c:v>0.26</c:v>
                </c:pt>
                <c:pt idx="8">
                  <c:v>0.26</c:v>
                </c:pt>
                <c:pt idx="9">
                  <c:v>0.26</c:v>
                </c:pt>
                <c:pt idx="10">
                  <c:v>0.26</c:v>
                </c:pt>
                <c:pt idx="11">
                  <c:v>0.26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本期监测</c:v>
          </c:tx>
          <c:spPr>
            <a:solidFill>
              <a:srgbClr val="087F9A"/>
            </a:solidFill>
            <a:ln w="19050">
              <a:solidFill>
                <a:srgbClr val="087F9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1.2</c:v>
                </c:pt>
                <c:pt idx="1">
                  <c:v>1.18</c:v>
                </c:pt>
                <c:pt idx="2">
                  <c:v>1.09</c:v>
                </c:pt>
                <c:pt idx="3">
                  <c:v>0.96</c:v>
                </c:pt>
                <c:pt idx="4">
                  <c:v>0.83</c:v>
                </c:pt>
                <c:pt idx="5">
                  <c:v>0.74</c:v>
                </c:pt>
                <c:pt idx="6">
                  <c:v>0.72</c:v>
                </c:pt>
                <c:pt idx="7">
                  <c:v>0.78</c:v>
                </c:pt>
                <c:pt idx="8">
                  <c:v>0.91</c:v>
                </c:pt>
                <c:pt idx="9">
                  <c:v>1.08</c:v>
                </c:pt>
                <c:pt idx="10">
                  <c:v>1.25</c:v>
                </c:pt>
                <c:pt idx="11">
                  <c:v>1.38</c:v>
                </c:pt>
              </c:numCache>
            </c:numRef>
          </c:val>
          <c:smooth val="0"/>
        </c:ser>
        <c:ser>
          <c:idx val="3"/>
          <c:order val="3"/>
          <c:tx>
            <c:v>前期监测</c:v>
          </c:tx>
          <c:spPr>
            <a:solidFill>
              <a:srgbClr val="CB4442"/>
            </a:solidFill>
            <a:ln w="19050">
              <a:solidFill>
                <a:srgbClr val="CB444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B4442"/>
              </a:solidFill>
              <a:ln w="8890">
                <a:solidFill>
                  <a:srgbClr val="CB444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0.85</c:v>
                </c:pt>
                <c:pt idx="1">
                  <c:v>0.83</c:v>
                </c:pt>
                <c:pt idx="2">
                  <c:v>0.74</c:v>
                </c:pt>
                <c:pt idx="3">
                  <c:v>0.61</c:v>
                </c:pt>
                <c:pt idx="4">
                  <c:v>0.48</c:v>
                </c:pt>
                <c:pt idx="5">
                  <c:v>0.39</c:v>
                </c:pt>
                <c:pt idx="6">
                  <c:v>0.37</c:v>
                </c:pt>
                <c:pt idx="7">
                  <c:v>0.43</c:v>
                </c:pt>
                <c:pt idx="8">
                  <c:v>0.56</c:v>
                </c:pt>
                <c:pt idx="9">
                  <c:v>0.73</c:v>
                </c:pt>
                <c:pt idx="10">
                  <c:v>0.9</c:v>
                </c:pt>
                <c:pt idx="11">
                  <c:v>1.03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087F9A"/>
              </a:solidFill>
              <a:ln w="8890">
                <a:solidFill>
                  <a:srgbClr val="087F9A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087F9A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0.43</c:v>
                </c:pt>
                <c:pt idx="1">
                  <c:v>0.22</c:v>
                </c:pt>
                <c:pt idx="2">
                  <c:v>0.32</c:v>
                </c:pt>
                <c:pt idx="3">
                  <c:v>-0.27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2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trendline>
            <c:spPr>
              <a:ln w="19050">
                <a:solidFill>
                  <a:srgbClr val="4D319F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fc6e8ac78c5545a3" /><Relationship Type="http://schemas.openxmlformats.org/officeDocument/2006/relationships/notesMaster" Target="/ppt/notesMasters/notesMaster1.xml" Id="Rf0bb6a3157794807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b8ecb1a0f4c347b8" /><Relationship Type="http://schemas.openxmlformats.org/officeDocument/2006/relationships/notesMaster" Target="/ppt/notesMasters/notesMaster1.xml" Id="R1f9ddf8ce2e948f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Skill宣传用原生可编辑样板；图中全部数据为人工构造的示意数据，不代表真实研究结果。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Skill宣传用原生可编辑样板；图中全部数据为人工构造的示意数据，不代表真实研究结果。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合成示意数据；展示图表结构与编辑功能，区间为人工设定上下界。</a:t>
            </a:r>
            <a:endParaRPr/>
          </a:p>
          <a:p>
            <a:r>
              <a:rPr/>
              <a:t>charts.1: 合成示意数据；展示图表结构与编辑功能，区间为人工设定上下界。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Skill宣传用原生可编辑样板；图中全部数据为人工构造的示意数据，不代表真实研究结果。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合成示意数据；展示图表结构与编辑功能，区间为人工设定上下界。</a:t>
            </a:r>
            <a:endParaRPr/>
          </a:p>
          <a:p>
            <a:r>
              <a:rPr/>
              <a:t>charts.1: 合成示意数据；展示图表结构与编辑功能，区间为人工设定上下界。</a:t>
            </a:r>
            <a:endParaRPr/>
          </a:p>
          <a:p>
            <a:r>
              <a:rPr/>
              <a:t>charts.2: 合成示意数据；展示图表结构与编辑功能，区间为人工设定上下界。</a:t>
            </a:r>
            <a:endParaRPr/>
          </a:p>
          <a:p>
            <a:r>
              <a:rPr/>
              <a:t>charts.3: 合成示意数据；展示图表结构与编辑功能，区间为人工设定上下界。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Skill宣传用原生可编辑样板；图中全部数据为人工构造的示意数据，不代表真实研究结果。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合成示意数据；展示图表结构与编辑功能，区间为人工设定上下界。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1.xml" Id="R68f0df05906a4f2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1.xml" Id="Rd2fd00bda74e4d93" /><Relationship Type="http://schemas.openxmlformats.org/officeDocument/2006/relationships/chart" Target="/ppt/charts/chart2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3.xml" Id="R0f90f39fb5cf47f3" /><Relationship Type="http://schemas.openxmlformats.org/officeDocument/2006/relationships/chart" Target="/ppt/charts/chart4.xml" Id="R5ffc3bee95974730" /><Relationship Type="http://schemas.openxmlformats.org/officeDocument/2006/relationships/chart" Target="/ppt/charts/chart5.xml" Id="R5911ad34a6c7462d" /><Relationship Type="http://schemas.openxmlformats.org/officeDocument/2006/relationships/chart" Target="/ppt/charts/chart6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7.xml" Id="Rd3976b09d88d407c" /><Relationship Type="http://schemas.openxmlformats.org/officeDocument/2006/relationships/notesSlide" Target="/ppt/notesSlides/notesSlide4.xml" Id="R731d6414eb1540d5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>
            <a:duotone>
              <a:srgbClr val="28463A"/>
              <a:srgbClr val="FFFFFF"/>
            </a:duotone>
          </a:blip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rPr>
              <a:t>森林生物多样性</a:t>
            </a:r>
            <a:endParaRPr/>
          </a:p>
          <a:p>
            <a:pPr algn="l">
              <a:def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28463A"/>
                </a:solidFill>
                <a:latin typeface="Noto Serif CJK SC"/>
                <a:ea typeface="Noto Serif CJK SC"/>
                <a:cs typeface="Noto Serif CJK SC"/>
              </a:rPr>
              <a:t>从格局到机制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8A9B81"/>
                </a:solidFill>
                <a:latin typeface="Noto Serif CJK SC"/>
                <a:ea typeface="Noto Serif CJK SC"/>
                <a:cs typeface="Noto Serif CJK SC"/>
              </a:rPr>
              <a:t>多源观测 · 竞争假说 · 生态证据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A8562F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科研汇报 · 示例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28463A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28463A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28463A"/>
          </a:solidFill>
          <a:ln w="12383">
            <a:solidFill>
              <a:srgbClr val="28463A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8463A"/>
                </a:solidFill>
                <a:latin typeface="Noto Sans CJK SC"/>
                <a:ea typeface="Noto Sans CJK SC"/>
                <a:cs typeface="Noto Sans CJK SC"/>
              </a:rPr>
              <a:t>2026.10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A9B81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技术路线｜把多源观测转化为研究证据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1359A0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1359A0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1359A0"/>
          </a:solidFill>
          <a:ln w="20002">
            <a:solidFill>
              <a:srgbClr val="1359A0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1359A0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异常回查：保留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，核对采样与识别过程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林内样点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林缘样点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环境梯度与物种丰富度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分析围绕研究问题，保留来源与不确定性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数据证据｜用四种图回答不同问题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087F9A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监测强度与记录数量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有效监测比例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不同生境的群落分布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季节动态与观测范围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087F9A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本期监测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CB444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B4442"/>
                </a:solidFill>
                <a:latin typeface="Noto Sans CJK SC"/>
                <a:ea typeface="Noto Sans CJK SC"/>
                <a:cs typeface="Noto Sans CJK SC"/>
              </a:rPr>
              <a:t>前期监测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087F9A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087F9A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效应方向与不确定性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有效天数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植被盖度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道路距离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访客频次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087F9A"/>
          </a:solidFill>
          <a:ln w="14288">
            <a:solidFill>
              <a:srgbClr val="087F9A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联合比较趋势、差异、动态与不确定性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0A9BC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研究框架｜让观测与验证形成反馈循环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304800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314201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435384" y="11069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501381" y="10734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98843" y="1140333"/>
            <a:ext cx="91381" cy="925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605454" y="1127474"/>
            <a:ext cx="20307" cy="20574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756062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74023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</a:t>
            </a:r>
            <a:br/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保留来源与时间</a:t>
            </a:r>
            <a:endParaRPr/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97462" y="2158079"/>
            <a:ext cx="477022" cy="342805"/>
          </a:xfrm>
          <a:prstGeom prst="roundRect">
            <a:avLst>
              <a:gd name="adj" fmla="val 22228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741679" y="2085023"/>
            <a:ext cx="183044" cy="95536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736132" y="2231136"/>
            <a:ext cx="199684" cy="202311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69096" y="2203037"/>
            <a:ext cx="44374" cy="4495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73134" y="2276475"/>
            <a:ext cx="507670" cy="152400"/>
          </a:xfrm>
          <a:prstGeom prst="rightArrow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2027870" y="2133791"/>
            <a:ext cx="370787" cy="348044"/>
          </a:xfrm>
          <a:prstGeom prst="can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417616" y="2695575"/>
          <a:ext cx="3638303" cy="523875"/>
        </p:xfrm>
        <a:graphic>
          <a:graphicData uri="http://schemas.openxmlformats.org/drawingml/2006/table">
            <a:tbl>
              <a:tblPr/>
              <a:tblGrid>
                <a:gridCol w="1212768"/>
                <a:gridCol w="1212768"/>
                <a:gridCol w="1212768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13865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23266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41911" y="112490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23138" y="1060609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22134" y="1106900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284059" y="1243203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69833" y="1240631"/>
            <a:ext cx="35537" cy="36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65127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183088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27275" y="2357438"/>
            <a:ext cx="125038" cy="1266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13074" y="2131219"/>
            <a:ext cx="125038" cy="1266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61392" y="2294096"/>
            <a:ext cx="125038" cy="1266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27424" y="2773680"/>
            <a:ext cx="125038" cy="1266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25518" y="2764631"/>
            <a:ext cx="125038" cy="1266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264238" y="1990725"/>
          <a:ext cx="2481943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058459" y="3048000"/>
            <a:ext cx="124097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760626" y="1857375"/>
            <a:ext cx="99277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13865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23266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52065" y="3807143"/>
            <a:ext cx="203068" cy="20574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65127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183088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380516" y="4905375"/>
            <a:ext cx="676894" cy="68580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24060" y="49530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555678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24060" y="52578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555678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24060" y="55626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555678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304800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314201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463306" y="3812286"/>
            <a:ext cx="164993" cy="200597"/>
          </a:xfrm>
          <a:prstGeom prst="roundRect">
            <a:avLst>
              <a:gd name="adj" fmla="val 45584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506458" y="3794284"/>
            <a:ext cx="76151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756062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74023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739140" y="4922520"/>
            <a:ext cx="549976" cy="668655"/>
          </a:xfrm>
          <a:prstGeom prst="roundRect">
            <a:avLst>
              <a:gd name="adj" fmla="val 13675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82980" y="4862513"/>
            <a:ext cx="253835" cy="128588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714995" y="49530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846613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714995" y="52578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846613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714995" y="5562600"/>
            <a:ext cx="47006" cy="47625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846613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4D319F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6866" y="2010691"/>
            <a:ext cx="282980" cy="203359"/>
          </a:xfrm>
          <a:prstGeom prst="roundRect">
            <a:avLst>
              <a:gd name="adj" fmla="val 37471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2418" y="1967352"/>
            <a:ext cx="108585" cy="566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9128" y="2054029"/>
            <a:ext cx="118456" cy="12001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326" y="2037361"/>
            <a:ext cx="26324" cy="2667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50775" y="2324539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6B54AF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71669" y="3361072"/>
            <a:ext cx="46067" cy="4667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76963" y="3277728"/>
            <a:ext cx="46067" cy="4667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05291" y="3337736"/>
            <a:ext cx="46067" cy="4667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55934" y="3514425"/>
            <a:ext cx="46067" cy="4667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07863" y="3511091"/>
            <a:ext cx="46067" cy="46673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28868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8A77C0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5020" y="4690623"/>
            <a:ext cx="263236" cy="26670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9056" y="5047811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A89AD0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23250" y="3370245"/>
            <a:ext cx="213880" cy="260033"/>
          </a:xfrm>
          <a:prstGeom prst="roundRect">
            <a:avLst>
              <a:gd name="adj" fmla="val 35165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79188" y="3346909"/>
            <a:ext cx="98714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40963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65271" y="3095625"/>
            <a:ext cx="1861457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以可核查的证据修正假设，再进入下一轮观测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