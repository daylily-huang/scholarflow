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6e48b80e4b834772" /><Relationship Type="http://schemas.openxmlformats.org/officeDocument/2006/relationships/notesMaster" Target="/ppt/notesMasters/notesMaster1.xml" Id="R6ea7d8a4598a4ea0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6e48b80e4b834772" /><Relationship Type="http://schemas.openxmlformats.org/officeDocument/2006/relationships/notesMaster" Target="/ppt/notesMasters/notesMaster1.xml" Id="R6ea7d8a4598a4ea0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6e48b80e4b834772" /><Relationship Type="http://schemas.openxmlformats.org/officeDocument/2006/relationships/notesMaster" Target="/ppt/notesMasters/notesMaster1.xml" Id="R6ea7d8a4598a4ea0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6e48b80e4b834772" /><Relationship Type="http://schemas.openxmlformats.org/officeDocument/2006/relationships/notesMaster" Target="/ppt/notesMasters/notesMaster1.xml" Id="R6ea7d8a4598a4ea0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6e48b80e4b834772" /><Relationship Type="http://schemas.openxmlformats.org/officeDocument/2006/relationships/notesMaster" Target="/ppt/notesMasters/notesMaster1.xml" Id="R6ea7d8a4598a4ea0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L15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L17</a:t>
            </a:r>
            <a:endParaRPr/>
          </a:p>
          <a:p>
            <a:r>
              <a:rPr/>
              <a:t>Palette: P3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L18</a:t>
            </a:r>
            <a:endParaRPr/>
          </a:p>
          <a:p>
            <a:r>
              <a:rPr/>
              <a:t>Palette: P4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L19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L20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.xml" Id="R42f6f6e0deef48f7" /><Relationship Id="evidenceImage1" Type="http://schemas.openxmlformats.org/officeDocument/2006/relationships/image" Target="/ppt/media/evidence_1.png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2.xml" Id="R42f6f6e0deef48f7" /><Relationship Id="evidenceImage2" Type="http://schemas.openxmlformats.org/officeDocument/2006/relationships/image" Target="/ppt/media/evidence_2.png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3.xml" Id="R42f6f6e0deef48f7" /><Relationship Id="evidenceImage3" Type="http://schemas.openxmlformats.org/officeDocument/2006/relationships/image" Target="/ppt/media/evidence_3.png" /><Relationship Id="evidenceImage4" Type="http://schemas.openxmlformats.org/officeDocument/2006/relationships/image" Target="/ppt/media/evidence_4.png" /><Relationship Id="evidenceImage5" Type="http://schemas.openxmlformats.org/officeDocument/2006/relationships/image" Target="/ppt/media/evidence_5.png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4.xml" Id="R42f6f6e0deef48f7" /><Relationship Id="evidenceImage6" Type="http://schemas.openxmlformats.org/officeDocument/2006/relationships/image" Target="/ppt/media/evidence_6.png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5.xml" Id="R42f6f6e0deef48f7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6.xml" Id="R42f6f6e0deef48f7" /></Relationships>
</file>

<file path=ppt/slides/slide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一篇研究如何连接问题、设计与证据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B82D32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1050"/>
          </a:p>
        </p:txBody>
      </p:sp>
      <p:pic>
        <p:nvPicPr>
          <p:cNvPr id="22" name="evidence-main" descr="{&quot;kind&quot;: &quot;paper_crop&quot;, &quot;provenance&quot;: {&quot;paper_id&quot;: &quot;demo-study&quot;, &quot;figure&quot;: &quot;Fig 1&quot;, &quot;page&quot;: 1, &quot;crop_bbox&quot;: [0, 0, 864, 432], &quot;pdf_sha256&quot;: &quot;625db2361c9caf1bdcce114b8d9b1788a039408b20d61d6bb0d4be8cff0ae1ad&quot;, &quot;png_sha256&quot;: &quot;215df2377325f02f475b95f937e15755a201d52ace54af6ed1e582d3c2d525e4&quot;, &quot;render_method&quot;: &quot;pdf_clip&quot;, &quot;dpi&quot;: 180, &quot;verified_complete&quot;: true}, &quot;sha256&quot;: &quot;215df2377325f02f475b95f937e15755a201d52ace54af6ed1e582d3c2d525e4&quot;}"/>
          <p:cNvPicPr>
            <a:picLocks noChangeAspect="1"/>
          </p:cNvPicPr>
          <p:nvPr/>
        </p:nvPicPr>
        <p:blipFill>
          <a:blip r:embed="evidenceImage1"/>
          <a:stretch>
            <a:fillRect/>
          </a:stretch>
        </p:blipFill>
        <p:spPr>
          <a:xfrm>
            <a:off x="4267200" y="1238250"/>
            <a:ext cx="7620000" cy="3810000"/>
          </a:xfrm>
          <a:prstGeom prst="rect">
            <a:avLst/>
          </a:prstGeom>
        </p:spPr>
      </p:pic>
      <p:sp>
        <p:nvSpPr>
          <p:cNvPr id="23" name="figure-number-caption-23"/>
          <p:cNvSpPr txBox="1"/>
          <p:nvPr/>
        </p:nvSpPr>
        <p:spPr>
          <a:xfrm>
            <a:off x="4267200" y="5124450"/>
            <a:ext cx="76200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图 1  合成测试资料</a:t>
            </a:r>
            <a:endParaRPr lang="zh-CN" sz="1500"/>
          </a:p>
        </p:txBody>
      </p:sp>
      <p:sp>
        <p:nvSpPr>
          <p:cNvPr id="24" name="figure-source-24"/>
          <p:cNvSpPr txBox="1"/>
          <p:nvPr/>
        </p:nvSpPr>
        <p:spPr>
          <a:xfrm>
            <a:off x="4267200" y="5410200"/>
            <a:ext cx="7620000" cy="238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475"/>
                </a:solidFill>
                <a:latin typeface="Noto Sans CJK SC"/>
                <a:ea typeface="Noto Sans CJK SC"/>
                <a:cs typeface="Noto Sans CJK SC"/>
              </a:rPr>
              <a:t>来源：随包 synthetic-study.pdf（示意）</a:t>
            </a:r>
            <a:endParaRPr lang="zh-CN" sz="1275"/>
          </a:p>
        </p:txBody>
      </p:sp>
      <p:sp>
        <p:nvSpPr>
          <p:cNvPr id="25" name="image-boundary-25"/>
          <p:cNvSpPr/>
          <p:nvPr/>
        </p:nvSpPr>
        <p:spPr>
          <a:xfrm>
            <a:off x="4267200" y="1238250"/>
            <a:ext cx="7620000" cy="3810000"/>
          </a:xfrm>
          <a:prstGeom prst="rect">
            <a:avLst/>
          </a:prstGeom>
          <a:noFill/>
          <a:ln w="11430" cap="rnd">
            <a:solidFill>
              <a:srgbClr val="C3D2E0"/>
            </a:solidFill>
          </a:ln>
        </p:spPr>
      </p:sp>
      <p:sp>
        <p:nvSpPr>
          <p:cNvPr id="26" name="section-number-26"/>
          <p:cNvSpPr txBox="1"/>
          <p:nvPr/>
        </p:nvSpPr>
        <p:spPr>
          <a:xfrm>
            <a:off x="304800" y="11811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1650"/>
          </a:p>
        </p:txBody>
      </p:sp>
      <p:sp>
        <p:nvSpPr>
          <p:cNvPr id="27" name="section-title-27"/>
          <p:cNvSpPr txBox="1"/>
          <p:nvPr/>
        </p:nvSpPr>
        <p:spPr>
          <a:xfrm>
            <a:off x="800100" y="1181100"/>
            <a:ext cx="316230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875"/>
          </a:p>
        </p:txBody>
      </p:sp>
      <p:sp>
        <p:nvSpPr>
          <p:cNvPr id="28" name="section-body-28"/>
          <p:cNvSpPr txBox="1"/>
          <p:nvPr/>
        </p:nvSpPr>
        <p:spPr>
          <a:xfrm>
            <a:off x="800100" y="1609725"/>
            <a:ext cx="316230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环境变化是否伴随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动物群落差异？</a:t>
            </a:r>
            <a:endParaRPr lang="zh-CN" sz="1575"/>
          </a:p>
        </p:txBody>
      </p:sp>
      <p:sp>
        <p:nvSpPr>
          <p:cNvPr id="29" name="section-rule-29"/>
          <p:cNvSpPr/>
          <p:nvPr/>
        </p:nvSpPr>
        <p:spPr>
          <a:xfrm>
            <a:off x="304800" y="2524125"/>
            <a:ext cx="365760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30" name="section-number-30"/>
          <p:cNvSpPr txBox="1"/>
          <p:nvPr/>
        </p:nvSpPr>
        <p:spPr>
          <a:xfrm>
            <a:off x="304800" y="26670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1650"/>
          </a:p>
        </p:txBody>
      </p:sp>
      <p:sp>
        <p:nvSpPr>
          <p:cNvPr id="31" name="section-title-31"/>
          <p:cNvSpPr txBox="1"/>
          <p:nvPr/>
        </p:nvSpPr>
        <p:spPr>
          <a:xfrm>
            <a:off x="800100" y="2667000"/>
            <a:ext cx="316230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 lang="zh-CN" sz="1875"/>
          </a:p>
        </p:txBody>
      </p:sp>
      <p:sp>
        <p:nvSpPr>
          <p:cNvPr id="32" name="section-body-32"/>
          <p:cNvSpPr txBox="1"/>
          <p:nvPr/>
        </p:nvSpPr>
        <p:spPr>
          <a:xfrm>
            <a:off x="800100" y="3095625"/>
            <a:ext cx="316230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在统一监测窗口内，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比较不同生境样点。</a:t>
            </a:r>
            <a:endParaRPr lang="zh-CN" sz="1575"/>
          </a:p>
        </p:txBody>
      </p:sp>
      <p:sp>
        <p:nvSpPr>
          <p:cNvPr id="33" name="section-rule-33"/>
          <p:cNvSpPr/>
          <p:nvPr/>
        </p:nvSpPr>
        <p:spPr>
          <a:xfrm>
            <a:off x="304800" y="4010025"/>
            <a:ext cx="365760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34" name="section-number-34"/>
          <p:cNvSpPr txBox="1"/>
          <p:nvPr/>
        </p:nvSpPr>
        <p:spPr>
          <a:xfrm>
            <a:off x="304800" y="41529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1650"/>
          </a:p>
        </p:txBody>
      </p:sp>
      <p:sp>
        <p:nvSpPr>
          <p:cNvPr id="35" name="section-title-35"/>
          <p:cNvSpPr txBox="1"/>
          <p:nvPr/>
        </p:nvSpPr>
        <p:spPr>
          <a:xfrm>
            <a:off x="800100" y="4152900"/>
            <a:ext cx="316230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核心证据</a:t>
            </a:r>
            <a:endParaRPr lang="zh-CN" sz="1875"/>
          </a:p>
        </p:txBody>
      </p:sp>
      <p:sp>
        <p:nvSpPr>
          <p:cNvPr id="36" name="section-body-36"/>
          <p:cNvSpPr txBox="1"/>
          <p:nvPr/>
        </p:nvSpPr>
        <p:spPr>
          <a:xfrm>
            <a:off x="800100" y="4581525"/>
            <a:ext cx="316230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保留完整结果图，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结合原文解释差异。</a:t>
            </a:r>
            <a:endParaRPr lang="zh-CN" sz="1575"/>
          </a:p>
        </p:txBody>
      </p:sp>
    </p:spTree>
    <p:extLst>
      <p:ext uri="{BB962C8B-B14F-4D97-AF65-F5344CB8AC3E}">
        <ns3:creationId val="711463199"/>
      </p:ext>
    </p:extLst>
  </p:cSld>
</p:sld>
</file>

<file path=ppt/slides/slide2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重要证据放大呈现，先看清再解释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BD4F22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1050"/>
          </a:p>
        </p:txBody>
      </p:sp>
      <p:pic>
        <p:nvPicPr>
          <p:cNvPr id="22" name="evidence-main" descr="{&quot;kind&quot;: &quot;paper_crop&quot;, &quot;provenance&quot;: {&quot;paper_id&quot;: &quot;demo-study&quot;, &quot;figure&quot;: &quot;Fig 1&quot;, &quot;page&quot;: 1, &quot;crop_bbox&quot;: [0, 0, 864, 432], &quot;pdf_sha256&quot;: &quot;625db2361c9caf1bdcce114b8d9b1788a039408b20d61d6bb0d4be8cff0ae1ad&quot;, &quot;png_sha256&quot;: &quot;215df2377325f02f475b95f937e15755a201d52ace54af6ed1e582d3c2d525e4&quot;, &quot;render_method&quot;: &quot;pdf_clip&quot;, &quot;dpi&quot;: 180, &quot;verified_complete&quot;: true}, &quot;sha256&quot;: &quot;215df2377325f02f475b95f937e15755a201d52ace54af6ed1e582d3c2d525e4&quot;}"/>
          <p:cNvPicPr>
            <a:picLocks noChangeAspect="1"/>
          </p:cNvPicPr>
          <p:nvPr/>
        </p:nvPicPr>
        <p:blipFill>
          <a:blip r:embed="evidenceImage2"/>
          <a:stretch>
            <a:fillRect/>
          </a:stretch>
        </p:blipFill>
        <p:spPr>
          <a:xfrm>
            <a:off x="304800" y="1166812"/>
            <a:ext cx="7905750" cy="3952875"/>
          </a:xfrm>
          <a:prstGeom prst="rect">
            <a:avLst/>
          </a:prstGeom>
        </p:spPr>
      </p:pic>
      <p:sp>
        <p:nvSpPr>
          <p:cNvPr id="23" name="figure-number-caption-23"/>
          <p:cNvSpPr txBox="1"/>
          <p:nvPr/>
        </p:nvSpPr>
        <p:spPr>
          <a:xfrm>
            <a:off x="304800" y="5195888"/>
            <a:ext cx="7905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图 1  合成测试资料</a:t>
            </a:r>
            <a:endParaRPr lang="zh-CN" sz="1500"/>
          </a:p>
        </p:txBody>
      </p:sp>
      <p:sp>
        <p:nvSpPr>
          <p:cNvPr id="24" name="figure-source-24"/>
          <p:cNvSpPr txBox="1"/>
          <p:nvPr/>
        </p:nvSpPr>
        <p:spPr>
          <a:xfrm>
            <a:off x="304800" y="5481638"/>
            <a:ext cx="7905750" cy="238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475"/>
                </a:solidFill>
                <a:latin typeface="Noto Sans CJK SC"/>
                <a:ea typeface="Noto Sans CJK SC"/>
                <a:cs typeface="Noto Sans CJK SC"/>
              </a:rPr>
              <a:t>来源：随包 synthetic-study.pdf（示意）</a:t>
            </a:r>
            <a:endParaRPr lang="zh-CN" sz="1275"/>
          </a:p>
        </p:txBody>
      </p:sp>
      <p:sp>
        <p:nvSpPr>
          <p:cNvPr id="25" name="image-boundary-25"/>
          <p:cNvSpPr/>
          <p:nvPr/>
        </p:nvSpPr>
        <p:spPr>
          <a:xfrm>
            <a:off x="304800" y="1166812"/>
            <a:ext cx="7905750" cy="3952875"/>
          </a:xfrm>
          <a:prstGeom prst="rect">
            <a:avLst/>
          </a:prstGeom>
          <a:noFill/>
          <a:ln w="11430" cap="rnd">
            <a:solidFill>
              <a:srgbClr val="C3D2E0"/>
            </a:solidFill>
          </a:ln>
        </p:spPr>
      </p:sp>
      <p:sp>
        <p:nvSpPr>
          <p:cNvPr id="26" name="section-number-26"/>
          <p:cNvSpPr txBox="1"/>
          <p:nvPr/>
        </p:nvSpPr>
        <p:spPr>
          <a:xfrm>
            <a:off x="8515350" y="11811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1650"/>
          </a:p>
        </p:txBody>
      </p:sp>
      <p:sp>
        <p:nvSpPr>
          <p:cNvPr id="27" name="section-title-27"/>
          <p:cNvSpPr txBox="1"/>
          <p:nvPr/>
        </p:nvSpPr>
        <p:spPr>
          <a:xfrm>
            <a:off x="9010650" y="1181100"/>
            <a:ext cx="28765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看总体趋势</a:t>
            </a:r>
            <a:endParaRPr lang="zh-CN" sz="1875"/>
          </a:p>
        </p:txBody>
      </p:sp>
      <p:sp>
        <p:nvSpPr>
          <p:cNvPr id="28" name="section-body-28"/>
          <p:cNvSpPr txBox="1"/>
          <p:nvPr/>
        </p:nvSpPr>
        <p:spPr>
          <a:xfrm>
            <a:off x="9010650" y="1609725"/>
            <a:ext cx="28765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先定位变量和坐标，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再比较观测分布。</a:t>
            </a:r>
            <a:endParaRPr lang="zh-CN" sz="1575"/>
          </a:p>
        </p:txBody>
      </p:sp>
      <p:sp>
        <p:nvSpPr>
          <p:cNvPr id="29" name="section-rule-29"/>
          <p:cNvSpPr/>
          <p:nvPr/>
        </p:nvSpPr>
        <p:spPr>
          <a:xfrm>
            <a:off x="8515350" y="2524125"/>
            <a:ext cx="337185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30" name="section-number-30"/>
          <p:cNvSpPr txBox="1"/>
          <p:nvPr/>
        </p:nvSpPr>
        <p:spPr>
          <a:xfrm>
            <a:off x="8515350" y="26670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1650"/>
          </a:p>
        </p:txBody>
      </p:sp>
      <p:sp>
        <p:nvSpPr>
          <p:cNvPr id="31" name="section-title-31"/>
          <p:cNvSpPr txBox="1"/>
          <p:nvPr/>
        </p:nvSpPr>
        <p:spPr>
          <a:xfrm>
            <a:off x="9010650" y="2667000"/>
            <a:ext cx="28765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看组间差异</a:t>
            </a:r>
            <a:endParaRPr lang="zh-CN" sz="1875"/>
          </a:p>
        </p:txBody>
      </p:sp>
      <p:sp>
        <p:nvSpPr>
          <p:cNvPr id="32" name="section-body-32"/>
          <p:cNvSpPr txBox="1"/>
          <p:nvPr/>
        </p:nvSpPr>
        <p:spPr>
          <a:xfrm>
            <a:off x="9010650" y="3095625"/>
            <a:ext cx="28765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同时观察组间差异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和组内变异。</a:t>
            </a:r>
            <a:endParaRPr lang="zh-CN" sz="1575"/>
          </a:p>
        </p:txBody>
      </p:sp>
      <p:sp>
        <p:nvSpPr>
          <p:cNvPr id="33" name="section-rule-33"/>
          <p:cNvSpPr/>
          <p:nvPr/>
        </p:nvSpPr>
        <p:spPr>
          <a:xfrm>
            <a:off x="8515350" y="4010025"/>
            <a:ext cx="337185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34" name="section-number-34"/>
          <p:cNvSpPr txBox="1"/>
          <p:nvPr/>
        </p:nvSpPr>
        <p:spPr>
          <a:xfrm>
            <a:off x="8515350" y="41529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BD4F22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1650"/>
          </a:p>
        </p:txBody>
      </p:sp>
      <p:sp>
        <p:nvSpPr>
          <p:cNvPr id="35" name="section-title-35"/>
          <p:cNvSpPr txBox="1"/>
          <p:nvPr/>
        </p:nvSpPr>
        <p:spPr>
          <a:xfrm>
            <a:off x="9010650" y="4152900"/>
            <a:ext cx="28765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回到研究问题</a:t>
            </a:r>
            <a:endParaRPr lang="zh-CN" sz="1875"/>
          </a:p>
        </p:txBody>
      </p:sp>
      <p:sp>
        <p:nvSpPr>
          <p:cNvPr id="36" name="section-body-36"/>
          <p:cNvSpPr txBox="1"/>
          <p:nvPr/>
        </p:nvSpPr>
        <p:spPr>
          <a:xfrm>
            <a:off x="9010650" y="4581525"/>
            <a:ext cx="28765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用简短说明连接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图中证据与论点。</a:t>
            </a:r>
            <a:endParaRPr lang="zh-CN" sz="1575"/>
          </a:p>
        </p:txBody>
      </p:sp>
    </p:spTree>
    <p:extLst>
      <p:ext uri="{BB962C8B-B14F-4D97-AF65-F5344CB8AC3E}">
        <ns3:creationId val="711463199"/>
      </p:ext>
    </p:extLst>
  </p:cSld>
</p:sld>
</file>

<file path=ppt/slides/slide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保留全貌，放大需要解释的局部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07556B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07556B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B77B08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1050"/>
          </a:p>
        </p:txBody>
      </p:sp>
      <p:pic>
        <p:nvPicPr>
          <p:cNvPr id="22" name="evidence-overview" descr="{&quot;kind&quot;: &quot;paper_crop&quot;, &quot;provenance&quot;: {&quot;paper_id&quot;: &quot;demo-study&quot;, &quot;figure&quot;: &quot;Fig 2&quot;, &quot;page&quot;: 2, &quot;crop_bbox&quot;: [0, 0, 864, 432], &quot;pdf_sha256&quot;: &quot;625db2361c9caf1bdcce114b8d9b1788a039408b20d61d6bb0d4be8cff0ae1ad&quot;, &quot;png_sha256&quot;: &quot;da44269be4ac3725b379b1a87a169dededa42f9d704174de89ff9bd0d9de8858&quot;, &quot;render_method&quot;: &quot;pdf_clip&quot;, &quot;dpi&quot;: 180, &quot;verified_complete&quot;: true}, &quot;sha256&quot;: &quot;da44269be4ac3725b379b1a87a169dededa42f9d704174de89ff9bd0d9de8858&quot;}"/>
          <p:cNvPicPr>
            <a:picLocks noChangeAspect="1"/>
          </p:cNvPicPr>
          <p:nvPr/>
        </p:nvPicPr>
        <p:blipFill>
          <a:blip r:embed="evidenceImage3"/>
          <a:stretch>
            <a:fillRect/>
          </a:stretch>
        </p:blipFill>
        <p:spPr>
          <a:xfrm>
            <a:off x="304800" y="1300162"/>
            <a:ext cx="7410450" cy="3705225"/>
          </a:xfrm>
          <a:prstGeom prst="rect">
            <a:avLst/>
          </a:prstGeom>
        </p:spPr>
      </p:pic>
      <p:sp>
        <p:nvSpPr>
          <p:cNvPr id="23" name="figure-number-caption-23"/>
          <p:cNvSpPr txBox="1"/>
          <p:nvPr/>
        </p:nvSpPr>
        <p:spPr>
          <a:xfrm>
            <a:off x="304800" y="5081588"/>
            <a:ext cx="74104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图 2  合成测试资料</a:t>
            </a:r>
            <a:endParaRPr lang="zh-CN" sz="1500"/>
          </a:p>
        </p:txBody>
      </p:sp>
      <p:sp>
        <p:nvSpPr>
          <p:cNvPr id="24" name="figure-source-24"/>
          <p:cNvSpPr txBox="1"/>
          <p:nvPr/>
        </p:nvSpPr>
        <p:spPr>
          <a:xfrm>
            <a:off x="304800" y="5367338"/>
            <a:ext cx="7410450" cy="238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475"/>
                </a:solidFill>
                <a:latin typeface="Noto Sans CJK SC"/>
                <a:ea typeface="Noto Sans CJK SC"/>
                <a:cs typeface="Noto Sans CJK SC"/>
              </a:rPr>
              <a:t>来源：随包 synthetic-study.pdf（示意）</a:t>
            </a:r>
            <a:endParaRPr lang="zh-CN" sz="1275"/>
          </a:p>
        </p:txBody>
      </p:sp>
      <p:sp>
        <p:nvSpPr>
          <p:cNvPr id="25" name="image-boundary-25"/>
          <p:cNvSpPr/>
          <p:nvPr/>
        </p:nvSpPr>
        <p:spPr>
          <a:xfrm>
            <a:off x="304800" y="1300162"/>
            <a:ext cx="7410450" cy="3705225"/>
          </a:xfrm>
          <a:prstGeom prst="rect">
            <a:avLst/>
          </a:prstGeom>
          <a:noFill/>
          <a:ln w="11430" cap="rnd">
            <a:solidFill>
              <a:srgbClr val="C3D2E0"/>
            </a:solidFill>
          </a:ln>
        </p:spPr>
      </p:sp>
      <p:sp>
        <p:nvSpPr>
          <p:cNvPr id="26" name="zoom-label-26"/>
          <p:cNvSpPr txBox="1"/>
          <p:nvPr/>
        </p:nvSpPr>
        <p:spPr>
          <a:xfrm>
            <a:off x="8286750" y="1047750"/>
            <a:ext cx="36004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1  A 区域：样点细节</a:t>
            </a:r>
            <a:endParaRPr lang="zh-CN" sz="1650"/>
          </a:p>
        </p:txBody>
      </p:sp>
      <p:pic>
        <p:nvPicPr>
          <p:cNvPr id="27" name="evidence-zoom-1" descr="{&quot;kind&quot;: &quot;paper_crop&quot;, &quot;provenance&quot;: {&quot;paper_id&quot;: &quot;demo-study&quot;, &quot;figure&quot;: &quot;Fig 2&quot;, &quot;page&quot;: 2, &quot;crop_bbox&quot;: [0, 0, 864, 432], &quot;pdf_sha256&quot;: &quot;625db2361c9caf1bdcce114b8d9b1788a039408b20d61d6bb0d4be8cff0ae1ad&quot;, &quot;png_sha256&quot;: &quot;da44269be4ac3725b379b1a87a169dededa42f9d704174de89ff9bd0d9de8858&quot;, &quot;render_method&quot;: &quot;pdf_clip&quot;, &quot;dpi&quot;: 180, &quot;verified_complete&quot;: true}, &quot;sha256&quot;: &quot;da44269be4ac3725b379b1a87a169dededa42f9d704174de89ff9bd0d9de8858&quot;}"/>
          <p:cNvPicPr>
            <a:picLocks noChangeAspect="1"/>
          </p:cNvPicPr>
          <p:nvPr/>
        </p:nvPicPr>
        <p:blipFill>
          <a:blip r:embed="evidenceImage4"/>
          <a:srcRect l="18000" t="17000" r="62000" b="52000"/>
          <a:stretch>
            <a:fillRect/>
          </a:stretch>
        </p:blipFill>
        <p:spPr>
          <a:xfrm>
            <a:off x="8882523" y="1428750"/>
            <a:ext cx="2408903" cy="1866900"/>
          </a:xfrm>
          <a:prstGeom prst="rect">
            <a:avLst/>
          </a:prstGeom>
        </p:spPr>
      </p:pic>
      <p:sp>
        <p:nvSpPr>
          <p:cNvPr id="28" name="editable-zoom-frame-28"/>
          <p:cNvSpPr/>
          <p:nvPr/>
        </p:nvSpPr>
        <p:spPr>
          <a:xfrm>
            <a:off x="1638681" y="1930051"/>
            <a:ext cx="1482090" cy="1148620"/>
          </a:xfrm>
          <a:prstGeom prst="rect">
            <a:avLst/>
          </a:prstGeom>
          <a:noFill/>
          <a:ln w="11430" cap="rnd">
            <a:solidFill>
              <a:srgbClr val="B77B08"/>
            </a:solidFill>
          </a:ln>
        </p:spPr>
      </p:sp>
      <p:sp>
        <p:nvSpPr>
          <p:cNvPr id="29" name="zoom-number-29"/>
          <p:cNvSpPr txBox="1"/>
          <p:nvPr/>
        </p:nvSpPr>
        <p:spPr>
          <a:xfrm>
            <a:off x="8286750" y="3076575"/>
            <a:ext cx="2667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lang="zh-CN" sz="1275"/>
          </a:p>
        </p:txBody>
      </p:sp>
      <p:sp>
        <p:nvSpPr>
          <p:cNvPr id="30" name="zoom-label-30"/>
          <p:cNvSpPr txBox="1"/>
          <p:nvPr/>
        </p:nvSpPr>
        <p:spPr>
          <a:xfrm>
            <a:off x="8286750" y="3467100"/>
            <a:ext cx="36004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2  C 区域：样点细节</a:t>
            </a:r>
            <a:endParaRPr lang="zh-CN" sz="1650"/>
          </a:p>
        </p:txBody>
      </p:sp>
      <p:pic>
        <p:nvPicPr>
          <p:cNvPr id="31" name="evidence-zoom-2" descr="{&quot;kind&quot;: &quot;paper_crop&quot;, &quot;provenance&quot;: {&quot;paper_id&quot;: &quot;demo-study&quot;, &quot;figure&quot;: &quot;Fig 2&quot;, &quot;page&quot;: 2, &quot;crop_bbox&quot;: [0, 0, 864, 432], &quot;pdf_sha256&quot;: &quot;625db2361c9caf1bdcce114b8d9b1788a039408b20d61d6bb0d4be8cff0ae1ad&quot;, &quot;png_sha256&quot;: &quot;da44269be4ac3725b379b1a87a169dededa42f9d704174de89ff9bd0d9de8858&quot;, &quot;render_method&quot;: &quot;pdf_clip&quot;, &quot;dpi&quot;: 180, &quot;verified_complete&quot;: true}, &quot;sha256&quot;: &quot;da44269be4ac3725b379b1a87a169dededa42f9d704174de89ff9bd0d9de8858&quot;}"/>
          <p:cNvPicPr>
            <a:picLocks noChangeAspect="1"/>
          </p:cNvPicPr>
          <p:nvPr/>
        </p:nvPicPr>
        <p:blipFill>
          <a:blip r:embed="evidenceImage5"/>
          <a:srcRect l="51000" t="17000" r="25000" b="52000"/>
          <a:stretch>
            <a:fillRect/>
          </a:stretch>
        </p:blipFill>
        <p:spPr>
          <a:xfrm>
            <a:off x="8641633" y="3848100"/>
            <a:ext cx="2890684" cy="1866900"/>
          </a:xfrm>
          <a:prstGeom prst="rect">
            <a:avLst/>
          </a:prstGeom>
        </p:spPr>
      </p:pic>
      <p:sp>
        <p:nvSpPr>
          <p:cNvPr id="32" name="editable-zoom-frame-32"/>
          <p:cNvSpPr/>
          <p:nvPr/>
        </p:nvSpPr>
        <p:spPr>
          <a:xfrm>
            <a:off x="4084130" y="1930051"/>
            <a:ext cx="1778508" cy="1148620"/>
          </a:xfrm>
          <a:prstGeom prst="rect">
            <a:avLst/>
          </a:prstGeom>
          <a:noFill/>
          <a:ln w="11430" cap="rnd">
            <a:solidFill>
              <a:srgbClr val="B77B08"/>
            </a:solidFill>
          </a:ln>
        </p:spPr>
      </p:sp>
      <p:sp>
        <p:nvSpPr>
          <p:cNvPr id="33" name="zoom-number-33"/>
          <p:cNvSpPr txBox="1"/>
          <p:nvPr/>
        </p:nvSpPr>
        <p:spPr>
          <a:xfrm>
            <a:off x="8286750" y="5495925"/>
            <a:ext cx="2667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lang="zh-CN" sz="1275"/>
          </a:p>
        </p:txBody>
      </p:sp>
    </p:spTree>
    <p:extLst>
      <p:ext uri="{BB962C8B-B14F-4D97-AF65-F5344CB8AC3E}">
        <ns3:creationId val="711463199"/>
      </p:ext>
    </p:extLst>
  </p:cSld>
</p:sld>
</file>

<file path=ppt/slides/slide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研究区与采样安排放在同一页说明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8F2445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8F2445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AB7210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lang="zh-CN" sz="1050"/>
          </a:p>
        </p:txBody>
      </p:sp>
      <p:pic>
        <p:nvPicPr>
          <p:cNvPr id="22" name="evidence-main" descr="{&quot;kind&quot;: &quot;paper_crop&quot;, &quot;provenance&quot;: {&quot;paper_id&quot;: &quot;demo-study&quot;, &quot;figure&quot;: &quot;Fig 2&quot;, &quot;page&quot;: 2, &quot;crop_bbox&quot;: [0, 0, 864, 432], &quot;pdf_sha256&quot;: &quot;625db2361c9caf1bdcce114b8d9b1788a039408b20d61d6bb0d4be8cff0ae1ad&quot;, &quot;png_sha256&quot;: &quot;da44269be4ac3725b379b1a87a169dededa42f9d704174de89ff9bd0d9de8858&quot;, &quot;render_method&quot;: &quot;pdf_clip&quot;, &quot;dpi&quot;: 180, &quot;verified_complete&quot;: true}, &quot;sha256&quot;: &quot;da44269be4ac3725b379b1a87a169dededa42f9d704174de89ff9bd0d9de8858&quot;}"/>
          <p:cNvPicPr>
            <a:picLocks noChangeAspect="1"/>
          </p:cNvPicPr>
          <p:nvPr/>
        </p:nvPicPr>
        <p:blipFill>
          <a:blip r:embed="evidenceImage6"/>
          <a:stretch>
            <a:fillRect/>
          </a:stretch>
        </p:blipFill>
        <p:spPr>
          <a:xfrm>
            <a:off x="304800" y="1166812"/>
            <a:ext cx="7905750" cy="3952875"/>
          </a:xfrm>
          <a:prstGeom prst="rect">
            <a:avLst/>
          </a:prstGeom>
        </p:spPr>
      </p:pic>
      <p:sp>
        <p:nvSpPr>
          <p:cNvPr id="23" name="figure-number-caption-23"/>
          <p:cNvSpPr txBox="1"/>
          <p:nvPr/>
        </p:nvSpPr>
        <p:spPr>
          <a:xfrm>
            <a:off x="304800" y="5195888"/>
            <a:ext cx="7905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图 2  合成测试资料</a:t>
            </a:r>
            <a:endParaRPr lang="zh-CN" sz="1500"/>
          </a:p>
        </p:txBody>
      </p:sp>
      <p:sp>
        <p:nvSpPr>
          <p:cNvPr id="24" name="figure-source-24"/>
          <p:cNvSpPr txBox="1"/>
          <p:nvPr/>
        </p:nvSpPr>
        <p:spPr>
          <a:xfrm>
            <a:off x="304800" y="5481638"/>
            <a:ext cx="7905750" cy="238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475"/>
                </a:solidFill>
                <a:latin typeface="Noto Sans CJK SC"/>
                <a:ea typeface="Noto Sans CJK SC"/>
                <a:cs typeface="Noto Sans CJK SC"/>
              </a:rPr>
              <a:t>来源：随包 synthetic-study.pdf（示意）</a:t>
            </a:r>
            <a:endParaRPr lang="zh-CN" sz="1275"/>
          </a:p>
        </p:txBody>
      </p:sp>
      <p:sp>
        <p:nvSpPr>
          <p:cNvPr id="25" name="image-boundary-25"/>
          <p:cNvSpPr/>
          <p:nvPr/>
        </p:nvSpPr>
        <p:spPr>
          <a:xfrm>
            <a:off x="304800" y="1166812"/>
            <a:ext cx="7905750" cy="3952875"/>
          </a:xfrm>
          <a:prstGeom prst="rect">
            <a:avLst/>
          </a:prstGeom>
          <a:noFill/>
          <a:ln w="11430" cap="rnd">
            <a:solidFill>
              <a:srgbClr val="C3D2E0"/>
            </a:solidFill>
          </a:ln>
        </p:spPr>
      </p:sp>
      <p:sp>
        <p:nvSpPr>
          <p:cNvPr id="26" name="section-number-26"/>
          <p:cNvSpPr txBox="1"/>
          <p:nvPr/>
        </p:nvSpPr>
        <p:spPr>
          <a:xfrm>
            <a:off x="8515350" y="11811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1650"/>
          </a:p>
        </p:txBody>
      </p:sp>
      <p:sp>
        <p:nvSpPr>
          <p:cNvPr id="27" name="section-title-27"/>
          <p:cNvSpPr txBox="1"/>
          <p:nvPr/>
        </p:nvSpPr>
        <p:spPr>
          <a:xfrm>
            <a:off x="9010650" y="1181100"/>
            <a:ext cx="28765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18 个样点</a:t>
            </a:r>
            <a:endParaRPr lang="zh-CN" sz="1875"/>
          </a:p>
        </p:txBody>
      </p:sp>
      <p:sp>
        <p:nvSpPr>
          <p:cNvPr id="28" name="section-body-28"/>
          <p:cNvSpPr txBox="1"/>
          <p:nvPr/>
        </p:nvSpPr>
        <p:spPr>
          <a:xfrm>
            <a:off x="9010650" y="1609725"/>
            <a:ext cx="28765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分为 3 个区域，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每区布设 6 个样点。</a:t>
            </a:r>
            <a:endParaRPr lang="zh-CN" sz="1575"/>
          </a:p>
        </p:txBody>
      </p:sp>
      <p:sp>
        <p:nvSpPr>
          <p:cNvPr id="29" name="section-rule-29"/>
          <p:cNvSpPr/>
          <p:nvPr/>
        </p:nvSpPr>
        <p:spPr>
          <a:xfrm>
            <a:off x="8515350" y="2524125"/>
            <a:ext cx="337185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30" name="section-number-30"/>
          <p:cNvSpPr txBox="1"/>
          <p:nvPr/>
        </p:nvSpPr>
        <p:spPr>
          <a:xfrm>
            <a:off x="8515350" y="26670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1650"/>
          </a:p>
        </p:txBody>
      </p:sp>
      <p:sp>
        <p:nvSpPr>
          <p:cNvPr id="31" name="section-title-31"/>
          <p:cNvSpPr txBox="1"/>
          <p:nvPr/>
        </p:nvSpPr>
        <p:spPr>
          <a:xfrm>
            <a:off x="9010650" y="2667000"/>
            <a:ext cx="28765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统一监测窗口</a:t>
            </a:r>
            <a:endParaRPr lang="zh-CN" sz="1875"/>
          </a:p>
        </p:txBody>
      </p:sp>
      <p:sp>
        <p:nvSpPr>
          <p:cNvPr id="32" name="section-body-32"/>
          <p:cNvSpPr txBox="1"/>
          <p:nvPr/>
        </p:nvSpPr>
        <p:spPr>
          <a:xfrm>
            <a:off x="9010650" y="3095625"/>
            <a:ext cx="28765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保持调查时间与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观测努力量可比较。</a:t>
            </a:r>
            <a:endParaRPr lang="zh-CN" sz="1575"/>
          </a:p>
        </p:txBody>
      </p:sp>
      <p:sp>
        <p:nvSpPr>
          <p:cNvPr id="33" name="section-rule-33"/>
          <p:cNvSpPr/>
          <p:nvPr/>
        </p:nvSpPr>
        <p:spPr>
          <a:xfrm>
            <a:off x="8515350" y="4010025"/>
            <a:ext cx="337185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34" name="section-number-34"/>
          <p:cNvSpPr txBox="1"/>
          <p:nvPr/>
        </p:nvSpPr>
        <p:spPr>
          <a:xfrm>
            <a:off x="8515350" y="41529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1650"/>
          </a:p>
        </p:txBody>
      </p:sp>
      <p:sp>
        <p:nvSpPr>
          <p:cNvPr id="35" name="section-title-35"/>
          <p:cNvSpPr txBox="1"/>
          <p:nvPr/>
        </p:nvSpPr>
        <p:spPr>
          <a:xfrm>
            <a:off x="9010650" y="4152900"/>
            <a:ext cx="28765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重复观测</a:t>
            </a:r>
            <a:endParaRPr lang="zh-CN" sz="1875"/>
          </a:p>
        </p:txBody>
      </p:sp>
      <p:sp>
        <p:nvSpPr>
          <p:cNvPr id="36" name="section-body-36"/>
          <p:cNvSpPr txBox="1"/>
          <p:nvPr/>
        </p:nvSpPr>
        <p:spPr>
          <a:xfrm>
            <a:off x="9010650" y="4581525"/>
            <a:ext cx="28765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相同样点持续记录，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保留原始信息。</a:t>
            </a:r>
            <a:endParaRPr lang="zh-CN" sz="1575"/>
          </a:p>
        </p:txBody>
      </p:sp>
    </p:spTree>
    <p:extLst>
      <p:ext uri="{BB962C8B-B14F-4D97-AF65-F5344CB8AC3E}">
        <ns3:creationId val="711463199"/>
      </p:ext>
    </p:extLst>
  </p:cSld>
</p:sld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实验分组与测量时点沿同一时间轴对齐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A87D05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lang="zh-CN" sz="1050"/>
          </a:p>
        </p:txBody>
      </p:sp>
      <p:sp>
        <p:nvSpPr>
          <p:cNvPr id="22" name="time-label-22"/>
          <p:cNvSpPr txBox="1"/>
          <p:nvPr/>
        </p:nvSpPr>
        <p:spPr>
          <a:xfrm>
            <a:off x="2209800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第 0 天</a:t>
            </a:r>
            <a:endParaRPr lang="zh-CN" sz="1650"/>
          </a:p>
        </p:txBody>
      </p:sp>
      <p:sp>
        <p:nvSpPr>
          <p:cNvPr id="23" name="time-label-23"/>
          <p:cNvSpPr txBox="1"/>
          <p:nvPr/>
        </p:nvSpPr>
        <p:spPr>
          <a:xfrm>
            <a:off x="4395788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第 7 天</a:t>
            </a:r>
            <a:endParaRPr lang="zh-CN" sz="1650"/>
          </a:p>
        </p:txBody>
      </p:sp>
      <p:sp>
        <p:nvSpPr>
          <p:cNvPr id="24" name="time-label-24"/>
          <p:cNvSpPr txBox="1"/>
          <p:nvPr/>
        </p:nvSpPr>
        <p:spPr>
          <a:xfrm>
            <a:off x="6581775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第 14 天</a:t>
            </a:r>
            <a:endParaRPr lang="zh-CN" sz="1650"/>
          </a:p>
        </p:txBody>
      </p:sp>
      <p:sp>
        <p:nvSpPr>
          <p:cNvPr id="25" name="time-label-25"/>
          <p:cNvSpPr txBox="1"/>
          <p:nvPr/>
        </p:nvSpPr>
        <p:spPr>
          <a:xfrm>
            <a:off x="8767762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第 21 天</a:t>
            </a:r>
            <a:endParaRPr lang="zh-CN" sz="1650"/>
          </a:p>
        </p:txBody>
      </p:sp>
      <p:sp>
        <p:nvSpPr>
          <p:cNvPr id="26" name="time-label-26"/>
          <p:cNvSpPr txBox="1"/>
          <p:nvPr/>
        </p:nvSpPr>
        <p:spPr>
          <a:xfrm>
            <a:off x="10953750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第 28 天</a:t>
            </a:r>
            <a:endParaRPr lang="zh-CN" sz="1650"/>
          </a:p>
        </p:txBody>
      </p:sp>
      <p:sp>
        <p:nvSpPr>
          <p:cNvPr id="27" name="timeline-lane-27"/>
          <p:cNvSpPr/>
          <p:nvPr/>
        </p:nvSpPr>
        <p:spPr>
          <a:xfrm>
            <a:off x="304800" y="1552575"/>
            <a:ext cx="11582400" cy="107315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28" name="group-fill-28"/>
          <p:cNvSpPr/>
          <p:nvPr/>
        </p:nvSpPr>
        <p:spPr>
          <a:xfrm>
            <a:off x="304800" y="1552575"/>
            <a:ext cx="1885950" cy="10731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29" name="group-label-29"/>
          <p:cNvSpPr txBox="1"/>
          <p:nvPr/>
        </p:nvSpPr>
        <p:spPr>
          <a:xfrm>
            <a:off x="457200" y="1724025"/>
            <a:ext cx="1543050" cy="3524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对照组</a:t>
            </a:r>
            <a:endParaRPr lang="zh-CN" sz="1950"/>
          </a:p>
        </p:txBody>
      </p:sp>
      <p:sp>
        <p:nvSpPr>
          <p:cNvPr id="30" name="group-sample-30"/>
          <p:cNvSpPr txBox="1"/>
          <p:nvPr/>
        </p:nvSpPr>
        <p:spPr>
          <a:xfrm>
            <a:off x="457200" y="2143125"/>
            <a:ext cx="15430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n = 12（示意）</a:t>
            </a:r>
            <a:endParaRPr lang="zh-CN" sz="1575"/>
          </a:p>
        </p:txBody>
      </p:sp>
      <p:sp>
        <p:nvSpPr>
          <p:cNvPr id="31" name="timeline-line-31"/>
          <p:cNvSpPr/>
          <p:nvPr/>
        </p:nvSpPr>
        <p:spPr>
          <a:xfrm>
            <a:off x="2686050" y="1838325"/>
            <a:ext cx="8743950" cy="190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32" name="time-node-32"/>
          <p:cNvSpPr/>
          <p:nvPr/>
        </p:nvSpPr>
        <p:spPr>
          <a:xfrm>
            <a:off x="2638425" y="1800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33" name="event-label-33"/>
          <p:cNvSpPr txBox="1"/>
          <p:nvPr/>
        </p:nvSpPr>
        <p:spPr>
          <a:xfrm>
            <a:off x="2076450" y="2019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基线测量</a:t>
            </a:r>
            <a:endParaRPr lang="zh-CN" sz="1500"/>
          </a:p>
        </p:txBody>
      </p:sp>
      <p:sp>
        <p:nvSpPr>
          <p:cNvPr id="34" name="time-node-34"/>
          <p:cNvSpPr/>
          <p:nvPr/>
        </p:nvSpPr>
        <p:spPr>
          <a:xfrm>
            <a:off x="4824412" y="1800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35" name="event-label-35"/>
          <p:cNvSpPr txBox="1"/>
          <p:nvPr/>
        </p:nvSpPr>
        <p:spPr>
          <a:xfrm>
            <a:off x="4262438" y="2019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同期观测</a:t>
            </a:r>
            <a:endParaRPr lang="zh-CN" sz="1500"/>
          </a:p>
        </p:txBody>
      </p:sp>
      <p:sp>
        <p:nvSpPr>
          <p:cNvPr id="36" name="time-node-36"/>
          <p:cNvSpPr/>
          <p:nvPr/>
        </p:nvSpPr>
        <p:spPr>
          <a:xfrm>
            <a:off x="7010400" y="1800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37" name="event-label-37"/>
          <p:cNvSpPr txBox="1"/>
          <p:nvPr/>
        </p:nvSpPr>
        <p:spPr>
          <a:xfrm>
            <a:off x="6448425" y="2019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重复测量</a:t>
            </a:r>
            <a:endParaRPr lang="zh-CN" sz="1500"/>
          </a:p>
        </p:txBody>
      </p:sp>
      <p:sp>
        <p:nvSpPr>
          <p:cNvPr id="38" name="time-node-38"/>
          <p:cNvSpPr/>
          <p:nvPr/>
        </p:nvSpPr>
        <p:spPr>
          <a:xfrm>
            <a:off x="9196388" y="1800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39" name="event-label-39"/>
          <p:cNvSpPr txBox="1"/>
          <p:nvPr/>
        </p:nvSpPr>
        <p:spPr>
          <a:xfrm>
            <a:off x="8634412" y="2019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同期观测</a:t>
            </a:r>
            <a:endParaRPr lang="zh-CN" sz="1500"/>
          </a:p>
        </p:txBody>
      </p:sp>
      <p:sp>
        <p:nvSpPr>
          <p:cNvPr id="40" name="time-node-40"/>
          <p:cNvSpPr/>
          <p:nvPr/>
        </p:nvSpPr>
        <p:spPr>
          <a:xfrm>
            <a:off x="11382375" y="1800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41" name="event-label-41"/>
          <p:cNvSpPr txBox="1"/>
          <p:nvPr/>
        </p:nvSpPr>
        <p:spPr>
          <a:xfrm>
            <a:off x="10820400" y="2019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终点测量</a:t>
            </a:r>
            <a:endParaRPr lang="zh-CN" sz="1500"/>
          </a:p>
        </p:txBody>
      </p:sp>
      <p:sp>
        <p:nvSpPr>
          <p:cNvPr id="42" name="timeline-lane-42"/>
          <p:cNvSpPr/>
          <p:nvPr/>
        </p:nvSpPr>
        <p:spPr>
          <a:xfrm>
            <a:off x="304800" y="2759075"/>
            <a:ext cx="11582400" cy="107315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43" name="group-fill-43"/>
          <p:cNvSpPr/>
          <p:nvPr/>
        </p:nvSpPr>
        <p:spPr>
          <a:xfrm>
            <a:off x="304800" y="2759075"/>
            <a:ext cx="1885950" cy="10731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44" name="group-label-44"/>
          <p:cNvSpPr txBox="1"/>
          <p:nvPr/>
        </p:nvSpPr>
        <p:spPr>
          <a:xfrm>
            <a:off x="457200" y="2930525"/>
            <a:ext cx="1543050" cy="3524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低干扰组</a:t>
            </a:r>
            <a:endParaRPr lang="zh-CN" sz="1950"/>
          </a:p>
        </p:txBody>
      </p:sp>
      <p:sp>
        <p:nvSpPr>
          <p:cNvPr id="45" name="group-sample-45"/>
          <p:cNvSpPr txBox="1"/>
          <p:nvPr/>
        </p:nvSpPr>
        <p:spPr>
          <a:xfrm>
            <a:off x="457200" y="3349625"/>
            <a:ext cx="15430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n = 12（示意）</a:t>
            </a:r>
            <a:endParaRPr lang="zh-CN" sz="1575"/>
          </a:p>
        </p:txBody>
      </p:sp>
      <p:sp>
        <p:nvSpPr>
          <p:cNvPr id="46" name="timeline-line-46"/>
          <p:cNvSpPr/>
          <p:nvPr/>
        </p:nvSpPr>
        <p:spPr>
          <a:xfrm>
            <a:off x="2686050" y="3044825"/>
            <a:ext cx="8743950" cy="190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47" name="time-node-47"/>
          <p:cNvSpPr/>
          <p:nvPr/>
        </p:nvSpPr>
        <p:spPr>
          <a:xfrm>
            <a:off x="2638425" y="30067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48" name="event-label-48"/>
          <p:cNvSpPr txBox="1"/>
          <p:nvPr/>
        </p:nvSpPr>
        <p:spPr>
          <a:xfrm>
            <a:off x="2076450" y="32258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基线测量</a:t>
            </a:r>
            <a:endParaRPr lang="zh-CN" sz="1500"/>
          </a:p>
        </p:txBody>
      </p:sp>
      <p:sp>
        <p:nvSpPr>
          <p:cNvPr id="49" name="time-node-49"/>
          <p:cNvSpPr/>
          <p:nvPr/>
        </p:nvSpPr>
        <p:spPr>
          <a:xfrm>
            <a:off x="4824412" y="30067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50" name="event-label-50"/>
          <p:cNvSpPr txBox="1"/>
          <p:nvPr/>
        </p:nvSpPr>
        <p:spPr>
          <a:xfrm>
            <a:off x="4262438" y="32258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开始处理</a:t>
            </a:r>
            <a:endParaRPr lang="zh-CN" sz="1500"/>
          </a:p>
        </p:txBody>
      </p:sp>
      <p:sp>
        <p:nvSpPr>
          <p:cNvPr id="51" name="time-node-51"/>
          <p:cNvSpPr/>
          <p:nvPr/>
        </p:nvSpPr>
        <p:spPr>
          <a:xfrm>
            <a:off x="7010400" y="30067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52" name="event-label-52"/>
          <p:cNvSpPr txBox="1"/>
          <p:nvPr/>
        </p:nvSpPr>
        <p:spPr>
          <a:xfrm>
            <a:off x="6448425" y="32258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重复测量</a:t>
            </a:r>
            <a:endParaRPr lang="zh-CN" sz="1500"/>
          </a:p>
        </p:txBody>
      </p:sp>
      <p:sp>
        <p:nvSpPr>
          <p:cNvPr id="53" name="time-node-53"/>
          <p:cNvSpPr/>
          <p:nvPr/>
        </p:nvSpPr>
        <p:spPr>
          <a:xfrm>
            <a:off x="9196388" y="30067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54" name="event-label-54"/>
          <p:cNvSpPr txBox="1"/>
          <p:nvPr/>
        </p:nvSpPr>
        <p:spPr>
          <a:xfrm>
            <a:off x="8634412" y="32258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结束处理</a:t>
            </a:r>
            <a:endParaRPr lang="zh-CN" sz="1500"/>
          </a:p>
        </p:txBody>
      </p:sp>
      <p:sp>
        <p:nvSpPr>
          <p:cNvPr id="55" name="time-node-55"/>
          <p:cNvSpPr/>
          <p:nvPr/>
        </p:nvSpPr>
        <p:spPr>
          <a:xfrm>
            <a:off x="11382375" y="30067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56" name="event-label-56"/>
          <p:cNvSpPr txBox="1"/>
          <p:nvPr/>
        </p:nvSpPr>
        <p:spPr>
          <a:xfrm>
            <a:off x="10820400" y="32258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终点测量</a:t>
            </a:r>
            <a:endParaRPr lang="zh-CN" sz="1500"/>
          </a:p>
        </p:txBody>
      </p:sp>
      <p:sp>
        <p:nvSpPr>
          <p:cNvPr id="57" name="timeline-lane-57"/>
          <p:cNvSpPr/>
          <p:nvPr/>
        </p:nvSpPr>
        <p:spPr>
          <a:xfrm>
            <a:off x="304800" y="3965575"/>
            <a:ext cx="11582400" cy="107315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58" name="group-fill-58"/>
          <p:cNvSpPr/>
          <p:nvPr/>
        </p:nvSpPr>
        <p:spPr>
          <a:xfrm>
            <a:off x="304800" y="3965575"/>
            <a:ext cx="1885950" cy="1073150"/>
          </a:xfrm>
          <a:prstGeom prst="rect">
            <a:avLst/>
          </a:prstGeom>
          <a:solidFill>
            <a:srgbClr val="A87D05"/>
          </a:solidFill>
        </p:spPr>
      </p:sp>
      <p:sp>
        <p:nvSpPr>
          <p:cNvPr id="59" name="group-label-59"/>
          <p:cNvSpPr txBox="1"/>
          <p:nvPr/>
        </p:nvSpPr>
        <p:spPr>
          <a:xfrm>
            <a:off x="457200" y="4137025"/>
            <a:ext cx="1543050" cy="3524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高干扰组</a:t>
            </a:r>
            <a:endParaRPr lang="zh-CN" sz="1950"/>
          </a:p>
        </p:txBody>
      </p:sp>
      <p:sp>
        <p:nvSpPr>
          <p:cNvPr id="60" name="group-sample-60"/>
          <p:cNvSpPr txBox="1"/>
          <p:nvPr/>
        </p:nvSpPr>
        <p:spPr>
          <a:xfrm>
            <a:off x="457200" y="4556125"/>
            <a:ext cx="15430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n = 12（示意）</a:t>
            </a:r>
            <a:endParaRPr lang="zh-CN" sz="1575"/>
          </a:p>
        </p:txBody>
      </p:sp>
      <p:sp>
        <p:nvSpPr>
          <p:cNvPr id="61" name="timeline-line-61"/>
          <p:cNvSpPr/>
          <p:nvPr/>
        </p:nvSpPr>
        <p:spPr>
          <a:xfrm>
            <a:off x="2686050" y="4251325"/>
            <a:ext cx="8743950" cy="190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62" name="time-node-62"/>
          <p:cNvSpPr/>
          <p:nvPr/>
        </p:nvSpPr>
        <p:spPr>
          <a:xfrm>
            <a:off x="2638425" y="4213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63" name="event-label-63"/>
          <p:cNvSpPr txBox="1"/>
          <p:nvPr/>
        </p:nvSpPr>
        <p:spPr>
          <a:xfrm>
            <a:off x="2076450" y="4432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基线测量</a:t>
            </a:r>
            <a:endParaRPr lang="zh-CN" sz="1500"/>
          </a:p>
        </p:txBody>
      </p:sp>
      <p:sp>
        <p:nvSpPr>
          <p:cNvPr id="64" name="time-node-64"/>
          <p:cNvSpPr/>
          <p:nvPr/>
        </p:nvSpPr>
        <p:spPr>
          <a:xfrm>
            <a:off x="4824412" y="4213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65" name="event-label-65"/>
          <p:cNvSpPr txBox="1"/>
          <p:nvPr/>
        </p:nvSpPr>
        <p:spPr>
          <a:xfrm>
            <a:off x="4262438" y="4432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开始处理</a:t>
            </a:r>
            <a:endParaRPr lang="zh-CN" sz="1500"/>
          </a:p>
        </p:txBody>
      </p:sp>
      <p:sp>
        <p:nvSpPr>
          <p:cNvPr id="66" name="time-node-66"/>
          <p:cNvSpPr/>
          <p:nvPr/>
        </p:nvSpPr>
        <p:spPr>
          <a:xfrm>
            <a:off x="7010400" y="4213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67" name="event-label-67"/>
          <p:cNvSpPr txBox="1"/>
          <p:nvPr/>
        </p:nvSpPr>
        <p:spPr>
          <a:xfrm>
            <a:off x="6448425" y="4432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重复测量</a:t>
            </a:r>
            <a:endParaRPr lang="zh-CN" sz="1500"/>
          </a:p>
        </p:txBody>
      </p:sp>
      <p:sp>
        <p:nvSpPr>
          <p:cNvPr id="68" name="time-node-68"/>
          <p:cNvSpPr/>
          <p:nvPr/>
        </p:nvSpPr>
        <p:spPr>
          <a:xfrm>
            <a:off x="9196388" y="4213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69" name="event-label-69"/>
          <p:cNvSpPr txBox="1"/>
          <p:nvPr/>
        </p:nvSpPr>
        <p:spPr>
          <a:xfrm>
            <a:off x="8634412" y="4432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结束处理</a:t>
            </a:r>
            <a:endParaRPr lang="zh-CN" sz="1500"/>
          </a:p>
        </p:txBody>
      </p:sp>
      <p:sp>
        <p:nvSpPr>
          <p:cNvPr id="70" name="time-node-70"/>
          <p:cNvSpPr/>
          <p:nvPr/>
        </p:nvSpPr>
        <p:spPr>
          <a:xfrm>
            <a:off x="11382375" y="4213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71" name="event-label-71"/>
          <p:cNvSpPr txBox="1"/>
          <p:nvPr/>
        </p:nvSpPr>
        <p:spPr>
          <a:xfrm>
            <a:off x="10820400" y="4432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终点测量</a:t>
            </a:r>
            <a:endParaRPr lang="zh-CN" sz="1500"/>
          </a:p>
        </p:txBody>
      </p:sp>
      <p:sp>
        <p:nvSpPr>
          <p:cNvPr id="72" name="measurement-72"/>
          <p:cNvSpPr txBox="1"/>
          <p:nvPr/>
        </p:nvSpPr>
        <p:spPr>
          <a:xfrm>
            <a:off x="304800" y="5391150"/>
            <a:ext cx="11582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测量指标：株高与叶片数重复测量；生物量仅在终点测量。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围绕同一问题比较多篇研究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CB4442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lang="zh-CN" sz="1050"/>
          </a:p>
        </p:txBody>
      </p:sp>
      <p:sp>
        <p:nvSpPr>
          <p:cNvPr id="22" name="matrix-cell-22"/>
          <p:cNvSpPr/>
          <p:nvPr/>
        </p:nvSpPr>
        <p:spPr>
          <a:xfrm>
            <a:off x="304800" y="1066800"/>
            <a:ext cx="1441132" cy="609600"/>
          </a:xfrm>
          <a:prstGeom prst="rect">
            <a:avLst/>
          </a:prstGeom>
          <a:solidFill>
            <a:srgbClr val="087F9A"/>
          </a:solidFill>
          <a:ln w="11430" cap="rnd">
            <a:solidFill>
              <a:srgbClr val="D4DFE9"/>
            </a:solidFill>
          </a:ln>
        </p:spPr>
      </p:sp>
      <p:sp>
        <p:nvSpPr>
          <p:cNvPr id="23" name="matrix-cell-text-23"/>
          <p:cNvSpPr txBox="1"/>
          <p:nvPr/>
        </p:nvSpPr>
        <p:spPr>
          <a:xfrm>
            <a:off x="419100" y="1219200"/>
            <a:ext cx="1212532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</a:t>
            </a:r>
            <a:endParaRPr lang="zh-CN" sz="1575"/>
          </a:p>
        </p:txBody>
      </p:sp>
      <p:sp>
        <p:nvSpPr>
          <p:cNvPr id="24" name="matrix-cell-24"/>
          <p:cNvSpPr/>
          <p:nvPr/>
        </p:nvSpPr>
        <p:spPr>
          <a:xfrm>
            <a:off x="1745932" y="1066800"/>
            <a:ext cx="1949768" cy="609600"/>
          </a:xfrm>
          <a:prstGeom prst="rect">
            <a:avLst/>
          </a:prstGeom>
          <a:solidFill>
            <a:srgbClr val="087F9A"/>
          </a:solidFill>
          <a:ln w="11430" cap="rnd">
            <a:solidFill>
              <a:srgbClr val="D4DFE9"/>
            </a:solidFill>
          </a:ln>
        </p:spPr>
      </p:sp>
      <p:sp>
        <p:nvSpPr>
          <p:cNvPr id="25" name="matrix-cell-text-25"/>
          <p:cNvSpPr txBox="1"/>
          <p:nvPr/>
        </p:nvSpPr>
        <p:spPr>
          <a:xfrm>
            <a:off x="1860232" y="1219200"/>
            <a:ext cx="1721168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 lang="zh-CN" sz="1575"/>
          </a:p>
        </p:txBody>
      </p:sp>
      <p:sp>
        <p:nvSpPr>
          <p:cNvPr id="26" name="matrix-cell-26"/>
          <p:cNvSpPr/>
          <p:nvPr/>
        </p:nvSpPr>
        <p:spPr>
          <a:xfrm>
            <a:off x="3695700" y="1066800"/>
            <a:ext cx="2712720" cy="609600"/>
          </a:xfrm>
          <a:prstGeom prst="rect">
            <a:avLst/>
          </a:prstGeom>
          <a:solidFill>
            <a:srgbClr val="087F9A"/>
          </a:solidFill>
          <a:ln w="11430" cap="rnd">
            <a:solidFill>
              <a:srgbClr val="D4DFE9"/>
            </a:solidFill>
          </a:ln>
        </p:spPr>
      </p:sp>
      <p:sp>
        <p:nvSpPr>
          <p:cNvPr id="27" name="matrix-cell-text-27"/>
          <p:cNvSpPr txBox="1"/>
          <p:nvPr/>
        </p:nvSpPr>
        <p:spPr>
          <a:xfrm>
            <a:off x="3810000" y="1219200"/>
            <a:ext cx="248412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主要发现</a:t>
            </a:r>
            <a:endParaRPr lang="zh-CN" sz="1575"/>
          </a:p>
        </p:txBody>
      </p:sp>
      <p:sp>
        <p:nvSpPr>
          <p:cNvPr id="28" name="matrix-cell-28"/>
          <p:cNvSpPr/>
          <p:nvPr/>
        </p:nvSpPr>
        <p:spPr>
          <a:xfrm>
            <a:off x="6408420" y="1066800"/>
            <a:ext cx="2373630" cy="609600"/>
          </a:xfrm>
          <a:prstGeom prst="rect">
            <a:avLst/>
          </a:prstGeom>
          <a:solidFill>
            <a:srgbClr val="087F9A"/>
          </a:solidFill>
          <a:ln w="11430" cap="rnd">
            <a:solidFill>
              <a:srgbClr val="D4DFE9"/>
            </a:solidFill>
          </a:ln>
        </p:spPr>
      </p:sp>
      <p:sp>
        <p:nvSpPr>
          <p:cNvPr id="29" name="matrix-cell-text-29"/>
          <p:cNvSpPr txBox="1"/>
          <p:nvPr/>
        </p:nvSpPr>
        <p:spPr>
          <a:xfrm>
            <a:off x="6522720" y="1219200"/>
            <a:ext cx="214503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解释条件</a:t>
            </a:r>
            <a:endParaRPr lang="zh-CN" sz="1575"/>
          </a:p>
        </p:txBody>
      </p:sp>
      <p:sp>
        <p:nvSpPr>
          <p:cNvPr id="30" name="matrix-cell-30"/>
          <p:cNvSpPr/>
          <p:nvPr/>
        </p:nvSpPr>
        <p:spPr>
          <a:xfrm>
            <a:off x="304800" y="1676400"/>
            <a:ext cx="1441132" cy="990600"/>
          </a:xfrm>
          <a:prstGeom prst="rect">
            <a:avLst/>
          </a:prstGeom>
          <a:solidFill>
            <a:srgbClr val="EFFBFF"/>
          </a:solidFill>
          <a:ln w="11430" cap="rnd">
            <a:solidFill>
              <a:srgbClr val="D4DFE9"/>
            </a:solidFill>
          </a:ln>
        </p:spPr>
      </p:sp>
      <p:sp>
        <p:nvSpPr>
          <p:cNvPr id="31" name="matrix-cell-text-31"/>
          <p:cNvSpPr txBox="1"/>
          <p:nvPr/>
        </p:nvSpPr>
        <p:spPr>
          <a:xfrm>
            <a:off x="419100" y="1828800"/>
            <a:ext cx="121253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示例 A</a:t>
            </a:r>
            <a:endParaRPr lang="zh-CN" sz="1500"/>
          </a:p>
        </p:txBody>
      </p:sp>
      <p:sp>
        <p:nvSpPr>
          <p:cNvPr id="32" name="matrix-cell-32"/>
          <p:cNvSpPr/>
          <p:nvPr/>
        </p:nvSpPr>
        <p:spPr>
          <a:xfrm>
            <a:off x="1745932" y="1676400"/>
            <a:ext cx="1949768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33" name="matrix-cell-text-33"/>
          <p:cNvSpPr txBox="1"/>
          <p:nvPr/>
        </p:nvSpPr>
        <p:spPr>
          <a:xfrm>
            <a:off x="1860232" y="1828800"/>
            <a:ext cx="172116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跨区域观测</a:t>
            </a:r>
            <a:endParaRPr lang="zh-CN" sz="1500"/>
          </a:p>
        </p:txBody>
      </p:sp>
      <p:sp>
        <p:nvSpPr>
          <p:cNvPr id="34" name="matrix-cell-34"/>
          <p:cNvSpPr/>
          <p:nvPr/>
        </p:nvSpPr>
        <p:spPr>
          <a:xfrm>
            <a:off x="3695700" y="1676400"/>
            <a:ext cx="2712720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35" name="matrix-cell-text-35"/>
          <p:cNvSpPr txBox="1"/>
          <p:nvPr/>
        </p:nvSpPr>
        <p:spPr>
          <a:xfrm>
            <a:off x="3810000" y="1828800"/>
            <a:ext cx="248412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面积与丰富度相关</a:t>
            </a:r>
            <a:endParaRPr lang="zh-CN" sz="1500"/>
          </a:p>
        </p:txBody>
      </p:sp>
      <p:sp>
        <p:nvSpPr>
          <p:cNvPr id="36" name="matrix-cell-36"/>
          <p:cNvSpPr/>
          <p:nvPr/>
        </p:nvSpPr>
        <p:spPr>
          <a:xfrm>
            <a:off x="6408420" y="1676400"/>
            <a:ext cx="2373630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37" name="matrix-cell-text-37"/>
          <p:cNvSpPr txBox="1"/>
          <p:nvPr/>
        </p:nvSpPr>
        <p:spPr>
          <a:xfrm>
            <a:off x="6522720" y="1828800"/>
            <a:ext cx="214503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需考虑环境差异</a:t>
            </a:r>
            <a:endParaRPr lang="zh-CN" sz="1500"/>
          </a:p>
        </p:txBody>
      </p:sp>
      <p:sp>
        <p:nvSpPr>
          <p:cNvPr id="38" name="matrix-cell-38"/>
          <p:cNvSpPr/>
          <p:nvPr/>
        </p:nvSpPr>
        <p:spPr>
          <a:xfrm>
            <a:off x="304800" y="2667000"/>
            <a:ext cx="1441132" cy="990600"/>
          </a:xfrm>
          <a:prstGeom prst="rect">
            <a:avLst/>
          </a:prstGeom>
          <a:solidFill>
            <a:srgbClr val="EFFBFF"/>
          </a:solidFill>
          <a:ln w="11430" cap="rnd">
            <a:solidFill>
              <a:srgbClr val="D4DFE9"/>
            </a:solidFill>
          </a:ln>
        </p:spPr>
      </p:sp>
      <p:sp>
        <p:nvSpPr>
          <p:cNvPr id="39" name="matrix-cell-text-39"/>
          <p:cNvSpPr txBox="1"/>
          <p:nvPr/>
        </p:nvSpPr>
        <p:spPr>
          <a:xfrm>
            <a:off x="419100" y="2819400"/>
            <a:ext cx="121253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示例 B</a:t>
            </a:r>
            <a:endParaRPr lang="zh-CN" sz="1500"/>
          </a:p>
        </p:txBody>
      </p:sp>
      <p:sp>
        <p:nvSpPr>
          <p:cNvPr id="40" name="matrix-cell-40"/>
          <p:cNvSpPr/>
          <p:nvPr/>
        </p:nvSpPr>
        <p:spPr>
          <a:xfrm>
            <a:off x="1745932" y="2667000"/>
            <a:ext cx="1949768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41" name="matrix-cell-text-41"/>
          <p:cNvSpPr txBox="1"/>
          <p:nvPr/>
        </p:nvSpPr>
        <p:spPr>
          <a:xfrm>
            <a:off x="1860232" y="2819400"/>
            <a:ext cx="172116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控制实验</a:t>
            </a:r>
            <a:endParaRPr lang="zh-CN" sz="1500"/>
          </a:p>
        </p:txBody>
      </p:sp>
      <p:sp>
        <p:nvSpPr>
          <p:cNvPr id="42" name="matrix-cell-42"/>
          <p:cNvSpPr/>
          <p:nvPr/>
        </p:nvSpPr>
        <p:spPr>
          <a:xfrm>
            <a:off x="3695700" y="2667000"/>
            <a:ext cx="2712720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43" name="matrix-cell-text-43"/>
          <p:cNvSpPr txBox="1"/>
          <p:nvPr/>
        </p:nvSpPr>
        <p:spPr>
          <a:xfrm>
            <a:off x="3810000" y="2819400"/>
            <a:ext cx="248412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隔离影响扩散</a:t>
            </a:r>
            <a:endParaRPr lang="zh-CN" sz="1500"/>
          </a:p>
        </p:txBody>
      </p:sp>
      <p:sp>
        <p:nvSpPr>
          <p:cNvPr id="44" name="matrix-cell-44"/>
          <p:cNvSpPr/>
          <p:nvPr/>
        </p:nvSpPr>
        <p:spPr>
          <a:xfrm>
            <a:off x="6408420" y="2667000"/>
            <a:ext cx="2373630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45" name="matrix-cell-text-45"/>
          <p:cNvSpPr txBox="1"/>
          <p:nvPr/>
        </p:nvSpPr>
        <p:spPr>
          <a:xfrm>
            <a:off x="6522720" y="2819400"/>
            <a:ext cx="214503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实验尺度有限</a:t>
            </a:r>
            <a:endParaRPr lang="zh-CN" sz="1500"/>
          </a:p>
        </p:txBody>
      </p:sp>
      <p:sp>
        <p:nvSpPr>
          <p:cNvPr id="46" name="matrix-cell-46"/>
          <p:cNvSpPr/>
          <p:nvPr/>
        </p:nvSpPr>
        <p:spPr>
          <a:xfrm>
            <a:off x="304800" y="3657600"/>
            <a:ext cx="1441132" cy="990600"/>
          </a:xfrm>
          <a:prstGeom prst="rect">
            <a:avLst/>
          </a:prstGeom>
          <a:solidFill>
            <a:srgbClr val="EFFBFF"/>
          </a:solidFill>
          <a:ln w="11430" cap="rnd">
            <a:solidFill>
              <a:srgbClr val="D4DFE9"/>
            </a:solidFill>
          </a:ln>
        </p:spPr>
      </p:sp>
      <p:sp>
        <p:nvSpPr>
          <p:cNvPr id="47" name="matrix-cell-text-47"/>
          <p:cNvSpPr txBox="1"/>
          <p:nvPr/>
        </p:nvSpPr>
        <p:spPr>
          <a:xfrm>
            <a:off x="419100" y="3810000"/>
            <a:ext cx="121253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示例 C</a:t>
            </a:r>
            <a:endParaRPr lang="zh-CN" sz="1500"/>
          </a:p>
        </p:txBody>
      </p:sp>
      <p:sp>
        <p:nvSpPr>
          <p:cNvPr id="48" name="matrix-cell-48"/>
          <p:cNvSpPr/>
          <p:nvPr/>
        </p:nvSpPr>
        <p:spPr>
          <a:xfrm>
            <a:off x="1745932" y="3657600"/>
            <a:ext cx="1949768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49" name="matrix-cell-text-49"/>
          <p:cNvSpPr txBox="1"/>
          <p:nvPr/>
        </p:nvSpPr>
        <p:spPr>
          <a:xfrm>
            <a:off x="1860232" y="3810000"/>
            <a:ext cx="172116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长期监测</a:t>
            </a:r>
            <a:endParaRPr lang="zh-CN" sz="1500"/>
          </a:p>
        </p:txBody>
      </p:sp>
      <p:sp>
        <p:nvSpPr>
          <p:cNvPr id="50" name="matrix-cell-50"/>
          <p:cNvSpPr/>
          <p:nvPr/>
        </p:nvSpPr>
        <p:spPr>
          <a:xfrm>
            <a:off x="3695700" y="3657600"/>
            <a:ext cx="2712720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51" name="matrix-cell-text-51"/>
          <p:cNvSpPr txBox="1"/>
          <p:nvPr/>
        </p:nvSpPr>
        <p:spPr>
          <a:xfrm>
            <a:off x="3810000" y="3810000"/>
            <a:ext cx="248412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响应存在滞后</a:t>
            </a:r>
            <a:endParaRPr lang="zh-CN" sz="1500"/>
          </a:p>
        </p:txBody>
      </p:sp>
      <p:sp>
        <p:nvSpPr>
          <p:cNvPr id="52" name="matrix-cell-52"/>
          <p:cNvSpPr/>
          <p:nvPr/>
        </p:nvSpPr>
        <p:spPr>
          <a:xfrm>
            <a:off x="6408420" y="3657600"/>
            <a:ext cx="2373630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53" name="matrix-cell-text-53"/>
          <p:cNvSpPr txBox="1"/>
          <p:nvPr/>
        </p:nvSpPr>
        <p:spPr>
          <a:xfrm>
            <a:off x="6522720" y="3810000"/>
            <a:ext cx="214503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需要连续观测</a:t>
            </a:r>
            <a:endParaRPr lang="zh-CN" sz="1500"/>
          </a:p>
        </p:txBody>
      </p:sp>
      <p:sp>
        <p:nvSpPr>
          <p:cNvPr id="54" name="matrix-cell-54"/>
          <p:cNvSpPr/>
          <p:nvPr/>
        </p:nvSpPr>
        <p:spPr>
          <a:xfrm>
            <a:off x="304800" y="4648200"/>
            <a:ext cx="1441132" cy="990600"/>
          </a:xfrm>
          <a:prstGeom prst="rect">
            <a:avLst/>
          </a:prstGeom>
          <a:solidFill>
            <a:srgbClr val="EFFBFF"/>
          </a:solidFill>
          <a:ln w="11430" cap="rnd">
            <a:solidFill>
              <a:srgbClr val="D4DFE9"/>
            </a:solidFill>
          </a:ln>
        </p:spPr>
      </p:sp>
      <p:sp>
        <p:nvSpPr>
          <p:cNvPr id="55" name="matrix-cell-text-55"/>
          <p:cNvSpPr txBox="1"/>
          <p:nvPr/>
        </p:nvSpPr>
        <p:spPr>
          <a:xfrm>
            <a:off x="419100" y="4800600"/>
            <a:ext cx="121253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示例 D</a:t>
            </a:r>
            <a:endParaRPr lang="zh-CN" sz="1500"/>
          </a:p>
        </p:txBody>
      </p:sp>
      <p:sp>
        <p:nvSpPr>
          <p:cNvPr id="56" name="matrix-cell-56"/>
          <p:cNvSpPr/>
          <p:nvPr/>
        </p:nvSpPr>
        <p:spPr>
          <a:xfrm>
            <a:off x="1745932" y="4648200"/>
            <a:ext cx="1949768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57" name="matrix-cell-text-57"/>
          <p:cNvSpPr txBox="1"/>
          <p:nvPr/>
        </p:nvSpPr>
        <p:spPr>
          <a:xfrm>
            <a:off x="1860232" y="4800600"/>
            <a:ext cx="172116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多尺度比较</a:t>
            </a:r>
            <a:endParaRPr lang="zh-CN" sz="1500"/>
          </a:p>
        </p:txBody>
      </p:sp>
      <p:sp>
        <p:nvSpPr>
          <p:cNvPr id="58" name="matrix-cell-58"/>
          <p:cNvSpPr/>
          <p:nvPr/>
        </p:nvSpPr>
        <p:spPr>
          <a:xfrm>
            <a:off x="3695700" y="4648200"/>
            <a:ext cx="2712720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59" name="matrix-cell-text-59"/>
          <p:cNvSpPr txBox="1"/>
          <p:nvPr/>
        </p:nvSpPr>
        <p:spPr>
          <a:xfrm>
            <a:off x="3810000" y="4800600"/>
            <a:ext cx="248412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效应随尺度变化</a:t>
            </a:r>
            <a:endParaRPr lang="zh-CN" sz="1500"/>
          </a:p>
        </p:txBody>
      </p:sp>
      <p:sp>
        <p:nvSpPr>
          <p:cNvPr id="60" name="matrix-cell-60"/>
          <p:cNvSpPr/>
          <p:nvPr/>
        </p:nvSpPr>
        <p:spPr>
          <a:xfrm>
            <a:off x="6408420" y="4648200"/>
            <a:ext cx="2373630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61" name="matrix-cell-text-61"/>
          <p:cNvSpPr txBox="1"/>
          <p:nvPr/>
        </p:nvSpPr>
        <p:spPr>
          <a:xfrm>
            <a:off x="6522720" y="4800600"/>
            <a:ext cx="214503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尺度选择影响结果</a:t>
            </a:r>
            <a:endParaRPr lang="zh-CN" sz="1500"/>
          </a:p>
        </p:txBody>
      </p:sp>
      <p:sp>
        <p:nvSpPr>
          <p:cNvPr id="62" name="section-number-62"/>
          <p:cNvSpPr txBox="1"/>
          <p:nvPr/>
        </p:nvSpPr>
        <p:spPr>
          <a:xfrm>
            <a:off x="9124950" y="123825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1650"/>
          </a:p>
        </p:txBody>
      </p:sp>
      <p:sp>
        <p:nvSpPr>
          <p:cNvPr id="63" name="section-title-63"/>
          <p:cNvSpPr txBox="1"/>
          <p:nvPr/>
        </p:nvSpPr>
        <p:spPr>
          <a:xfrm>
            <a:off x="9620250" y="1238250"/>
            <a:ext cx="22669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共同认识</a:t>
            </a:r>
            <a:endParaRPr lang="zh-CN" sz="1875"/>
          </a:p>
        </p:txBody>
      </p:sp>
      <p:sp>
        <p:nvSpPr>
          <p:cNvPr id="64" name="section-body-64"/>
          <p:cNvSpPr txBox="1"/>
          <p:nvPr/>
        </p:nvSpPr>
        <p:spPr>
          <a:xfrm>
            <a:off x="9620250" y="1666875"/>
            <a:ext cx="22669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景观格局与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群落变化有关。</a:t>
            </a:r>
            <a:endParaRPr lang="zh-CN" sz="1575"/>
          </a:p>
        </p:txBody>
      </p:sp>
      <p:sp>
        <p:nvSpPr>
          <p:cNvPr id="65" name="section-rule-65"/>
          <p:cNvSpPr/>
          <p:nvPr/>
        </p:nvSpPr>
        <p:spPr>
          <a:xfrm>
            <a:off x="9124950" y="2581275"/>
            <a:ext cx="276225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66" name="section-number-66"/>
          <p:cNvSpPr txBox="1"/>
          <p:nvPr/>
        </p:nvSpPr>
        <p:spPr>
          <a:xfrm>
            <a:off x="9124950" y="272415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1650"/>
          </a:p>
        </p:txBody>
      </p:sp>
      <p:sp>
        <p:nvSpPr>
          <p:cNvPr id="67" name="section-title-67"/>
          <p:cNvSpPr txBox="1"/>
          <p:nvPr/>
        </p:nvSpPr>
        <p:spPr>
          <a:xfrm>
            <a:off x="9620250" y="2724150"/>
            <a:ext cx="22669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主要分歧</a:t>
            </a:r>
            <a:endParaRPr lang="zh-CN" sz="1875"/>
          </a:p>
        </p:txBody>
      </p:sp>
      <p:sp>
        <p:nvSpPr>
          <p:cNvPr id="68" name="section-body-68"/>
          <p:cNvSpPr txBox="1"/>
          <p:nvPr/>
        </p:nvSpPr>
        <p:spPr>
          <a:xfrm>
            <a:off x="9620250" y="3152775"/>
            <a:ext cx="22669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面积、隔离与时间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的相对作用。</a:t>
            </a:r>
            <a:endParaRPr lang="zh-CN" sz="1575"/>
          </a:p>
        </p:txBody>
      </p:sp>
      <p:sp>
        <p:nvSpPr>
          <p:cNvPr id="69" name="section-rule-69"/>
          <p:cNvSpPr/>
          <p:nvPr/>
        </p:nvSpPr>
        <p:spPr>
          <a:xfrm>
            <a:off x="9124950" y="4067175"/>
            <a:ext cx="276225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70" name="section-number-70"/>
          <p:cNvSpPr txBox="1"/>
          <p:nvPr/>
        </p:nvSpPr>
        <p:spPr>
          <a:xfrm>
            <a:off x="9124950" y="421005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1650"/>
          </a:p>
        </p:txBody>
      </p:sp>
      <p:sp>
        <p:nvSpPr>
          <p:cNvPr id="71" name="section-title-71"/>
          <p:cNvSpPr txBox="1"/>
          <p:nvPr/>
        </p:nvSpPr>
        <p:spPr>
          <a:xfrm>
            <a:off x="9620250" y="4210050"/>
            <a:ext cx="22669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下一步问题</a:t>
            </a:r>
            <a:endParaRPr lang="zh-CN" sz="1875"/>
          </a:p>
        </p:txBody>
      </p:sp>
      <p:sp>
        <p:nvSpPr>
          <p:cNvPr id="72" name="section-body-72"/>
          <p:cNvSpPr txBox="1"/>
          <p:nvPr/>
        </p:nvSpPr>
        <p:spPr>
          <a:xfrm>
            <a:off x="9620250" y="4638675"/>
            <a:ext cx="22669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在统一设计下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比较竞争解释。</a:t>
            </a:r>
            <a:endParaRPr lang="zh-CN" sz="1575"/>
          </a:p>
        </p:txBody>
      </p:sp>
    </p:spTree>
    <p:extLst>
      <p:ext uri="{BB962C8B-B14F-4D97-AF65-F5344CB8AC3E}">
        <ns2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6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