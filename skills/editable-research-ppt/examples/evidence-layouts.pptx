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Default Extension="xlsx" ContentType="application/vnd.openxmlformats-officedocument.spreadsheetml.sheet"/>
  <Override PartName="/docProps/app.xml" ContentType="application/vnd.openxmlformats-officedocument.extended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?>
<Relationships xmlns="http://schemas.openxmlformats.org/package/2006/relationships"><Relationship Type="http://schemas.openxmlformats.org/package/2006/relationships/metadata/core-properties" Target="/docProps/core.xml" Id="R32fc68590ff54f8e" /><Relationship Type="http://schemas.openxmlformats.org/officeDocument/2006/relationships/extended-properties" Target="/docProps/app.xml" Id="R9996562d962046fa" /><Relationship Type="http://schemas.openxmlformats.org/officeDocument/2006/relationships/officeDocument" Target="/ppt/presentation.xml" Id="R13872f0bbada46e6" 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b19ee25308e24c04"/>
  </p:sldMasterIdLst>
  <p:notesMasterIdLst>
    <p:notesMasterId r:id="R61c415f220744dd4"/>
  </p:notesMasterIdLst>
  <p:sldIdLst>
    <p:sldId id="256" r:id="researchSlide1"/>
    <p:sldId id="257" r:id="researchSlide2"/>
    <p:sldId id="258" r:id="researchSlide3"/>
    <p:sldId id="259" r:id="researchSlide4"/>
    <p:sldId id="260" r:id="researchSlide5"/>
    <p:sldId id="261" r:id="researchSlide6"/>
  </p:sldIdLst>
  <p:sldSz cx="12192000" cy="6858000"/>
  <p:notesSz cx="6858000" cy="9144000"/>
</p:presentation>
</file>

<file path=ppt/presProps.xml><?xml version="1.0" encoding="utf-8"?>
<p:presentationPr xmlns:ns1="http://schemas.microsoft.com/office/powerpoint/2010/main" xmlns:ns2="http://schemas.microsoft.com/office/powerpoint/2012/main" xmlns:p="http://schemas.openxmlformats.org/presentationml/2006/main">
  <p:extLst>
    <p:ext uri="{E76CE94A-603C-4142-B9EB-6D1370010A27}">
      <ns1:discardImageEditData val="0"/>
    </p:ext>
    <p:ext uri="{D31A062A-798A-4329-ABDD-BBA856620510}">
      <ns1:defaultImageDpi val="32767"/>
    </p:ext>
    <p:ext uri="{FD5EFAAD-0ECE-453E-9831-46B23BE46B34}">
      <ns2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Relationships xmlns="http://schemas.openxmlformats.org/package/2006/relationships"><Relationship Type="http://schemas.openxmlformats.org/officeDocument/2006/relationships/theme" Target="/ppt/theme/theme1.xml" Id="R03c946439b9f4075" /><Relationship Type="http://schemas.openxmlformats.org/officeDocument/2006/relationships/slideMaster" Target="/ppt/slideMasters/slideMaster1.xml" Id="Rb19ee25308e24c04" /><Relationship Type="http://schemas.openxmlformats.org/officeDocument/2006/relationships/notesMaster" Target="/ppt/notesMasters/notesMaster1.xml" Id="R61c415f220744dd4" /><Relationship Type="http://schemas.openxmlformats.org/officeDocument/2006/relationships/presProps" Target="/ppt/presProps.xml" Id="Ra206bb6ddb7e4a48" /><Relationship Type="http://schemas.openxmlformats.org/officeDocument/2006/relationships/tableStyles" Target="/ppt/tableStyles.xml" Id="R708608b2d79d4b97" /><Relationship Id="researchSlide1" Type="http://schemas.openxmlformats.org/officeDocument/2006/relationships/slide" Target="/ppt/slides/slide1.xml" /><Relationship Id="researchSlide2" Type="http://schemas.openxmlformats.org/officeDocument/2006/relationships/slide" Target="/ppt/slides/slide2.xml" /><Relationship Id="researchSlide3" Type="http://schemas.openxmlformats.org/officeDocument/2006/relationships/slide" Target="/ppt/slides/slide3.xml" /><Relationship Id="researchSlide4" Type="http://schemas.openxmlformats.org/officeDocument/2006/relationships/slide" Target="/ppt/slides/slide4.xml" /><Relationship Id="researchSlide5" Type="http://schemas.openxmlformats.org/officeDocument/2006/relationships/slide" Target="/ppt/slides/slide5.xml" /><Relationship Id="researchSlide6" Type="http://schemas.openxmlformats.org/officeDocument/2006/relationships/slide" Target="/ppt/slides/slide6.xml" /></Relationships>
</file>

<file path=ppt/notesMasters/_rels/notesMaster1.xml.rels><?xml version='1.0' encoding='utf-8'?>
<Relationships xmlns="http://schemas.openxmlformats.org/package/2006/relationships"><Relationship Type="http://schemas.openxmlformats.org/officeDocument/2006/relationships/theme" Target="/ppt/notesMasters/theme/theme3.xml" Id="R913960fe16274819" /></Relationships>
</file>

<file path=ppt/notesMasters/notesMaster1.xml><?xml version="1.0" encoding="utf-8"?>
<p:notesMaster xmlns:a="http://schemas.openxmlformats.org/drawingml/2006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/>
      </p:grpSpPr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?>
<Relationships xmlns="http://schemas.openxmlformats.org/package/2006/relationships"><Relationship Type="http://schemas.openxmlformats.org/officeDocument/2006/relationships/slide" Target="/ppt/slides/slide1.xml" Id="R6e48b80e4b834772" /><Relationship Type="http://schemas.openxmlformats.org/officeDocument/2006/relationships/notesMaster" Target="/ppt/notesMasters/notesMaster1.xml" Id="R6ea7d8a4598a4ea0" /></Relationships>
</file>

<file path=ppt/notesSlides/_rels/notesSlide2.xml.rels><?xml version='1.0' encoding='utf-8'?>
<Relationships xmlns="http://schemas.openxmlformats.org/package/2006/relationships"><Relationship Type="http://schemas.openxmlformats.org/officeDocument/2006/relationships/slide" Target="/ppt/slides/slide2.xml" Id="R6e48b80e4b834772" /><Relationship Type="http://schemas.openxmlformats.org/officeDocument/2006/relationships/notesMaster" Target="/ppt/notesMasters/notesMaster1.xml" Id="R6ea7d8a4598a4ea0" /></Relationships>
</file>

<file path=ppt/notesSlides/_rels/notesSlide3.xml.rels><?xml version='1.0' encoding='utf-8'?>
<Relationships xmlns="http://schemas.openxmlformats.org/package/2006/relationships"><Relationship Type="http://schemas.openxmlformats.org/officeDocument/2006/relationships/slide" Target="/ppt/slides/slide3.xml" Id="R6e48b80e4b834772" /><Relationship Type="http://schemas.openxmlformats.org/officeDocument/2006/relationships/notesMaster" Target="/ppt/notesMasters/notesMaster1.xml" Id="R6ea7d8a4598a4ea0" /></Relationships>
</file>

<file path=ppt/notesSlides/_rels/notesSlide4.xml.rels><?xml version='1.0' encoding='utf-8'?>
<Relationships xmlns="http://schemas.openxmlformats.org/package/2006/relationships"><Relationship Type="http://schemas.openxmlformats.org/officeDocument/2006/relationships/slide" Target="/ppt/slides/slide4.xml" Id="R6e48b80e4b834772" /><Relationship Type="http://schemas.openxmlformats.org/officeDocument/2006/relationships/notesMaster" Target="/ppt/notesMasters/notesMaster1.xml" Id="R6ea7d8a4598a4ea0" /></Relationships>
</file>

<file path=ppt/notesSlides/_rels/notesSlide5.xml.rels><?xml version='1.0' encoding='utf-8'?>
<Relationships xmlns="http://schemas.openxmlformats.org/package/2006/relationships"><Relationship Type="http://schemas.openxmlformats.org/officeDocument/2006/relationships/slide" Target="/ppt/slides/slide5.xml" Id="R6e48b80e4b834772" /><Relationship Type="http://schemas.openxmlformats.org/officeDocument/2006/relationships/notesMaster" Target="/ppt/notesMasters/notesMaster1.xml" Id="R6ea7d8a4598a4ea0" /></Relationships>
</file>

<file path=ppt/notesSlides/_rels/notesSlide6.xml.rels><?xml version='1.0' encoding='utf-8'?>
<Relationships xmlns="http://schemas.openxmlformats.org/package/2006/relationships"><Relationship Type="http://schemas.openxmlformats.org/officeDocument/2006/relationships/slide" Target="/ppt/slides/slide6.xml" Id="R6e48b80e4b834772" /><Relationship Type="http://schemas.openxmlformats.org/officeDocument/2006/relationships/notesMaster" Target="/ppt/notesMasters/notesMaster1.xml" Id="R6ea7d8a4598a4ea0" />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随包合成测试资料；不代表真实论文或科研结果。</a:t>
            </a:r>
            <a:endParaRPr/>
          </a:p>
          <a:p>
            <a:r>
              <a:rPr/>
              <a:t>Layout: L15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随包合成测试资料；不代表真实论文或科研结果。</a:t>
            </a:r>
            <a:endParaRPr/>
          </a:p>
          <a:p>
            <a:r>
              <a:rPr/>
              <a:t>Layout: L16</a:t>
            </a:r>
            <a:endParaRPr/>
          </a:p>
          <a:p>
            <a:r>
              <a:rPr/>
              <a:t>Palette: P2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随包合成测试资料；不代表真实论文或科研结果。</a:t>
            </a:r>
            <a:endParaRPr/>
          </a:p>
          <a:p>
            <a:r>
              <a:rPr/>
              <a:t>Layout: L17</a:t>
            </a:r>
            <a:endParaRPr/>
          </a:p>
          <a:p>
            <a:r>
              <a:rPr/>
              <a:t>Palette: P3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随包合成测试资料；不代表真实论文或科研结果。</a:t>
            </a:r>
            <a:endParaRPr/>
          </a:p>
          <a:p>
            <a:r>
              <a:rPr/>
              <a:t>Layout: L18</a:t>
            </a:r>
            <a:endParaRPr/>
          </a:p>
          <a:p>
            <a:r>
              <a:rPr/>
              <a:t>Palette: P4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随包合成测试资料；不代表真实论文或科研结果。</a:t>
            </a:r>
            <a:endParaRPr/>
          </a:p>
          <a:p>
            <a:r>
              <a:rPr/>
              <a:t>Layout: L19</a:t>
            </a:r>
            <a:endParaRPr/>
          </a:p>
          <a:p>
            <a:r>
              <a:rPr/>
              <a:t>Palette: P5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随包合成测试资料；不代表真实论文或科研结果。</a:t>
            </a:r>
            <a:endParaRPr/>
          </a:p>
          <a:p>
            <a:r>
              <a:rPr/>
              <a:t>Layout: L20</a:t>
            </a:r>
            <a:endParaRPr/>
          </a:p>
          <a:p>
            <a:r>
              <a:rPr/>
              <a:t>Palette: P6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baf52e31fc704bdc" /></Relationships>
</file>

<file path=ppt/slideLayouts/_rels/slideLayout2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cc99deef56624ca4" /></Relationships>
</file>

<file path=ppt/slideLayouts/_rels/slideLayout3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4e39dd14fa8a4888" /></Relationships>
</file>

<file path=ppt/slideLayouts/_rels/slideLayout4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a2019ee27f334608" /></Relationships>
</file>

<file path=ppt/slideLayouts/_rels/slideLayout5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5d4efeff5946454b" /></Relationships>
</file>

<file path=ppt/slideLayouts/_rels/slideLayout6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8f0a95e591e2447b" /></Relationships>
</file>

<file path=ppt/slideLayouts/slideLayout1.xml><?xml version="1.0" encoding="utf-8"?>
<p:sldLayout xmlns:a="http://schemas.openxmlformats.org/drawingml/2006/main" xmlns:ns2="http://schemas.microsoft.com/office/drawing/2014/main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/>
      </p:grpSpPr>
      <p:sp>
        <p:nvSpPr>
          <p:cNvPr id="3" name="Title">
            <a:extLst>
              <a:ext uri="{FF2B5EF4-FFF2-40B4-BE49-F238E27FC236}">
                <ns2:creationId id="{E21DDFB4-60E9-4420-837B-4EAFB84C7F8A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Subtitle">
            <a:extLst>
              <a:ext uri="{FF2B5EF4-FFF2-40B4-BE49-F238E27FC236}">
                <ns2:creationId id="{BA6D5EBE-242C-4508-A254-68F0361F2C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2.xml><?xml version="1.0" encoding="utf-8"?>
<p:sldLayout xmlns:a="http://schemas.openxmlformats.org/drawingml/2006/main" xmlns:ns2="http://schemas.microsoft.com/office/drawing/2014/main" xmlns:p="http://schemas.openxmlformats.org/presentationml/2006/main">
  <p:cSld name="Section Header">
    <p:spTree>
      <p:nvGrpSpPr>
        <p:cNvPr id="1" name=""/>
        <p:cNvGrpSpPr/>
        <p:nvPr/>
      </p:nvGrpSpPr>
      <p:grpSpPr>
        <a:xfrm/>
      </p:grpSpPr>
      <p:sp>
        <p:nvSpPr>
          <p:cNvPr id="2" name="Section title">
            <a:extLst>
              <a:ext uri="{FF2B5EF4-FFF2-40B4-BE49-F238E27FC236}">
                <ns2:creationId id="{F3991E54-819B-4ED6-9326-19572329AD9C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>
  <p:cSld name="Title and Body">
    <p:spTree>
      <p:nvGrpSpPr>
        <p:cNvPr id="1" name=""/>
        <p:cNvGrpSpPr/>
        <p:nvPr/>
      </p:nvGrpSpPr>
      <p:grpSpPr>
        <a:xfrm/>
      </p:grpSpPr>
      <p:sp>
        <p:nvSpPr>
          <p:cNvPr id="3" name="Title">
            <a:extLst>
              <a:ext uri="{FF2B5EF4-FFF2-40B4-BE49-F238E27FC236}">
                <ns2:creationId id="{4A5A72E8-86C1-46ED-A1BC-F369108CD320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Body">
            <a:extLst>
              <a:ext uri="{FF2B5EF4-FFF2-40B4-BE49-F238E27FC236}">
                <ns2:creationId id="{8031CA3D-0D23-4984-9215-673B4A1B64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>
  <p:cSld name="Title and Two Column">
    <p:spTree>
      <p:nvGrpSpPr>
        <p:cNvPr id="1" name=""/>
        <p:cNvGrpSpPr/>
        <p:nvPr/>
      </p:nvGrpSpPr>
      <p:grpSpPr>
        <a:xfrm/>
      </p:grpSpPr>
      <p:sp>
        <p:nvSpPr>
          <p:cNvPr id="4" name="Title">
            <a:extLst>
              <a:ext uri="{FF2B5EF4-FFF2-40B4-BE49-F238E27FC236}">
                <ns2:creationId id="{922F6E40-86FA-4835-B28B-BF278BD475D9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Left column">
            <a:extLst>
              <a:ext uri="{FF2B5EF4-FFF2-40B4-BE49-F238E27FC236}">
                <ns2:creationId id="{FD9AD838-E562-4A78-B4FE-FD51C23729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3" name="Right column">
            <a:extLst>
              <a:ext uri="{FF2B5EF4-FFF2-40B4-BE49-F238E27FC236}">
                <ns2:creationId id="{C0491689-BA57-479D-8DBB-64C3F430271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>
  <p:cSld name="Title and One Column">
    <p:spTree>
      <p:nvGrpSpPr>
        <p:cNvPr id="1" name=""/>
        <p:cNvGrpSpPr/>
        <p:nvPr/>
      </p:nvGrpSpPr>
      <p:grpSpPr>
        <a:xfrm/>
      </p:grpSpPr>
      <p:sp>
        <p:nvSpPr>
          <p:cNvPr id="3" name="Title">
            <a:extLst>
              <a:ext uri="{FF2B5EF4-FFF2-40B4-BE49-F238E27FC236}">
                <ns2:creationId id="{492D91ED-15BC-40F7-81FF-B7D476EC4A02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Left column">
            <a:extLst>
              <a:ext uri="{FF2B5EF4-FFF2-40B4-BE49-F238E27FC236}">
                <ns2:creationId id="{F6AFA915-A911-40E5-8450-F19F3270D7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type="blank">
  <p:cSld name="Blank">
    <p:spTree>
      <p:nvGrpSpPr>
        <p:cNvPr id="1" name=""/>
        <p:cNvGrpSpPr/>
        <p:nvPr/>
      </p:nvGrpSpPr>
      <p:grpSpPr>
        <a:xfrm/>
      </p:grpSpPr>
    </p:spTree>
  </p:cSld>
</p:sldLayout>
</file>

<file path=ppt/slideMasters/_rels/slideMaster1.xml.rels><?xml version='1.0' encoding='utf-8'?>
<Relationships xmlns="http://schemas.openxmlformats.org/package/2006/relationships"><Relationship Type="http://schemas.openxmlformats.org/officeDocument/2006/relationships/theme" Target="/ppt/slideMasters/theme/theme2.xml" Id="Rcc3513c773d440ab" /><Relationship Type="http://schemas.openxmlformats.org/officeDocument/2006/relationships/slideLayout" Target="/ppt/slideLayouts/slideLayout1.xml" Id="R26173e832a724c71" /><Relationship Type="http://schemas.openxmlformats.org/officeDocument/2006/relationships/slideLayout" Target="/ppt/slideLayouts/slideLayout2.xml" Id="R960f9b439dd84bd9" /><Relationship Type="http://schemas.openxmlformats.org/officeDocument/2006/relationships/slideLayout" Target="/ppt/slideLayouts/slideLayout3.xml" Id="Rd9ec3fb0d6e8413b" /><Relationship Type="http://schemas.openxmlformats.org/officeDocument/2006/relationships/slideLayout" Target="/ppt/slideLayouts/slideLayout4.xml" Id="R124ea3bf6ddc4914" /><Relationship Type="http://schemas.openxmlformats.org/officeDocument/2006/relationships/slideLayout" Target="/ppt/slideLayouts/slideLayout5.xml" Id="Rbf3e53cbc2464fbc" /><Relationship Type="http://schemas.openxmlformats.org/officeDocument/2006/relationships/slideLayout" Target="/ppt/slideLayouts/slideLayout6.xml" Id="Rd77528f4ddf74050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26173e832a724c71"/>
    <p:sldLayoutId id="2147483650" r:id="R960f9b439dd84bd9"/>
    <p:sldLayoutId id="2147483651" r:id="Rd9ec3fb0d6e8413b"/>
    <p:sldLayoutId id="2147483652" r:id="R124ea3bf6ddc4914"/>
    <p:sldLayoutId id="2147483653" r:id="Rbf3e53cbc2464fbc"/>
    <p:sldLayoutId id="2147483654" r:id="Rd77528f4ddf74050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Noto Sans CJK SC"/>
          <a:ea typeface="Noto Sans CJK SC"/>
          <a:cs typeface="Noto Sans CJK SC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Noto Sans CJK SC"/>
          <a:ea typeface="Noto Sans CJK SC"/>
          <a:cs typeface="Noto Sans CJK SC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Noto Sans CJK SC"/>
          <a:ea typeface="Noto Sans CJK SC"/>
          <a:cs typeface="Noto Sans CJK SC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Noto Sans CJK SC"/>
          <a:ea typeface="Noto Sans CJK SC"/>
          <a:cs typeface="Noto Sans CJK SC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1pPr>
      <a:lvl2pPr marL="4572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2pPr>
      <a:lvl3pPr marL="9144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3pPr>
      <a:lvl4pPr marL="13716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4pPr>
      <a:lvl5pPr marL="18288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5pPr>
      <a:lvl6pPr marL="22860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6pPr>
      <a:lvl7pPr marL="27432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7pPr>
      <a:lvl8pPr marL="32004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8pPr>
      <a:lvl9pPr marL="36576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2f4776aeb1a64bed" /><Relationship Type="http://schemas.openxmlformats.org/officeDocument/2006/relationships/notesSlide" Target="/ppt/notesSlides/notesSlide1.xml" Id="R42f6f6e0deef48f7" /><Relationship Id="evidenceImage1" Type="http://schemas.openxmlformats.org/officeDocument/2006/relationships/image" Target="/ppt/media/evidence_1.png" /></Relationships>
</file>

<file path=ppt/slides/_rels/slide2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2f4776aeb1a64bed" /><Relationship Type="http://schemas.openxmlformats.org/officeDocument/2006/relationships/notesSlide" Target="/ppt/notesSlides/notesSlide2.xml" Id="R42f6f6e0deef48f7" /><Relationship Id="evidenceImage2" Type="http://schemas.openxmlformats.org/officeDocument/2006/relationships/image" Target="/ppt/media/evidence_2.png" /></Relationships>
</file>

<file path=ppt/slides/_rels/slide3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2f4776aeb1a64bed" /><Relationship Type="http://schemas.openxmlformats.org/officeDocument/2006/relationships/notesSlide" Target="/ppt/notesSlides/notesSlide3.xml" Id="R42f6f6e0deef48f7" /><Relationship Id="evidenceImage3" Type="http://schemas.openxmlformats.org/officeDocument/2006/relationships/image" Target="/ppt/media/evidence_3.png" /><Relationship Id="evidenceImage4" Type="http://schemas.openxmlformats.org/officeDocument/2006/relationships/image" Target="/ppt/media/evidence_4.png" /><Relationship Id="evidenceImage5" Type="http://schemas.openxmlformats.org/officeDocument/2006/relationships/image" Target="/ppt/media/evidence_5.png" /></Relationships>
</file>

<file path=ppt/slides/_rels/slide4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2f4776aeb1a64bed" /><Relationship Type="http://schemas.openxmlformats.org/officeDocument/2006/relationships/notesSlide" Target="/ppt/notesSlides/notesSlide4.xml" Id="R42f6f6e0deef48f7" /><Relationship Id="evidenceImage6" Type="http://schemas.openxmlformats.org/officeDocument/2006/relationships/image" Target="/ppt/media/evidence_6.png" /></Relationships>
</file>

<file path=ppt/slides/_rels/slide5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2f4776aeb1a64bed" /><Relationship Type="http://schemas.openxmlformats.org/officeDocument/2006/relationships/notesSlide" Target="/ppt/notesSlides/notesSlide5.xml" Id="R42f6f6e0deef48f7" /></Relationships>
</file>

<file path=ppt/slides/_rels/slide6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2f4776aeb1a64bed" /><Relationship Type="http://schemas.openxmlformats.org/officeDocument/2006/relationships/notesSlide" Target="/ppt/notesSlides/notesSlide6.xml" Id="R42f6f6e0deef48f7" /></Relationships>
</file>

<file path=ppt/slides/slide1.xml><?xml version="1.0" encoding="utf-8"?>
<p:sld xmlns:a="http://schemas.openxmlformats.org/drawingml/2006/main" xmlns:ns3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1" name="canvas-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12" name="title-12"/>
          <p:cNvSpPr txBox="1"/>
          <p:nvPr/>
        </p:nvSpPr>
        <p:spPr>
          <a:xfrm>
            <a:off x="304800" y="190500"/>
            <a:ext cx="11582400" cy="5524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3150" b="1" dirty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一篇研究如何连接问题、设计与证据</a:t>
            </a:r>
            <a:endParaRPr lang="zh-CN" sz="3150"/>
          </a:p>
        </p:txBody>
      </p:sp>
      <p:sp>
        <p:nvSpPr>
          <p:cNvPr id="13" name="header-rule-13"/>
          <p:cNvSpPr/>
          <p:nvPr/>
        </p:nvSpPr>
        <p:spPr>
          <a:xfrm>
            <a:off x="304800" y="819150"/>
            <a:ext cx="11582400" cy="19050"/>
          </a:xfrm>
          <a:prstGeom prst="rect">
            <a:avLst/>
          </a:prstGeom>
          <a:solidFill>
            <a:srgbClr val="1359A0"/>
          </a:solidFill>
        </p:spPr>
      </p:sp>
      <p:sp>
        <p:nvSpPr>
          <p:cNvPr id="14" name="takeaway-14"/>
          <p:cNvSpPr txBox="1"/>
          <p:nvPr/>
        </p:nvSpPr>
        <p:spPr>
          <a:xfrm>
            <a:off x="457200" y="6115050"/>
            <a:ext cx="112776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725" b="1" dirty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版式示意：原图保持完整，解释紧邻证据。</a:t>
            </a:r>
            <a:endParaRPr lang="zh-CN" sz="1725"/>
          </a:p>
        </p:txBody>
      </p:sp>
      <p:sp>
        <p:nvSpPr>
          <p:cNvPr id="15" name="takeaway-rule-15"/>
          <p:cNvSpPr/>
          <p:nvPr/>
        </p:nvSpPr>
        <p:spPr>
          <a:xfrm>
            <a:off x="304800" y="6019800"/>
            <a:ext cx="11582400" cy="19050"/>
          </a:xfrm>
          <a:prstGeom prst="rect">
            <a:avLst/>
          </a:prstGeom>
          <a:solidFill>
            <a:srgbClr val="1359A0"/>
          </a:solidFill>
        </p:spPr>
      </p:sp>
      <p:sp>
        <p:nvSpPr>
          <p:cNvPr id="16" name="chapter-navigation-16"/>
          <p:cNvSpPr txBox="1"/>
          <p:nvPr/>
        </p:nvSpPr>
        <p:spPr>
          <a:xfrm>
            <a:off x="304800" y="6534150"/>
            <a:ext cx="14859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050" b="0" dirty="0">
                <a:solidFill>
                  <a:srgbClr val="667788"/>
                </a:solidFill>
                <a:latin typeface="Noto Sans CJK SC"/>
                <a:ea typeface="Noto Sans CJK SC"/>
                <a:cs typeface="Noto Sans CJK SC"/>
              </a:rPr>
              <a:t>研究问题</a:t>
            </a:r>
            <a:endParaRPr lang="zh-CN" sz="1050"/>
          </a:p>
        </p:txBody>
      </p:sp>
      <p:sp>
        <p:nvSpPr>
          <p:cNvPr id="17" name="chapter-navigation-17"/>
          <p:cNvSpPr txBox="1"/>
          <p:nvPr/>
        </p:nvSpPr>
        <p:spPr>
          <a:xfrm>
            <a:off x="1905000" y="6534150"/>
            <a:ext cx="14859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050" b="0" dirty="0">
                <a:solidFill>
                  <a:srgbClr val="667788"/>
                </a:solidFill>
                <a:latin typeface="Noto Sans CJK SC"/>
                <a:ea typeface="Noto Sans CJK SC"/>
                <a:cs typeface="Noto Sans CJK SC"/>
              </a:rPr>
              <a:t>设计与方法</a:t>
            </a:r>
            <a:endParaRPr lang="zh-CN" sz="1050"/>
          </a:p>
        </p:txBody>
      </p:sp>
      <p:sp>
        <p:nvSpPr>
          <p:cNvPr id="18" name="chapter-navigation-18"/>
          <p:cNvSpPr txBox="1"/>
          <p:nvPr/>
        </p:nvSpPr>
        <p:spPr>
          <a:xfrm>
            <a:off x="3505200" y="6534150"/>
            <a:ext cx="14859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050" b="1" dirty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关键证据</a:t>
            </a:r>
            <a:endParaRPr lang="zh-CN" sz="1050"/>
          </a:p>
        </p:txBody>
      </p:sp>
      <p:sp>
        <p:nvSpPr>
          <p:cNvPr id="19" name="chapter-indicator-19"/>
          <p:cNvSpPr/>
          <p:nvPr/>
        </p:nvSpPr>
        <p:spPr>
          <a:xfrm>
            <a:off x="3505200" y="6486525"/>
            <a:ext cx="952500" cy="28575"/>
          </a:xfrm>
          <a:prstGeom prst="rect">
            <a:avLst/>
          </a:prstGeom>
          <a:solidFill>
            <a:srgbClr val="B82D32"/>
          </a:solidFill>
        </p:spPr>
      </p:sp>
      <p:sp>
        <p:nvSpPr>
          <p:cNvPr id="20" name="chapter-navigation-20"/>
          <p:cNvSpPr txBox="1"/>
          <p:nvPr/>
        </p:nvSpPr>
        <p:spPr>
          <a:xfrm>
            <a:off x="5105400" y="6534150"/>
            <a:ext cx="14859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050" b="0" dirty="0">
                <a:solidFill>
                  <a:srgbClr val="667788"/>
                </a:solidFill>
                <a:latin typeface="Noto Sans CJK SC"/>
                <a:ea typeface="Noto Sans CJK SC"/>
                <a:cs typeface="Noto Sans CJK SC"/>
              </a:rPr>
              <a:t>总结讨论</a:t>
            </a:r>
            <a:endParaRPr lang="zh-CN" sz="1050"/>
          </a:p>
        </p:txBody>
      </p:sp>
      <p:sp>
        <p:nvSpPr>
          <p:cNvPr id="21" name="page-number-21"/>
          <p:cNvSpPr txBox="1"/>
          <p:nvPr/>
        </p:nvSpPr>
        <p:spPr>
          <a:xfrm>
            <a:off x="11487150" y="6534150"/>
            <a:ext cx="40005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25000"/>
              </a:lnSpc>
            </a:pPr>
            <a:r>
              <a:rPr lang="zh-CN" sz="1050" b="0" dirty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01</a:t>
            </a:r>
            <a:endParaRPr lang="zh-CN" sz="1050"/>
          </a:p>
        </p:txBody>
      </p:sp>
      <p:pic>
        <p:nvPicPr>
          <p:cNvPr id="22" name="evidence-main" descr="{&quot;kind&quot;: &quot;paper_crop&quot;, &quot;provenance&quot;: {&quot;paper_id&quot;: &quot;demo-study&quot;, &quot;figure&quot;: &quot;Fig 1&quot;, &quot;page&quot;: 1, &quot;crop_bbox&quot;: [0, 0, 864, 432], &quot;pdf_sha256&quot;: &quot;625db2361c9caf1bdcce114b8d9b1788a039408b20d61d6bb0d4be8cff0ae1ad&quot;, &quot;png_sha256&quot;: &quot;215df2377325f02f475b95f937e15755a201d52ace54af6ed1e582d3c2d525e4&quot;, &quot;render_method&quot;: &quot;pdf_clip&quot;, &quot;dpi&quot;: 180, &quot;verified_complete&quot;: true}, &quot;sha256&quot;: &quot;215df2377325f02f475b95f937e15755a201d52ace54af6ed1e582d3c2d525e4&quot;}"/>
          <p:cNvPicPr>
            <a:picLocks noChangeAspect="1"/>
          </p:cNvPicPr>
          <p:nvPr/>
        </p:nvPicPr>
        <p:blipFill>
          <a:blip r:embed="evidenceImage1"/>
          <a:stretch>
            <a:fillRect/>
          </a:stretch>
        </p:blipFill>
        <p:spPr>
          <a:xfrm>
            <a:off x="4267200" y="1238250"/>
            <a:ext cx="7620000" cy="3810000"/>
          </a:xfrm>
          <a:prstGeom prst="rect">
            <a:avLst/>
          </a:prstGeom>
        </p:spPr>
      </p:pic>
      <p:sp>
        <p:nvSpPr>
          <p:cNvPr id="23" name="figure-number-caption-23"/>
          <p:cNvSpPr txBox="1"/>
          <p:nvPr/>
        </p:nvSpPr>
        <p:spPr>
          <a:xfrm>
            <a:off x="4267200" y="5124450"/>
            <a:ext cx="7620000" cy="2667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500" b="1" dirty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图 1  合成测试资料</a:t>
            </a:r>
            <a:endParaRPr lang="zh-CN" sz="1500"/>
          </a:p>
        </p:txBody>
      </p:sp>
      <p:sp>
        <p:nvSpPr>
          <p:cNvPr id="24" name="figure-source-24"/>
          <p:cNvSpPr txBox="1"/>
          <p:nvPr/>
        </p:nvSpPr>
        <p:spPr>
          <a:xfrm>
            <a:off x="4267200" y="5410200"/>
            <a:ext cx="7620000" cy="23812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275" b="0" dirty="0">
                <a:solidFill>
                  <a:srgbClr val="526475"/>
                </a:solidFill>
                <a:latin typeface="Noto Sans CJK SC"/>
                <a:ea typeface="Noto Sans CJK SC"/>
                <a:cs typeface="Noto Sans CJK SC"/>
              </a:rPr>
              <a:t>来源：随包 synthetic-study.pdf（示意）</a:t>
            </a:r>
            <a:endParaRPr lang="zh-CN" sz="1275"/>
          </a:p>
        </p:txBody>
      </p:sp>
      <p:sp>
        <p:nvSpPr>
          <p:cNvPr id="25" name="image-boundary-25"/>
          <p:cNvSpPr/>
          <p:nvPr/>
        </p:nvSpPr>
        <p:spPr>
          <a:xfrm>
            <a:off x="4267200" y="1238250"/>
            <a:ext cx="7620000" cy="3810000"/>
          </a:xfrm>
          <a:prstGeom prst="rect">
            <a:avLst/>
          </a:prstGeom>
          <a:noFill/>
          <a:ln w="11430" cap="rnd">
            <a:solidFill>
              <a:srgbClr val="C3D2E0"/>
            </a:solidFill>
          </a:ln>
        </p:spPr>
      </p:sp>
      <p:sp>
        <p:nvSpPr>
          <p:cNvPr id="26" name="section-number-26"/>
          <p:cNvSpPr txBox="1"/>
          <p:nvPr/>
        </p:nvSpPr>
        <p:spPr>
          <a:xfrm>
            <a:off x="304800" y="1181100"/>
            <a:ext cx="400050" cy="2857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650" b="1" dirty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01</a:t>
            </a:r>
            <a:endParaRPr lang="zh-CN" sz="1650"/>
          </a:p>
        </p:txBody>
      </p:sp>
      <p:sp>
        <p:nvSpPr>
          <p:cNvPr id="27" name="section-title-27"/>
          <p:cNvSpPr txBox="1"/>
          <p:nvPr/>
        </p:nvSpPr>
        <p:spPr>
          <a:xfrm>
            <a:off x="800100" y="1181100"/>
            <a:ext cx="3162300" cy="33337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875" b="1" dirty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研究问题</a:t>
            </a:r>
            <a:endParaRPr lang="zh-CN" sz="1875"/>
          </a:p>
        </p:txBody>
      </p:sp>
      <p:sp>
        <p:nvSpPr>
          <p:cNvPr id="28" name="section-body-28"/>
          <p:cNvSpPr txBox="1"/>
          <p:nvPr/>
        </p:nvSpPr>
        <p:spPr>
          <a:xfrm>
            <a:off x="800100" y="1609725"/>
            <a:ext cx="3162300" cy="98107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575" b="0" dirty="0">
                <a:solidFill>
                  <a:srgbClr val="263746"/>
                </a:solidFill>
                <a:latin typeface="Noto Sans CJK SC"/>
                <a:ea typeface="Noto Sans CJK SC"/>
                <a:cs typeface="Noto Sans CJK SC"/>
              </a:rPr>
              <a:t>环境变化是否伴随</a:t>
            </a:r>
            <a:endParaRPr lang="zh-CN" sz="1575"/>
          </a:p>
          <a:p>
            <a:pPr algn="l">
              <a:lnSpc>
                <a:spcPct val="125000"/>
              </a:lnSpc>
            </a:pPr>
            <a:r>
              <a:rPr lang="zh-CN" sz="1575" b="0" dirty="0">
                <a:solidFill>
                  <a:srgbClr val="263746"/>
                </a:solidFill>
                <a:latin typeface="Noto Sans CJK SC"/>
                <a:ea typeface="Noto Sans CJK SC"/>
                <a:cs typeface="Noto Sans CJK SC"/>
              </a:rPr>
              <a:t>动物群落差异？</a:t>
            </a:r>
            <a:endParaRPr lang="zh-CN" sz="1575"/>
          </a:p>
        </p:txBody>
      </p:sp>
      <p:sp>
        <p:nvSpPr>
          <p:cNvPr id="29" name="section-rule-29"/>
          <p:cNvSpPr/>
          <p:nvPr/>
        </p:nvSpPr>
        <p:spPr>
          <a:xfrm>
            <a:off x="304800" y="2524125"/>
            <a:ext cx="3657600" cy="9525"/>
          </a:xfrm>
          <a:prstGeom prst="rect">
            <a:avLst/>
          </a:prstGeom>
          <a:solidFill>
            <a:srgbClr val="D5DFE8"/>
          </a:solidFill>
        </p:spPr>
      </p:sp>
      <p:sp>
        <p:nvSpPr>
          <p:cNvPr id="30" name="section-number-30"/>
          <p:cNvSpPr txBox="1"/>
          <p:nvPr/>
        </p:nvSpPr>
        <p:spPr>
          <a:xfrm>
            <a:off x="304800" y="2667000"/>
            <a:ext cx="400050" cy="2857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650" b="1" dirty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02</a:t>
            </a:r>
            <a:endParaRPr lang="zh-CN" sz="1650"/>
          </a:p>
        </p:txBody>
      </p:sp>
      <p:sp>
        <p:nvSpPr>
          <p:cNvPr id="31" name="section-title-31"/>
          <p:cNvSpPr txBox="1"/>
          <p:nvPr/>
        </p:nvSpPr>
        <p:spPr>
          <a:xfrm>
            <a:off x="800100" y="2667000"/>
            <a:ext cx="3162300" cy="33337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875" b="1" dirty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研究设计</a:t>
            </a:r>
            <a:endParaRPr lang="zh-CN" sz="1875"/>
          </a:p>
        </p:txBody>
      </p:sp>
      <p:sp>
        <p:nvSpPr>
          <p:cNvPr id="32" name="section-body-32"/>
          <p:cNvSpPr txBox="1"/>
          <p:nvPr/>
        </p:nvSpPr>
        <p:spPr>
          <a:xfrm>
            <a:off x="800100" y="3095625"/>
            <a:ext cx="3162300" cy="98107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575" b="0" dirty="0">
                <a:solidFill>
                  <a:srgbClr val="263746"/>
                </a:solidFill>
                <a:latin typeface="Noto Sans CJK SC"/>
                <a:ea typeface="Noto Sans CJK SC"/>
                <a:cs typeface="Noto Sans CJK SC"/>
              </a:rPr>
              <a:t>在统一监测窗口内，</a:t>
            </a:r>
            <a:endParaRPr lang="zh-CN" sz="1575"/>
          </a:p>
          <a:p>
            <a:pPr algn="l">
              <a:lnSpc>
                <a:spcPct val="125000"/>
              </a:lnSpc>
            </a:pPr>
            <a:r>
              <a:rPr lang="zh-CN" sz="1575" b="0" dirty="0">
                <a:solidFill>
                  <a:srgbClr val="263746"/>
                </a:solidFill>
                <a:latin typeface="Noto Sans CJK SC"/>
                <a:ea typeface="Noto Sans CJK SC"/>
                <a:cs typeface="Noto Sans CJK SC"/>
              </a:rPr>
              <a:t>比较不同生境样点。</a:t>
            </a:r>
            <a:endParaRPr lang="zh-CN" sz="1575"/>
          </a:p>
        </p:txBody>
      </p:sp>
      <p:sp>
        <p:nvSpPr>
          <p:cNvPr id="33" name="section-rule-33"/>
          <p:cNvSpPr/>
          <p:nvPr/>
        </p:nvSpPr>
        <p:spPr>
          <a:xfrm>
            <a:off x="304800" y="4010025"/>
            <a:ext cx="3657600" cy="9525"/>
          </a:xfrm>
          <a:prstGeom prst="rect">
            <a:avLst/>
          </a:prstGeom>
          <a:solidFill>
            <a:srgbClr val="D5DFE8"/>
          </a:solidFill>
        </p:spPr>
      </p:sp>
      <p:sp>
        <p:nvSpPr>
          <p:cNvPr id="34" name="section-number-34"/>
          <p:cNvSpPr txBox="1"/>
          <p:nvPr/>
        </p:nvSpPr>
        <p:spPr>
          <a:xfrm>
            <a:off x="304800" y="4152900"/>
            <a:ext cx="400050" cy="2857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650" b="1" dirty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03</a:t>
            </a:r>
            <a:endParaRPr lang="zh-CN" sz="1650"/>
          </a:p>
        </p:txBody>
      </p:sp>
      <p:sp>
        <p:nvSpPr>
          <p:cNvPr id="35" name="section-title-35"/>
          <p:cNvSpPr txBox="1"/>
          <p:nvPr/>
        </p:nvSpPr>
        <p:spPr>
          <a:xfrm>
            <a:off x="800100" y="4152900"/>
            <a:ext cx="3162300" cy="33337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875" b="1" dirty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核心证据</a:t>
            </a:r>
            <a:endParaRPr lang="zh-CN" sz="1875"/>
          </a:p>
        </p:txBody>
      </p:sp>
      <p:sp>
        <p:nvSpPr>
          <p:cNvPr id="36" name="section-body-36"/>
          <p:cNvSpPr txBox="1"/>
          <p:nvPr/>
        </p:nvSpPr>
        <p:spPr>
          <a:xfrm>
            <a:off x="800100" y="4581525"/>
            <a:ext cx="3162300" cy="98107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575" b="0" dirty="0">
                <a:solidFill>
                  <a:srgbClr val="263746"/>
                </a:solidFill>
                <a:latin typeface="Noto Sans CJK SC"/>
                <a:ea typeface="Noto Sans CJK SC"/>
                <a:cs typeface="Noto Sans CJK SC"/>
              </a:rPr>
              <a:t>保留完整结果图，</a:t>
            </a:r>
            <a:endParaRPr lang="zh-CN" sz="1575"/>
          </a:p>
          <a:p>
            <a:pPr algn="l">
              <a:lnSpc>
                <a:spcPct val="125000"/>
              </a:lnSpc>
            </a:pPr>
            <a:r>
              <a:rPr lang="zh-CN" sz="1575" b="0" dirty="0">
                <a:solidFill>
                  <a:srgbClr val="263746"/>
                </a:solidFill>
                <a:latin typeface="Noto Sans CJK SC"/>
                <a:ea typeface="Noto Sans CJK SC"/>
                <a:cs typeface="Noto Sans CJK SC"/>
              </a:rPr>
              <a:t>结合原文解释差异。</a:t>
            </a:r>
            <a:endParaRPr lang="zh-CN" sz="1575"/>
          </a:p>
        </p:txBody>
      </p:sp>
    </p:spTree>
    <p:extLst>
      <p:ext uri="{BB962C8B-B14F-4D97-AF65-F5344CB8AC3E}">
        <ns3:creationId val="711463199"/>
      </p:ext>
    </p:extLst>
  </p:cSld>
</p:sld>
</file>

<file path=ppt/slides/slide2.xml><?xml version="1.0" encoding="utf-8"?>
<p:sld xmlns:a="http://schemas.openxmlformats.org/drawingml/2006/main" xmlns:ns3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1" name="canvas-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12" name="title-12"/>
          <p:cNvSpPr txBox="1"/>
          <p:nvPr/>
        </p:nvSpPr>
        <p:spPr>
          <a:xfrm>
            <a:off x="304800" y="190500"/>
            <a:ext cx="11582400" cy="5524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3150" b="1" dirty="0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rPr>
              <a:t>重要证据放大呈现，先看清再解释</a:t>
            </a:r>
            <a:endParaRPr lang="zh-CN" sz="3150"/>
          </a:p>
        </p:txBody>
      </p:sp>
      <p:sp>
        <p:nvSpPr>
          <p:cNvPr id="13" name="header-rule-13"/>
          <p:cNvSpPr/>
          <p:nvPr/>
        </p:nvSpPr>
        <p:spPr>
          <a:xfrm>
            <a:off x="304800" y="819150"/>
            <a:ext cx="11582400" cy="19050"/>
          </a:xfrm>
          <a:prstGeom prst="rect">
            <a:avLst/>
          </a:prstGeom>
          <a:solidFill>
            <a:srgbClr val="136742"/>
          </a:solidFill>
        </p:spPr>
      </p:sp>
      <p:sp>
        <p:nvSpPr>
          <p:cNvPr id="14" name="takeaway-14"/>
          <p:cNvSpPr txBox="1"/>
          <p:nvPr/>
        </p:nvSpPr>
        <p:spPr>
          <a:xfrm>
            <a:off x="457200" y="6115050"/>
            <a:ext cx="112776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725" b="1" dirty="0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rPr>
              <a:t>版式示意：原图保持完整，解释紧邻证据。</a:t>
            </a:r>
            <a:endParaRPr lang="zh-CN" sz="1725"/>
          </a:p>
        </p:txBody>
      </p:sp>
      <p:sp>
        <p:nvSpPr>
          <p:cNvPr id="15" name="takeaway-rule-15"/>
          <p:cNvSpPr/>
          <p:nvPr/>
        </p:nvSpPr>
        <p:spPr>
          <a:xfrm>
            <a:off x="304800" y="6019800"/>
            <a:ext cx="11582400" cy="19050"/>
          </a:xfrm>
          <a:prstGeom prst="rect">
            <a:avLst/>
          </a:prstGeom>
          <a:solidFill>
            <a:srgbClr val="136742"/>
          </a:solidFill>
        </p:spPr>
      </p:sp>
      <p:sp>
        <p:nvSpPr>
          <p:cNvPr id="16" name="chapter-navigation-16"/>
          <p:cNvSpPr txBox="1"/>
          <p:nvPr/>
        </p:nvSpPr>
        <p:spPr>
          <a:xfrm>
            <a:off x="304800" y="6534150"/>
            <a:ext cx="14859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050" b="0" dirty="0">
                <a:solidFill>
                  <a:srgbClr val="667788"/>
                </a:solidFill>
                <a:latin typeface="Noto Sans CJK SC"/>
                <a:ea typeface="Noto Sans CJK SC"/>
                <a:cs typeface="Noto Sans CJK SC"/>
              </a:rPr>
              <a:t>研究问题</a:t>
            </a:r>
            <a:endParaRPr lang="zh-CN" sz="1050"/>
          </a:p>
        </p:txBody>
      </p:sp>
      <p:sp>
        <p:nvSpPr>
          <p:cNvPr id="17" name="chapter-navigation-17"/>
          <p:cNvSpPr txBox="1"/>
          <p:nvPr/>
        </p:nvSpPr>
        <p:spPr>
          <a:xfrm>
            <a:off x="1905000" y="6534150"/>
            <a:ext cx="14859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050" b="0" dirty="0">
                <a:solidFill>
                  <a:srgbClr val="667788"/>
                </a:solidFill>
                <a:latin typeface="Noto Sans CJK SC"/>
                <a:ea typeface="Noto Sans CJK SC"/>
                <a:cs typeface="Noto Sans CJK SC"/>
              </a:rPr>
              <a:t>设计与方法</a:t>
            </a:r>
            <a:endParaRPr lang="zh-CN" sz="1050"/>
          </a:p>
        </p:txBody>
      </p:sp>
      <p:sp>
        <p:nvSpPr>
          <p:cNvPr id="18" name="chapter-navigation-18"/>
          <p:cNvSpPr txBox="1"/>
          <p:nvPr/>
        </p:nvSpPr>
        <p:spPr>
          <a:xfrm>
            <a:off x="3505200" y="6534150"/>
            <a:ext cx="14859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050" b="1" dirty="0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rPr>
              <a:t>关键证据</a:t>
            </a:r>
            <a:endParaRPr lang="zh-CN" sz="1050"/>
          </a:p>
        </p:txBody>
      </p:sp>
      <p:sp>
        <p:nvSpPr>
          <p:cNvPr id="19" name="chapter-indicator-19"/>
          <p:cNvSpPr/>
          <p:nvPr/>
        </p:nvSpPr>
        <p:spPr>
          <a:xfrm>
            <a:off x="3505200" y="6486525"/>
            <a:ext cx="952500" cy="28575"/>
          </a:xfrm>
          <a:prstGeom prst="rect">
            <a:avLst/>
          </a:prstGeom>
          <a:solidFill>
            <a:srgbClr val="BD4F22"/>
          </a:solidFill>
        </p:spPr>
      </p:sp>
      <p:sp>
        <p:nvSpPr>
          <p:cNvPr id="20" name="chapter-navigation-20"/>
          <p:cNvSpPr txBox="1"/>
          <p:nvPr/>
        </p:nvSpPr>
        <p:spPr>
          <a:xfrm>
            <a:off x="5105400" y="6534150"/>
            <a:ext cx="14859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050" b="0" dirty="0">
                <a:solidFill>
                  <a:srgbClr val="667788"/>
                </a:solidFill>
                <a:latin typeface="Noto Sans CJK SC"/>
                <a:ea typeface="Noto Sans CJK SC"/>
                <a:cs typeface="Noto Sans CJK SC"/>
              </a:rPr>
              <a:t>总结讨论</a:t>
            </a:r>
            <a:endParaRPr lang="zh-CN" sz="1050"/>
          </a:p>
        </p:txBody>
      </p:sp>
      <p:sp>
        <p:nvSpPr>
          <p:cNvPr id="21" name="page-number-21"/>
          <p:cNvSpPr txBox="1"/>
          <p:nvPr/>
        </p:nvSpPr>
        <p:spPr>
          <a:xfrm>
            <a:off x="11487150" y="6534150"/>
            <a:ext cx="40005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25000"/>
              </a:lnSpc>
            </a:pPr>
            <a:r>
              <a:rPr lang="zh-CN" sz="1050" b="0" dirty="0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rPr>
              <a:t>02</a:t>
            </a:r>
            <a:endParaRPr lang="zh-CN" sz="1050"/>
          </a:p>
        </p:txBody>
      </p:sp>
      <p:pic>
        <p:nvPicPr>
          <p:cNvPr id="22" name="evidence-main" descr="{&quot;kind&quot;: &quot;paper_crop&quot;, &quot;provenance&quot;: {&quot;paper_id&quot;: &quot;demo-study&quot;, &quot;figure&quot;: &quot;Fig 1&quot;, &quot;page&quot;: 1, &quot;crop_bbox&quot;: [0, 0, 864, 432], &quot;pdf_sha256&quot;: &quot;625db2361c9caf1bdcce114b8d9b1788a039408b20d61d6bb0d4be8cff0ae1ad&quot;, &quot;png_sha256&quot;: &quot;215df2377325f02f475b95f937e15755a201d52ace54af6ed1e582d3c2d525e4&quot;, &quot;render_method&quot;: &quot;pdf_clip&quot;, &quot;dpi&quot;: 180, &quot;verified_complete&quot;: true}, &quot;sha256&quot;: &quot;215df2377325f02f475b95f937e15755a201d52ace54af6ed1e582d3c2d525e4&quot;}"/>
          <p:cNvPicPr>
            <a:picLocks noChangeAspect="1"/>
          </p:cNvPicPr>
          <p:nvPr/>
        </p:nvPicPr>
        <p:blipFill>
          <a:blip r:embed="evidenceImage2"/>
          <a:stretch>
            <a:fillRect/>
          </a:stretch>
        </p:blipFill>
        <p:spPr>
          <a:xfrm>
            <a:off x="304800" y="1166812"/>
            <a:ext cx="7905750" cy="3952875"/>
          </a:xfrm>
          <a:prstGeom prst="rect">
            <a:avLst/>
          </a:prstGeom>
        </p:spPr>
      </p:pic>
      <p:sp>
        <p:nvSpPr>
          <p:cNvPr id="23" name="figure-number-caption-23"/>
          <p:cNvSpPr txBox="1"/>
          <p:nvPr/>
        </p:nvSpPr>
        <p:spPr>
          <a:xfrm>
            <a:off x="304800" y="5195888"/>
            <a:ext cx="7905750" cy="2667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500" b="1" dirty="0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rPr>
              <a:t>图 1  合成测试资料</a:t>
            </a:r>
            <a:endParaRPr lang="zh-CN" sz="1500"/>
          </a:p>
        </p:txBody>
      </p:sp>
      <p:sp>
        <p:nvSpPr>
          <p:cNvPr id="24" name="figure-source-24"/>
          <p:cNvSpPr txBox="1"/>
          <p:nvPr/>
        </p:nvSpPr>
        <p:spPr>
          <a:xfrm>
            <a:off x="304800" y="5481638"/>
            <a:ext cx="7905750" cy="23812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275" b="0" dirty="0">
                <a:solidFill>
                  <a:srgbClr val="526475"/>
                </a:solidFill>
                <a:latin typeface="Noto Sans CJK SC"/>
                <a:ea typeface="Noto Sans CJK SC"/>
                <a:cs typeface="Noto Sans CJK SC"/>
              </a:rPr>
              <a:t>来源：随包 synthetic-study.pdf（示意）</a:t>
            </a:r>
            <a:endParaRPr lang="zh-CN" sz="1275"/>
          </a:p>
        </p:txBody>
      </p:sp>
      <p:sp>
        <p:nvSpPr>
          <p:cNvPr id="25" name="image-boundary-25"/>
          <p:cNvSpPr/>
          <p:nvPr/>
        </p:nvSpPr>
        <p:spPr>
          <a:xfrm>
            <a:off x="304800" y="1166812"/>
            <a:ext cx="7905750" cy="3952875"/>
          </a:xfrm>
          <a:prstGeom prst="rect">
            <a:avLst/>
          </a:prstGeom>
          <a:noFill/>
          <a:ln w="11430" cap="rnd">
            <a:solidFill>
              <a:srgbClr val="C3D2E0"/>
            </a:solidFill>
          </a:ln>
        </p:spPr>
      </p:sp>
      <p:sp>
        <p:nvSpPr>
          <p:cNvPr id="26" name="section-number-26"/>
          <p:cNvSpPr txBox="1"/>
          <p:nvPr/>
        </p:nvSpPr>
        <p:spPr>
          <a:xfrm>
            <a:off x="8515350" y="1181100"/>
            <a:ext cx="400050" cy="2857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650" b="1" dirty="0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rPr>
              <a:t>01</a:t>
            </a:r>
            <a:endParaRPr lang="zh-CN" sz="1650"/>
          </a:p>
        </p:txBody>
      </p:sp>
      <p:sp>
        <p:nvSpPr>
          <p:cNvPr id="27" name="section-title-27"/>
          <p:cNvSpPr txBox="1"/>
          <p:nvPr/>
        </p:nvSpPr>
        <p:spPr>
          <a:xfrm>
            <a:off x="9010650" y="1181100"/>
            <a:ext cx="2876550" cy="33337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875" b="1" dirty="0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rPr>
              <a:t>看总体趋势</a:t>
            </a:r>
            <a:endParaRPr lang="zh-CN" sz="1875"/>
          </a:p>
        </p:txBody>
      </p:sp>
      <p:sp>
        <p:nvSpPr>
          <p:cNvPr id="28" name="section-body-28"/>
          <p:cNvSpPr txBox="1"/>
          <p:nvPr/>
        </p:nvSpPr>
        <p:spPr>
          <a:xfrm>
            <a:off x="9010650" y="1609725"/>
            <a:ext cx="2876550" cy="98107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575" b="0" dirty="0">
                <a:solidFill>
                  <a:srgbClr val="263746"/>
                </a:solidFill>
                <a:latin typeface="Noto Sans CJK SC"/>
                <a:ea typeface="Noto Sans CJK SC"/>
                <a:cs typeface="Noto Sans CJK SC"/>
              </a:rPr>
              <a:t>先定位变量和坐标，</a:t>
            </a:r>
            <a:endParaRPr lang="zh-CN" sz="1575"/>
          </a:p>
          <a:p>
            <a:pPr algn="l">
              <a:lnSpc>
                <a:spcPct val="125000"/>
              </a:lnSpc>
            </a:pPr>
            <a:r>
              <a:rPr lang="zh-CN" sz="1575" b="0" dirty="0">
                <a:solidFill>
                  <a:srgbClr val="263746"/>
                </a:solidFill>
                <a:latin typeface="Noto Sans CJK SC"/>
                <a:ea typeface="Noto Sans CJK SC"/>
                <a:cs typeface="Noto Sans CJK SC"/>
              </a:rPr>
              <a:t>再比较观测分布。</a:t>
            </a:r>
            <a:endParaRPr lang="zh-CN" sz="1575"/>
          </a:p>
        </p:txBody>
      </p:sp>
      <p:sp>
        <p:nvSpPr>
          <p:cNvPr id="29" name="section-rule-29"/>
          <p:cNvSpPr/>
          <p:nvPr/>
        </p:nvSpPr>
        <p:spPr>
          <a:xfrm>
            <a:off x="8515350" y="2524125"/>
            <a:ext cx="3371850" cy="9525"/>
          </a:xfrm>
          <a:prstGeom prst="rect">
            <a:avLst/>
          </a:prstGeom>
          <a:solidFill>
            <a:srgbClr val="D5DFE8"/>
          </a:solidFill>
        </p:spPr>
      </p:sp>
      <p:sp>
        <p:nvSpPr>
          <p:cNvPr id="30" name="section-number-30"/>
          <p:cNvSpPr txBox="1"/>
          <p:nvPr/>
        </p:nvSpPr>
        <p:spPr>
          <a:xfrm>
            <a:off x="8515350" y="2667000"/>
            <a:ext cx="400050" cy="2857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650" b="1" dirty="0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rPr>
              <a:t>02</a:t>
            </a:r>
            <a:endParaRPr lang="zh-CN" sz="1650"/>
          </a:p>
        </p:txBody>
      </p:sp>
      <p:sp>
        <p:nvSpPr>
          <p:cNvPr id="31" name="section-title-31"/>
          <p:cNvSpPr txBox="1"/>
          <p:nvPr/>
        </p:nvSpPr>
        <p:spPr>
          <a:xfrm>
            <a:off x="9010650" y="2667000"/>
            <a:ext cx="2876550" cy="33337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875" b="1" dirty="0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rPr>
              <a:t>看组间差异</a:t>
            </a:r>
            <a:endParaRPr lang="zh-CN" sz="1875"/>
          </a:p>
        </p:txBody>
      </p:sp>
      <p:sp>
        <p:nvSpPr>
          <p:cNvPr id="32" name="section-body-32"/>
          <p:cNvSpPr txBox="1"/>
          <p:nvPr/>
        </p:nvSpPr>
        <p:spPr>
          <a:xfrm>
            <a:off x="9010650" y="3095625"/>
            <a:ext cx="2876550" cy="98107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575" b="0" dirty="0">
                <a:solidFill>
                  <a:srgbClr val="263746"/>
                </a:solidFill>
                <a:latin typeface="Noto Sans CJK SC"/>
                <a:ea typeface="Noto Sans CJK SC"/>
                <a:cs typeface="Noto Sans CJK SC"/>
              </a:rPr>
              <a:t>同时观察组间差异</a:t>
            </a:r>
            <a:endParaRPr lang="zh-CN" sz="1575"/>
          </a:p>
          <a:p>
            <a:pPr algn="l">
              <a:lnSpc>
                <a:spcPct val="125000"/>
              </a:lnSpc>
            </a:pPr>
            <a:r>
              <a:rPr lang="zh-CN" sz="1575" b="0" dirty="0">
                <a:solidFill>
                  <a:srgbClr val="263746"/>
                </a:solidFill>
                <a:latin typeface="Noto Sans CJK SC"/>
                <a:ea typeface="Noto Sans CJK SC"/>
                <a:cs typeface="Noto Sans CJK SC"/>
              </a:rPr>
              <a:t>和组内变异。</a:t>
            </a:r>
            <a:endParaRPr lang="zh-CN" sz="1575"/>
          </a:p>
        </p:txBody>
      </p:sp>
      <p:sp>
        <p:nvSpPr>
          <p:cNvPr id="33" name="section-rule-33"/>
          <p:cNvSpPr/>
          <p:nvPr/>
        </p:nvSpPr>
        <p:spPr>
          <a:xfrm>
            <a:off x="8515350" y="4010025"/>
            <a:ext cx="3371850" cy="9525"/>
          </a:xfrm>
          <a:prstGeom prst="rect">
            <a:avLst/>
          </a:prstGeom>
          <a:solidFill>
            <a:srgbClr val="D5DFE8"/>
          </a:solidFill>
        </p:spPr>
      </p:sp>
      <p:sp>
        <p:nvSpPr>
          <p:cNvPr id="34" name="section-number-34"/>
          <p:cNvSpPr txBox="1"/>
          <p:nvPr/>
        </p:nvSpPr>
        <p:spPr>
          <a:xfrm>
            <a:off x="8515350" y="4152900"/>
            <a:ext cx="400050" cy="2857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650" b="1" dirty="0">
                <a:solidFill>
                  <a:srgbClr val="BD4F22"/>
                </a:solidFill>
                <a:latin typeface="Noto Sans CJK SC"/>
                <a:ea typeface="Noto Sans CJK SC"/>
                <a:cs typeface="Noto Sans CJK SC"/>
              </a:rPr>
              <a:t>03</a:t>
            </a:r>
            <a:endParaRPr lang="zh-CN" sz="1650"/>
          </a:p>
        </p:txBody>
      </p:sp>
      <p:sp>
        <p:nvSpPr>
          <p:cNvPr id="35" name="section-title-35"/>
          <p:cNvSpPr txBox="1"/>
          <p:nvPr/>
        </p:nvSpPr>
        <p:spPr>
          <a:xfrm>
            <a:off x="9010650" y="4152900"/>
            <a:ext cx="2876550" cy="33337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875" b="1" dirty="0">
                <a:solidFill>
                  <a:srgbClr val="136742"/>
                </a:solidFill>
                <a:latin typeface="Noto Sans CJK SC"/>
                <a:ea typeface="Noto Sans CJK SC"/>
                <a:cs typeface="Noto Sans CJK SC"/>
              </a:rPr>
              <a:t>回到研究问题</a:t>
            </a:r>
            <a:endParaRPr lang="zh-CN" sz="1875"/>
          </a:p>
        </p:txBody>
      </p:sp>
      <p:sp>
        <p:nvSpPr>
          <p:cNvPr id="36" name="section-body-36"/>
          <p:cNvSpPr txBox="1"/>
          <p:nvPr/>
        </p:nvSpPr>
        <p:spPr>
          <a:xfrm>
            <a:off x="9010650" y="4581525"/>
            <a:ext cx="2876550" cy="98107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575" b="0" dirty="0">
                <a:solidFill>
                  <a:srgbClr val="263746"/>
                </a:solidFill>
                <a:latin typeface="Noto Sans CJK SC"/>
                <a:ea typeface="Noto Sans CJK SC"/>
                <a:cs typeface="Noto Sans CJK SC"/>
              </a:rPr>
              <a:t>用简短说明连接</a:t>
            </a:r>
            <a:endParaRPr lang="zh-CN" sz="1575"/>
          </a:p>
          <a:p>
            <a:pPr algn="l">
              <a:lnSpc>
                <a:spcPct val="125000"/>
              </a:lnSpc>
            </a:pPr>
            <a:r>
              <a:rPr lang="zh-CN" sz="1575" b="0" dirty="0">
                <a:solidFill>
                  <a:srgbClr val="263746"/>
                </a:solidFill>
                <a:latin typeface="Noto Sans CJK SC"/>
                <a:ea typeface="Noto Sans CJK SC"/>
                <a:cs typeface="Noto Sans CJK SC"/>
              </a:rPr>
              <a:t>图中证据与论点。</a:t>
            </a:r>
            <a:endParaRPr lang="zh-CN" sz="1575"/>
          </a:p>
        </p:txBody>
      </p:sp>
    </p:spTree>
    <p:extLst>
      <p:ext uri="{BB962C8B-B14F-4D97-AF65-F5344CB8AC3E}">
        <ns3:creationId val="711463199"/>
      </p:ext>
    </p:extLst>
  </p:cSld>
</p:sld>
</file>

<file path=ppt/slides/slide3.xml><?xml version="1.0" encoding="utf-8"?>
<p:sld xmlns:a="http://schemas.openxmlformats.org/drawingml/2006/main" xmlns:ns3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1" name="canvas-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12" name="title-12"/>
          <p:cNvSpPr txBox="1"/>
          <p:nvPr/>
        </p:nvSpPr>
        <p:spPr>
          <a:xfrm>
            <a:off x="304800" y="190500"/>
            <a:ext cx="11582400" cy="5524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3150" b="1" dirty="0">
                <a:solidFill>
                  <a:srgbClr val="07556B"/>
                </a:solidFill>
                <a:latin typeface="Noto Sans CJK SC"/>
                <a:ea typeface="Noto Sans CJK SC"/>
                <a:cs typeface="Noto Sans CJK SC"/>
              </a:rPr>
              <a:t>保留全貌，放大需要解释的局部</a:t>
            </a:r>
            <a:endParaRPr lang="zh-CN" sz="3150"/>
          </a:p>
        </p:txBody>
      </p:sp>
      <p:sp>
        <p:nvSpPr>
          <p:cNvPr id="13" name="header-rule-13"/>
          <p:cNvSpPr/>
          <p:nvPr/>
        </p:nvSpPr>
        <p:spPr>
          <a:xfrm>
            <a:off x="304800" y="819150"/>
            <a:ext cx="11582400" cy="19050"/>
          </a:xfrm>
          <a:prstGeom prst="rect">
            <a:avLst/>
          </a:prstGeom>
          <a:solidFill>
            <a:srgbClr val="07556B"/>
          </a:solidFill>
        </p:spPr>
      </p:sp>
      <p:sp>
        <p:nvSpPr>
          <p:cNvPr id="14" name="takeaway-14"/>
          <p:cNvSpPr txBox="1"/>
          <p:nvPr/>
        </p:nvSpPr>
        <p:spPr>
          <a:xfrm>
            <a:off x="457200" y="6115050"/>
            <a:ext cx="112776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725" b="1" dirty="0">
                <a:solidFill>
                  <a:srgbClr val="07556B"/>
                </a:solidFill>
                <a:latin typeface="Noto Sans CJK SC"/>
                <a:ea typeface="Noto Sans CJK SC"/>
                <a:cs typeface="Noto Sans CJK SC"/>
              </a:rPr>
              <a:t>版式示意：原图保持完整，解释紧邻证据。</a:t>
            </a:r>
            <a:endParaRPr lang="zh-CN" sz="1725"/>
          </a:p>
        </p:txBody>
      </p:sp>
      <p:sp>
        <p:nvSpPr>
          <p:cNvPr id="15" name="takeaway-rule-15"/>
          <p:cNvSpPr/>
          <p:nvPr/>
        </p:nvSpPr>
        <p:spPr>
          <a:xfrm>
            <a:off x="304800" y="6019800"/>
            <a:ext cx="11582400" cy="19050"/>
          </a:xfrm>
          <a:prstGeom prst="rect">
            <a:avLst/>
          </a:prstGeom>
          <a:solidFill>
            <a:srgbClr val="07556B"/>
          </a:solidFill>
        </p:spPr>
      </p:sp>
      <p:sp>
        <p:nvSpPr>
          <p:cNvPr id="16" name="chapter-navigation-16"/>
          <p:cNvSpPr txBox="1"/>
          <p:nvPr/>
        </p:nvSpPr>
        <p:spPr>
          <a:xfrm>
            <a:off x="304800" y="6534150"/>
            <a:ext cx="14859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050" b="0" dirty="0">
                <a:solidFill>
                  <a:srgbClr val="667788"/>
                </a:solidFill>
                <a:latin typeface="Noto Sans CJK SC"/>
                <a:ea typeface="Noto Sans CJK SC"/>
                <a:cs typeface="Noto Sans CJK SC"/>
              </a:rPr>
              <a:t>研究问题</a:t>
            </a:r>
            <a:endParaRPr lang="zh-CN" sz="1050"/>
          </a:p>
        </p:txBody>
      </p:sp>
      <p:sp>
        <p:nvSpPr>
          <p:cNvPr id="17" name="chapter-navigation-17"/>
          <p:cNvSpPr txBox="1"/>
          <p:nvPr/>
        </p:nvSpPr>
        <p:spPr>
          <a:xfrm>
            <a:off x="1905000" y="6534150"/>
            <a:ext cx="14859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050" b="0" dirty="0">
                <a:solidFill>
                  <a:srgbClr val="667788"/>
                </a:solidFill>
                <a:latin typeface="Noto Sans CJK SC"/>
                <a:ea typeface="Noto Sans CJK SC"/>
                <a:cs typeface="Noto Sans CJK SC"/>
              </a:rPr>
              <a:t>设计与方法</a:t>
            </a:r>
            <a:endParaRPr lang="zh-CN" sz="1050"/>
          </a:p>
        </p:txBody>
      </p:sp>
      <p:sp>
        <p:nvSpPr>
          <p:cNvPr id="18" name="chapter-navigation-18"/>
          <p:cNvSpPr txBox="1"/>
          <p:nvPr/>
        </p:nvSpPr>
        <p:spPr>
          <a:xfrm>
            <a:off x="3505200" y="6534150"/>
            <a:ext cx="14859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050" b="1" dirty="0">
                <a:solidFill>
                  <a:srgbClr val="07556B"/>
                </a:solidFill>
                <a:latin typeface="Noto Sans CJK SC"/>
                <a:ea typeface="Noto Sans CJK SC"/>
                <a:cs typeface="Noto Sans CJK SC"/>
              </a:rPr>
              <a:t>关键证据</a:t>
            </a:r>
            <a:endParaRPr lang="zh-CN" sz="1050"/>
          </a:p>
        </p:txBody>
      </p:sp>
      <p:sp>
        <p:nvSpPr>
          <p:cNvPr id="19" name="chapter-indicator-19"/>
          <p:cNvSpPr/>
          <p:nvPr/>
        </p:nvSpPr>
        <p:spPr>
          <a:xfrm>
            <a:off x="3505200" y="6486525"/>
            <a:ext cx="952500" cy="28575"/>
          </a:xfrm>
          <a:prstGeom prst="rect">
            <a:avLst/>
          </a:prstGeom>
          <a:solidFill>
            <a:srgbClr val="B77B08"/>
          </a:solidFill>
        </p:spPr>
      </p:sp>
      <p:sp>
        <p:nvSpPr>
          <p:cNvPr id="20" name="chapter-navigation-20"/>
          <p:cNvSpPr txBox="1"/>
          <p:nvPr/>
        </p:nvSpPr>
        <p:spPr>
          <a:xfrm>
            <a:off x="5105400" y="6534150"/>
            <a:ext cx="14859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050" b="0" dirty="0">
                <a:solidFill>
                  <a:srgbClr val="667788"/>
                </a:solidFill>
                <a:latin typeface="Noto Sans CJK SC"/>
                <a:ea typeface="Noto Sans CJK SC"/>
                <a:cs typeface="Noto Sans CJK SC"/>
              </a:rPr>
              <a:t>总结讨论</a:t>
            </a:r>
            <a:endParaRPr lang="zh-CN" sz="1050"/>
          </a:p>
        </p:txBody>
      </p:sp>
      <p:sp>
        <p:nvSpPr>
          <p:cNvPr id="21" name="page-number-21"/>
          <p:cNvSpPr txBox="1"/>
          <p:nvPr/>
        </p:nvSpPr>
        <p:spPr>
          <a:xfrm>
            <a:off x="11487150" y="6534150"/>
            <a:ext cx="40005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25000"/>
              </a:lnSpc>
            </a:pPr>
            <a:r>
              <a:rPr lang="zh-CN" sz="1050" b="0" dirty="0">
                <a:solidFill>
                  <a:srgbClr val="07556B"/>
                </a:solidFill>
                <a:latin typeface="Noto Sans CJK SC"/>
                <a:ea typeface="Noto Sans CJK SC"/>
                <a:cs typeface="Noto Sans CJK SC"/>
              </a:rPr>
              <a:t>03</a:t>
            </a:r>
            <a:endParaRPr lang="zh-CN" sz="1050"/>
          </a:p>
        </p:txBody>
      </p:sp>
      <p:pic>
        <p:nvPicPr>
          <p:cNvPr id="22" name="evidence-overview" descr="{&quot;kind&quot;: &quot;paper_crop&quot;, &quot;provenance&quot;: {&quot;paper_id&quot;: &quot;demo-study&quot;, &quot;figure&quot;: &quot;Fig 2&quot;, &quot;page&quot;: 2, &quot;crop_bbox&quot;: [0, 0, 864, 432], &quot;pdf_sha256&quot;: &quot;625db2361c9caf1bdcce114b8d9b1788a039408b20d61d6bb0d4be8cff0ae1ad&quot;, &quot;png_sha256&quot;: &quot;da44269be4ac3725b379b1a87a169dededa42f9d704174de89ff9bd0d9de8858&quot;, &quot;render_method&quot;: &quot;pdf_clip&quot;, &quot;dpi&quot;: 180, &quot;verified_complete&quot;: true}, &quot;sha256&quot;: &quot;da44269be4ac3725b379b1a87a169dededa42f9d704174de89ff9bd0d9de8858&quot;}"/>
          <p:cNvPicPr>
            <a:picLocks noChangeAspect="1"/>
          </p:cNvPicPr>
          <p:nvPr/>
        </p:nvPicPr>
        <p:blipFill>
          <a:blip r:embed="evidenceImage3"/>
          <a:stretch>
            <a:fillRect/>
          </a:stretch>
        </p:blipFill>
        <p:spPr>
          <a:xfrm>
            <a:off x="304800" y="1300162"/>
            <a:ext cx="7410450" cy="3705225"/>
          </a:xfrm>
          <a:prstGeom prst="rect">
            <a:avLst/>
          </a:prstGeom>
        </p:spPr>
      </p:pic>
      <p:sp>
        <p:nvSpPr>
          <p:cNvPr id="23" name="figure-number-caption-23"/>
          <p:cNvSpPr txBox="1"/>
          <p:nvPr/>
        </p:nvSpPr>
        <p:spPr>
          <a:xfrm>
            <a:off x="304800" y="5081588"/>
            <a:ext cx="7410450" cy="2667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500" b="1" dirty="0">
                <a:solidFill>
                  <a:srgbClr val="07556B"/>
                </a:solidFill>
                <a:latin typeface="Noto Sans CJK SC"/>
                <a:ea typeface="Noto Sans CJK SC"/>
                <a:cs typeface="Noto Sans CJK SC"/>
              </a:rPr>
              <a:t>图 2  合成测试资料</a:t>
            </a:r>
            <a:endParaRPr lang="zh-CN" sz="1500"/>
          </a:p>
        </p:txBody>
      </p:sp>
      <p:sp>
        <p:nvSpPr>
          <p:cNvPr id="24" name="figure-source-24"/>
          <p:cNvSpPr txBox="1"/>
          <p:nvPr/>
        </p:nvSpPr>
        <p:spPr>
          <a:xfrm>
            <a:off x="304800" y="5367338"/>
            <a:ext cx="7410450" cy="23812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275" b="0" dirty="0">
                <a:solidFill>
                  <a:srgbClr val="526475"/>
                </a:solidFill>
                <a:latin typeface="Noto Sans CJK SC"/>
                <a:ea typeface="Noto Sans CJK SC"/>
                <a:cs typeface="Noto Sans CJK SC"/>
              </a:rPr>
              <a:t>来源：随包 synthetic-study.pdf（示意）</a:t>
            </a:r>
            <a:endParaRPr lang="zh-CN" sz="1275"/>
          </a:p>
        </p:txBody>
      </p:sp>
      <p:sp>
        <p:nvSpPr>
          <p:cNvPr id="25" name="image-boundary-25"/>
          <p:cNvSpPr/>
          <p:nvPr/>
        </p:nvSpPr>
        <p:spPr>
          <a:xfrm>
            <a:off x="304800" y="1300162"/>
            <a:ext cx="7410450" cy="3705225"/>
          </a:xfrm>
          <a:prstGeom prst="rect">
            <a:avLst/>
          </a:prstGeom>
          <a:noFill/>
          <a:ln w="11430" cap="rnd">
            <a:solidFill>
              <a:srgbClr val="C3D2E0"/>
            </a:solidFill>
          </a:ln>
        </p:spPr>
      </p:sp>
      <p:sp>
        <p:nvSpPr>
          <p:cNvPr id="26" name="zoom-label-26"/>
          <p:cNvSpPr txBox="1"/>
          <p:nvPr/>
        </p:nvSpPr>
        <p:spPr>
          <a:xfrm>
            <a:off x="8286750" y="1047750"/>
            <a:ext cx="3600450" cy="2857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650" b="1" dirty="0">
                <a:solidFill>
                  <a:srgbClr val="07556B"/>
                </a:solidFill>
                <a:latin typeface="Noto Sans CJK SC"/>
                <a:ea typeface="Noto Sans CJK SC"/>
                <a:cs typeface="Noto Sans CJK SC"/>
              </a:rPr>
              <a:t>1  A 区域：样点细节</a:t>
            </a:r>
            <a:endParaRPr lang="zh-CN" sz="1650"/>
          </a:p>
        </p:txBody>
      </p:sp>
      <p:pic>
        <p:nvPicPr>
          <p:cNvPr id="27" name="evidence-zoom-1" descr="{&quot;kind&quot;: &quot;paper_crop&quot;, &quot;provenance&quot;: {&quot;paper_id&quot;: &quot;demo-study&quot;, &quot;figure&quot;: &quot;Fig 2&quot;, &quot;page&quot;: 2, &quot;crop_bbox&quot;: [0, 0, 864, 432], &quot;pdf_sha256&quot;: &quot;625db2361c9caf1bdcce114b8d9b1788a039408b20d61d6bb0d4be8cff0ae1ad&quot;, &quot;png_sha256&quot;: &quot;da44269be4ac3725b379b1a87a169dededa42f9d704174de89ff9bd0d9de8858&quot;, &quot;render_method&quot;: &quot;pdf_clip&quot;, &quot;dpi&quot;: 180, &quot;verified_complete&quot;: true}, &quot;sha256&quot;: &quot;da44269be4ac3725b379b1a87a169dededa42f9d704174de89ff9bd0d9de8858&quot;}"/>
          <p:cNvPicPr>
            <a:picLocks noChangeAspect="1"/>
          </p:cNvPicPr>
          <p:nvPr/>
        </p:nvPicPr>
        <p:blipFill>
          <a:blip r:embed="evidenceImage4"/>
          <a:srcRect l="18000" t="17000" r="62000" b="52000"/>
          <a:stretch>
            <a:fillRect/>
          </a:stretch>
        </p:blipFill>
        <p:spPr>
          <a:xfrm>
            <a:off x="8882523" y="1428750"/>
            <a:ext cx="2408903" cy="1866900"/>
          </a:xfrm>
          <a:prstGeom prst="rect">
            <a:avLst/>
          </a:prstGeom>
        </p:spPr>
      </p:pic>
      <p:sp>
        <p:nvSpPr>
          <p:cNvPr id="28" name="editable-zoom-frame-28"/>
          <p:cNvSpPr/>
          <p:nvPr/>
        </p:nvSpPr>
        <p:spPr>
          <a:xfrm>
            <a:off x="1638681" y="1930051"/>
            <a:ext cx="1482090" cy="1148620"/>
          </a:xfrm>
          <a:prstGeom prst="rect">
            <a:avLst/>
          </a:prstGeom>
          <a:noFill/>
          <a:ln w="11430" cap="rnd">
            <a:solidFill>
              <a:srgbClr val="B77B08"/>
            </a:solidFill>
          </a:ln>
        </p:spPr>
      </p:sp>
      <p:sp>
        <p:nvSpPr>
          <p:cNvPr id="29" name="zoom-number-29"/>
          <p:cNvSpPr txBox="1"/>
          <p:nvPr/>
        </p:nvSpPr>
        <p:spPr>
          <a:xfrm>
            <a:off x="8286750" y="3076575"/>
            <a:ext cx="266700" cy="21907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275" b="1" dirty="0">
                <a:solidFill>
                  <a:srgbClr val="B77B08"/>
                </a:solidFill>
                <a:latin typeface="Noto Sans CJK SC"/>
                <a:ea typeface="Noto Sans CJK SC"/>
                <a:cs typeface="Noto Sans CJK SC"/>
              </a:rPr>
              <a:t>1</a:t>
            </a:r>
            <a:endParaRPr lang="zh-CN" sz="1275"/>
          </a:p>
        </p:txBody>
      </p:sp>
      <p:sp>
        <p:nvSpPr>
          <p:cNvPr id="30" name="zoom-label-30"/>
          <p:cNvSpPr txBox="1"/>
          <p:nvPr/>
        </p:nvSpPr>
        <p:spPr>
          <a:xfrm>
            <a:off x="8286750" y="3467100"/>
            <a:ext cx="3600450" cy="2857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650" b="1" dirty="0">
                <a:solidFill>
                  <a:srgbClr val="07556B"/>
                </a:solidFill>
                <a:latin typeface="Noto Sans CJK SC"/>
                <a:ea typeface="Noto Sans CJK SC"/>
                <a:cs typeface="Noto Sans CJK SC"/>
              </a:rPr>
              <a:t>2  C 区域：样点细节</a:t>
            </a:r>
            <a:endParaRPr lang="zh-CN" sz="1650"/>
          </a:p>
        </p:txBody>
      </p:sp>
      <p:pic>
        <p:nvPicPr>
          <p:cNvPr id="31" name="evidence-zoom-2" descr="{&quot;kind&quot;: &quot;paper_crop&quot;, &quot;provenance&quot;: {&quot;paper_id&quot;: &quot;demo-study&quot;, &quot;figure&quot;: &quot;Fig 2&quot;, &quot;page&quot;: 2, &quot;crop_bbox&quot;: [0, 0, 864, 432], &quot;pdf_sha256&quot;: &quot;625db2361c9caf1bdcce114b8d9b1788a039408b20d61d6bb0d4be8cff0ae1ad&quot;, &quot;png_sha256&quot;: &quot;da44269be4ac3725b379b1a87a169dededa42f9d704174de89ff9bd0d9de8858&quot;, &quot;render_method&quot;: &quot;pdf_clip&quot;, &quot;dpi&quot;: 180, &quot;verified_complete&quot;: true}, &quot;sha256&quot;: &quot;da44269be4ac3725b379b1a87a169dededa42f9d704174de89ff9bd0d9de8858&quot;}"/>
          <p:cNvPicPr>
            <a:picLocks noChangeAspect="1"/>
          </p:cNvPicPr>
          <p:nvPr/>
        </p:nvPicPr>
        <p:blipFill>
          <a:blip r:embed="evidenceImage5"/>
          <a:srcRect l="51000" t="17000" r="25000" b="52000"/>
          <a:stretch>
            <a:fillRect/>
          </a:stretch>
        </p:blipFill>
        <p:spPr>
          <a:xfrm>
            <a:off x="8641633" y="3848100"/>
            <a:ext cx="2890684" cy="1866900"/>
          </a:xfrm>
          <a:prstGeom prst="rect">
            <a:avLst/>
          </a:prstGeom>
        </p:spPr>
      </p:pic>
      <p:sp>
        <p:nvSpPr>
          <p:cNvPr id="32" name="editable-zoom-frame-32"/>
          <p:cNvSpPr/>
          <p:nvPr/>
        </p:nvSpPr>
        <p:spPr>
          <a:xfrm>
            <a:off x="4084130" y="1930051"/>
            <a:ext cx="1778508" cy="1148620"/>
          </a:xfrm>
          <a:prstGeom prst="rect">
            <a:avLst/>
          </a:prstGeom>
          <a:noFill/>
          <a:ln w="11430" cap="rnd">
            <a:solidFill>
              <a:srgbClr val="B77B08"/>
            </a:solidFill>
          </a:ln>
        </p:spPr>
      </p:sp>
      <p:sp>
        <p:nvSpPr>
          <p:cNvPr id="33" name="zoom-number-33"/>
          <p:cNvSpPr txBox="1"/>
          <p:nvPr/>
        </p:nvSpPr>
        <p:spPr>
          <a:xfrm>
            <a:off x="8286750" y="5495925"/>
            <a:ext cx="266700" cy="21907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275" b="1" dirty="0">
                <a:solidFill>
                  <a:srgbClr val="B77B08"/>
                </a:solidFill>
                <a:latin typeface="Noto Sans CJK SC"/>
                <a:ea typeface="Noto Sans CJK SC"/>
                <a:cs typeface="Noto Sans CJK SC"/>
              </a:rPr>
              <a:t>2</a:t>
            </a:r>
            <a:endParaRPr lang="zh-CN" sz="1275"/>
          </a:p>
        </p:txBody>
      </p:sp>
    </p:spTree>
    <p:extLst>
      <p:ext uri="{BB962C8B-B14F-4D97-AF65-F5344CB8AC3E}">
        <ns3:creationId val="711463199"/>
      </p:ext>
    </p:extLst>
  </p:cSld>
</p:sld>
</file>

<file path=ppt/slides/slide4.xml><?xml version="1.0" encoding="utf-8"?>
<p:sld xmlns:a="http://schemas.openxmlformats.org/drawingml/2006/main" xmlns:ns3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1" name="canvas-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12" name="title-12"/>
          <p:cNvSpPr txBox="1"/>
          <p:nvPr/>
        </p:nvSpPr>
        <p:spPr>
          <a:xfrm>
            <a:off x="304800" y="190500"/>
            <a:ext cx="11582400" cy="5524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3150" b="1" dirty="0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rPr>
              <a:t>研究区与采样安排放在同一页说明</a:t>
            </a:r>
            <a:endParaRPr lang="zh-CN" sz="3150"/>
          </a:p>
        </p:txBody>
      </p:sp>
      <p:sp>
        <p:nvSpPr>
          <p:cNvPr id="13" name="header-rule-13"/>
          <p:cNvSpPr/>
          <p:nvPr/>
        </p:nvSpPr>
        <p:spPr>
          <a:xfrm>
            <a:off x="304800" y="819150"/>
            <a:ext cx="11582400" cy="19050"/>
          </a:xfrm>
          <a:prstGeom prst="rect">
            <a:avLst/>
          </a:prstGeom>
          <a:solidFill>
            <a:srgbClr val="8F2445"/>
          </a:solidFill>
        </p:spPr>
      </p:sp>
      <p:sp>
        <p:nvSpPr>
          <p:cNvPr id="14" name="takeaway-14"/>
          <p:cNvSpPr txBox="1"/>
          <p:nvPr/>
        </p:nvSpPr>
        <p:spPr>
          <a:xfrm>
            <a:off x="457200" y="6115050"/>
            <a:ext cx="112776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725" b="1" dirty="0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rPr>
              <a:t>版式示意：原图保持完整，解释紧邻证据。</a:t>
            </a:r>
            <a:endParaRPr lang="zh-CN" sz="1725"/>
          </a:p>
        </p:txBody>
      </p:sp>
      <p:sp>
        <p:nvSpPr>
          <p:cNvPr id="15" name="takeaway-rule-15"/>
          <p:cNvSpPr/>
          <p:nvPr/>
        </p:nvSpPr>
        <p:spPr>
          <a:xfrm>
            <a:off x="304800" y="6019800"/>
            <a:ext cx="11582400" cy="19050"/>
          </a:xfrm>
          <a:prstGeom prst="rect">
            <a:avLst/>
          </a:prstGeom>
          <a:solidFill>
            <a:srgbClr val="8F2445"/>
          </a:solidFill>
        </p:spPr>
      </p:sp>
      <p:sp>
        <p:nvSpPr>
          <p:cNvPr id="16" name="chapter-navigation-16"/>
          <p:cNvSpPr txBox="1"/>
          <p:nvPr/>
        </p:nvSpPr>
        <p:spPr>
          <a:xfrm>
            <a:off x="304800" y="6534150"/>
            <a:ext cx="14859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050" b="0" dirty="0">
                <a:solidFill>
                  <a:srgbClr val="667788"/>
                </a:solidFill>
                <a:latin typeface="Noto Sans CJK SC"/>
                <a:ea typeface="Noto Sans CJK SC"/>
                <a:cs typeface="Noto Sans CJK SC"/>
              </a:rPr>
              <a:t>研究问题</a:t>
            </a:r>
            <a:endParaRPr lang="zh-CN" sz="1050"/>
          </a:p>
        </p:txBody>
      </p:sp>
      <p:sp>
        <p:nvSpPr>
          <p:cNvPr id="17" name="chapter-navigation-17"/>
          <p:cNvSpPr txBox="1"/>
          <p:nvPr/>
        </p:nvSpPr>
        <p:spPr>
          <a:xfrm>
            <a:off x="1905000" y="6534150"/>
            <a:ext cx="14859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050" b="0" dirty="0">
                <a:solidFill>
                  <a:srgbClr val="667788"/>
                </a:solidFill>
                <a:latin typeface="Noto Sans CJK SC"/>
                <a:ea typeface="Noto Sans CJK SC"/>
                <a:cs typeface="Noto Sans CJK SC"/>
              </a:rPr>
              <a:t>设计与方法</a:t>
            </a:r>
            <a:endParaRPr lang="zh-CN" sz="1050"/>
          </a:p>
        </p:txBody>
      </p:sp>
      <p:sp>
        <p:nvSpPr>
          <p:cNvPr id="18" name="chapter-navigation-18"/>
          <p:cNvSpPr txBox="1"/>
          <p:nvPr/>
        </p:nvSpPr>
        <p:spPr>
          <a:xfrm>
            <a:off x="3505200" y="6534150"/>
            <a:ext cx="14859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050" b="1" dirty="0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rPr>
              <a:t>关键证据</a:t>
            </a:r>
            <a:endParaRPr lang="zh-CN" sz="1050"/>
          </a:p>
        </p:txBody>
      </p:sp>
      <p:sp>
        <p:nvSpPr>
          <p:cNvPr id="19" name="chapter-indicator-19"/>
          <p:cNvSpPr/>
          <p:nvPr/>
        </p:nvSpPr>
        <p:spPr>
          <a:xfrm>
            <a:off x="3505200" y="6486525"/>
            <a:ext cx="952500" cy="28575"/>
          </a:xfrm>
          <a:prstGeom prst="rect">
            <a:avLst/>
          </a:prstGeom>
          <a:solidFill>
            <a:srgbClr val="AB7210"/>
          </a:solidFill>
        </p:spPr>
      </p:sp>
      <p:sp>
        <p:nvSpPr>
          <p:cNvPr id="20" name="chapter-navigation-20"/>
          <p:cNvSpPr txBox="1"/>
          <p:nvPr/>
        </p:nvSpPr>
        <p:spPr>
          <a:xfrm>
            <a:off x="5105400" y="6534150"/>
            <a:ext cx="14859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050" b="0" dirty="0">
                <a:solidFill>
                  <a:srgbClr val="667788"/>
                </a:solidFill>
                <a:latin typeface="Noto Sans CJK SC"/>
                <a:ea typeface="Noto Sans CJK SC"/>
                <a:cs typeface="Noto Sans CJK SC"/>
              </a:rPr>
              <a:t>总结讨论</a:t>
            </a:r>
            <a:endParaRPr lang="zh-CN" sz="1050"/>
          </a:p>
        </p:txBody>
      </p:sp>
      <p:sp>
        <p:nvSpPr>
          <p:cNvPr id="21" name="page-number-21"/>
          <p:cNvSpPr txBox="1"/>
          <p:nvPr/>
        </p:nvSpPr>
        <p:spPr>
          <a:xfrm>
            <a:off x="11487150" y="6534150"/>
            <a:ext cx="40005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25000"/>
              </a:lnSpc>
            </a:pPr>
            <a:r>
              <a:rPr lang="zh-CN" sz="1050" b="0" dirty="0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rPr>
              <a:t>04</a:t>
            </a:r>
            <a:endParaRPr lang="zh-CN" sz="1050"/>
          </a:p>
        </p:txBody>
      </p:sp>
      <p:pic>
        <p:nvPicPr>
          <p:cNvPr id="22" name="evidence-main" descr="{&quot;kind&quot;: &quot;paper_crop&quot;, &quot;provenance&quot;: {&quot;paper_id&quot;: &quot;demo-study&quot;, &quot;figure&quot;: &quot;Fig 2&quot;, &quot;page&quot;: 2, &quot;crop_bbox&quot;: [0, 0, 864, 432], &quot;pdf_sha256&quot;: &quot;625db2361c9caf1bdcce114b8d9b1788a039408b20d61d6bb0d4be8cff0ae1ad&quot;, &quot;png_sha256&quot;: &quot;da44269be4ac3725b379b1a87a169dededa42f9d704174de89ff9bd0d9de8858&quot;, &quot;render_method&quot;: &quot;pdf_clip&quot;, &quot;dpi&quot;: 180, &quot;verified_complete&quot;: true}, &quot;sha256&quot;: &quot;da44269be4ac3725b379b1a87a169dededa42f9d704174de89ff9bd0d9de8858&quot;}"/>
          <p:cNvPicPr>
            <a:picLocks noChangeAspect="1"/>
          </p:cNvPicPr>
          <p:nvPr/>
        </p:nvPicPr>
        <p:blipFill>
          <a:blip r:embed="evidenceImage6"/>
          <a:stretch>
            <a:fillRect/>
          </a:stretch>
        </p:blipFill>
        <p:spPr>
          <a:xfrm>
            <a:off x="304800" y="1166812"/>
            <a:ext cx="7905750" cy="3952875"/>
          </a:xfrm>
          <a:prstGeom prst="rect">
            <a:avLst/>
          </a:prstGeom>
        </p:spPr>
      </p:pic>
      <p:sp>
        <p:nvSpPr>
          <p:cNvPr id="23" name="figure-number-caption-23"/>
          <p:cNvSpPr txBox="1"/>
          <p:nvPr/>
        </p:nvSpPr>
        <p:spPr>
          <a:xfrm>
            <a:off x="304800" y="5195888"/>
            <a:ext cx="7905750" cy="2667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500" b="1" dirty="0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rPr>
              <a:t>图 2  合成测试资料</a:t>
            </a:r>
            <a:endParaRPr lang="zh-CN" sz="1500"/>
          </a:p>
        </p:txBody>
      </p:sp>
      <p:sp>
        <p:nvSpPr>
          <p:cNvPr id="24" name="figure-source-24"/>
          <p:cNvSpPr txBox="1"/>
          <p:nvPr/>
        </p:nvSpPr>
        <p:spPr>
          <a:xfrm>
            <a:off x="304800" y="5481638"/>
            <a:ext cx="7905750" cy="23812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275" b="0" dirty="0">
                <a:solidFill>
                  <a:srgbClr val="526475"/>
                </a:solidFill>
                <a:latin typeface="Noto Sans CJK SC"/>
                <a:ea typeface="Noto Sans CJK SC"/>
                <a:cs typeface="Noto Sans CJK SC"/>
              </a:rPr>
              <a:t>来源：随包 synthetic-study.pdf（示意）</a:t>
            </a:r>
            <a:endParaRPr lang="zh-CN" sz="1275"/>
          </a:p>
        </p:txBody>
      </p:sp>
      <p:sp>
        <p:nvSpPr>
          <p:cNvPr id="25" name="image-boundary-25"/>
          <p:cNvSpPr/>
          <p:nvPr/>
        </p:nvSpPr>
        <p:spPr>
          <a:xfrm>
            <a:off x="304800" y="1166812"/>
            <a:ext cx="7905750" cy="3952875"/>
          </a:xfrm>
          <a:prstGeom prst="rect">
            <a:avLst/>
          </a:prstGeom>
          <a:noFill/>
          <a:ln w="11430" cap="rnd">
            <a:solidFill>
              <a:srgbClr val="C3D2E0"/>
            </a:solidFill>
          </a:ln>
        </p:spPr>
      </p:sp>
      <p:sp>
        <p:nvSpPr>
          <p:cNvPr id="26" name="section-number-26"/>
          <p:cNvSpPr txBox="1"/>
          <p:nvPr/>
        </p:nvSpPr>
        <p:spPr>
          <a:xfrm>
            <a:off x="8515350" y="1181100"/>
            <a:ext cx="400050" cy="2857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650" b="1" dirty="0">
                <a:solidFill>
                  <a:srgbClr val="AB7210"/>
                </a:solidFill>
                <a:latin typeface="Noto Sans CJK SC"/>
                <a:ea typeface="Noto Sans CJK SC"/>
                <a:cs typeface="Noto Sans CJK SC"/>
              </a:rPr>
              <a:t>01</a:t>
            </a:r>
            <a:endParaRPr lang="zh-CN" sz="1650"/>
          </a:p>
        </p:txBody>
      </p:sp>
      <p:sp>
        <p:nvSpPr>
          <p:cNvPr id="27" name="section-title-27"/>
          <p:cNvSpPr txBox="1"/>
          <p:nvPr/>
        </p:nvSpPr>
        <p:spPr>
          <a:xfrm>
            <a:off x="9010650" y="1181100"/>
            <a:ext cx="2876550" cy="33337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875" b="1" dirty="0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rPr>
              <a:t>18 个样点</a:t>
            </a:r>
            <a:endParaRPr lang="zh-CN" sz="1875"/>
          </a:p>
        </p:txBody>
      </p:sp>
      <p:sp>
        <p:nvSpPr>
          <p:cNvPr id="28" name="section-body-28"/>
          <p:cNvSpPr txBox="1"/>
          <p:nvPr/>
        </p:nvSpPr>
        <p:spPr>
          <a:xfrm>
            <a:off x="9010650" y="1609725"/>
            <a:ext cx="2876550" cy="98107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575" b="0" dirty="0">
                <a:solidFill>
                  <a:srgbClr val="263746"/>
                </a:solidFill>
                <a:latin typeface="Noto Sans CJK SC"/>
                <a:ea typeface="Noto Sans CJK SC"/>
                <a:cs typeface="Noto Sans CJK SC"/>
              </a:rPr>
              <a:t>分为 3 个区域，</a:t>
            </a:r>
            <a:endParaRPr lang="zh-CN" sz="1575"/>
          </a:p>
          <a:p>
            <a:pPr algn="l">
              <a:lnSpc>
                <a:spcPct val="125000"/>
              </a:lnSpc>
            </a:pPr>
            <a:r>
              <a:rPr lang="zh-CN" sz="1575" b="0" dirty="0">
                <a:solidFill>
                  <a:srgbClr val="263746"/>
                </a:solidFill>
                <a:latin typeface="Noto Sans CJK SC"/>
                <a:ea typeface="Noto Sans CJK SC"/>
                <a:cs typeface="Noto Sans CJK SC"/>
              </a:rPr>
              <a:t>每区布设 6 个样点。</a:t>
            </a:r>
            <a:endParaRPr lang="zh-CN" sz="1575"/>
          </a:p>
        </p:txBody>
      </p:sp>
      <p:sp>
        <p:nvSpPr>
          <p:cNvPr id="29" name="section-rule-29"/>
          <p:cNvSpPr/>
          <p:nvPr/>
        </p:nvSpPr>
        <p:spPr>
          <a:xfrm>
            <a:off x="8515350" y="2524125"/>
            <a:ext cx="3371850" cy="9525"/>
          </a:xfrm>
          <a:prstGeom prst="rect">
            <a:avLst/>
          </a:prstGeom>
          <a:solidFill>
            <a:srgbClr val="D5DFE8"/>
          </a:solidFill>
        </p:spPr>
      </p:sp>
      <p:sp>
        <p:nvSpPr>
          <p:cNvPr id="30" name="section-number-30"/>
          <p:cNvSpPr txBox="1"/>
          <p:nvPr/>
        </p:nvSpPr>
        <p:spPr>
          <a:xfrm>
            <a:off x="8515350" y="2667000"/>
            <a:ext cx="400050" cy="2857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650" b="1" dirty="0">
                <a:solidFill>
                  <a:srgbClr val="AB7210"/>
                </a:solidFill>
                <a:latin typeface="Noto Sans CJK SC"/>
                <a:ea typeface="Noto Sans CJK SC"/>
                <a:cs typeface="Noto Sans CJK SC"/>
              </a:rPr>
              <a:t>02</a:t>
            </a:r>
            <a:endParaRPr lang="zh-CN" sz="1650"/>
          </a:p>
        </p:txBody>
      </p:sp>
      <p:sp>
        <p:nvSpPr>
          <p:cNvPr id="31" name="section-title-31"/>
          <p:cNvSpPr txBox="1"/>
          <p:nvPr/>
        </p:nvSpPr>
        <p:spPr>
          <a:xfrm>
            <a:off x="9010650" y="2667000"/>
            <a:ext cx="2876550" cy="33337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875" b="1" dirty="0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rPr>
              <a:t>统一监测窗口</a:t>
            </a:r>
            <a:endParaRPr lang="zh-CN" sz="1875"/>
          </a:p>
        </p:txBody>
      </p:sp>
      <p:sp>
        <p:nvSpPr>
          <p:cNvPr id="32" name="section-body-32"/>
          <p:cNvSpPr txBox="1"/>
          <p:nvPr/>
        </p:nvSpPr>
        <p:spPr>
          <a:xfrm>
            <a:off x="9010650" y="3095625"/>
            <a:ext cx="2876550" cy="98107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575" b="0" dirty="0">
                <a:solidFill>
                  <a:srgbClr val="263746"/>
                </a:solidFill>
                <a:latin typeface="Noto Sans CJK SC"/>
                <a:ea typeface="Noto Sans CJK SC"/>
                <a:cs typeface="Noto Sans CJK SC"/>
              </a:rPr>
              <a:t>保持调查时间与</a:t>
            </a:r>
            <a:endParaRPr lang="zh-CN" sz="1575"/>
          </a:p>
          <a:p>
            <a:pPr algn="l">
              <a:lnSpc>
                <a:spcPct val="125000"/>
              </a:lnSpc>
            </a:pPr>
            <a:r>
              <a:rPr lang="zh-CN" sz="1575" b="0" dirty="0">
                <a:solidFill>
                  <a:srgbClr val="263746"/>
                </a:solidFill>
                <a:latin typeface="Noto Sans CJK SC"/>
                <a:ea typeface="Noto Sans CJK SC"/>
                <a:cs typeface="Noto Sans CJK SC"/>
              </a:rPr>
              <a:t>观测努力量可比较。</a:t>
            </a:r>
            <a:endParaRPr lang="zh-CN" sz="1575"/>
          </a:p>
        </p:txBody>
      </p:sp>
      <p:sp>
        <p:nvSpPr>
          <p:cNvPr id="33" name="section-rule-33"/>
          <p:cNvSpPr/>
          <p:nvPr/>
        </p:nvSpPr>
        <p:spPr>
          <a:xfrm>
            <a:off x="8515350" y="4010025"/>
            <a:ext cx="3371850" cy="9525"/>
          </a:xfrm>
          <a:prstGeom prst="rect">
            <a:avLst/>
          </a:prstGeom>
          <a:solidFill>
            <a:srgbClr val="D5DFE8"/>
          </a:solidFill>
        </p:spPr>
      </p:sp>
      <p:sp>
        <p:nvSpPr>
          <p:cNvPr id="34" name="section-number-34"/>
          <p:cNvSpPr txBox="1"/>
          <p:nvPr/>
        </p:nvSpPr>
        <p:spPr>
          <a:xfrm>
            <a:off x="8515350" y="4152900"/>
            <a:ext cx="400050" cy="2857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650" b="1" dirty="0">
                <a:solidFill>
                  <a:srgbClr val="AB7210"/>
                </a:solidFill>
                <a:latin typeface="Noto Sans CJK SC"/>
                <a:ea typeface="Noto Sans CJK SC"/>
                <a:cs typeface="Noto Sans CJK SC"/>
              </a:rPr>
              <a:t>03</a:t>
            </a:r>
            <a:endParaRPr lang="zh-CN" sz="1650"/>
          </a:p>
        </p:txBody>
      </p:sp>
      <p:sp>
        <p:nvSpPr>
          <p:cNvPr id="35" name="section-title-35"/>
          <p:cNvSpPr txBox="1"/>
          <p:nvPr/>
        </p:nvSpPr>
        <p:spPr>
          <a:xfrm>
            <a:off x="9010650" y="4152900"/>
            <a:ext cx="2876550" cy="33337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875" b="1" dirty="0">
                <a:solidFill>
                  <a:srgbClr val="8F2445"/>
                </a:solidFill>
                <a:latin typeface="Noto Sans CJK SC"/>
                <a:ea typeface="Noto Sans CJK SC"/>
                <a:cs typeface="Noto Sans CJK SC"/>
              </a:rPr>
              <a:t>重复观测</a:t>
            </a:r>
            <a:endParaRPr lang="zh-CN" sz="1875"/>
          </a:p>
        </p:txBody>
      </p:sp>
      <p:sp>
        <p:nvSpPr>
          <p:cNvPr id="36" name="section-body-36"/>
          <p:cNvSpPr txBox="1"/>
          <p:nvPr/>
        </p:nvSpPr>
        <p:spPr>
          <a:xfrm>
            <a:off x="9010650" y="4581525"/>
            <a:ext cx="2876550" cy="98107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575" b="0" dirty="0">
                <a:solidFill>
                  <a:srgbClr val="263746"/>
                </a:solidFill>
                <a:latin typeface="Noto Sans CJK SC"/>
                <a:ea typeface="Noto Sans CJK SC"/>
                <a:cs typeface="Noto Sans CJK SC"/>
              </a:rPr>
              <a:t>相同样点持续记录，</a:t>
            </a:r>
            <a:endParaRPr lang="zh-CN" sz="1575"/>
          </a:p>
          <a:p>
            <a:pPr algn="l">
              <a:lnSpc>
                <a:spcPct val="125000"/>
              </a:lnSpc>
            </a:pPr>
            <a:r>
              <a:rPr lang="zh-CN" sz="1575" b="0" dirty="0">
                <a:solidFill>
                  <a:srgbClr val="263746"/>
                </a:solidFill>
                <a:latin typeface="Noto Sans CJK SC"/>
                <a:ea typeface="Noto Sans CJK SC"/>
                <a:cs typeface="Noto Sans CJK SC"/>
              </a:rPr>
              <a:t>保留原始信息。</a:t>
            </a:r>
            <a:endParaRPr lang="zh-CN" sz="1575"/>
          </a:p>
        </p:txBody>
      </p:sp>
    </p:spTree>
    <p:extLst>
      <p:ext uri="{BB962C8B-B14F-4D97-AF65-F5344CB8AC3E}">
        <ns3:creationId val="711463199"/>
      </p:ext>
    </p:extLst>
  </p:cSld>
</p:sld>
</file>

<file path=ppt/slides/slide5.xml><?xml version="1.0" encoding="utf-8"?>
<p:sld xmlns:a="http://schemas.openxmlformats.org/drawingml/2006/main" xmlns:ns2="http://schemas.microsoft.com/office/powerpoint/2010/main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1" name="canvas-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12" name="title-12"/>
          <p:cNvSpPr txBox="1"/>
          <p:nvPr/>
        </p:nvSpPr>
        <p:spPr>
          <a:xfrm>
            <a:off x="304800" y="190500"/>
            <a:ext cx="11582400" cy="5524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3150" b="1" dirty="0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实验分组与测量时点沿同一时间轴对齐</a:t>
            </a:r>
            <a:endParaRPr lang="zh-CN" sz="3150"/>
          </a:p>
        </p:txBody>
      </p:sp>
      <p:sp>
        <p:nvSpPr>
          <p:cNvPr id="13" name="header-rule-13"/>
          <p:cNvSpPr/>
          <p:nvPr/>
        </p:nvSpPr>
        <p:spPr>
          <a:xfrm>
            <a:off x="304800" y="819150"/>
            <a:ext cx="11582400" cy="19050"/>
          </a:xfrm>
          <a:prstGeom prst="rect">
            <a:avLst/>
          </a:prstGeom>
          <a:solidFill>
            <a:srgbClr val="4D319F"/>
          </a:solidFill>
        </p:spPr>
      </p:sp>
      <p:sp>
        <p:nvSpPr>
          <p:cNvPr id="14" name="takeaway-14"/>
          <p:cNvSpPr txBox="1"/>
          <p:nvPr/>
        </p:nvSpPr>
        <p:spPr>
          <a:xfrm>
            <a:off x="457200" y="6115050"/>
            <a:ext cx="112776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725" b="1" dirty="0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版式示意：原图保持完整，解释紧邻证据。</a:t>
            </a:r>
            <a:endParaRPr lang="zh-CN" sz="1725"/>
          </a:p>
        </p:txBody>
      </p:sp>
      <p:sp>
        <p:nvSpPr>
          <p:cNvPr id="15" name="takeaway-rule-15"/>
          <p:cNvSpPr/>
          <p:nvPr/>
        </p:nvSpPr>
        <p:spPr>
          <a:xfrm>
            <a:off x="304800" y="6019800"/>
            <a:ext cx="11582400" cy="19050"/>
          </a:xfrm>
          <a:prstGeom prst="rect">
            <a:avLst/>
          </a:prstGeom>
          <a:solidFill>
            <a:srgbClr val="4D319F"/>
          </a:solidFill>
        </p:spPr>
      </p:sp>
      <p:sp>
        <p:nvSpPr>
          <p:cNvPr id="16" name="chapter-navigation-16"/>
          <p:cNvSpPr txBox="1"/>
          <p:nvPr/>
        </p:nvSpPr>
        <p:spPr>
          <a:xfrm>
            <a:off x="304800" y="6534150"/>
            <a:ext cx="14859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050" b="0" dirty="0">
                <a:solidFill>
                  <a:srgbClr val="667788"/>
                </a:solidFill>
                <a:latin typeface="Noto Sans CJK SC"/>
                <a:ea typeface="Noto Sans CJK SC"/>
                <a:cs typeface="Noto Sans CJK SC"/>
              </a:rPr>
              <a:t>研究问题</a:t>
            </a:r>
            <a:endParaRPr lang="zh-CN" sz="1050"/>
          </a:p>
        </p:txBody>
      </p:sp>
      <p:sp>
        <p:nvSpPr>
          <p:cNvPr id="17" name="chapter-navigation-17"/>
          <p:cNvSpPr txBox="1"/>
          <p:nvPr/>
        </p:nvSpPr>
        <p:spPr>
          <a:xfrm>
            <a:off x="1905000" y="6534150"/>
            <a:ext cx="14859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050" b="0" dirty="0">
                <a:solidFill>
                  <a:srgbClr val="667788"/>
                </a:solidFill>
                <a:latin typeface="Noto Sans CJK SC"/>
                <a:ea typeface="Noto Sans CJK SC"/>
                <a:cs typeface="Noto Sans CJK SC"/>
              </a:rPr>
              <a:t>设计与方法</a:t>
            </a:r>
            <a:endParaRPr lang="zh-CN" sz="1050"/>
          </a:p>
        </p:txBody>
      </p:sp>
      <p:sp>
        <p:nvSpPr>
          <p:cNvPr id="18" name="chapter-navigation-18"/>
          <p:cNvSpPr txBox="1"/>
          <p:nvPr/>
        </p:nvSpPr>
        <p:spPr>
          <a:xfrm>
            <a:off x="3505200" y="6534150"/>
            <a:ext cx="14859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050" b="1" dirty="0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关键证据</a:t>
            </a:r>
            <a:endParaRPr lang="zh-CN" sz="1050"/>
          </a:p>
        </p:txBody>
      </p:sp>
      <p:sp>
        <p:nvSpPr>
          <p:cNvPr id="19" name="chapter-indicator-19"/>
          <p:cNvSpPr/>
          <p:nvPr/>
        </p:nvSpPr>
        <p:spPr>
          <a:xfrm>
            <a:off x="3505200" y="6486525"/>
            <a:ext cx="952500" cy="28575"/>
          </a:xfrm>
          <a:prstGeom prst="rect">
            <a:avLst/>
          </a:prstGeom>
          <a:solidFill>
            <a:srgbClr val="A87D05"/>
          </a:solidFill>
        </p:spPr>
      </p:sp>
      <p:sp>
        <p:nvSpPr>
          <p:cNvPr id="20" name="chapter-navigation-20"/>
          <p:cNvSpPr txBox="1"/>
          <p:nvPr/>
        </p:nvSpPr>
        <p:spPr>
          <a:xfrm>
            <a:off x="5105400" y="6534150"/>
            <a:ext cx="14859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050" b="0" dirty="0">
                <a:solidFill>
                  <a:srgbClr val="667788"/>
                </a:solidFill>
                <a:latin typeface="Noto Sans CJK SC"/>
                <a:ea typeface="Noto Sans CJK SC"/>
                <a:cs typeface="Noto Sans CJK SC"/>
              </a:rPr>
              <a:t>总结讨论</a:t>
            </a:r>
            <a:endParaRPr lang="zh-CN" sz="1050"/>
          </a:p>
        </p:txBody>
      </p:sp>
      <p:sp>
        <p:nvSpPr>
          <p:cNvPr id="21" name="page-number-21"/>
          <p:cNvSpPr txBox="1"/>
          <p:nvPr/>
        </p:nvSpPr>
        <p:spPr>
          <a:xfrm>
            <a:off x="11487150" y="6534150"/>
            <a:ext cx="40005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25000"/>
              </a:lnSpc>
            </a:pPr>
            <a:r>
              <a:rPr lang="zh-CN" sz="1050" b="0" dirty="0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05</a:t>
            </a:r>
            <a:endParaRPr lang="zh-CN" sz="1050"/>
          </a:p>
        </p:txBody>
      </p:sp>
      <p:sp>
        <p:nvSpPr>
          <p:cNvPr id="22" name="time-label-22"/>
          <p:cNvSpPr txBox="1"/>
          <p:nvPr/>
        </p:nvSpPr>
        <p:spPr>
          <a:xfrm>
            <a:off x="2209800" y="1066800"/>
            <a:ext cx="9525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25000"/>
              </a:lnSpc>
            </a:pPr>
            <a:r>
              <a:rPr lang="zh-CN" sz="1650" b="1" dirty="0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第 0 天</a:t>
            </a:r>
            <a:endParaRPr lang="zh-CN" sz="1650"/>
          </a:p>
        </p:txBody>
      </p:sp>
      <p:sp>
        <p:nvSpPr>
          <p:cNvPr id="23" name="time-label-23"/>
          <p:cNvSpPr txBox="1"/>
          <p:nvPr/>
        </p:nvSpPr>
        <p:spPr>
          <a:xfrm>
            <a:off x="4395788" y="1066800"/>
            <a:ext cx="9525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25000"/>
              </a:lnSpc>
            </a:pPr>
            <a:r>
              <a:rPr lang="zh-CN" sz="1650" b="1" dirty="0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第 7 天</a:t>
            </a:r>
            <a:endParaRPr lang="zh-CN" sz="1650"/>
          </a:p>
        </p:txBody>
      </p:sp>
      <p:sp>
        <p:nvSpPr>
          <p:cNvPr id="24" name="time-label-24"/>
          <p:cNvSpPr txBox="1"/>
          <p:nvPr/>
        </p:nvSpPr>
        <p:spPr>
          <a:xfrm>
            <a:off x="6581775" y="1066800"/>
            <a:ext cx="9525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25000"/>
              </a:lnSpc>
            </a:pPr>
            <a:r>
              <a:rPr lang="zh-CN" sz="1650" b="1" dirty="0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第 14 天</a:t>
            </a:r>
            <a:endParaRPr lang="zh-CN" sz="1650"/>
          </a:p>
        </p:txBody>
      </p:sp>
      <p:sp>
        <p:nvSpPr>
          <p:cNvPr id="25" name="time-label-25"/>
          <p:cNvSpPr txBox="1"/>
          <p:nvPr/>
        </p:nvSpPr>
        <p:spPr>
          <a:xfrm>
            <a:off x="8767762" y="1066800"/>
            <a:ext cx="9525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25000"/>
              </a:lnSpc>
            </a:pPr>
            <a:r>
              <a:rPr lang="zh-CN" sz="1650" b="1" dirty="0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第 21 天</a:t>
            </a:r>
            <a:endParaRPr lang="zh-CN" sz="1650"/>
          </a:p>
        </p:txBody>
      </p:sp>
      <p:sp>
        <p:nvSpPr>
          <p:cNvPr id="26" name="time-label-26"/>
          <p:cNvSpPr txBox="1"/>
          <p:nvPr/>
        </p:nvSpPr>
        <p:spPr>
          <a:xfrm>
            <a:off x="10953750" y="1066800"/>
            <a:ext cx="9525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25000"/>
              </a:lnSpc>
            </a:pPr>
            <a:r>
              <a:rPr lang="zh-CN" sz="1650" b="1" dirty="0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第 28 天</a:t>
            </a:r>
            <a:endParaRPr lang="zh-CN" sz="1650"/>
          </a:p>
        </p:txBody>
      </p:sp>
      <p:sp>
        <p:nvSpPr>
          <p:cNvPr id="27" name="timeline-lane-27"/>
          <p:cNvSpPr/>
          <p:nvPr/>
        </p:nvSpPr>
        <p:spPr>
          <a:xfrm>
            <a:off x="304800" y="1552575"/>
            <a:ext cx="11582400" cy="1073150"/>
          </a:xfrm>
          <a:prstGeom prst="rect">
            <a:avLst/>
          </a:prstGeom>
          <a:solidFill>
            <a:srgbClr val="F4F0FF"/>
          </a:solidFill>
        </p:spPr>
      </p:sp>
      <p:sp>
        <p:nvSpPr>
          <p:cNvPr id="28" name="group-fill-28"/>
          <p:cNvSpPr/>
          <p:nvPr/>
        </p:nvSpPr>
        <p:spPr>
          <a:xfrm>
            <a:off x="304800" y="1552575"/>
            <a:ext cx="1885950" cy="1073150"/>
          </a:xfrm>
          <a:prstGeom prst="rect">
            <a:avLst/>
          </a:prstGeom>
          <a:solidFill>
            <a:srgbClr val="4D319F"/>
          </a:solidFill>
        </p:spPr>
      </p:sp>
      <p:sp>
        <p:nvSpPr>
          <p:cNvPr id="29" name="group-label-29"/>
          <p:cNvSpPr txBox="1"/>
          <p:nvPr/>
        </p:nvSpPr>
        <p:spPr>
          <a:xfrm>
            <a:off x="457200" y="1724025"/>
            <a:ext cx="1543050" cy="35242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950" b="1" dirty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对照组</a:t>
            </a:r>
            <a:endParaRPr lang="zh-CN" sz="1950"/>
          </a:p>
        </p:txBody>
      </p:sp>
      <p:sp>
        <p:nvSpPr>
          <p:cNvPr id="30" name="group-sample-30"/>
          <p:cNvSpPr txBox="1"/>
          <p:nvPr/>
        </p:nvSpPr>
        <p:spPr>
          <a:xfrm>
            <a:off x="457200" y="2143125"/>
            <a:ext cx="154305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575" b="0" dirty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n = 12（示意）</a:t>
            </a:r>
            <a:endParaRPr lang="zh-CN" sz="1575"/>
          </a:p>
        </p:txBody>
      </p:sp>
      <p:sp>
        <p:nvSpPr>
          <p:cNvPr id="31" name="timeline-line-31"/>
          <p:cNvSpPr/>
          <p:nvPr/>
        </p:nvSpPr>
        <p:spPr>
          <a:xfrm>
            <a:off x="2686050" y="1838325"/>
            <a:ext cx="8743950" cy="19050"/>
          </a:xfrm>
          <a:prstGeom prst="rect">
            <a:avLst/>
          </a:prstGeom>
          <a:solidFill>
            <a:srgbClr val="4D319F"/>
          </a:solidFill>
        </p:spPr>
      </p:sp>
      <p:sp>
        <p:nvSpPr>
          <p:cNvPr id="32" name="time-node-32"/>
          <p:cNvSpPr/>
          <p:nvPr/>
        </p:nvSpPr>
        <p:spPr>
          <a:xfrm>
            <a:off x="2638425" y="1800225"/>
            <a:ext cx="95250" cy="95250"/>
          </a:xfrm>
          <a:prstGeom prst="ellipse">
            <a:avLst/>
          </a:prstGeom>
          <a:solidFill>
            <a:srgbClr val="4D319F"/>
          </a:solidFill>
        </p:spPr>
      </p:sp>
      <p:sp>
        <p:nvSpPr>
          <p:cNvPr id="33" name="event-label-33"/>
          <p:cNvSpPr txBox="1"/>
          <p:nvPr/>
        </p:nvSpPr>
        <p:spPr>
          <a:xfrm>
            <a:off x="2076450" y="2019300"/>
            <a:ext cx="1219200" cy="5397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25000"/>
              </a:lnSpc>
            </a:pPr>
            <a:r>
              <a:rPr lang="zh-CN" sz="1500" b="0" dirty="0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基线测量</a:t>
            </a:r>
            <a:endParaRPr lang="zh-CN" sz="1500"/>
          </a:p>
        </p:txBody>
      </p:sp>
      <p:sp>
        <p:nvSpPr>
          <p:cNvPr id="34" name="time-node-34"/>
          <p:cNvSpPr/>
          <p:nvPr/>
        </p:nvSpPr>
        <p:spPr>
          <a:xfrm>
            <a:off x="4824412" y="1800225"/>
            <a:ext cx="95250" cy="95250"/>
          </a:xfrm>
          <a:prstGeom prst="ellipse">
            <a:avLst/>
          </a:prstGeom>
          <a:solidFill>
            <a:srgbClr val="4D319F"/>
          </a:solidFill>
        </p:spPr>
      </p:sp>
      <p:sp>
        <p:nvSpPr>
          <p:cNvPr id="35" name="event-label-35"/>
          <p:cNvSpPr txBox="1"/>
          <p:nvPr/>
        </p:nvSpPr>
        <p:spPr>
          <a:xfrm>
            <a:off x="4262438" y="2019300"/>
            <a:ext cx="1219200" cy="5397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25000"/>
              </a:lnSpc>
            </a:pPr>
            <a:r>
              <a:rPr lang="zh-CN" sz="1500" b="0" dirty="0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同期观测</a:t>
            </a:r>
            <a:endParaRPr lang="zh-CN" sz="1500"/>
          </a:p>
        </p:txBody>
      </p:sp>
      <p:sp>
        <p:nvSpPr>
          <p:cNvPr id="36" name="time-node-36"/>
          <p:cNvSpPr/>
          <p:nvPr/>
        </p:nvSpPr>
        <p:spPr>
          <a:xfrm>
            <a:off x="7010400" y="1800225"/>
            <a:ext cx="95250" cy="95250"/>
          </a:xfrm>
          <a:prstGeom prst="ellipse">
            <a:avLst/>
          </a:prstGeom>
          <a:solidFill>
            <a:srgbClr val="4D319F"/>
          </a:solidFill>
        </p:spPr>
      </p:sp>
      <p:sp>
        <p:nvSpPr>
          <p:cNvPr id="37" name="event-label-37"/>
          <p:cNvSpPr txBox="1"/>
          <p:nvPr/>
        </p:nvSpPr>
        <p:spPr>
          <a:xfrm>
            <a:off x="6448425" y="2019300"/>
            <a:ext cx="1219200" cy="5397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25000"/>
              </a:lnSpc>
            </a:pPr>
            <a:r>
              <a:rPr lang="zh-CN" sz="1500" b="0" dirty="0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重复测量</a:t>
            </a:r>
            <a:endParaRPr lang="zh-CN" sz="1500"/>
          </a:p>
        </p:txBody>
      </p:sp>
      <p:sp>
        <p:nvSpPr>
          <p:cNvPr id="38" name="time-node-38"/>
          <p:cNvSpPr/>
          <p:nvPr/>
        </p:nvSpPr>
        <p:spPr>
          <a:xfrm>
            <a:off x="9196388" y="1800225"/>
            <a:ext cx="95250" cy="95250"/>
          </a:xfrm>
          <a:prstGeom prst="ellipse">
            <a:avLst/>
          </a:prstGeom>
          <a:solidFill>
            <a:srgbClr val="4D319F"/>
          </a:solidFill>
        </p:spPr>
      </p:sp>
      <p:sp>
        <p:nvSpPr>
          <p:cNvPr id="39" name="event-label-39"/>
          <p:cNvSpPr txBox="1"/>
          <p:nvPr/>
        </p:nvSpPr>
        <p:spPr>
          <a:xfrm>
            <a:off x="8634412" y="2019300"/>
            <a:ext cx="1219200" cy="5397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25000"/>
              </a:lnSpc>
            </a:pPr>
            <a:r>
              <a:rPr lang="zh-CN" sz="1500" b="0" dirty="0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同期观测</a:t>
            </a:r>
            <a:endParaRPr lang="zh-CN" sz="1500"/>
          </a:p>
        </p:txBody>
      </p:sp>
      <p:sp>
        <p:nvSpPr>
          <p:cNvPr id="40" name="time-node-40"/>
          <p:cNvSpPr/>
          <p:nvPr/>
        </p:nvSpPr>
        <p:spPr>
          <a:xfrm>
            <a:off x="11382375" y="1800225"/>
            <a:ext cx="95250" cy="95250"/>
          </a:xfrm>
          <a:prstGeom prst="ellipse">
            <a:avLst/>
          </a:prstGeom>
          <a:solidFill>
            <a:srgbClr val="4D319F"/>
          </a:solidFill>
        </p:spPr>
      </p:sp>
      <p:sp>
        <p:nvSpPr>
          <p:cNvPr id="41" name="event-label-41"/>
          <p:cNvSpPr txBox="1"/>
          <p:nvPr/>
        </p:nvSpPr>
        <p:spPr>
          <a:xfrm>
            <a:off x="10820400" y="2019300"/>
            <a:ext cx="1219200" cy="5397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25000"/>
              </a:lnSpc>
            </a:pPr>
            <a:r>
              <a:rPr lang="zh-CN" sz="1500" b="0" dirty="0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终点测量</a:t>
            </a:r>
            <a:endParaRPr lang="zh-CN" sz="1500"/>
          </a:p>
        </p:txBody>
      </p:sp>
      <p:sp>
        <p:nvSpPr>
          <p:cNvPr id="42" name="timeline-lane-42"/>
          <p:cNvSpPr/>
          <p:nvPr/>
        </p:nvSpPr>
        <p:spPr>
          <a:xfrm>
            <a:off x="304800" y="2759075"/>
            <a:ext cx="11582400" cy="1073150"/>
          </a:xfrm>
          <a:prstGeom prst="rect">
            <a:avLst/>
          </a:prstGeom>
          <a:solidFill>
            <a:srgbClr val="F4F0FF"/>
          </a:solidFill>
        </p:spPr>
      </p:sp>
      <p:sp>
        <p:nvSpPr>
          <p:cNvPr id="43" name="group-fill-43"/>
          <p:cNvSpPr/>
          <p:nvPr/>
        </p:nvSpPr>
        <p:spPr>
          <a:xfrm>
            <a:off x="304800" y="2759075"/>
            <a:ext cx="1885950" cy="1073150"/>
          </a:xfrm>
          <a:prstGeom prst="rect">
            <a:avLst/>
          </a:prstGeom>
          <a:solidFill>
            <a:srgbClr val="4D319F"/>
          </a:solidFill>
        </p:spPr>
      </p:sp>
      <p:sp>
        <p:nvSpPr>
          <p:cNvPr id="44" name="group-label-44"/>
          <p:cNvSpPr txBox="1"/>
          <p:nvPr/>
        </p:nvSpPr>
        <p:spPr>
          <a:xfrm>
            <a:off x="457200" y="2930525"/>
            <a:ext cx="1543050" cy="35242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950" b="1" dirty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低干扰组</a:t>
            </a:r>
            <a:endParaRPr lang="zh-CN" sz="1950"/>
          </a:p>
        </p:txBody>
      </p:sp>
      <p:sp>
        <p:nvSpPr>
          <p:cNvPr id="45" name="group-sample-45"/>
          <p:cNvSpPr txBox="1"/>
          <p:nvPr/>
        </p:nvSpPr>
        <p:spPr>
          <a:xfrm>
            <a:off x="457200" y="3349625"/>
            <a:ext cx="154305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575" b="0" dirty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n = 12（示意）</a:t>
            </a:r>
            <a:endParaRPr lang="zh-CN" sz="1575"/>
          </a:p>
        </p:txBody>
      </p:sp>
      <p:sp>
        <p:nvSpPr>
          <p:cNvPr id="46" name="timeline-line-46"/>
          <p:cNvSpPr/>
          <p:nvPr/>
        </p:nvSpPr>
        <p:spPr>
          <a:xfrm>
            <a:off x="2686050" y="3044825"/>
            <a:ext cx="8743950" cy="19050"/>
          </a:xfrm>
          <a:prstGeom prst="rect">
            <a:avLst/>
          </a:prstGeom>
          <a:solidFill>
            <a:srgbClr val="4D319F"/>
          </a:solidFill>
        </p:spPr>
      </p:sp>
      <p:sp>
        <p:nvSpPr>
          <p:cNvPr id="47" name="time-node-47"/>
          <p:cNvSpPr/>
          <p:nvPr/>
        </p:nvSpPr>
        <p:spPr>
          <a:xfrm>
            <a:off x="2638425" y="3006725"/>
            <a:ext cx="95250" cy="95250"/>
          </a:xfrm>
          <a:prstGeom prst="ellipse">
            <a:avLst/>
          </a:prstGeom>
          <a:solidFill>
            <a:srgbClr val="4D319F"/>
          </a:solidFill>
        </p:spPr>
      </p:sp>
      <p:sp>
        <p:nvSpPr>
          <p:cNvPr id="48" name="event-label-48"/>
          <p:cNvSpPr txBox="1"/>
          <p:nvPr/>
        </p:nvSpPr>
        <p:spPr>
          <a:xfrm>
            <a:off x="2076450" y="3225800"/>
            <a:ext cx="1219200" cy="5397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25000"/>
              </a:lnSpc>
            </a:pPr>
            <a:r>
              <a:rPr lang="zh-CN" sz="1500" b="0" dirty="0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基线测量</a:t>
            </a:r>
            <a:endParaRPr lang="zh-CN" sz="1500"/>
          </a:p>
        </p:txBody>
      </p:sp>
      <p:sp>
        <p:nvSpPr>
          <p:cNvPr id="49" name="time-node-49"/>
          <p:cNvSpPr/>
          <p:nvPr/>
        </p:nvSpPr>
        <p:spPr>
          <a:xfrm>
            <a:off x="4824412" y="3006725"/>
            <a:ext cx="95250" cy="95250"/>
          </a:xfrm>
          <a:prstGeom prst="ellipse">
            <a:avLst/>
          </a:prstGeom>
          <a:solidFill>
            <a:srgbClr val="4D319F"/>
          </a:solidFill>
        </p:spPr>
      </p:sp>
      <p:sp>
        <p:nvSpPr>
          <p:cNvPr id="50" name="event-label-50"/>
          <p:cNvSpPr txBox="1"/>
          <p:nvPr/>
        </p:nvSpPr>
        <p:spPr>
          <a:xfrm>
            <a:off x="4262438" y="3225800"/>
            <a:ext cx="1219200" cy="5397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25000"/>
              </a:lnSpc>
            </a:pPr>
            <a:r>
              <a:rPr lang="zh-CN" sz="1500" b="0" dirty="0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开始处理</a:t>
            </a:r>
            <a:endParaRPr lang="zh-CN" sz="1500"/>
          </a:p>
        </p:txBody>
      </p:sp>
      <p:sp>
        <p:nvSpPr>
          <p:cNvPr id="51" name="time-node-51"/>
          <p:cNvSpPr/>
          <p:nvPr/>
        </p:nvSpPr>
        <p:spPr>
          <a:xfrm>
            <a:off x="7010400" y="3006725"/>
            <a:ext cx="95250" cy="95250"/>
          </a:xfrm>
          <a:prstGeom prst="ellipse">
            <a:avLst/>
          </a:prstGeom>
          <a:solidFill>
            <a:srgbClr val="4D319F"/>
          </a:solidFill>
        </p:spPr>
      </p:sp>
      <p:sp>
        <p:nvSpPr>
          <p:cNvPr id="52" name="event-label-52"/>
          <p:cNvSpPr txBox="1"/>
          <p:nvPr/>
        </p:nvSpPr>
        <p:spPr>
          <a:xfrm>
            <a:off x="6448425" y="3225800"/>
            <a:ext cx="1219200" cy="5397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25000"/>
              </a:lnSpc>
            </a:pPr>
            <a:r>
              <a:rPr lang="zh-CN" sz="1500" b="0" dirty="0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重复测量</a:t>
            </a:r>
            <a:endParaRPr lang="zh-CN" sz="1500"/>
          </a:p>
        </p:txBody>
      </p:sp>
      <p:sp>
        <p:nvSpPr>
          <p:cNvPr id="53" name="time-node-53"/>
          <p:cNvSpPr/>
          <p:nvPr/>
        </p:nvSpPr>
        <p:spPr>
          <a:xfrm>
            <a:off x="9196388" y="3006725"/>
            <a:ext cx="95250" cy="95250"/>
          </a:xfrm>
          <a:prstGeom prst="ellipse">
            <a:avLst/>
          </a:prstGeom>
          <a:solidFill>
            <a:srgbClr val="4D319F"/>
          </a:solidFill>
        </p:spPr>
      </p:sp>
      <p:sp>
        <p:nvSpPr>
          <p:cNvPr id="54" name="event-label-54"/>
          <p:cNvSpPr txBox="1"/>
          <p:nvPr/>
        </p:nvSpPr>
        <p:spPr>
          <a:xfrm>
            <a:off x="8634412" y="3225800"/>
            <a:ext cx="1219200" cy="5397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25000"/>
              </a:lnSpc>
            </a:pPr>
            <a:r>
              <a:rPr lang="zh-CN" sz="1500" b="0" dirty="0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结束处理</a:t>
            </a:r>
            <a:endParaRPr lang="zh-CN" sz="1500"/>
          </a:p>
        </p:txBody>
      </p:sp>
      <p:sp>
        <p:nvSpPr>
          <p:cNvPr id="55" name="time-node-55"/>
          <p:cNvSpPr/>
          <p:nvPr/>
        </p:nvSpPr>
        <p:spPr>
          <a:xfrm>
            <a:off x="11382375" y="3006725"/>
            <a:ext cx="95250" cy="95250"/>
          </a:xfrm>
          <a:prstGeom prst="ellipse">
            <a:avLst/>
          </a:prstGeom>
          <a:solidFill>
            <a:srgbClr val="4D319F"/>
          </a:solidFill>
        </p:spPr>
      </p:sp>
      <p:sp>
        <p:nvSpPr>
          <p:cNvPr id="56" name="event-label-56"/>
          <p:cNvSpPr txBox="1"/>
          <p:nvPr/>
        </p:nvSpPr>
        <p:spPr>
          <a:xfrm>
            <a:off x="10820400" y="3225800"/>
            <a:ext cx="1219200" cy="5397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25000"/>
              </a:lnSpc>
            </a:pPr>
            <a:r>
              <a:rPr lang="zh-CN" sz="1500" b="0" dirty="0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终点测量</a:t>
            </a:r>
            <a:endParaRPr lang="zh-CN" sz="1500"/>
          </a:p>
        </p:txBody>
      </p:sp>
      <p:sp>
        <p:nvSpPr>
          <p:cNvPr id="57" name="timeline-lane-57"/>
          <p:cNvSpPr/>
          <p:nvPr/>
        </p:nvSpPr>
        <p:spPr>
          <a:xfrm>
            <a:off x="304800" y="3965575"/>
            <a:ext cx="11582400" cy="1073150"/>
          </a:xfrm>
          <a:prstGeom prst="rect">
            <a:avLst/>
          </a:prstGeom>
          <a:solidFill>
            <a:srgbClr val="F4F0FF"/>
          </a:solidFill>
        </p:spPr>
      </p:sp>
      <p:sp>
        <p:nvSpPr>
          <p:cNvPr id="58" name="group-fill-58"/>
          <p:cNvSpPr/>
          <p:nvPr/>
        </p:nvSpPr>
        <p:spPr>
          <a:xfrm>
            <a:off x="304800" y="3965575"/>
            <a:ext cx="1885950" cy="1073150"/>
          </a:xfrm>
          <a:prstGeom prst="rect">
            <a:avLst/>
          </a:prstGeom>
          <a:solidFill>
            <a:srgbClr val="A87D05"/>
          </a:solidFill>
        </p:spPr>
      </p:sp>
      <p:sp>
        <p:nvSpPr>
          <p:cNvPr id="59" name="group-label-59"/>
          <p:cNvSpPr txBox="1"/>
          <p:nvPr/>
        </p:nvSpPr>
        <p:spPr>
          <a:xfrm>
            <a:off x="457200" y="4137025"/>
            <a:ext cx="1543050" cy="35242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950" b="1" dirty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高干扰组</a:t>
            </a:r>
            <a:endParaRPr lang="zh-CN" sz="1950"/>
          </a:p>
        </p:txBody>
      </p:sp>
      <p:sp>
        <p:nvSpPr>
          <p:cNvPr id="60" name="group-sample-60"/>
          <p:cNvSpPr txBox="1"/>
          <p:nvPr/>
        </p:nvSpPr>
        <p:spPr>
          <a:xfrm>
            <a:off x="457200" y="4556125"/>
            <a:ext cx="154305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575" b="0" dirty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n = 12（示意）</a:t>
            </a:r>
            <a:endParaRPr lang="zh-CN" sz="1575"/>
          </a:p>
        </p:txBody>
      </p:sp>
      <p:sp>
        <p:nvSpPr>
          <p:cNvPr id="61" name="timeline-line-61"/>
          <p:cNvSpPr/>
          <p:nvPr/>
        </p:nvSpPr>
        <p:spPr>
          <a:xfrm>
            <a:off x="2686050" y="4251325"/>
            <a:ext cx="8743950" cy="19050"/>
          </a:xfrm>
          <a:prstGeom prst="rect">
            <a:avLst/>
          </a:prstGeom>
          <a:solidFill>
            <a:srgbClr val="4D319F"/>
          </a:solidFill>
        </p:spPr>
      </p:sp>
      <p:sp>
        <p:nvSpPr>
          <p:cNvPr id="62" name="time-node-62"/>
          <p:cNvSpPr/>
          <p:nvPr/>
        </p:nvSpPr>
        <p:spPr>
          <a:xfrm>
            <a:off x="2638425" y="4213225"/>
            <a:ext cx="95250" cy="95250"/>
          </a:xfrm>
          <a:prstGeom prst="ellipse">
            <a:avLst/>
          </a:prstGeom>
          <a:solidFill>
            <a:srgbClr val="4D319F"/>
          </a:solidFill>
        </p:spPr>
      </p:sp>
      <p:sp>
        <p:nvSpPr>
          <p:cNvPr id="63" name="event-label-63"/>
          <p:cNvSpPr txBox="1"/>
          <p:nvPr/>
        </p:nvSpPr>
        <p:spPr>
          <a:xfrm>
            <a:off x="2076450" y="4432300"/>
            <a:ext cx="1219200" cy="5397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25000"/>
              </a:lnSpc>
            </a:pPr>
            <a:r>
              <a:rPr lang="zh-CN" sz="1500" b="0" dirty="0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基线测量</a:t>
            </a:r>
            <a:endParaRPr lang="zh-CN" sz="1500"/>
          </a:p>
        </p:txBody>
      </p:sp>
      <p:sp>
        <p:nvSpPr>
          <p:cNvPr id="64" name="time-node-64"/>
          <p:cNvSpPr/>
          <p:nvPr/>
        </p:nvSpPr>
        <p:spPr>
          <a:xfrm>
            <a:off x="4824412" y="4213225"/>
            <a:ext cx="95250" cy="95250"/>
          </a:xfrm>
          <a:prstGeom prst="ellipse">
            <a:avLst/>
          </a:prstGeom>
          <a:solidFill>
            <a:srgbClr val="4D319F"/>
          </a:solidFill>
        </p:spPr>
      </p:sp>
      <p:sp>
        <p:nvSpPr>
          <p:cNvPr id="65" name="event-label-65"/>
          <p:cNvSpPr txBox="1"/>
          <p:nvPr/>
        </p:nvSpPr>
        <p:spPr>
          <a:xfrm>
            <a:off x="4262438" y="4432300"/>
            <a:ext cx="1219200" cy="5397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25000"/>
              </a:lnSpc>
            </a:pPr>
            <a:r>
              <a:rPr lang="zh-CN" sz="1500" b="0" dirty="0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开始处理</a:t>
            </a:r>
            <a:endParaRPr lang="zh-CN" sz="1500"/>
          </a:p>
        </p:txBody>
      </p:sp>
      <p:sp>
        <p:nvSpPr>
          <p:cNvPr id="66" name="time-node-66"/>
          <p:cNvSpPr/>
          <p:nvPr/>
        </p:nvSpPr>
        <p:spPr>
          <a:xfrm>
            <a:off x="7010400" y="4213225"/>
            <a:ext cx="95250" cy="95250"/>
          </a:xfrm>
          <a:prstGeom prst="ellipse">
            <a:avLst/>
          </a:prstGeom>
          <a:solidFill>
            <a:srgbClr val="4D319F"/>
          </a:solidFill>
        </p:spPr>
      </p:sp>
      <p:sp>
        <p:nvSpPr>
          <p:cNvPr id="67" name="event-label-67"/>
          <p:cNvSpPr txBox="1"/>
          <p:nvPr/>
        </p:nvSpPr>
        <p:spPr>
          <a:xfrm>
            <a:off x="6448425" y="4432300"/>
            <a:ext cx="1219200" cy="5397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25000"/>
              </a:lnSpc>
            </a:pPr>
            <a:r>
              <a:rPr lang="zh-CN" sz="1500" b="0" dirty="0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重复测量</a:t>
            </a:r>
            <a:endParaRPr lang="zh-CN" sz="1500"/>
          </a:p>
        </p:txBody>
      </p:sp>
      <p:sp>
        <p:nvSpPr>
          <p:cNvPr id="68" name="time-node-68"/>
          <p:cNvSpPr/>
          <p:nvPr/>
        </p:nvSpPr>
        <p:spPr>
          <a:xfrm>
            <a:off x="9196388" y="4213225"/>
            <a:ext cx="95250" cy="95250"/>
          </a:xfrm>
          <a:prstGeom prst="ellipse">
            <a:avLst/>
          </a:prstGeom>
          <a:solidFill>
            <a:srgbClr val="4D319F"/>
          </a:solidFill>
        </p:spPr>
      </p:sp>
      <p:sp>
        <p:nvSpPr>
          <p:cNvPr id="69" name="event-label-69"/>
          <p:cNvSpPr txBox="1"/>
          <p:nvPr/>
        </p:nvSpPr>
        <p:spPr>
          <a:xfrm>
            <a:off x="8634412" y="4432300"/>
            <a:ext cx="1219200" cy="5397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25000"/>
              </a:lnSpc>
            </a:pPr>
            <a:r>
              <a:rPr lang="zh-CN" sz="1500" b="0" dirty="0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结束处理</a:t>
            </a:r>
            <a:endParaRPr lang="zh-CN" sz="1500"/>
          </a:p>
        </p:txBody>
      </p:sp>
      <p:sp>
        <p:nvSpPr>
          <p:cNvPr id="70" name="time-node-70"/>
          <p:cNvSpPr/>
          <p:nvPr/>
        </p:nvSpPr>
        <p:spPr>
          <a:xfrm>
            <a:off x="11382375" y="4213225"/>
            <a:ext cx="95250" cy="95250"/>
          </a:xfrm>
          <a:prstGeom prst="ellipse">
            <a:avLst/>
          </a:prstGeom>
          <a:solidFill>
            <a:srgbClr val="4D319F"/>
          </a:solidFill>
        </p:spPr>
      </p:sp>
      <p:sp>
        <p:nvSpPr>
          <p:cNvPr id="71" name="event-label-71"/>
          <p:cNvSpPr txBox="1"/>
          <p:nvPr/>
        </p:nvSpPr>
        <p:spPr>
          <a:xfrm>
            <a:off x="10820400" y="4432300"/>
            <a:ext cx="1219200" cy="5397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25000"/>
              </a:lnSpc>
            </a:pPr>
            <a:r>
              <a:rPr lang="zh-CN" sz="1500" b="0" dirty="0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终点测量</a:t>
            </a:r>
            <a:endParaRPr lang="zh-CN" sz="1500"/>
          </a:p>
        </p:txBody>
      </p:sp>
      <p:sp>
        <p:nvSpPr>
          <p:cNvPr id="72" name="measurement-72"/>
          <p:cNvSpPr txBox="1"/>
          <p:nvPr/>
        </p:nvSpPr>
        <p:spPr>
          <a:xfrm>
            <a:off x="304800" y="5391150"/>
            <a:ext cx="1158240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725" b="0" dirty="0">
                <a:solidFill>
                  <a:srgbClr val="4D319F"/>
                </a:solidFill>
                <a:latin typeface="Noto Sans CJK SC"/>
                <a:ea typeface="Noto Sans CJK SC"/>
                <a:cs typeface="Noto Sans CJK SC"/>
              </a:rPr>
              <a:t>测量指标：株高与叶片数重复测量；生物量仅在终点测量。</a:t>
            </a:r>
            <a:endParaRPr lang="zh-CN" sz="1725"/>
          </a:p>
        </p:txBody>
      </p:sp>
    </p:spTree>
    <p:extLst>
      <p:ext uri="{BB962C8B-B14F-4D97-AF65-F5344CB8AC3E}">
        <ns2:creationId val="711463199"/>
      </p:ext>
    </p:extLst>
  </p:cSld>
</p:sld>
</file>

<file path=ppt/slides/slide6.xml><?xml version="1.0" encoding="utf-8"?>
<p:sld xmlns:a="http://schemas.openxmlformats.org/drawingml/2006/main" xmlns:ns2="http://schemas.microsoft.com/office/powerpoint/2010/main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1" name="canvas-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12" name="title-12"/>
          <p:cNvSpPr txBox="1"/>
          <p:nvPr/>
        </p:nvSpPr>
        <p:spPr>
          <a:xfrm>
            <a:off x="304800" y="190500"/>
            <a:ext cx="11582400" cy="5524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3150" b="1" dirty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rPr>
              <a:t>围绕同一问题比较多篇研究</a:t>
            </a:r>
            <a:endParaRPr lang="zh-CN" sz="3150"/>
          </a:p>
        </p:txBody>
      </p:sp>
      <p:sp>
        <p:nvSpPr>
          <p:cNvPr id="13" name="header-rule-13"/>
          <p:cNvSpPr/>
          <p:nvPr/>
        </p:nvSpPr>
        <p:spPr>
          <a:xfrm>
            <a:off x="304800" y="819150"/>
            <a:ext cx="11582400" cy="19050"/>
          </a:xfrm>
          <a:prstGeom prst="rect">
            <a:avLst/>
          </a:prstGeom>
          <a:solidFill>
            <a:srgbClr val="087F9A"/>
          </a:solidFill>
        </p:spPr>
      </p:sp>
      <p:sp>
        <p:nvSpPr>
          <p:cNvPr id="14" name="takeaway-14"/>
          <p:cNvSpPr txBox="1"/>
          <p:nvPr/>
        </p:nvSpPr>
        <p:spPr>
          <a:xfrm>
            <a:off x="457200" y="6115050"/>
            <a:ext cx="112776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725" b="1" dirty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rPr>
              <a:t>版式示意：原图保持完整，解释紧邻证据。</a:t>
            </a:r>
            <a:endParaRPr lang="zh-CN" sz="1725"/>
          </a:p>
        </p:txBody>
      </p:sp>
      <p:sp>
        <p:nvSpPr>
          <p:cNvPr id="15" name="takeaway-rule-15"/>
          <p:cNvSpPr/>
          <p:nvPr/>
        </p:nvSpPr>
        <p:spPr>
          <a:xfrm>
            <a:off x="304800" y="6019800"/>
            <a:ext cx="11582400" cy="19050"/>
          </a:xfrm>
          <a:prstGeom prst="rect">
            <a:avLst/>
          </a:prstGeom>
          <a:solidFill>
            <a:srgbClr val="087F9A"/>
          </a:solidFill>
        </p:spPr>
      </p:sp>
      <p:sp>
        <p:nvSpPr>
          <p:cNvPr id="16" name="chapter-navigation-16"/>
          <p:cNvSpPr txBox="1"/>
          <p:nvPr/>
        </p:nvSpPr>
        <p:spPr>
          <a:xfrm>
            <a:off x="304800" y="6534150"/>
            <a:ext cx="14859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050" b="0" dirty="0">
                <a:solidFill>
                  <a:srgbClr val="667788"/>
                </a:solidFill>
                <a:latin typeface="Noto Sans CJK SC"/>
                <a:ea typeface="Noto Sans CJK SC"/>
                <a:cs typeface="Noto Sans CJK SC"/>
              </a:rPr>
              <a:t>研究问题</a:t>
            </a:r>
            <a:endParaRPr lang="zh-CN" sz="1050"/>
          </a:p>
        </p:txBody>
      </p:sp>
      <p:sp>
        <p:nvSpPr>
          <p:cNvPr id="17" name="chapter-navigation-17"/>
          <p:cNvSpPr txBox="1"/>
          <p:nvPr/>
        </p:nvSpPr>
        <p:spPr>
          <a:xfrm>
            <a:off x="1905000" y="6534150"/>
            <a:ext cx="14859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050" b="0" dirty="0">
                <a:solidFill>
                  <a:srgbClr val="667788"/>
                </a:solidFill>
                <a:latin typeface="Noto Sans CJK SC"/>
                <a:ea typeface="Noto Sans CJK SC"/>
                <a:cs typeface="Noto Sans CJK SC"/>
              </a:rPr>
              <a:t>设计与方法</a:t>
            </a:r>
            <a:endParaRPr lang="zh-CN" sz="1050"/>
          </a:p>
        </p:txBody>
      </p:sp>
      <p:sp>
        <p:nvSpPr>
          <p:cNvPr id="18" name="chapter-navigation-18"/>
          <p:cNvSpPr txBox="1"/>
          <p:nvPr/>
        </p:nvSpPr>
        <p:spPr>
          <a:xfrm>
            <a:off x="3505200" y="6534150"/>
            <a:ext cx="14859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050" b="1" dirty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rPr>
              <a:t>关键证据</a:t>
            </a:r>
            <a:endParaRPr lang="zh-CN" sz="1050"/>
          </a:p>
        </p:txBody>
      </p:sp>
      <p:sp>
        <p:nvSpPr>
          <p:cNvPr id="19" name="chapter-indicator-19"/>
          <p:cNvSpPr/>
          <p:nvPr/>
        </p:nvSpPr>
        <p:spPr>
          <a:xfrm>
            <a:off x="3505200" y="6486525"/>
            <a:ext cx="952500" cy="28575"/>
          </a:xfrm>
          <a:prstGeom prst="rect">
            <a:avLst/>
          </a:prstGeom>
          <a:solidFill>
            <a:srgbClr val="CB4442"/>
          </a:solidFill>
        </p:spPr>
      </p:sp>
      <p:sp>
        <p:nvSpPr>
          <p:cNvPr id="20" name="chapter-navigation-20"/>
          <p:cNvSpPr txBox="1"/>
          <p:nvPr/>
        </p:nvSpPr>
        <p:spPr>
          <a:xfrm>
            <a:off x="5105400" y="6534150"/>
            <a:ext cx="14859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050" b="0" dirty="0">
                <a:solidFill>
                  <a:srgbClr val="667788"/>
                </a:solidFill>
                <a:latin typeface="Noto Sans CJK SC"/>
                <a:ea typeface="Noto Sans CJK SC"/>
                <a:cs typeface="Noto Sans CJK SC"/>
              </a:rPr>
              <a:t>总结讨论</a:t>
            </a:r>
            <a:endParaRPr lang="zh-CN" sz="1050"/>
          </a:p>
        </p:txBody>
      </p:sp>
      <p:sp>
        <p:nvSpPr>
          <p:cNvPr id="21" name="page-number-21"/>
          <p:cNvSpPr txBox="1"/>
          <p:nvPr/>
        </p:nvSpPr>
        <p:spPr>
          <a:xfrm>
            <a:off x="11487150" y="6534150"/>
            <a:ext cx="40005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25000"/>
              </a:lnSpc>
            </a:pPr>
            <a:r>
              <a:rPr lang="zh-CN" sz="1050" b="0" dirty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rPr>
              <a:t>06</a:t>
            </a:r>
            <a:endParaRPr lang="zh-CN" sz="1050"/>
          </a:p>
        </p:txBody>
      </p:sp>
      <p:sp>
        <p:nvSpPr>
          <p:cNvPr id="22" name="matrix-cell-22"/>
          <p:cNvSpPr/>
          <p:nvPr/>
        </p:nvSpPr>
        <p:spPr>
          <a:xfrm>
            <a:off x="304800" y="1066800"/>
            <a:ext cx="1441132" cy="609600"/>
          </a:xfrm>
          <a:prstGeom prst="rect">
            <a:avLst/>
          </a:prstGeom>
          <a:solidFill>
            <a:srgbClr val="087F9A"/>
          </a:solidFill>
          <a:ln w="11430" cap="rnd">
            <a:solidFill>
              <a:srgbClr val="D4DFE9"/>
            </a:solidFill>
          </a:ln>
        </p:spPr>
      </p:sp>
      <p:sp>
        <p:nvSpPr>
          <p:cNvPr id="23" name="matrix-cell-text-23"/>
          <p:cNvSpPr txBox="1"/>
          <p:nvPr/>
        </p:nvSpPr>
        <p:spPr>
          <a:xfrm>
            <a:off x="419100" y="1219200"/>
            <a:ext cx="1212532" cy="381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575" b="1" dirty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研究</a:t>
            </a:r>
            <a:endParaRPr lang="zh-CN" sz="1575"/>
          </a:p>
        </p:txBody>
      </p:sp>
      <p:sp>
        <p:nvSpPr>
          <p:cNvPr id="24" name="matrix-cell-24"/>
          <p:cNvSpPr/>
          <p:nvPr/>
        </p:nvSpPr>
        <p:spPr>
          <a:xfrm>
            <a:off x="1745932" y="1066800"/>
            <a:ext cx="1949768" cy="609600"/>
          </a:xfrm>
          <a:prstGeom prst="rect">
            <a:avLst/>
          </a:prstGeom>
          <a:solidFill>
            <a:srgbClr val="087F9A"/>
          </a:solidFill>
          <a:ln w="11430" cap="rnd">
            <a:solidFill>
              <a:srgbClr val="D4DFE9"/>
            </a:solidFill>
          </a:ln>
        </p:spPr>
      </p:sp>
      <p:sp>
        <p:nvSpPr>
          <p:cNvPr id="25" name="matrix-cell-text-25"/>
          <p:cNvSpPr txBox="1"/>
          <p:nvPr/>
        </p:nvSpPr>
        <p:spPr>
          <a:xfrm>
            <a:off x="1860232" y="1219200"/>
            <a:ext cx="1721168" cy="381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575" b="1" dirty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研究设计</a:t>
            </a:r>
            <a:endParaRPr lang="zh-CN" sz="1575"/>
          </a:p>
        </p:txBody>
      </p:sp>
      <p:sp>
        <p:nvSpPr>
          <p:cNvPr id="26" name="matrix-cell-26"/>
          <p:cNvSpPr/>
          <p:nvPr/>
        </p:nvSpPr>
        <p:spPr>
          <a:xfrm>
            <a:off x="3695700" y="1066800"/>
            <a:ext cx="2712720" cy="609600"/>
          </a:xfrm>
          <a:prstGeom prst="rect">
            <a:avLst/>
          </a:prstGeom>
          <a:solidFill>
            <a:srgbClr val="087F9A"/>
          </a:solidFill>
          <a:ln w="11430" cap="rnd">
            <a:solidFill>
              <a:srgbClr val="D4DFE9"/>
            </a:solidFill>
          </a:ln>
        </p:spPr>
      </p:sp>
      <p:sp>
        <p:nvSpPr>
          <p:cNvPr id="27" name="matrix-cell-text-27"/>
          <p:cNvSpPr txBox="1"/>
          <p:nvPr/>
        </p:nvSpPr>
        <p:spPr>
          <a:xfrm>
            <a:off x="3810000" y="1219200"/>
            <a:ext cx="2484120" cy="381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575" b="1" dirty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主要发现</a:t>
            </a:r>
            <a:endParaRPr lang="zh-CN" sz="1575"/>
          </a:p>
        </p:txBody>
      </p:sp>
      <p:sp>
        <p:nvSpPr>
          <p:cNvPr id="28" name="matrix-cell-28"/>
          <p:cNvSpPr/>
          <p:nvPr/>
        </p:nvSpPr>
        <p:spPr>
          <a:xfrm>
            <a:off x="6408420" y="1066800"/>
            <a:ext cx="2373630" cy="609600"/>
          </a:xfrm>
          <a:prstGeom prst="rect">
            <a:avLst/>
          </a:prstGeom>
          <a:solidFill>
            <a:srgbClr val="087F9A"/>
          </a:solidFill>
          <a:ln w="11430" cap="rnd">
            <a:solidFill>
              <a:srgbClr val="D4DFE9"/>
            </a:solidFill>
          </a:ln>
        </p:spPr>
      </p:sp>
      <p:sp>
        <p:nvSpPr>
          <p:cNvPr id="29" name="matrix-cell-text-29"/>
          <p:cNvSpPr txBox="1"/>
          <p:nvPr/>
        </p:nvSpPr>
        <p:spPr>
          <a:xfrm>
            <a:off x="6522720" y="1219200"/>
            <a:ext cx="2145030" cy="381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575" b="1" dirty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解释条件</a:t>
            </a:r>
            <a:endParaRPr lang="zh-CN" sz="1575"/>
          </a:p>
        </p:txBody>
      </p:sp>
      <p:sp>
        <p:nvSpPr>
          <p:cNvPr id="30" name="matrix-cell-30"/>
          <p:cNvSpPr/>
          <p:nvPr/>
        </p:nvSpPr>
        <p:spPr>
          <a:xfrm>
            <a:off x="304800" y="1676400"/>
            <a:ext cx="1441132" cy="990600"/>
          </a:xfrm>
          <a:prstGeom prst="rect">
            <a:avLst/>
          </a:prstGeom>
          <a:solidFill>
            <a:srgbClr val="EFFBFF"/>
          </a:solidFill>
          <a:ln w="11430" cap="rnd">
            <a:solidFill>
              <a:srgbClr val="D4DFE9"/>
            </a:solidFill>
          </a:ln>
        </p:spPr>
      </p:sp>
      <p:sp>
        <p:nvSpPr>
          <p:cNvPr id="31" name="matrix-cell-text-31"/>
          <p:cNvSpPr txBox="1"/>
          <p:nvPr/>
        </p:nvSpPr>
        <p:spPr>
          <a:xfrm>
            <a:off x="419100" y="1828800"/>
            <a:ext cx="1212532" cy="762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500" b="1" dirty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rPr>
              <a:t>示例 A</a:t>
            </a:r>
            <a:endParaRPr lang="zh-CN" sz="1500"/>
          </a:p>
        </p:txBody>
      </p:sp>
      <p:sp>
        <p:nvSpPr>
          <p:cNvPr id="32" name="matrix-cell-32"/>
          <p:cNvSpPr/>
          <p:nvPr/>
        </p:nvSpPr>
        <p:spPr>
          <a:xfrm>
            <a:off x="1745932" y="1676400"/>
            <a:ext cx="1949768" cy="990600"/>
          </a:xfrm>
          <a:prstGeom prst="rect">
            <a:avLst/>
          </a:prstGeom>
          <a:solidFill>
            <a:srgbClr val="FFFFFF"/>
          </a:solidFill>
          <a:ln w="11430" cap="rnd">
            <a:solidFill>
              <a:srgbClr val="D4DFE9"/>
            </a:solidFill>
          </a:ln>
        </p:spPr>
      </p:sp>
      <p:sp>
        <p:nvSpPr>
          <p:cNvPr id="33" name="matrix-cell-text-33"/>
          <p:cNvSpPr txBox="1"/>
          <p:nvPr/>
        </p:nvSpPr>
        <p:spPr>
          <a:xfrm>
            <a:off x="1860232" y="1828800"/>
            <a:ext cx="1721168" cy="762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500" b="0" dirty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rPr>
              <a:t>跨区域观测</a:t>
            </a:r>
            <a:endParaRPr lang="zh-CN" sz="1500"/>
          </a:p>
        </p:txBody>
      </p:sp>
      <p:sp>
        <p:nvSpPr>
          <p:cNvPr id="34" name="matrix-cell-34"/>
          <p:cNvSpPr/>
          <p:nvPr/>
        </p:nvSpPr>
        <p:spPr>
          <a:xfrm>
            <a:off x="3695700" y="1676400"/>
            <a:ext cx="2712720" cy="990600"/>
          </a:xfrm>
          <a:prstGeom prst="rect">
            <a:avLst/>
          </a:prstGeom>
          <a:solidFill>
            <a:srgbClr val="FFFFFF"/>
          </a:solidFill>
          <a:ln w="11430" cap="rnd">
            <a:solidFill>
              <a:srgbClr val="D4DFE9"/>
            </a:solidFill>
          </a:ln>
        </p:spPr>
      </p:sp>
      <p:sp>
        <p:nvSpPr>
          <p:cNvPr id="35" name="matrix-cell-text-35"/>
          <p:cNvSpPr txBox="1"/>
          <p:nvPr/>
        </p:nvSpPr>
        <p:spPr>
          <a:xfrm>
            <a:off x="3810000" y="1828800"/>
            <a:ext cx="2484120" cy="762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500" b="0" dirty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rPr>
              <a:t>面积与丰富度相关</a:t>
            </a:r>
            <a:endParaRPr lang="zh-CN" sz="1500"/>
          </a:p>
        </p:txBody>
      </p:sp>
      <p:sp>
        <p:nvSpPr>
          <p:cNvPr id="36" name="matrix-cell-36"/>
          <p:cNvSpPr/>
          <p:nvPr/>
        </p:nvSpPr>
        <p:spPr>
          <a:xfrm>
            <a:off x="6408420" y="1676400"/>
            <a:ext cx="2373630" cy="990600"/>
          </a:xfrm>
          <a:prstGeom prst="rect">
            <a:avLst/>
          </a:prstGeom>
          <a:solidFill>
            <a:srgbClr val="FFFFFF"/>
          </a:solidFill>
          <a:ln w="11430" cap="rnd">
            <a:solidFill>
              <a:srgbClr val="D4DFE9"/>
            </a:solidFill>
          </a:ln>
        </p:spPr>
      </p:sp>
      <p:sp>
        <p:nvSpPr>
          <p:cNvPr id="37" name="matrix-cell-text-37"/>
          <p:cNvSpPr txBox="1"/>
          <p:nvPr/>
        </p:nvSpPr>
        <p:spPr>
          <a:xfrm>
            <a:off x="6522720" y="1828800"/>
            <a:ext cx="2145030" cy="762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500" b="0" dirty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rPr>
              <a:t>需考虑环境差异</a:t>
            </a:r>
            <a:endParaRPr lang="zh-CN" sz="1500"/>
          </a:p>
        </p:txBody>
      </p:sp>
      <p:sp>
        <p:nvSpPr>
          <p:cNvPr id="38" name="matrix-cell-38"/>
          <p:cNvSpPr/>
          <p:nvPr/>
        </p:nvSpPr>
        <p:spPr>
          <a:xfrm>
            <a:off x="304800" y="2667000"/>
            <a:ext cx="1441132" cy="990600"/>
          </a:xfrm>
          <a:prstGeom prst="rect">
            <a:avLst/>
          </a:prstGeom>
          <a:solidFill>
            <a:srgbClr val="EFFBFF"/>
          </a:solidFill>
          <a:ln w="11430" cap="rnd">
            <a:solidFill>
              <a:srgbClr val="D4DFE9"/>
            </a:solidFill>
          </a:ln>
        </p:spPr>
      </p:sp>
      <p:sp>
        <p:nvSpPr>
          <p:cNvPr id="39" name="matrix-cell-text-39"/>
          <p:cNvSpPr txBox="1"/>
          <p:nvPr/>
        </p:nvSpPr>
        <p:spPr>
          <a:xfrm>
            <a:off x="419100" y="2819400"/>
            <a:ext cx="1212532" cy="762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500" b="1" dirty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rPr>
              <a:t>示例 B</a:t>
            </a:r>
            <a:endParaRPr lang="zh-CN" sz="1500"/>
          </a:p>
        </p:txBody>
      </p:sp>
      <p:sp>
        <p:nvSpPr>
          <p:cNvPr id="40" name="matrix-cell-40"/>
          <p:cNvSpPr/>
          <p:nvPr/>
        </p:nvSpPr>
        <p:spPr>
          <a:xfrm>
            <a:off x="1745932" y="2667000"/>
            <a:ext cx="1949768" cy="990600"/>
          </a:xfrm>
          <a:prstGeom prst="rect">
            <a:avLst/>
          </a:prstGeom>
          <a:solidFill>
            <a:srgbClr val="FFFFFF"/>
          </a:solidFill>
          <a:ln w="11430" cap="rnd">
            <a:solidFill>
              <a:srgbClr val="D4DFE9"/>
            </a:solidFill>
          </a:ln>
        </p:spPr>
      </p:sp>
      <p:sp>
        <p:nvSpPr>
          <p:cNvPr id="41" name="matrix-cell-text-41"/>
          <p:cNvSpPr txBox="1"/>
          <p:nvPr/>
        </p:nvSpPr>
        <p:spPr>
          <a:xfrm>
            <a:off x="1860232" y="2819400"/>
            <a:ext cx="1721168" cy="762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500" b="0" dirty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rPr>
              <a:t>控制实验</a:t>
            </a:r>
            <a:endParaRPr lang="zh-CN" sz="1500"/>
          </a:p>
        </p:txBody>
      </p:sp>
      <p:sp>
        <p:nvSpPr>
          <p:cNvPr id="42" name="matrix-cell-42"/>
          <p:cNvSpPr/>
          <p:nvPr/>
        </p:nvSpPr>
        <p:spPr>
          <a:xfrm>
            <a:off x="3695700" y="2667000"/>
            <a:ext cx="2712720" cy="990600"/>
          </a:xfrm>
          <a:prstGeom prst="rect">
            <a:avLst/>
          </a:prstGeom>
          <a:solidFill>
            <a:srgbClr val="FFFFFF"/>
          </a:solidFill>
          <a:ln w="11430" cap="rnd">
            <a:solidFill>
              <a:srgbClr val="D4DFE9"/>
            </a:solidFill>
          </a:ln>
        </p:spPr>
      </p:sp>
      <p:sp>
        <p:nvSpPr>
          <p:cNvPr id="43" name="matrix-cell-text-43"/>
          <p:cNvSpPr txBox="1"/>
          <p:nvPr/>
        </p:nvSpPr>
        <p:spPr>
          <a:xfrm>
            <a:off x="3810000" y="2819400"/>
            <a:ext cx="2484120" cy="762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500" b="0" dirty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rPr>
              <a:t>隔离影响扩散</a:t>
            </a:r>
            <a:endParaRPr lang="zh-CN" sz="1500"/>
          </a:p>
        </p:txBody>
      </p:sp>
      <p:sp>
        <p:nvSpPr>
          <p:cNvPr id="44" name="matrix-cell-44"/>
          <p:cNvSpPr/>
          <p:nvPr/>
        </p:nvSpPr>
        <p:spPr>
          <a:xfrm>
            <a:off x="6408420" y="2667000"/>
            <a:ext cx="2373630" cy="990600"/>
          </a:xfrm>
          <a:prstGeom prst="rect">
            <a:avLst/>
          </a:prstGeom>
          <a:solidFill>
            <a:srgbClr val="FFFFFF"/>
          </a:solidFill>
          <a:ln w="11430" cap="rnd">
            <a:solidFill>
              <a:srgbClr val="D4DFE9"/>
            </a:solidFill>
          </a:ln>
        </p:spPr>
      </p:sp>
      <p:sp>
        <p:nvSpPr>
          <p:cNvPr id="45" name="matrix-cell-text-45"/>
          <p:cNvSpPr txBox="1"/>
          <p:nvPr/>
        </p:nvSpPr>
        <p:spPr>
          <a:xfrm>
            <a:off x="6522720" y="2819400"/>
            <a:ext cx="2145030" cy="762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500" b="0" dirty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rPr>
              <a:t>实验尺度有限</a:t>
            </a:r>
            <a:endParaRPr lang="zh-CN" sz="1500"/>
          </a:p>
        </p:txBody>
      </p:sp>
      <p:sp>
        <p:nvSpPr>
          <p:cNvPr id="46" name="matrix-cell-46"/>
          <p:cNvSpPr/>
          <p:nvPr/>
        </p:nvSpPr>
        <p:spPr>
          <a:xfrm>
            <a:off x="304800" y="3657600"/>
            <a:ext cx="1441132" cy="990600"/>
          </a:xfrm>
          <a:prstGeom prst="rect">
            <a:avLst/>
          </a:prstGeom>
          <a:solidFill>
            <a:srgbClr val="EFFBFF"/>
          </a:solidFill>
          <a:ln w="11430" cap="rnd">
            <a:solidFill>
              <a:srgbClr val="D4DFE9"/>
            </a:solidFill>
          </a:ln>
        </p:spPr>
      </p:sp>
      <p:sp>
        <p:nvSpPr>
          <p:cNvPr id="47" name="matrix-cell-text-47"/>
          <p:cNvSpPr txBox="1"/>
          <p:nvPr/>
        </p:nvSpPr>
        <p:spPr>
          <a:xfrm>
            <a:off x="419100" y="3810000"/>
            <a:ext cx="1212532" cy="762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500" b="1" dirty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rPr>
              <a:t>示例 C</a:t>
            </a:r>
            <a:endParaRPr lang="zh-CN" sz="1500"/>
          </a:p>
        </p:txBody>
      </p:sp>
      <p:sp>
        <p:nvSpPr>
          <p:cNvPr id="48" name="matrix-cell-48"/>
          <p:cNvSpPr/>
          <p:nvPr/>
        </p:nvSpPr>
        <p:spPr>
          <a:xfrm>
            <a:off x="1745932" y="3657600"/>
            <a:ext cx="1949768" cy="990600"/>
          </a:xfrm>
          <a:prstGeom prst="rect">
            <a:avLst/>
          </a:prstGeom>
          <a:solidFill>
            <a:srgbClr val="FFFFFF"/>
          </a:solidFill>
          <a:ln w="11430" cap="rnd">
            <a:solidFill>
              <a:srgbClr val="D4DFE9"/>
            </a:solidFill>
          </a:ln>
        </p:spPr>
      </p:sp>
      <p:sp>
        <p:nvSpPr>
          <p:cNvPr id="49" name="matrix-cell-text-49"/>
          <p:cNvSpPr txBox="1"/>
          <p:nvPr/>
        </p:nvSpPr>
        <p:spPr>
          <a:xfrm>
            <a:off x="1860232" y="3810000"/>
            <a:ext cx="1721168" cy="762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500" b="0" dirty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rPr>
              <a:t>长期监测</a:t>
            </a:r>
            <a:endParaRPr lang="zh-CN" sz="1500"/>
          </a:p>
        </p:txBody>
      </p:sp>
      <p:sp>
        <p:nvSpPr>
          <p:cNvPr id="50" name="matrix-cell-50"/>
          <p:cNvSpPr/>
          <p:nvPr/>
        </p:nvSpPr>
        <p:spPr>
          <a:xfrm>
            <a:off x="3695700" y="3657600"/>
            <a:ext cx="2712720" cy="990600"/>
          </a:xfrm>
          <a:prstGeom prst="rect">
            <a:avLst/>
          </a:prstGeom>
          <a:solidFill>
            <a:srgbClr val="FFFFFF"/>
          </a:solidFill>
          <a:ln w="11430" cap="rnd">
            <a:solidFill>
              <a:srgbClr val="D4DFE9"/>
            </a:solidFill>
          </a:ln>
        </p:spPr>
      </p:sp>
      <p:sp>
        <p:nvSpPr>
          <p:cNvPr id="51" name="matrix-cell-text-51"/>
          <p:cNvSpPr txBox="1"/>
          <p:nvPr/>
        </p:nvSpPr>
        <p:spPr>
          <a:xfrm>
            <a:off x="3810000" y="3810000"/>
            <a:ext cx="2484120" cy="762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500" b="0" dirty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rPr>
              <a:t>响应存在滞后</a:t>
            </a:r>
            <a:endParaRPr lang="zh-CN" sz="1500"/>
          </a:p>
        </p:txBody>
      </p:sp>
      <p:sp>
        <p:nvSpPr>
          <p:cNvPr id="52" name="matrix-cell-52"/>
          <p:cNvSpPr/>
          <p:nvPr/>
        </p:nvSpPr>
        <p:spPr>
          <a:xfrm>
            <a:off x="6408420" y="3657600"/>
            <a:ext cx="2373630" cy="990600"/>
          </a:xfrm>
          <a:prstGeom prst="rect">
            <a:avLst/>
          </a:prstGeom>
          <a:solidFill>
            <a:srgbClr val="FFFFFF"/>
          </a:solidFill>
          <a:ln w="11430" cap="rnd">
            <a:solidFill>
              <a:srgbClr val="D4DFE9"/>
            </a:solidFill>
          </a:ln>
        </p:spPr>
      </p:sp>
      <p:sp>
        <p:nvSpPr>
          <p:cNvPr id="53" name="matrix-cell-text-53"/>
          <p:cNvSpPr txBox="1"/>
          <p:nvPr/>
        </p:nvSpPr>
        <p:spPr>
          <a:xfrm>
            <a:off x="6522720" y="3810000"/>
            <a:ext cx="2145030" cy="762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500" b="0" dirty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rPr>
              <a:t>需要连续观测</a:t>
            </a:r>
            <a:endParaRPr lang="zh-CN" sz="1500"/>
          </a:p>
        </p:txBody>
      </p:sp>
      <p:sp>
        <p:nvSpPr>
          <p:cNvPr id="54" name="matrix-cell-54"/>
          <p:cNvSpPr/>
          <p:nvPr/>
        </p:nvSpPr>
        <p:spPr>
          <a:xfrm>
            <a:off x="304800" y="4648200"/>
            <a:ext cx="1441132" cy="990600"/>
          </a:xfrm>
          <a:prstGeom prst="rect">
            <a:avLst/>
          </a:prstGeom>
          <a:solidFill>
            <a:srgbClr val="EFFBFF"/>
          </a:solidFill>
          <a:ln w="11430" cap="rnd">
            <a:solidFill>
              <a:srgbClr val="D4DFE9"/>
            </a:solidFill>
          </a:ln>
        </p:spPr>
      </p:sp>
      <p:sp>
        <p:nvSpPr>
          <p:cNvPr id="55" name="matrix-cell-text-55"/>
          <p:cNvSpPr txBox="1"/>
          <p:nvPr/>
        </p:nvSpPr>
        <p:spPr>
          <a:xfrm>
            <a:off x="419100" y="4800600"/>
            <a:ext cx="1212532" cy="762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500" b="1" dirty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rPr>
              <a:t>示例 D</a:t>
            </a:r>
            <a:endParaRPr lang="zh-CN" sz="1500"/>
          </a:p>
        </p:txBody>
      </p:sp>
      <p:sp>
        <p:nvSpPr>
          <p:cNvPr id="56" name="matrix-cell-56"/>
          <p:cNvSpPr/>
          <p:nvPr/>
        </p:nvSpPr>
        <p:spPr>
          <a:xfrm>
            <a:off x="1745932" y="4648200"/>
            <a:ext cx="1949768" cy="990600"/>
          </a:xfrm>
          <a:prstGeom prst="rect">
            <a:avLst/>
          </a:prstGeom>
          <a:solidFill>
            <a:srgbClr val="FFFFFF"/>
          </a:solidFill>
          <a:ln w="11430" cap="rnd">
            <a:solidFill>
              <a:srgbClr val="D4DFE9"/>
            </a:solidFill>
          </a:ln>
        </p:spPr>
      </p:sp>
      <p:sp>
        <p:nvSpPr>
          <p:cNvPr id="57" name="matrix-cell-text-57"/>
          <p:cNvSpPr txBox="1"/>
          <p:nvPr/>
        </p:nvSpPr>
        <p:spPr>
          <a:xfrm>
            <a:off x="1860232" y="4800600"/>
            <a:ext cx="1721168" cy="762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500" b="0" dirty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rPr>
              <a:t>多尺度比较</a:t>
            </a:r>
            <a:endParaRPr lang="zh-CN" sz="1500"/>
          </a:p>
        </p:txBody>
      </p:sp>
      <p:sp>
        <p:nvSpPr>
          <p:cNvPr id="58" name="matrix-cell-58"/>
          <p:cNvSpPr/>
          <p:nvPr/>
        </p:nvSpPr>
        <p:spPr>
          <a:xfrm>
            <a:off x="3695700" y="4648200"/>
            <a:ext cx="2712720" cy="990600"/>
          </a:xfrm>
          <a:prstGeom prst="rect">
            <a:avLst/>
          </a:prstGeom>
          <a:solidFill>
            <a:srgbClr val="FFFFFF"/>
          </a:solidFill>
          <a:ln w="11430" cap="rnd">
            <a:solidFill>
              <a:srgbClr val="D4DFE9"/>
            </a:solidFill>
          </a:ln>
        </p:spPr>
      </p:sp>
      <p:sp>
        <p:nvSpPr>
          <p:cNvPr id="59" name="matrix-cell-text-59"/>
          <p:cNvSpPr txBox="1"/>
          <p:nvPr/>
        </p:nvSpPr>
        <p:spPr>
          <a:xfrm>
            <a:off x="3810000" y="4800600"/>
            <a:ext cx="2484120" cy="762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500" b="0" dirty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rPr>
              <a:t>效应随尺度变化</a:t>
            </a:r>
            <a:endParaRPr lang="zh-CN" sz="1500"/>
          </a:p>
        </p:txBody>
      </p:sp>
      <p:sp>
        <p:nvSpPr>
          <p:cNvPr id="60" name="matrix-cell-60"/>
          <p:cNvSpPr/>
          <p:nvPr/>
        </p:nvSpPr>
        <p:spPr>
          <a:xfrm>
            <a:off x="6408420" y="4648200"/>
            <a:ext cx="2373630" cy="990600"/>
          </a:xfrm>
          <a:prstGeom prst="rect">
            <a:avLst/>
          </a:prstGeom>
          <a:solidFill>
            <a:srgbClr val="FFFFFF"/>
          </a:solidFill>
          <a:ln w="11430" cap="rnd">
            <a:solidFill>
              <a:srgbClr val="D4DFE9"/>
            </a:solidFill>
          </a:ln>
        </p:spPr>
      </p:sp>
      <p:sp>
        <p:nvSpPr>
          <p:cNvPr id="61" name="matrix-cell-text-61"/>
          <p:cNvSpPr txBox="1"/>
          <p:nvPr/>
        </p:nvSpPr>
        <p:spPr>
          <a:xfrm>
            <a:off x="6522720" y="4800600"/>
            <a:ext cx="2145030" cy="762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500" b="0" dirty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rPr>
              <a:t>尺度选择影响结果</a:t>
            </a:r>
            <a:endParaRPr lang="zh-CN" sz="1500"/>
          </a:p>
        </p:txBody>
      </p:sp>
      <p:sp>
        <p:nvSpPr>
          <p:cNvPr id="62" name="section-number-62"/>
          <p:cNvSpPr txBox="1"/>
          <p:nvPr/>
        </p:nvSpPr>
        <p:spPr>
          <a:xfrm>
            <a:off x="9124950" y="1238250"/>
            <a:ext cx="400050" cy="2857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650" b="1" dirty="0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rPr>
              <a:t>01</a:t>
            </a:r>
            <a:endParaRPr lang="zh-CN" sz="1650"/>
          </a:p>
        </p:txBody>
      </p:sp>
      <p:sp>
        <p:nvSpPr>
          <p:cNvPr id="63" name="section-title-63"/>
          <p:cNvSpPr txBox="1"/>
          <p:nvPr/>
        </p:nvSpPr>
        <p:spPr>
          <a:xfrm>
            <a:off x="9620250" y="1238250"/>
            <a:ext cx="2266950" cy="33337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875" b="1" dirty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rPr>
              <a:t>共同认识</a:t>
            </a:r>
            <a:endParaRPr lang="zh-CN" sz="1875"/>
          </a:p>
        </p:txBody>
      </p:sp>
      <p:sp>
        <p:nvSpPr>
          <p:cNvPr id="64" name="section-body-64"/>
          <p:cNvSpPr txBox="1"/>
          <p:nvPr/>
        </p:nvSpPr>
        <p:spPr>
          <a:xfrm>
            <a:off x="9620250" y="1666875"/>
            <a:ext cx="2266950" cy="98107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575" b="0" dirty="0">
                <a:solidFill>
                  <a:srgbClr val="263746"/>
                </a:solidFill>
                <a:latin typeface="Noto Sans CJK SC"/>
                <a:ea typeface="Noto Sans CJK SC"/>
                <a:cs typeface="Noto Sans CJK SC"/>
              </a:rPr>
              <a:t>景观格局与</a:t>
            </a:r>
            <a:endParaRPr lang="zh-CN" sz="1575"/>
          </a:p>
          <a:p>
            <a:pPr algn="l">
              <a:lnSpc>
                <a:spcPct val="125000"/>
              </a:lnSpc>
            </a:pPr>
            <a:r>
              <a:rPr lang="zh-CN" sz="1575" b="0" dirty="0">
                <a:solidFill>
                  <a:srgbClr val="263746"/>
                </a:solidFill>
                <a:latin typeface="Noto Sans CJK SC"/>
                <a:ea typeface="Noto Sans CJK SC"/>
                <a:cs typeface="Noto Sans CJK SC"/>
              </a:rPr>
              <a:t>群落变化有关。</a:t>
            </a:r>
            <a:endParaRPr lang="zh-CN" sz="1575"/>
          </a:p>
        </p:txBody>
      </p:sp>
      <p:sp>
        <p:nvSpPr>
          <p:cNvPr id="65" name="section-rule-65"/>
          <p:cNvSpPr/>
          <p:nvPr/>
        </p:nvSpPr>
        <p:spPr>
          <a:xfrm>
            <a:off x="9124950" y="2581275"/>
            <a:ext cx="2762250" cy="9525"/>
          </a:xfrm>
          <a:prstGeom prst="rect">
            <a:avLst/>
          </a:prstGeom>
          <a:solidFill>
            <a:srgbClr val="D5DFE8"/>
          </a:solidFill>
        </p:spPr>
      </p:sp>
      <p:sp>
        <p:nvSpPr>
          <p:cNvPr id="66" name="section-number-66"/>
          <p:cNvSpPr txBox="1"/>
          <p:nvPr/>
        </p:nvSpPr>
        <p:spPr>
          <a:xfrm>
            <a:off x="9124950" y="2724150"/>
            <a:ext cx="400050" cy="2857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650" b="1" dirty="0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rPr>
              <a:t>02</a:t>
            </a:r>
            <a:endParaRPr lang="zh-CN" sz="1650"/>
          </a:p>
        </p:txBody>
      </p:sp>
      <p:sp>
        <p:nvSpPr>
          <p:cNvPr id="67" name="section-title-67"/>
          <p:cNvSpPr txBox="1"/>
          <p:nvPr/>
        </p:nvSpPr>
        <p:spPr>
          <a:xfrm>
            <a:off x="9620250" y="2724150"/>
            <a:ext cx="2266950" cy="33337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875" b="1" dirty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rPr>
              <a:t>主要分歧</a:t>
            </a:r>
            <a:endParaRPr lang="zh-CN" sz="1875"/>
          </a:p>
        </p:txBody>
      </p:sp>
      <p:sp>
        <p:nvSpPr>
          <p:cNvPr id="68" name="section-body-68"/>
          <p:cNvSpPr txBox="1"/>
          <p:nvPr/>
        </p:nvSpPr>
        <p:spPr>
          <a:xfrm>
            <a:off x="9620250" y="3152775"/>
            <a:ext cx="2266950" cy="98107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575" b="0" dirty="0">
                <a:solidFill>
                  <a:srgbClr val="263746"/>
                </a:solidFill>
                <a:latin typeface="Noto Sans CJK SC"/>
                <a:ea typeface="Noto Sans CJK SC"/>
                <a:cs typeface="Noto Sans CJK SC"/>
              </a:rPr>
              <a:t>面积、隔离与时间</a:t>
            </a:r>
            <a:endParaRPr lang="zh-CN" sz="1575"/>
          </a:p>
          <a:p>
            <a:pPr algn="l">
              <a:lnSpc>
                <a:spcPct val="125000"/>
              </a:lnSpc>
            </a:pPr>
            <a:r>
              <a:rPr lang="zh-CN" sz="1575" b="0" dirty="0">
                <a:solidFill>
                  <a:srgbClr val="263746"/>
                </a:solidFill>
                <a:latin typeface="Noto Sans CJK SC"/>
                <a:ea typeface="Noto Sans CJK SC"/>
                <a:cs typeface="Noto Sans CJK SC"/>
              </a:rPr>
              <a:t>的相对作用。</a:t>
            </a:r>
            <a:endParaRPr lang="zh-CN" sz="1575"/>
          </a:p>
        </p:txBody>
      </p:sp>
      <p:sp>
        <p:nvSpPr>
          <p:cNvPr id="69" name="section-rule-69"/>
          <p:cNvSpPr/>
          <p:nvPr/>
        </p:nvSpPr>
        <p:spPr>
          <a:xfrm>
            <a:off x="9124950" y="4067175"/>
            <a:ext cx="2762250" cy="9525"/>
          </a:xfrm>
          <a:prstGeom prst="rect">
            <a:avLst/>
          </a:prstGeom>
          <a:solidFill>
            <a:srgbClr val="D5DFE8"/>
          </a:solidFill>
        </p:spPr>
      </p:sp>
      <p:sp>
        <p:nvSpPr>
          <p:cNvPr id="70" name="section-number-70"/>
          <p:cNvSpPr txBox="1"/>
          <p:nvPr/>
        </p:nvSpPr>
        <p:spPr>
          <a:xfrm>
            <a:off x="9124950" y="4210050"/>
            <a:ext cx="400050" cy="2857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650" b="1" dirty="0">
                <a:solidFill>
                  <a:srgbClr val="CB4442"/>
                </a:solidFill>
                <a:latin typeface="Noto Sans CJK SC"/>
                <a:ea typeface="Noto Sans CJK SC"/>
                <a:cs typeface="Noto Sans CJK SC"/>
              </a:rPr>
              <a:t>03</a:t>
            </a:r>
            <a:endParaRPr lang="zh-CN" sz="1650"/>
          </a:p>
        </p:txBody>
      </p:sp>
      <p:sp>
        <p:nvSpPr>
          <p:cNvPr id="71" name="section-title-71"/>
          <p:cNvSpPr txBox="1"/>
          <p:nvPr/>
        </p:nvSpPr>
        <p:spPr>
          <a:xfrm>
            <a:off x="9620250" y="4210050"/>
            <a:ext cx="2266950" cy="33337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875" b="1" dirty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rPr>
              <a:t>下一步问题</a:t>
            </a:r>
            <a:endParaRPr lang="zh-CN" sz="1875"/>
          </a:p>
        </p:txBody>
      </p:sp>
      <p:sp>
        <p:nvSpPr>
          <p:cNvPr id="72" name="section-body-72"/>
          <p:cNvSpPr txBox="1"/>
          <p:nvPr/>
        </p:nvSpPr>
        <p:spPr>
          <a:xfrm>
            <a:off x="9620250" y="4638675"/>
            <a:ext cx="2266950" cy="98107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</a:pPr>
            <a:r>
              <a:rPr lang="zh-CN" sz="1575" b="0" dirty="0">
                <a:solidFill>
                  <a:srgbClr val="263746"/>
                </a:solidFill>
                <a:latin typeface="Noto Sans CJK SC"/>
                <a:ea typeface="Noto Sans CJK SC"/>
                <a:cs typeface="Noto Sans CJK SC"/>
              </a:rPr>
              <a:t>在统一设计下</a:t>
            </a:r>
            <a:endParaRPr lang="zh-CN" sz="1575"/>
          </a:p>
          <a:p>
            <a:pPr algn="l">
              <a:lnSpc>
                <a:spcPct val="125000"/>
              </a:lnSpc>
            </a:pPr>
            <a:r>
              <a:rPr lang="zh-CN" sz="1575" b="0" dirty="0">
                <a:solidFill>
                  <a:srgbClr val="263746"/>
                </a:solidFill>
                <a:latin typeface="Noto Sans CJK SC"/>
                <a:ea typeface="Noto Sans CJK SC"/>
                <a:cs typeface="Noto Sans CJK SC"/>
              </a:rPr>
              <a:t>比较竞争解释。</a:t>
            </a:r>
            <a:endParaRPr lang="zh-CN" sz="1575"/>
          </a:p>
        </p:txBody>
      </p:sp>
    </p:spTree>
    <p:extLst>
      <p:ext uri="{BB962C8B-B14F-4D97-AF65-F5344CB8AC3E}">
        <ns2:creationId val="71146319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ns0:Properties xmlns:ns0="http://schemas.openxmlformats.org/officeDocument/2006/extended-properties">
  <ns0:Application>Walnut Exporter</ns0:Application>
  <ns0:PresentationFormat>Converted Presentation</ns0:PresentationFormat>
  <ns0:Slides>6</ns0:Slides>
  <ns0:Notes>0</ns0:Notes>
  <ns0:HiddenSlides>0</ns0:HiddenSlides>
  <ns0:SharedDoc>false</ns0:SharedDoc>
  <ns0:DocSecurity>0</ns0:DocSecurity>
</ns0:Properties>
</file>

<file path=docProps/core.xml><?xml version="1.0" encoding="utf-8"?>
<ns0:coreProperties xmlns:dc="http://purl.org/dc/elements/1.1/" xmlns:dcterms="http://purl.org/dc/terms/" xmlns:ns0="http://schemas.openxmlformats.org/package/2006/metadata/core-properties" xmlns:xsi="http://www.w3.org/2001/XMLSchema-instance">
  <dc:creator>ScholarFlow contributors</dc:creator>
  <ns0:lastModifiedBy>ScholarFlow contributors</ns0:lastModifiedBy>
  <dc:title>Presentation</dc:title>
  <dcterms:created xsi:type="dcterms:W3CDTF">2026-10-19T12:24:09.8680000Z</dcterms:created>
  <dcterms:modified xsi:type="dcterms:W3CDTF">2026-10-19T12:24:09.8680000Z</dcterms:modified>
</ns0:coreProperties>
</file>